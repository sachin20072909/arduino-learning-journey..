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privacy hook. Introduce team. 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privacy tension clear. End on the key question.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slide. Hit on-device, private, real-time, lightweight.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pipeline once. Emphasize local inference.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2 URL + 2 page examples a judge can picture.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model not locked. Sell compactness and locality.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differentiator. Contrast cloud vs local.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94% is an example verdict for the popup, not a measured accuracy.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invent numbers. Say target 95%+ clearly. Stress recall. 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three sources. Stress held-out evaluation. 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2 limits, 2 next steps, then the feasible core. 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Detect / Protect / Preserve. Invite questions. ~25s.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_browser_shield_2133x1200_r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7452360" cy="6858000"/>
          </a:xfrm>
          <a:prstGeom prst="rect">
            <a:avLst/>
          </a:prstGeom>
          <a:solidFill>
            <a:srgbClr val="060910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01  /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HACKATHON PITCH  ·  PRIVACY-FIRST WEB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868680"/>
            <a:ext cx="6675120" cy="17373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Browser-Based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Phishing 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6492240" cy="8686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On-device machine learning for real-time web security.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Detect phishing websites without sending user data to the cloud.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1554480" cy="347472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739896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On-device 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1408" y="3703320"/>
            <a:ext cx="132588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3739896"/>
            <a:ext cx="13258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Real-time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3703320"/>
            <a:ext cx="155448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3739896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Privacy-first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93792" y="3703320"/>
            <a:ext cx="155448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3739896"/>
            <a:ext cx="15544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Lightweight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210312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98848"/>
            <a:ext cx="210312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[Team Name]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297680"/>
            <a:ext cx="402336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MEMBERS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498848"/>
            <a:ext cx="402336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[Member 1]  ·  [Member 2]  ·  [Member 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937760"/>
            <a:ext cx="640080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EVENT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38928"/>
            <a:ext cx="640080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[Hackathon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02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13232"/>
            <a:ext cx="676656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One Click Can Expose Everything.</a:t>
            </a:r>
          </a:p>
        </p:txBody>
      </p:sp>
      <p:pic>
        <p:nvPicPr>
          <p:cNvPr id="8" name="Picture 7" descr="problem_fake_login_848x696_r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777240"/>
            <a:ext cx="4846320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371600"/>
            <a:ext cx="3017520" cy="14813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481328"/>
            <a:ext cx="2871215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Convincing fakes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810512"/>
            <a:ext cx="2871215" cy="950976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Phishing sites imitate banks, email, and cloud logins people already trust.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371600"/>
            <a:ext cx="3017520" cy="14813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1481328"/>
            <a:ext cx="2871215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High-value theft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1810512"/>
            <a:ext cx="2871215" cy="950976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One form submit can leak passwords, cards, and personal details.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3017520" cy="14813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081528"/>
            <a:ext cx="2871215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Cloud trade-offs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410712"/>
            <a:ext cx="2871215" cy="950976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Many detectors send URLs or page data to remote servers.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2971800"/>
            <a:ext cx="3017520" cy="14813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6744" y="3081528"/>
            <a:ext cx="2871215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No time to wait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6744" y="3410712"/>
            <a:ext cx="2871215" cy="950976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A warning must appear before the user hits “Sign in”.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4846320"/>
            <a:ext cx="1097280" cy="38404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4846320"/>
            <a:ext cx="1097280" cy="38404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846320"/>
            <a:ext cx="256032" cy="384048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20" y="48463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4846320"/>
            <a:ext cx="1554480" cy="38404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Fake site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4846320"/>
            <a:ext cx="256032" cy="384048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4846320"/>
            <a:ext cx="1645920" cy="384048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4846320"/>
            <a:ext cx="1645920" cy="38404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ECDD3"/>
                </a:solidFill>
                <a:latin typeface="Calibri"/>
                <a:cs typeface="Calibri"/>
                <a:ea typeface="Calibri"/>
              </a:rPr>
              <a:t>Stolen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11292840" cy="86868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651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468112"/>
            <a:ext cx="11018520" cy="731520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Key question   ·   How can we detect phishing in real time while keeping user data on the device?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03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685800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Phishing Detection, Directly Inside the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676656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A Chrome extension that scores the current page locally — then shows a clear, human verdict.</a:t>
            </a:r>
          </a:p>
        </p:txBody>
      </p:sp>
      <p:pic>
        <p:nvPicPr>
          <p:cNvPr id="9" name="Picture 8" descr="solution_extension_768x456_r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640080"/>
            <a:ext cx="4389120" cy="2606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337560"/>
            <a:ext cx="2148840" cy="71323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1071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3016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Current tab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3337560"/>
            <a:ext cx="2148840" cy="71323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341071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Feature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63016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URL + page signals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337560"/>
            <a:ext cx="2148840" cy="713232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341071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On-device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63016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No cloud inference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337560"/>
            <a:ext cx="2148840" cy="71323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341071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Risk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63016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0–100%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3337560"/>
            <a:ext cx="2148840" cy="71323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3410712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Verdict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630168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3 simple states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49300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3752" y="349300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349300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349300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160520"/>
            <a:ext cx="1417320" cy="32918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97096"/>
            <a:ext cx="1417320" cy="29260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4D399"/>
                </a:solidFill>
                <a:latin typeface="Calibri"/>
                <a:cs typeface="Calibri"/>
                <a:ea typeface="Calibri"/>
              </a:rPr>
              <a:t>●  Safe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4160520"/>
            <a:ext cx="1965960" cy="32918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4197096"/>
            <a:ext cx="1965960" cy="29260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BF24"/>
                </a:solidFill>
                <a:latin typeface="Calibri"/>
                <a:cs typeface="Calibri"/>
                <a:ea typeface="Calibri"/>
              </a:rPr>
              <a:t>●  Suspicious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4160520"/>
            <a:ext cx="2240280" cy="32918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4197096"/>
            <a:ext cx="2240280" cy="29260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●  Likely Phishing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45152"/>
            <a:ext cx="2176272" cy="1783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4754880"/>
            <a:ext cx="2029967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Local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" y="5084064"/>
            <a:ext cx="2029967" cy="12527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Runs on the user’s device.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4645152"/>
            <a:ext cx="2176272" cy="1783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98064" y="4754880"/>
            <a:ext cx="2029967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Private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98064" y="5084064"/>
            <a:ext cx="2029967" cy="12527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No page data required in the cloud.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4645152"/>
            <a:ext cx="2176272" cy="1783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4064" y="4754880"/>
            <a:ext cx="2029967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Real-time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4064" y="5084064"/>
            <a:ext cx="2029967" cy="12527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Scores the page as it loads.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45152"/>
            <a:ext cx="2176272" cy="1783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70064" y="4754880"/>
            <a:ext cx="2029967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Lightweight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084064"/>
            <a:ext cx="2029967" cy="12527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Compact model for the browser.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01200" y="4645152"/>
            <a:ext cx="2176272" cy="1783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56064" y="4754880"/>
            <a:ext cx="2029967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Transparent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6064" y="5084064"/>
            <a:ext cx="2029967" cy="12527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Shows the signals behind the 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04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From URL to Verdict in Milliseconds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1051560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Every step — extraction, scoring, and the final warning — happens inside the browser. Inference does not require a cloud round-trip.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11292840" cy="470916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192024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20240"/>
            <a:ext cx="301752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Chrome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039112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20240"/>
            <a:ext cx="301752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Browser extension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039112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920240"/>
            <a:ext cx="3246120" cy="64008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1920240"/>
            <a:ext cx="324612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Feature extraction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788920"/>
            <a:ext cx="4709160" cy="8686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86207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URL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081527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Length, host, TLD, lookalikes, IP, special chars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788920"/>
            <a:ext cx="4709160" cy="8686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86207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Page content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081527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Forms, HTTPS, iframes, brand mismatch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86200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886200"/>
            <a:ext cx="338328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30–40 engineered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99592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886200"/>
            <a:ext cx="3200400" cy="64008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886200"/>
            <a:ext cx="320040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On-device ML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995928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886200"/>
            <a:ext cx="292608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886200"/>
            <a:ext cx="292608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Phishing probability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" y="4800600"/>
            <a:ext cx="320040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800600"/>
            <a:ext cx="320040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4D399"/>
                </a:solidFill>
                <a:latin typeface="Calibri"/>
                <a:cs typeface="Calibri"/>
                <a:ea typeface="Calibri"/>
              </a:rPr>
              <a:t>Safe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4800600"/>
            <a:ext cx="320040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4800600"/>
            <a:ext cx="320040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BF24"/>
                </a:solidFill>
                <a:latin typeface="Calibri"/>
                <a:cs typeface="Calibri"/>
                <a:ea typeface="Calibri"/>
              </a:rPr>
              <a:t>Suspicious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800600"/>
            <a:ext cx="3200400" cy="6400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0" y="4800600"/>
            <a:ext cx="3200400" cy="640080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Likely phishing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ALL INFERENCE RUNS LOCALLY  ·  NO CLOUD ROUND-TRIP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05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30–40 Signals Behind Every Decision</a:t>
            </a:r>
          </a:p>
        </p:txBody>
      </p:sp>
      <p:pic>
        <p:nvPicPr>
          <p:cNvPr id="8" name="Picture 7" descr="signals_scan_1976x248_r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0432"/>
            <a:ext cx="11292840" cy="1417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3200"/>
            <a:ext cx="5532120" cy="36576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52928"/>
            <a:ext cx="521208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URL-BASED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What the address reveals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01568"/>
            <a:ext cx="5120640" cy="283464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URL length and nested path structure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Subdomains and suspicious TLDs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Special characters and encoding tricks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IP address used instead of a domain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Typosquatting / lookalike brands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Suspicious URL structures overall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43200"/>
            <a:ext cx="5532120" cy="36576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852928"/>
            <a:ext cx="521208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PAGE CONTENT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72384"/>
            <a:ext cx="52120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What the page is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01568"/>
            <a:ext cx="5120640" cy="283464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Login forms and password fields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Credential-harvesting indicators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HTTP / non-secure connections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Embedded iframes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Brand vs. content mismatch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Suspicious form destinations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06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MACHINE LEARNING  ·  MODEL-SELECTION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694944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Small Model. Fast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685800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Trained offline, then shipped with the extension. Inference stays on-device. Final architecture is still being selected.</a:t>
            </a:r>
          </a:p>
        </p:txBody>
      </p:sp>
      <p:pic>
        <p:nvPicPr>
          <p:cNvPr id="9" name="Picture 8" descr="ml_compact_752x408_r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640080"/>
            <a:ext cx="4297680" cy="2331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874519"/>
            <a:ext cx="6766560" cy="21488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640080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CANDIDATE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640080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Gradient-boosted decision 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6400800" cy="132588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Strong on tabular URL / page features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Stays compact after training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Easier to inspect which signals matter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108960"/>
            <a:ext cx="4297680" cy="18288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200400"/>
            <a:ext cx="3977639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CANDIDATE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429000"/>
            <a:ext cx="3977639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Compact neural network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767328"/>
            <a:ext cx="3977639" cy="105156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Small enough for browser runtimes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Fast CPU forward-pass / ONNX · TF.js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30–40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429768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206240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4206240"/>
            <a:ext cx="246888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Selected compact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29768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42432" y="420624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42432" y="4206240"/>
            <a:ext cx="155448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983480"/>
            <a:ext cx="169164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20056"/>
            <a:ext cx="169164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Trained offline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498348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5020056"/>
            <a:ext cx="20116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No cloud inference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34840" y="4983480"/>
            <a:ext cx="196596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5020056"/>
            <a:ext cx="196596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Low-latency design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4983480"/>
            <a:ext cx="2468880" cy="34747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5020056"/>
            <a:ext cx="2468880" cy="310896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Feature-based = explainable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86400"/>
            <a:ext cx="1124712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Model choice is still open — we are comparing these two compact options, not claiming a final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07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PRIVACY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Your Data Stays on Your Device.</a:t>
            </a:r>
          </a:p>
        </p:txBody>
      </p:sp>
      <p:pic>
        <p:nvPicPr>
          <p:cNvPr id="8" name="Picture 7" descr="privacy_ondevice_1976x272_r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0432"/>
            <a:ext cx="11292840" cy="1554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80360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7780">
            <a:solidFill>
              <a:srgbClr val="502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521208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TRADITIONAL CLOUD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18688"/>
            <a:ext cx="521208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Page data leaves the browser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074920" cy="43891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074920" cy="43891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114800"/>
            <a:ext cx="5074920" cy="43891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5074920" cy="43891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Website information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17720"/>
            <a:ext cx="5074920" cy="43891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5074920" cy="43891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Cloud server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20640"/>
            <a:ext cx="5074920" cy="43891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5074920" cy="43891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623560"/>
            <a:ext cx="5074920" cy="438912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623560"/>
            <a:ext cx="5074920" cy="43891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880360"/>
            <a:ext cx="5532120" cy="35204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7780">
            <a:solidFill>
              <a:srgbClr val="18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99232"/>
            <a:ext cx="521208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4D399"/>
                </a:solidFill>
                <a:latin typeface="Calibri"/>
                <a:cs typeface="Calibri"/>
                <a:ea typeface="Calibri"/>
              </a:rPr>
              <a:t>OUR APPROACH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18688"/>
            <a:ext cx="521208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Inference never needs the cloud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3611880"/>
            <a:ext cx="5074920" cy="42062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611880"/>
            <a:ext cx="5074920" cy="42062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User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4087368"/>
            <a:ext cx="5074920" cy="42062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087368"/>
            <a:ext cx="5074920" cy="42062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Website information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4562856"/>
            <a:ext cx="5074920" cy="420624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562856"/>
            <a:ext cx="5074920" cy="42062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Local ML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5038344"/>
            <a:ext cx="5074920" cy="420624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5038344"/>
            <a:ext cx="5074920" cy="42062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623560"/>
            <a:ext cx="507492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No URL or page content uploaded  ·  Works offline-ish  ·  Faster local decisions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08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USER EXPERIENCE  ·  EXAMPLE UI  ·  NOT A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What the User Sees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685800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Simple language. One glance. Built for a non-technical user.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029200" cy="4846320"/>
          </a:xfrm>
          <a:prstGeom prst="roundRect">
            <a:avLst>
              <a:gd name="adj" fmla="val 8000"/>
            </a:avLst>
          </a:prstGeom>
          <a:solidFill>
            <a:srgbClr val="101826"/>
          </a:solidFill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108960" cy="2743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🛡  PhishGuard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64208"/>
            <a:ext cx="1463040" cy="292608"/>
          </a:xfrm>
          <a:prstGeom prst="roundRect">
            <a:avLst>
              <a:gd name="adj" fmla="val 8000"/>
            </a:avLst>
          </a:prstGeom>
          <a:solidFill>
            <a:srgbClr val="28121C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1700784"/>
            <a:ext cx="1463040" cy="256032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LIVE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8"/>
            <a:ext cx="4663440" cy="256032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http://paypa1-secure-login.xyz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466344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⚠  LIKELY PHISHING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88920"/>
            <a:ext cx="2011680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RISK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697480"/>
            <a:ext cx="182880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94%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4617720" cy="128016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4343400" cy="128016"/>
          </a:xfrm>
          <a:prstGeom prst="roundRect">
            <a:avLst>
              <a:gd name="adj" fmla="val 8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4663440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WHY THIS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4663440" cy="219456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Suspicious URL structure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Brand similarity detected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Credential form found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Non-secure connection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1508760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97880" y="2130552"/>
            <a:ext cx="201168" cy="20116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709928"/>
            <a:ext cx="525780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34D399"/>
                </a:solidFill>
                <a:latin typeface="Calibri"/>
                <a:cs typeface="Calibri"/>
                <a:ea typeface="Calibri"/>
              </a:rPr>
              <a:t>SAFE — Low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130552"/>
            <a:ext cx="525780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Looks consistent with a legitimate site.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3108960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97880" y="3730752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310128"/>
            <a:ext cx="525780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BBF24"/>
                </a:solidFill>
                <a:latin typeface="Calibri"/>
                <a:cs typeface="Calibri"/>
                <a:ea typeface="Calibri"/>
              </a:rPr>
              <a:t>SUSPICIOUS — Review Carefully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25780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Some signals don’t add up. Pause before you sign 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15000" y="4709160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97880" y="5330952"/>
            <a:ext cx="201168" cy="201168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910328"/>
            <a:ext cx="525780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B7185"/>
                </a:solidFill>
                <a:latin typeface="Calibri"/>
                <a:cs typeface="Calibri"/>
                <a:ea typeface="Calibri"/>
              </a:rPr>
              <a:t>LIKELY PHISHING — Avoid This Site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330952"/>
            <a:ext cx="525780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Do not enter passwords or payment details.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09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EVALUATION  ·  TARGETS, NOT CLAIMED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We Measure What Actually Matters.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2176272" cy="23317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463040"/>
            <a:ext cx="1956816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83080"/>
            <a:ext cx="1956816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1956816" cy="11887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Of flagged sites, how many were truly phishing?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325880"/>
            <a:ext cx="2176272" cy="23317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1463040"/>
            <a:ext cx="1956816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1783080"/>
            <a:ext cx="1956816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286000"/>
            <a:ext cx="1956816" cy="11887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Of real phishing sites, how many did we catch?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325880"/>
            <a:ext cx="2176272" cy="23317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1463040"/>
            <a:ext cx="1956816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F1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1783080"/>
            <a:ext cx="1956816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Balance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2286000"/>
            <a:ext cx="1956816" cy="11887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Single view of precision and recall together.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1325880"/>
            <a:ext cx="2176272" cy="23317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1463040"/>
            <a:ext cx="1956816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7" y="1783080"/>
            <a:ext cx="1956816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ms-class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2286000"/>
            <a:ext cx="1956816" cy="11887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Time from page load to on-device verdict.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325880"/>
            <a:ext cx="2176272" cy="23317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1463040"/>
            <a:ext cx="1956816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MODEL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1783080"/>
            <a:ext cx="1956816" cy="4114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Compact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286000"/>
            <a:ext cx="1956816" cy="11887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Small enough to ship inside the extension.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840480"/>
            <a:ext cx="11292840" cy="114300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977639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Recall is the safety metric.  A missed phishing page (false negative) can expose a password.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We will tune thresholds to catch attacks first, then reduce false alarms.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080"/>
            <a:ext cx="2880360" cy="36576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248656"/>
            <a:ext cx="2880360" cy="32918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Target detection quality: 95%+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5212080"/>
            <a:ext cx="2788920" cy="36576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5248656"/>
            <a:ext cx="2788920" cy="32918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Not yet experimentally verified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5212080"/>
            <a:ext cx="2331720" cy="36576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248656"/>
            <a:ext cx="2331720" cy="329184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Held-out test set planned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10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DATA  ·  PLANNED PUBLIC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7315200" cy="4572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Built and Tested Against Real-World Data</a:t>
            </a:r>
          </a:p>
        </p:txBody>
      </p:sp>
      <p:pic>
        <p:nvPicPr>
          <p:cNvPr id="8" name="Picture 7" descr="dataset_world_744x344_r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640080"/>
            <a:ext cx="4251960" cy="1965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32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834640"/>
            <a:ext cx="333756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063240"/>
            <a:ext cx="333756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PhishTank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383280"/>
            <a:ext cx="333756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Community-verified phishing URLs as malicious examples.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7432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834640"/>
            <a:ext cx="333756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063240"/>
            <a:ext cx="333756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OpenPhish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3383280"/>
            <a:ext cx="333756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Additional live phishing feeds for coverage and freshness.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7432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834640"/>
            <a:ext cx="3337560" cy="20116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BENIGN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3063240"/>
            <a:ext cx="333756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Tranco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383280"/>
            <a:ext cx="333756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Popular legitimate websites as the safe class.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9768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29768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2032" y="438912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29768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429768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Feature 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3752" y="438912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429768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29768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Train / test 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1" y="438912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60" y="429768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2700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429768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Model 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7192" y="4389120"/>
            <a:ext cx="292608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4297680"/>
            <a:ext cx="2148840" cy="566928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4297680"/>
            <a:ext cx="2148840" cy="566928"/>
          </a:xfrm>
          <a:prstGeom prst="rect">
            <a:avLst/>
          </a:prstGeom>
          <a:noFill/>
        </p:spPr>
        <p:txBody>
          <a:bodyPr wrap="square" lIns="36576" rIns="36576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Held-out eval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029200"/>
            <a:ext cx="5532120" cy="13258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5138928"/>
            <a:ext cx="5385816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Consistent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" y="5468112"/>
            <a:ext cx="5385816" cy="7955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The same 30–40 signals are computed for every URL and page snapshot.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5029200"/>
            <a:ext cx="5532120" cy="13258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3" y="5138928"/>
            <a:ext cx="5385816" cy="329184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Generalization first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3" y="5468112"/>
            <a:ext cx="5385816" cy="79552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We score the held-out set — not training accuracy — so results reflect new sites.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11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HONESTY &amp;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8368"/>
            <a:ext cx="1124712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Honest About the Gaps. Ready to Improve.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38404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212080" cy="2743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BBF24"/>
                </a:solidFill>
                <a:latin typeface="Calibri"/>
                <a:cs typeface="Calibri"/>
                <a:ea typeface="Calibri"/>
              </a:rPr>
              <a:t>CURRENT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5120640" cy="310896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Cannot reliably check live domain age without an external service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Focused on web-based phishing, not every scam channel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Sophisticated attacks may still evade feature-based detection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Dynamic pages can change after the first analysis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False positives are possible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532120" cy="384048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212080" cy="2743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FUTURE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120640" cy="3108960"/>
          </a:xfrm>
          <a:prstGeom prst="rect">
            <a:avLst/>
          </a:prstGeom>
          <a:noFill/>
        </p:spPr>
        <p:txBody>
          <a:bodyPr wrap="square" lIns="36576" rIns="54864">
            <a:spAutoFit/>
          </a:bodyPr>
          <a:lstStyle/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Deeper behavioral analysis after load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Stronger typosquatting detection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Optional reputation lists (user-controlled)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Continuous model improvement</a:t>
            </a:r>
          </a:p>
          <a:p>
            <a:pPr>
              <a:lnSpc>
                <a:spcPct val="108000"/>
              </a:lnSpc>
              <a:spcBef>
                <a:spcPts val="300"/>
              </a:spcBef>
              <a:spcAft>
                <a:spcPts val="4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▸  Richer social-engineering patterns and more browsers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49240"/>
            <a:ext cx="11292840" cy="868680"/>
          </a:xfrm>
          <a:prstGeom prst="roundRect">
            <a:avLst>
              <a:gd name="adj" fmla="val 8000"/>
            </a:avLst>
          </a:prstGeom>
          <a:solidFill>
            <a:srgbClr val="0A202A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440680"/>
            <a:ext cx="11018520" cy="685800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Hackathon-ready core: extract signals locally → score with a compact model → warn before submit. Extras stay optional so privacy remains the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pact_close_2133x1200_r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28016"/>
            <a:ext cx="621792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PHISHGUARD  ·  ON-DEVICE 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28016"/>
            <a:ext cx="15544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  <a:cs typeface="Calibri"/>
                <a:ea typeface="Calibri"/>
              </a:rPr>
              <a:t>12  /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"/>
            <a:ext cx="11155680" cy="292608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Security Without Sacrificing Privacy.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3657600" cy="1965960"/>
          </a:xfrm>
          <a:prstGeom prst="roundRect">
            <a:avLst>
              <a:gd name="adj" fmla="val 8000"/>
            </a:avLst>
          </a:prstGeom>
          <a:solidFill>
            <a:srgbClr val="101828">
              <a:alpha val="88000"/>
            </a:srgbClr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91640"/>
            <a:ext cx="3291840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329184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See it in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3291840" cy="9144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Identify suspicious phishing patterns in real time, in the tab the user is already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554480"/>
            <a:ext cx="3657600" cy="1965960"/>
          </a:xfrm>
          <a:prstGeom prst="roundRect">
            <a:avLst>
              <a:gd name="adj" fmla="val 8000"/>
            </a:avLst>
          </a:prstGeom>
          <a:solidFill>
            <a:srgbClr val="101828">
              <a:alpha val="88000"/>
            </a:srgbClr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691640"/>
            <a:ext cx="3291840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PROTECT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965960"/>
            <a:ext cx="329184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Warn before submit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377440"/>
            <a:ext cx="3291840" cy="9144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Give a clear Safe / Suspicious / Phishing call before sensitive data is entered.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554480"/>
            <a:ext cx="3657600" cy="1965960"/>
          </a:xfrm>
          <a:prstGeom prst="roundRect">
            <a:avLst>
              <a:gd name="adj" fmla="val 8000"/>
            </a:avLst>
          </a:prstGeom>
          <a:solidFill>
            <a:srgbClr val="101828">
              <a:alpha val="88000"/>
            </a:srgbClr>
          </a:solidFill>
          <a:ln w="14604">
            <a:solidFill>
              <a:srgbClr val="1E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691640"/>
            <a:ext cx="3291840" cy="2286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PRESERVE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65960"/>
            <a:ext cx="329184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Keep it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77440"/>
            <a:ext cx="3291840" cy="91440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Run detection and ML inference on the device — not on someone else’s server.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3749039"/>
            <a:ext cx="9601200" cy="640080"/>
          </a:xfrm>
          <a:prstGeom prst="roundRect">
            <a:avLst>
              <a:gd name="adj" fmla="val 8000"/>
            </a:avLst>
          </a:prstGeom>
          <a:solidFill>
            <a:srgbClr val="0A202A">
              <a:alpha val="90000"/>
            </a:srgbClr>
          </a:solidFill>
          <a:ln w="1651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3794760"/>
            <a:ext cx="9326880" cy="548640"/>
          </a:xfrm>
          <a:prstGeom prst="rect">
            <a:avLst/>
          </a:prstGeom>
          <a:noFill/>
        </p:spPr>
        <p:txBody>
          <a:bodyPr wrap="square" lIns="73152" rIns="73152" tIns="36576" bIns="18288" anchor="ctr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7E8F9"/>
                </a:solidFill>
                <a:latin typeface="Calibri"/>
                <a:cs typeface="Calibri"/>
                <a:ea typeface="Calibri"/>
              </a:rPr>
              <a:t>Effective phishing detection doesn't have to mean sending user data to the cloud.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1247120" cy="50292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1F5F9"/>
                </a:solidFill>
                <a:latin typeface="Calibri"/>
                <a:cs typeface="Calibri"/>
                <a:ea typeface="Calibri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2D3EE"/>
                </a:solidFill>
                <a:latin typeface="Calibri"/>
                <a:cs typeface="Calibri"/>
                <a:ea typeface="Calibri"/>
              </a:rPr>
              <a:t>Questions?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36576" bIns="18288" anchor="t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  <a:cs typeface="Calibri"/>
                <a:ea typeface="Calibri"/>
              </a:rPr>
              <a:t>[Team Name]   ·   github.com/[your-team]/phishguard   ·   [contact@email]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