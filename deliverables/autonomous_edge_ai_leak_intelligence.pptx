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reframing the project. This is not a line-following robot looking for a clever demo; it is an automated industrial leak-intelligence workflow. The robot patrols a predefined route, senses acoustic signatures locally, and returns a maintenance-ready record with approximate location and priority. We will show a realistic MVP boundary first, then the path to scale. The promise is simple: turn manual leak hunting into repeatable, actionable inspection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operational reality, not a technical feature. Compressed air is valuable only when it reaches the process. A leak turns that value into wasted energy and another maintenance task. The detection challenge is not just hearing a sound: industrial motors, valves, fans, and people create a noisy acoustic environment. The second issue is repeatability. If inspection is only a person walking a route with a handheld device, coverage depends on time, labor, and memory. That is the gap this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saying handheld ultrasonic tools are ineffective. They are valuable tools, but the workflow is human-dependent and difficult to scale across routes. A worker still has to be present, the inspection is a snapshot, and the record may not carry enough route context for the next maintenance decision. Our design goal is therefore not to replace expertise; it is to make the first-pass inspection more repeatable and structured. The gap is automated periodic inspection across predefined pipeline routes.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narrative slide. The value comes from the connected workflow. The robot patrols a known route, senses acoustics as it moves, applies signal preprocessing, and runs an Edge AI classifier locally. When the event is likely a leak, the system attaches route and distance context, estimates a basic priority, and sends an alert to the dashboard. The output is not just a sound sample; it is an actionable inspection record.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architecture from left to right. The robot is deliberately compact: a line-following base provides repeatable movement on a controlled route; the acoustic sensor captures the signal; an embedded processor makes the local decision; position and distance create context; communication publishes a compact record; and the battery supports the patrol. The system is modular, so the hackathon can demonstrate the smallest viable loop without pretending to have a fully industrialized platform.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technical heart of the concept. The acoustic sensor sees a window that may contain a leak signature plus background noise. We filter and window the signal, extract features, and pass them into a local classifier that outputs leak or no leak with a confidence score. Edge processing keeps the first decision close to the robot, reduces dependence on connectivity, and supports faster response. We intentionally do not name a model or claim accuracy before the dataset and validation plan are complete.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MVP does not need to claim pinpoint geolocation. It knows the route, tracks distance, and maps the event to a pipeline and section. That is enough to produce a useful approximate location for a maintenance team. The record also carries confidence, timestamp, and a basic priority. The example values are a dashboard record format, not a deployment result. More advanced localization such as UWB, SLAM, or multi-sensor triangulation is clearly a future extension.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is designed for a maintenance decision, not a robotics demo. The operator can see whether the robot is online, where it is on the route, which alerts are open, and how those alerts are prioritized. The example record shows the fields that matter: location, confidence, priority, time, and maintenance status. A history view creates a record of repeat detections without claiming a predictive model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differentiation is the combination. A manual handheld tool has a human in the loop. A fixed sensor can be useful but only where it is installed. Our proposed robot is mobile, route-aware, and can continuously sense during its patrol while filtering signals locally. The important wording is periodic autonomous inspection, not continuous monitoring of every point. That honest boundary makes the concept more credible while preserving its value: repeatable coverage plus maintenance context.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should leave this slide knowing exactly what will be built. The MVP is a controlled route, a line-following robot, acoustic sensing, a leak or no-leak classifier, a position estimate, a confidence score, basic priority, and a dashboard alert. That is enough to prove the core value. SLAM, UWB, advanced severity estimation, multi-robot fleets, and industrial system integration are future enhancements. We are intentionally choosing a small, demonstrable system rather than overpromising a plant-ready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story is intentionally measurable without invented numbers. The system can reduce manual first-pass effort, help surface likely leaks earlier in a patrol, improve maintenance prioritization, and create automated inspection records. We would measure route coverage, detections, response time, and validated savings before making ROI claims. Scaling then follows a controlled path: one route, multiple scheduled routes, a fleet, and eventually integration into a predictive maintenance ecosystem.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operating model, not on a feature list. The first step is one controlled route and one robot. From there, the same inspection record can support multiple routes, scheduled patrols, fleets, historical analytics, and eventually predictive maintenance workflows. The MVP is intentionally honest: it demonstrates periodic autonomous inspection with local intelligence. The final pitch is the value loop judges should remember: detect earlier, locate faster, prioritize smarter.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48E0D2"/>
                </a:solidFill>
                <a:latin typeface="Aptos"/>
              </a:rPr>
              <a:t>INDUSTRIAL LEAK INTELLIGENCE  /  HACKATHON MVP</a:t>
            </a:r>
          </a:p>
        </p:txBody>
      </p:sp>
      <p:sp>
        <p:nvSpPr>
          <p:cNvPr id="12" name="TextBox 11"/>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
            </a:r>
          </a:p>
        </p:txBody>
      </p:sp>
      <p:sp>
        <p:nvSpPr>
          <p:cNvPr id="13" name="TextBox 12"/>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4" name="TextBox 13"/>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5" name="TextBox 14"/>
          <p:cNvSpPr txBox="1"/>
          <p:nvPr/>
        </p:nvSpPr>
        <p:spPr>
          <a:xfrm>
            <a:off x="603504" y="530352"/>
            <a:ext cx="5212080" cy="201168"/>
          </a:xfrm>
          <a:prstGeom prst="rect">
            <a:avLst/>
          </a:prstGeom>
          <a:noFill/>
        </p:spPr>
        <p:txBody>
          <a:bodyPr wrap="square" lIns="0" rIns="0" tIns="0" bIns="0" anchor="t">
            <a:spAutoFit/>
          </a:bodyPr>
          <a:lstStyle/>
          <a:p>
            <a:pPr algn="l"/>
            <a:r>
              <a:rPr sz="800" b="1" i="0">
                <a:solidFill>
                  <a:srgbClr val="48E0D2"/>
                </a:solidFill>
                <a:latin typeface="Aptos"/>
              </a:rPr>
              <a:t>AUTONOMOUS INSPECTION SYSTEM</a:t>
            </a:r>
          </a:p>
        </p:txBody>
      </p:sp>
      <p:sp>
        <p:nvSpPr>
          <p:cNvPr id="16" name="TextBox 15"/>
          <p:cNvSpPr txBox="1"/>
          <p:nvPr/>
        </p:nvSpPr>
        <p:spPr>
          <a:xfrm>
            <a:off x="603504" y="969264"/>
            <a:ext cx="5577840" cy="1664208"/>
          </a:xfrm>
          <a:prstGeom prst="rect">
            <a:avLst/>
          </a:prstGeom>
          <a:noFill/>
        </p:spPr>
        <p:txBody>
          <a:bodyPr wrap="square" lIns="0" rIns="0" tIns="0" bIns="0" anchor="t">
            <a:spAutoFit/>
          </a:bodyPr>
          <a:lstStyle/>
          <a:p>
            <a:pPr algn="l"/>
            <a:r>
              <a:rPr sz="2800" b="1" i="0">
                <a:solidFill>
                  <a:srgbClr val="F4F7FA"/>
                </a:solidFill>
                <a:latin typeface="Aptos Display"/>
              </a:rPr>
              <a:t>Autonomous Edge-AI
Robotic System for
Compressed-Air Leak Detection</a:t>
            </a:r>
          </a:p>
        </p:txBody>
      </p:sp>
      <p:sp>
        <p:nvSpPr>
          <p:cNvPr id="17" name="TextBox 16"/>
          <p:cNvSpPr txBox="1"/>
          <p:nvPr/>
        </p:nvSpPr>
        <p:spPr>
          <a:xfrm>
            <a:off x="621792" y="2889504"/>
            <a:ext cx="5230368" cy="475488"/>
          </a:xfrm>
          <a:prstGeom prst="rect">
            <a:avLst/>
          </a:prstGeom>
          <a:noFill/>
        </p:spPr>
        <p:txBody>
          <a:bodyPr wrap="square" lIns="0" rIns="0" tIns="0" bIns="0" anchor="t">
            <a:spAutoFit/>
          </a:bodyPr>
          <a:lstStyle/>
          <a:p>
            <a:pPr algn="l"/>
            <a:r>
              <a:rPr sz="1120" b="0" i="0">
                <a:solidFill>
                  <a:srgbClr val="9AA9B8"/>
                </a:solidFill>
                <a:latin typeface="Aptos"/>
              </a:rPr>
              <a:t>Automated Inspection  •  Intelligent Detection  •  Leak Localization  •  Maintenance Prioritization</a:t>
            </a:r>
          </a:p>
        </p:txBody>
      </p:sp>
      <p:sp>
        <p:nvSpPr>
          <p:cNvPr id="18" name="Rounded Rectangle 17"/>
          <p:cNvSpPr/>
          <p:nvPr/>
        </p:nvSpPr>
        <p:spPr>
          <a:xfrm>
            <a:off x="621792" y="3822191"/>
            <a:ext cx="1508760" cy="246888"/>
          </a:xfrm>
          <a:prstGeom prst="roundRect">
            <a:avLst/>
          </a:prstGeom>
          <a:solidFill>
            <a:srgbClr val="172330"/>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826763"/>
            <a:ext cx="1508760" cy="228600"/>
          </a:xfrm>
          <a:prstGeom prst="rect">
            <a:avLst/>
          </a:prstGeom>
          <a:noFill/>
        </p:spPr>
        <p:txBody>
          <a:bodyPr wrap="square" lIns="9144" rIns="9144" tIns="9144" bIns="9144" anchor="ctr">
            <a:spAutoFit/>
          </a:bodyPr>
          <a:lstStyle/>
          <a:p>
            <a:pPr algn="ctr"/>
            <a:r>
              <a:rPr sz="730" b="1" i="0">
                <a:solidFill>
                  <a:srgbClr val="48E0D2"/>
                </a:solidFill>
                <a:latin typeface="Aptos"/>
              </a:rPr>
              <a:t>PERIODIC PATROL</a:t>
            </a:r>
          </a:p>
        </p:txBody>
      </p:sp>
      <p:sp>
        <p:nvSpPr>
          <p:cNvPr id="20" name="Rounded Rectangle 19"/>
          <p:cNvSpPr/>
          <p:nvPr/>
        </p:nvSpPr>
        <p:spPr>
          <a:xfrm>
            <a:off x="2258568" y="3822191"/>
            <a:ext cx="1417320" cy="246888"/>
          </a:xfrm>
          <a:prstGeom prst="roundRect">
            <a:avLst/>
          </a:prstGeom>
          <a:solidFill>
            <a:srgbClr val="172330"/>
          </a:solidFill>
          <a:ln w="889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58568" y="3826763"/>
            <a:ext cx="1417320" cy="228600"/>
          </a:xfrm>
          <a:prstGeom prst="rect">
            <a:avLst/>
          </a:prstGeom>
          <a:noFill/>
        </p:spPr>
        <p:txBody>
          <a:bodyPr wrap="square" lIns="9144" rIns="9144" tIns="9144" bIns="9144" anchor="ctr">
            <a:spAutoFit/>
          </a:bodyPr>
          <a:lstStyle/>
          <a:p>
            <a:pPr algn="ctr"/>
            <a:r>
              <a:rPr sz="730" b="1" i="0">
                <a:solidFill>
                  <a:srgbClr val="B796FF"/>
                </a:solidFill>
                <a:latin typeface="Aptos"/>
              </a:rPr>
              <a:t>EDGE AI</a:t>
            </a:r>
          </a:p>
        </p:txBody>
      </p:sp>
      <p:sp>
        <p:nvSpPr>
          <p:cNvPr id="22" name="Rounded Rectangle 21"/>
          <p:cNvSpPr/>
          <p:nvPr/>
        </p:nvSpPr>
        <p:spPr>
          <a:xfrm>
            <a:off x="3803904" y="3822191"/>
            <a:ext cx="1755648" cy="246888"/>
          </a:xfrm>
          <a:prstGeom prst="roundRect">
            <a:avLst/>
          </a:prstGeom>
          <a:solidFill>
            <a:srgbClr val="172330"/>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03904" y="3826763"/>
            <a:ext cx="1755648" cy="228600"/>
          </a:xfrm>
          <a:prstGeom prst="rect">
            <a:avLst/>
          </a:prstGeom>
          <a:noFill/>
        </p:spPr>
        <p:txBody>
          <a:bodyPr wrap="square" lIns="9144" rIns="9144" tIns="9144" bIns="9144" anchor="ctr">
            <a:spAutoFit/>
          </a:bodyPr>
          <a:lstStyle/>
          <a:p>
            <a:pPr algn="ctr"/>
            <a:r>
              <a:rPr sz="730" b="1" i="0">
                <a:solidFill>
                  <a:srgbClr val="F4B860"/>
                </a:solidFill>
                <a:latin typeface="Aptos"/>
              </a:rPr>
              <a:t>ACTIONABLE ALERTS</a:t>
            </a:r>
          </a:p>
        </p:txBody>
      </p:sp>
      <p:sp>
        <p:nvSpPr>
          <p:cNvPr id="24" name="TextBox 23"/>
          <p:cNvSpPr txBox="1"/>
          <p:nvPr/>
        </p:nvSpPr>
        <p:spPr>
          <a:xfrm>
            <a:off x="621792" y="4828032"/>
            <a:ext cx="5029200" cy="438912"/>
          </a:xfrm>
          <a:prstGeom prst="rect">
            <a:avLst/>
          </a:prstGeom>
          <a:noFill/>
        </p:spPr>
        <p:txBody>
          <a:bodyPr wrap="square" lIns="0" rIns="0" tIns="0" bIns="0" anchor="t">
            <a:spAutoFit/>
          </a:bodyPr>
          <a:lstStyle/>
          <a:p>
            <a:pPr algn="l"/>
            <a:r>
              <a:rPr sz="1300" b="1" i="0">
                <a:solidFill>
                  <a:srgbClr val="F4F7FA"/>
                </a:solidFill>
                <a:latin typeface="Aptos"/>
              </a:rPr>
              <a:t>A practical, scalable way to turn robot patrol data into maintenance decisions.</a:t>
            </a:r>
          </a:p>
        </p:txBody>
      </p:sp>
      <p:sp>
        <p:nvSpPr>
          <p:cNvPr id="25" name="TextBox 24"/>
          <p:cNvSpPr txBox="1"/>
          <p:nvPr/>
        </p:nvSpPr>
        <p:spPr>
          <a:xfrm>
            <a:off x="621792" y="5989320"/>
            <a:ext cx="3657600" cy="219456"/>
          </a:xfrm>
          <a:prstGeom prst="rect">
            <a:avLst/>
          </a:prstGeom>
          <a:noFill/>
        </p:spPr>
        <p:txBody>
          <a:bodyPr wrap="square" lIns="0" rIns="0" tIns="0" bIns="0" anchor="t">
            <a:spAutoFit/>
          </a:bodyPr>
          <a:lstStyle/>
          <a:p>
            <a:pPr algn="l"/>
            <a:r>
              <a:rPr sz="800" b="1" i="0">
                <a:solidFill>
                  <a:srgbClr val="6F8292"/>
                </a:solidFill>
                <a:latin typeface="Aptos"/>
              </a:rPr>
              <a:t>PROBLEM → GAP → SOLUTION → PROOF → SCALE</a:t>
            </a:r>
          </a:p>
        </p:txBody>
      </p:sp>
      <p:sp>
        <p:nvSpPr>
          <p:cNvPr id="26" name="Rounded Rectangle 25"/>
          <p:cNvSpPr/>
          <p:nvPr/>
        </p:nvSpPr>
        <p:spPr>
          <a:xfrm>
            <a:off x="6126480" y="932688"/>
            <a:ext cx="5413248" cy="5074920"/>
          </a:xfrm>
          <a:prstGeom prst="roundRect">
            <a:avLst/>
          </a:prstGeom>
          <a:solidFill>
            <a:srgbClr val="111A24"/>
          </a:solidFill>
          <a:ln w="1143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6309360" y="5358384"/>
            <a:ext cx="501091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309360" y="4864608"/>
            <a:ext cx="501091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309360" y="4370832"/>
            <a:ext cx="501091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309360" y="3877056"/>
            <a:ext cx="501091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309360" y="3383280"/>
            <a:ext cx="501091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309360" y="2889504"/>
            <a:ext cx="501091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382512" y="1188720"/>
            <a:ext cx="36576"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040880" y="1188720"/>
            <a:ext cx="36575"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699248" y="1188720"/>
            <a:ext cx="36575"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357616" y="1188720"/>
            <a:ext cx="36576"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9015984" y="1188720"/>
            <a:ext cx="36575"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9674352" y="1188720"/>
            <a:ext cx="36576"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0332720" y="1188720"/>
            <a:ext cx="36576"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0991088" y="1188720"/>
            <a:ext cx="36575" cy="4425696"/>
          </a:xfrm>
          <a:prstGeom prst="line">
            <a:avLst/>
          </a:prstGeom>
          <a:ln w="444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729984" y="2103120"/>
            <a:ext cx="4078224" cy="0"/>
          </a:xfrm>
          <a:prstGeom prst="line">
            <a:avLst/>
          </a:prstGeom>
          <a:ln w="406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729984" y="2258568"/>
            <a:ext cx="4078224" cy="0"/>
          </a:xfrm>
          <a:prstGeom prst="line">
            <a:avLst/>
          </a:prstGeom>
          <a:ln w="1270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516368" y="2002536"/>
            <a:ext cx="0" cy="356616"/>
          </a:xfrm>
          <a:prstGeom prst="line">
            <a:avLst/>
          </a:prstGeom>
          <a:ln w="1270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03336" y="2002536"/>
            <a:ext cx="0" cy="356616"/>
          </a:xfrm>
          <a:prstGeom prst="line">
            <a:avLst/>
          </a:prstGeom>
          <a:ln w="1270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281160" y="2002536"/>
            <a:ext cx="0" cy="356616"/>
          </a:xfrm>
          <a:prstGeom prst="line">
            <a:avLst/>
          </a:prstGeom>
          <a:ln w="1270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49840" y="2002536"/>
            <a:ext cx="0" cy="356616"/>
          </a:xfrm>
          <a:prstGeom prst="line">
            <a:avLst/>
          </a:prstGeom>
          <a:ln w="12700">
            <a:solidFill>
              <a:srgbClr val="5EA7FF"/>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629400" y="1426464"/>
            <a:ext cx="1298448" cy="246888"/>
          </a:xfrm>
          <a:prstGeom prst="roundRect">
            <a:avLst/>
          </a:prstGeom>
          <a:solidFill>
            <a:srgbClr val="17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29400" y="1431036"/>
            <a:ext cx="1298448" cy="228600"/>
          </a:xfrm>
          <a:prstGeom prst="rect">
            <a:avLst/>
          </a:prstGeom>
          <a:noFill/>
        </p:spPr>
        <p:txBody>
          <a:bodyPr wrap="square" lIns="9144" rIns="9144" tIns="9144" bIns="9144" anchor="ctr">
            <a:spAutoFit/>
          </a:bodyPr>
          <a:lstStyle/>
          <a:p>
            <a:pPr algn="ctr"/>
            <a:r>
              <a:rPr sz="700" b="1" i="0">
                <a:solidFill>
                  <a:srgbClr val="5EA7FF"/>
                </a:solidFill>
                <a:latin typeface="Aptos"/>
              </a:rPr>
              <a:t>P-03 / ROUTE B</a:t>
            </a:r>
          </a:p>
        </p:txBody>
      </p:sp>
      <p:sp>
        <p:nvSpPr>
          <p:cNvPr id="49" name="TextBox 48"/>
          <p:cNvSpPr txBox="1"/>
          <p:nvPr/>
        </p:nvSpPr>
        <p:spPr>
          <a:xfrm>
            <a:off x="9217152" y="1490472"/>
            <a:ext cx="2011680" cy="164592"/>
          </a:xfrm>
          <a:prstGeom prst="rect">
            <a:avLst/>
          </a:prstGeom>
          <a:noFill/>
        </p:spPr>
        <p:txBody>
          <a:bodyPr wrap="square" lIns="0" rIns="0" tIns="0" bIns="0" anchor="t">
            <a:spAutoFit/>
          </a:bodyPr>
          <a:lstStyle/>
          <a:p>
            <a:pPr algn="r"/>
            <a:r>
              <a:rPr sz="720" b="1" i="0">
                <a:solidFill>
                  <a:srgbClr val="9AA9B8"/>
                </a:solidFill>
                <a:latin typeface="Aptos"/>
              </a:rPr>
              <a:t>COMPRESSED-AIR HEADER</a:t>
            </a:r>
          </a:p>
        </p:txBody>
      </p:sp>
      <p:sp>
        <p:nvSpPr>
          <p:cNvPr id="50" name="Oval 49"/>
          <p:cNvSpPr/>
          <p:nvPr/>
        </p:nvSpPr>
        <p:spPr>
          <a:xfrm>
            <a:off x="9454896" y="1801368"/>
            <a:ext cx="658368" cy="658368"/>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582912" y="1929384"/>
            <a:ext cx="402336" cy="402336"/>
          </a:xfrm>
          <a:prstGeom prst="ellipse">
            <a:avLst/>
          </a:prstGeom>
          <a:solidFill>
            <a:srgbClr val="0A0F15"/>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729216" y="2075688"/>
            <a:ext cx="109728" cy="10972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flipH="1" flipV="1">
            <a:off x="9729216" y="1901952"/>
            <a:ext cx="54864" cy="182879"/>
          </a:xfrm>
          <a:prstGeom prst="line">
            <a:avLst/>
          </a:prstGeom>
          <a:ln w="2032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9610344" y="1792224"/>
            <a:ext cx="173736" cy="292607"/>
          </a:xfrm>
          <a:prstGeom prst="line">
            <a:avLst/>
          </a:prstGeom>
          <a:ln w="2032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9784080" y="1783080"/>
            <a:ext cx="64008" cy="301751"/>
          </a:xfrm>
          <a:prstGeom prst="line">
            <a:avLst/>
          </a:prstGeom>
          <a:ln w="20320">
            <a:solidFill>
              <a:srgbClr val="F4B86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9372600" y="2770632"/>
            <a:ext cx="868680" cy="164592"/>
          </a:xfrm>
          <a:prstGeom prst="rect">
            <a:avLst/>
          </a:prstGeom>
          <a:noFill/>
        </p:spPr>
        <p:txBody>
          <a:bodyPr wrap="square" lIns="0" rIns="0" tIns="0" bIns="0" anchor="t">
            <a:spAutoFit/>
          </a:bodyPr>
          <a:lstStyle/>
          <a:p>
            <a:pPr algn="ctr"/>
            <a:r>
              <a:rPr sz="700" b="1" i="0">
                <a:solidFill>
                  <a:srgbClr val="F4B860"/>
                </a:solidFill>
                <a:latin typeface="Aptos"/>
              </a:rPr>
              <a:t>LEAK EVENT</a:t>
            </a:r>
          </a:p>
        </p:txBody>
      </p:sp>
      <p:cxnSp>
        <p:nvCxnSpPr>
          <p:cNvPr id="57" name="Connector 56"/>
          <p:cNvCxnSpPr/>
          <p:nvPr/>
        </p:nvCxnSpPr>
        <p:spPr>
          <a:xfrm flipV="1">
            <a:off x="6565392" y="4251960"/>
            <a:ext cx="566928" cy="521208"/>
          </a:xfrm>
          <a:prstGeom prst="line">
            <a:avLst/>
          </a:prstGeom>
          <a:ln w="355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132320" y="4251960"/>
            <a:ext cx="749807" cy="393192"/>
          </a:xfrm>
          <a:prstGeom prst="line">
            <a:avLst/>
          </a:prstGeom>
          <a:ln w="355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882127" y="3913632"/>
            <a:ext cx="694945" cy="731520"/>
          </a:xfrm>
          <a:prstGeom prst="line">
            <a:avLst/>
          </a:prstGeom>
          <a:ln w="355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577072" y="3913632"/>
            <a:ext cx="804672" cy="448056"/>
          </a:xfrm>
          <a:prstGeom prst="line">
            <a:avLst/>
          </a:prstGeom>
          <a:ln w="355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381744" y="3767328"/>
            <a:ext cx="841248" cy="594360"/>
          </a:xfrm>
          <a:prstGeom prst="line">
            <a:avLst/>
          </a:prstGeom>
          <a:ln w="355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222992" y="3767328"/>
            <a:ext cx="804672" cy="466344"/>
          </a:xfrm>
          <a:prstGeom prst="line">
            <a:avLst/>
          </a:prstGeom>
          <a:ln w="355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565392" y="4251960"/>
            <a:ext cx="566928" cy="521208"/>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132320" y="4251960"/>
            <a:ext cx="749807" cy="393192"/>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882127" y="3913632"/>
            <a:ext cx="694945" cy="731520"/>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6519672" y="4727448"/>
            <a:ext cx="91440" cy="91440"/>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086600" y="4206240"/>
            <a:ext cx="91440" cy="91440"/>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836407" y="4599432"/>
            <a:ext cx="91440" cy="91440"/>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531352" y="3867912"/>
            <a:ext cx="91440" cy="91440"/>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336024" y="4315968"/>
            <a:ext cx="91440" cy="91440"/>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0177272" y="3721608"/>
            <a:ext cx="91440" cy="91440"/>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0981944" y="4187952"/>
            <a:ext cx="91440" cy="91440"/>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240572" y="4117543"/>
            <a:ext cx="901598" cy="636422"/>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8386419" y="4250131"/>
            <a:ext cx="212140" cy="172364"/>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8784183" y="4250131"/>
            <a:ext cx="212140" cy="172364"/>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8691372" y="3958437"/>
            <a:ext cx="0" cy="159106"/>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8638336" y="3892143"/>
            <a:ext cx="106070" cy="106070"/>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8161019" y="4860036"/>
            <a:ext cx="1060705"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8280349" y="4700930"/>
            <a:ext cx="238658" cy="238658"/>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890254" y="4700930"/>
            <a:ext cx="238658" cy="238658"/>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8691372" y="4753965"/>
            <a:ext cx="0" cy="29169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8238744" y="2551176"/>
            <a:ext cx="658368" cy="658368"/>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028431" y="2340864"/>
            <a:ext cx="1078992" cy="1078992"/>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813548" y="2125980"/>
            <a:ext cx="1508760" cy="1508760"/>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Connector 84"/>
          <p:cNvCxnSpPr/>
          <p:nvPr/>
        </p:nvCxnSpPr>
        <p:spPr>
          <a:xfrm flipV="1">
            <a:off x="8558784" y="3324758"/>
            <a:ext cx="0" cy="149230"/>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8435888" y="3263310"/>
            <a:ext cx="122896" cy="61448"/>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8558784" y="3263310"/>
            <a:ext cx="122895" cy="61448"/>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8558784" y="3263310"/>
            <a:ext cx="0" cy="61448"/>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8475390" y="3488253"/>
            <a:ext cx="37527" cy="56400"/>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8604650" y="3488253"/>
            <a:ext cx="37527" cy="56400"/>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409553" y="3471793"/>
            <a:ext cx="67154" cy="6627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640860" y="3471793"/>
            <a:ext cx="67154" cy="6627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343717" y="3455334"/>
            <a:ext cx="96780" cy="76151"/>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677070" y="3455334"/>
            <a:ext cx="96780" cy="76151"/>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6620256" y="5413248"/>
            <a:ext cx="1078992"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620256" y="5417820"/>
            <a:ext cx="1078992" cy="228600"/>
          </a:xfrm>
          <a:prstGeom prst="rect">
            <a:avLst/>
          </a:prstGeom>
          <a:noFill/>
        </p:spPr>
        <p:txBody>
          <a:bodyPr wrap="square" lIns="9144" rIns="9144" tIns="9144" bIns="9144" anchor="ctr">
            <a:spAutoFit/>
          </a:bodyPr>
          <a:lstStyle/>
          <a:p>
            <a:pPr algn="ctr"/>
            <a:r>
              <a:rPr sz="660" b="1" i="0">
                <a:solidFill>
                  <a:srgbClr val="48E0D2"/>
                </a:solidFill>
                <a:latin typeface="Aptos"/>
              </a:rPr>
              <a:t>PATROL ONLINE</a:t>
            </a:r>
          </a:p>
        </p:txBody>
      </p:sp>
      <p:sp>
        <p:nvSpPr>
          <p:cNvPr id="97" name="Rounded Rectangle 96"/>
          <p:cNvSpPr/>
          <p:nvPr/>
        </p:nvSpPr>
        <p:spPr>
          <a:xfrm>
            <a:off x="10131552" y="5413248"/>
            <a:ext cx="1005840" cy="246888"/>
          </a:xfrm>
          <a:prstGeom prst="roundRect">
            <a:avLst/>
          </a:prstGeom>
          <a:solidFill>
            <a:srgbClr val="352B1F"/>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131552" y="5417820"/>
            <a:ext cx="1005840" cy="228600"/>
          </a:xfrm>
          <a:prstGeom prst="rect">
            <a:avLst/>
          </a:prstGeom>
          <a:noFill/>
        </p:spPr>
        <p:txBody>
          <a:bodyPr wrap="square" lIns="9144" rIns="9144" tIns="9144" bIns="9144" anchor="ctr">
            <a:spAutoFit/>
          </a:bodyPr>
          <a:lstStyle/>
          <a:p>
            <a:pPr algn="ctr"/>
            <a:r>
              <a:rPr sz="660" b="1" i="0">
                <a:solidFill>
                  <a:srgbClr val="F4B860"/>
                </a:solidFill>
                <a:latin typeface="Aptos"/>
              </a:rPr>
              <a:t>SENSE / SCORE</a:t>
            </a:r>
          </a:p>
        </p:txBody>
      </p:sp>
      <p:sp>
        <p:nvSpPr>
          <p:cNvPr id="99" name="TextBox 98"/>
          <p:cNvSpPr txBox="1"/>
          <p:nvPr/>
        </p:nvSpPr>
        <p:spPr>
          <a:xfrm>
            <a:off x="6382512" y="5779008"/>
            <a:ext cx="4846320" cy="164592"/>
          </a:xfrm>
          <a:prstGeom prst="rect">
            <a:avLst/>
          </a:prstGeom>
          <a:noFill/>
        </p:spPr>
        <p:txBody>
          <a:bodyPr wrap="square" lIns="0" rIns="0" tIns="0" bIns="0" anchor="t">
            <a:spAutoFit/>
          </a:bodyPr>
          <a:lstStyle/>
          <a:p>
            <a:pPr algn="ctr"/>
            <a:r>
              <a:rPr sz="819" b="0" i="0">
                <a:solidFill>
                  <a:srgbClr val="9AA9B8"/>
                </a:solidFill>
                <a:latin typeface="Aptos"/>
              </a:rPr>
              <a:t>A route-aware robot for automated periodic inspection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F4B860"/>
                </a:solidFill>
                <a:latin typeface="Aptos"/>
              </a:rPr>
              <a:t>01  /  THE PROBLEM</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02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Compressed air disappears before it creates value.</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A small acoustic event can represent wasted energy, unplanned effort, and a maintenance decision waiting to be made.</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81328"/>
            <a:ext cx="987552" cy="246888"/>
          </a:xfrm>
          <a:prstGeom prst="roundRect">
            <a:avLst/>
          </a:prstGeom>
          <a:solidFill>
            <a:srgbClr val="352B1F"/>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1485900"/>
            <a:ext cx="987552" cy="228600"/>
          </a:xfrm>
          <a:prstGeom prst="rect">
            <a:avLst/>
          </a:prstGeom>
          <a:noFill/>
        </p:spPr>
        <p:txBody>
          <a:bodyPr wrap="square" lIns="9144" rIns="9144" tIns="9144" bIns="9144" anchor="ctr">
            <a:spAutoFit/>
          </a:bodyPr>
          <a:lstStyle/>
          <a:p>
            <a:pPr algn="ctr"/>
            <a:r>
              <a:rPr sz="700" b="1" i="0">
                <a:solidFill>
                  <a:srgbClr val="F4B860"/>
                </a:solidFill>
                <a:latin typeface="Aptos"/>
              </a:rPr>
              <a:t>WHY NOW</a:t>
            </a:r>
          </a:p>
        </p:txBody>
      </p:sp>
      <p:sp>
        <p:nvSpPr>
          <p:cNvPr id="19" name="TextBox 18"/>
          <p:cNvSpPr txBox="1"/>
          <p:nvPr/>
        </p:nvSpPr>
        <p:spPr>
          <a:xfrm>
            <a:off x="603504" y="1874519"/>
            <a:ext cx="3090672" cy="896112"/>
          </a:xfrm>
          <a:prstGeom prst="rect">
            <a:avLst/>
          </a:prstGeom>
          <a:noFill/>
        </p:spPr>
        <p:txBody>
          <a:bodyPr wrap="square" lIns="0" rIns="0" tIns="0" bIns="0" anchor="t">
            <a:spAutoFit/>
          </a:bodyPr>
          <a:lstStyle/>
          <a:p>
            <a:pPr algn="l"/>
            <a:r>
              <a:rPr sz="2500" b="1" i="0">
                <a:solidFill>
                  <a:srgbClr val="F4F7FA"/>
                </a:solidFill>
                <a:latin typeface="Aptos Display"/>
              </a:rPr>
              <a:t>Leaks are
quietly expensive.</a:t>
            </a:r>
          </a:p>
        </p:txBody>
      </p:sp>
      <p:sp>
        <p:nvSpPr>
          <p:cNvPr id="20" name="TextBox 19"/>
          <p:cNvSpPr txBox="1"/>
          <p:nvPr/>
        </p:nvSpPr>
        <p:spPr>
          <a:xfrm>
            <a:off x="621792" y="2926080"/>
            <a:ext cx="2926080" cy="658368"/>
          </a:xfrm>
          <a:prstGeom prst="rect">
            <a:avLst/>
          </a:prstGeom>
          <a:noFill/>
        </p:spPr>
        <p:txBody>
          <a:bodyPr wrap="square" lIns="0" rIns="0" tIns="0" bIns="0" anchor="t">
            <a:spAutoFit/>
          </a:bodyPr>
          <a:lstStyle/>
          <a:p>
            <a:pPr algn="l"/>
            <a:r>
              <a:rPr sz="1120" b="0" i="0">
                <a:solidFill>
                  <a:srgbClr val="9AA9B8"/>
                </a:solidFill>
                <a:latin typeface="Aptos"/>
              </a:rPr>
              <a:t>Industrial teams spend time finding a problem that is often hard to hear, hard to locate, and hard to prioritize.</a:t>
            </a:r>
          </a:p>
        </p:txBody>
      </p:sp>
      <p:sp>
        <p:nvSpPr>
          <p:cNvPr id="21" name="Oval 20"/>
          <p:cNvSpPr/>
          <p:nvPr/>
        </p:nvSpPr>
        <p:spPr>
          <a:xfrm>
            <a:off x="640080" y="4005072"/>
            <a:ext cx="82296" cy="82296"/>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950208"/>
            <a:ext cx="1371600" cy="164592"/>
          </a:xfrm>
          <a:prstGeom prst="rect">
            <a:avLst/>
          </a:prstGeom>
          <a:noFill/>
        </p:spPr>
        <p:txBody>
          <a:bodyPr wrap="square" lIns="0" rIns="0" tIns="0" bIns="0" anchor="t">
            <a:spAutoFit/>
          </a:bodyPr>
          <a:lstStyle/>
          <a:p>
            <a:pPr algn="l"/>
            <a:r>
              <a:rPr sz="720" b="1" i="0">
                <a:solidFill>
                  <a:srgbClr val="F4B860"/>
                </a:solidFill>
                <a:latin typeface="Aptos"/>
              </a:rPr>
              <a:t>ENERGY WASTED</a:t>
            </a:r>
          </a:p>
        </p:txBody>
      </p:sp>
      <p:sp>
        <p:nvSpPr>
          <p:cNvPr id="23" name="TextBox 22"/>
          <p:cNvSpPr txBox="1"/>
          <p:nvPr/>
        </p:nvSpPr>
        <p:spPr>
          <a:xfrm>
            <a:off x="1847088" y="3931920"/>
            <a:ext cx="1874519" cy="310896"/>
          </a:xfrm>
          <a:prstGeom prst="rect">
            <a:avLst/>
          </a:prstGeom>
          <a:noFill/>
        </p:spPr>
        <p:txBody>
          <a:bodyPr wrap="square" lIns="0" rIns="0" tIns="0" bIns="0" anchor="t">
            <a:spAutoFit/>
          </a:bodyPr>
          <a:lstStyle/>
          <a:p>
            <a:pPr algn="l"/>
            <a:r>
              <a:rPr sz="830" b="0" i="0">
                <a:solidFill>
                  <a:srgbClr val="9AA9B8"/>
                </a:solidFill>
                <a:latin typeface="Aptos"/>
              </a:rPr>
              <a:t>Compressed air escapes before it does useful work.</a:t>
            </a:r>
          </a:p>
        </p:txBody>
      </p:sp>
      <p:sp>
        <p:nvSpPr>
          <p:cNvPr id="24" name="Oval 23"/>
          <p:cNvSpPr/>
          <p:nvPr/>
        </p:nvSpPr>
        <p:spPr>
          <a:xfrm>
            <a:off x="640080" y="4608576"/>
            <a:ext cx="82296" cy="82296"/>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553712"/>
            <a:ext cx="1371600" cy="164592"/>
          </a:xfrm>
          <a:prstGeom prst="rect">
            <a:avLst/>
          </a:prstGeom>
          <a:noFill/>
        </p:spPr>
        <p:txBody>
          <a:bodyPr wrap="square" lIns="0" rIns="0" tIns="0" bIns="0" anchor="t">
            <a:spAutoFit/>
          </a:bodyPr>
          <a:lstStyle/>
          <a:p>
            <a:pPr algn="l"/>
            <a:r>
              <a:rPr sz="720" b="1" i="0">
                <a:solidFill>
                  <a:srgbClr val="5EA7FF"/>
                </a:solidFill>
                <a:latin typeface="Aptos"/>
              </a:rPr>
              <a:t>FINANCIAL LOSS</a:t>
            </a:r>
          </a:p>
        </p:txBody>
      </p:sp>
      <p:sp>
        <p:nvSpPr>
          <p:cNvPr id="26" name="TextBox 25"/>
          <p:cNvSpPr txBox="1"/>
          <p:nvPr/>
        </p:nvSpPr>
        <p:spPr>
          <a:xfrm>
            <a:off x="1847088" y="4535424"/>
            <a:ext cx="1874519" cy="310896"/>
          </a:xfrm>
          <a:prstGeom prst="rect">
            <a:avLst/>
          </a:prstGeom>
          <a:noFill/>
        </p:spPr>
        <p:txBody>
          <a:bodyPr wrap="square" lIns="0" rIns="0" tIns="0" bIns="0" anchor="t">
            <a:spAutoFit/>
          </a:bodyPr>
          <a:lstStyle/>
          <a:p>
            <a:pPr algn="l"/>
            <a:r>
              <a:rPr sz="830" b="0" i="0">
                <a:solidFill>
                  <a:srgbClr val="9AA9B8"/>
                </a:solidFill>
                <a:latin typeface="Aptos"/>
              </a:rPr>
              <a:t>Wasted energy becomes recurring operating cost.</a:t>
            </a:r>
          </a:p>
        </p:txBody>
      </p:sp>
      <p:sp>
        <p:nvSpPr>
          <p:cNvPr id="27" name="Oval 26"/>
          <p:cNvSpPr/>
          <p:nvPr/>
        </p:nvSpPr>
        <p:spPr>
          <a:xfrm>
            <a:off x="640080" y="5212080"/>
            <a:ext cx="82296" cy="82296"/>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157216"/>
            <a:ext cx="1371600" cy="164592"/>
          </a:xfrm>
          <a:prstGeom prst="rect">
            <a:avLst/>
          </a:prstGeom>
          <a:noFill/>
        </p:spPr>
        <p:txBody>
          <a:bodyPr wrap="square" lIns="0" rIns="0" tIns="0" bIns="0" anchor="t">
            <a:spAutoFit/>
          </a:bodyPr>
          <a:lstStyle/>
          <a:p>
            <a:pPr algn="l"/>
            <a:r>
              <a:rPr sz="720" b="1" i="0">
                <a:solidFill>
                  <a:srgbClr val="FF6B6B"/>
                </a:solidFill>
                <a:latin typeface="Aptos"/>
              </a:rPr>
              <a:t>MANUAL EFFORT</a:t>
            </a:r>
          </a:p>
        </p:txBody>
      </p:sp>
      <p:sp>
        <p:nvSpPr>
          <p:cNvPr id="29" name="TextBox 28"/>
          <p:cNvSpPr txBox="1"/>
          <p:nvPr/>
        </p:nvSpPr>
        <p:spPr>
          <a:xfrm>
            <a:off x="1847088" y="5138928"/>
            <a:ext cx="1874519" cy="310896"/>
          </a:xfrm>
          <a:prstGeom prst="rect">
            <a:avLst/>
          </a:prstGeom>
          <a:noFill/>
        </p:spPr>
        <p:txBody>
          <a:bodyPr wrap="square" lIns="0" rIns="0" tIns="0" bIns="0" anchor="t">
            <a:spAutoFit/>
          </a:bodyPr>
          <a:lstStyle/>
          <a:p>
            <a:pPr algn="l"/>
            <a:r>
              <a:rPr sz="830" b="0" i="0">
                <a:solidFill>
                  <a:srgbClr val="9AA9B8"/>
                </a:solidFill>
                <a:latin typeface="Aptos"/>
              </a:rPr>
              <a:t>Finding it still requires worker time.</a:t>
            </a:r>
          </a:p>
        </p:txBody>
      </p:sp>
      <p:sp>
        <p:nvSpPr>
          <p:cNvPr id="30" name="Rounded Rectangle 29"/>
          <p:cNvSpPr/>
          <p:nvPr/>
        </p:nvSpPr>
        <p:spPr>
          <a:xfrm>
            <a:off x="3977639" y="1481328"/>
            <a:ext cx="7543800" cy="4526280"/>
          </a:xfrm>
          <a:prstGeom prst="roundRect">
            <a:avLst/>
          </a:prstGeom>
          <a:solidFill>
            <a:srgbClr val="111A24"/>
          </a:solidFill>
          <a:ln w="1143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9392" y="1746504"/>
            <a:ext cx="2743200" cy="164592"/>
          </a:xfrm>
          <a:prstGeom prst="rect">
            <a:avLst/>
          </a:prstGeom>
          <a:noFill/>
        </p:spPr>
        <p:txBody>
          <a:bodyPr wrap="square" lIns="36576" rIns="36576" tIns="36576" bIns="36576" anchor="t">
            <a:spAutoFit/>
          </a:bodyPr>
          <a:lstStyle/>
          <a:p>
            <a:pPr algn="l"/>
            <a:r>
              <a:rPr sz="740" b="1" i="0">
                <a:solidFill>
                  <a:srgbClr val="6F8292"/>
                </a:solidFill>
                <a:latin typeface="Aptos"/>
              </a:rPr>
              <a:t>THE COST OF NOT KNOWING</a:t>
            </a:r>
          </a:p>
        </p:txBody>
      </p:sp>
      <p:sp>
        <p:nvSpPr>
          <p:cNvPr id="32" name="Rounded Rectangle 31"/>
          <p:cNvSpPr/>
          <p:nvPr/>
        </p:nvSpPr>
        <p:spPr>
          <a:xfrm>
            <a:off x="4361688" y="2971800"/>
            <a:ext cx="1033271" cy="1097280"/>
          </a:xfrm>
          <a:prstGeom prst="roundRect">
            <a:avLst/>
          </a:prstGeom>
          <a:solidFill>
            <a:srgbClr val="172330"/>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53712" y="3218688"/>
            <a:ext cx="530352" cy="530352"/>
          </a:xfrm>
          <a:prstGeom prst="ellipse">
            <a:avLst/>
          </a:prstGeom>
          <a:solidFill>
            <a:srgbClr val="0A0F15"/>
          </a:solidFill>
          <a:ln w="1397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4818888" y="3346704"/>
            <a:ext cx="0" cy="274320"/>
          </a:xfrm>
          <a:prstGeom prst="line">
            <a:avLst/>
          </a:prstGeom>
          <a:ln w="1397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681728" y="3483864"/>
            <a:ext cx="274320" cy="0"/>
          </a:xfrm>
          <a:prstGeom prst="line">
            <a:avLst/>
          </a:prstGeom>
          <a:ln w="13970">
            <a:solidFill>
              <a:srgbClr val="5EA7F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480560" y="4187952"/>
            <a:ext cx="777240" cy="164592"/>
          </a:xfrm>
          <a:prstGeom prst="rect">
            <a:avLst/>
          </a:prstGeom>
          <a:noFill/>
        </p:spPr>
        <p:txBody>
          <a:bodyPr wrap="square" lIns="0" rIns="0" tIns="0" bIns="0" anchor="t">
            <a:spAutoFit/>
          </a:bodyPr>
          <a:lstStyle/>
          <a:p>
            <a:pPr algn="ctr"/>
            <a:r>
              <a:rPr sz="680" b="1" i="0">
                <a:solidFill>
                  <a:srgbClr val="9AA9B8"/>
                </a:solidFill>
                <a:latin typeface="Aptos"/>
              </a:rPr>
              <a:t>COMPRESSOR</a:t>
            </a:r>
          </a:p>
        </p:txBody>
      </p:sp>
      <p:cxnSp>
        <p:nvCxnSpPr>
          <p:cNvPr id="37" name="Connector 36"/>
          <p:cNvCxnSpPr/>
          <p:nvPr/>
        </p:nvCxnSpPr>
        <p:spPr>
          <a:xfrm>
            <a:off x="5394960" y="3493008"/>
            <a:ext cx="5166360" cy="0"/>
          </a:xfrm>
          <a:prstGeom prst="line">
            <a:avLst/>
          </a:prstGeom>
          <a:ln w="4318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394960" y="3639312"/>
            <a:ext cx="5166360" cy="0"/>
          </a:xfrm>
          <a:prstGeom prst="line">
            <a:avLst/>
          </a:prstGeom>
          <a:ln w="1270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89904" y="3374136"/>
            <a:ext cx="0" cy="384048"/>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885432" y="3374136"/>
            <a:ext cx="0" cy="384048"/>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680960" y="3374136"/>
            <a:ext cx="0" cy="384048"/>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476488" y="3374136"/>
            <a:ext cx="0" cy="384048"/>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272016" y="3374136"/>
            <a:ext cx="0" cy="384048"/>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067544" y="3374136"/>
            <a:ext cx="0" cy="384048"/>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sp>
        <p:nvSpPr>
          <p:cNvPr id="45" name="Chevron 44"/>
          <p:cNvSpPr/>
          <p:nvPr/>
        </p:nvSpPr>
        <p:spPr>
          <a:xfrm>
            <a:off x="5623560" y="3337560"/>
            <a:ext cx="173736" cy="219456"/>
          </a:xfrm>
          <a:prstGeom prst="chevron">
            <a:avLst/>
          </a:prstGeom>
          <a:solidFill>
            <a:srgbClr val="5E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hevron 45"/>
          <p:cNvSpPr/>
          <p:nvPr/>
        </p:nvSpPr>
        <p:spPr>
          <a:xfrm>
            <a:off x="6720840" y="3337560"/>
            <a:ext cx="173736" cy="219456"/>
          </a:xfrm>
          <a:prstGeom prst="chevron">
            <a:avLst/>
          </a:prstGeom>
          <a:solidFill>
            <a:srgbClr val="5E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hevron 46"/>
          <p:cNvSpPr/>
          <p:nvPr/>
        </p:nvSpPr>
        <p:spPr>
          <a:xfrm>
            <a:off x="7818120" y="3337560"/>
            <a:ext cx="173736" cy="219456"/>
          </a:xfrm>
          <a:prstGeom prst="chevron">
            <a:avLst/>
          </a:prstGeom>
          <a:solidFill>
            <a:srgbClr val="5E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evron 47"/>
          <p:cNvSpPr/>
          <p:nvPr/>
        </p:nvSpPr>
        <p:spPr>
          <a:xfrm>
            <a:off x="8915400" y="3337560"/>
            <a:ext cx="173736" cy="219456"/>
          </a:xfrm>
          <a:prstGeom prst="chevron">
            <a:avLst/>
          </a:prstGeom>
          <a:solidFill>
            <a:srgbClr val="5E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hevron 48"/>
          <p:cNvSpPr/>
          <p:nvPr/>
        </p:nvSpPr>
        <p:spPr>
          <a:xfrm>
            <a:off x="10012680" y="3337560"/>
            <a:ext cx="173736" cy="219456"/>
          </a:xfrm>
          <a:prstGeom prst="chevron">
            <a:avLst/>
          </a:prstGeom>
          <a:solidFill>
            <a:srgbClr val="5E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266175" y="3401568"/>
            <a:ext cx="109728" cy="10972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flipH="1">
            <a:off x="8119871" y="3547872"/>
            <a:ext cx="201169" cy="594360"/>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051474" y="4142232"/>
            <a:ext cx="68397" cy="128016"/>
          </a:xfrm>
          <a:prstGeom prst="line">
            <a:avLst/>
          </a:prstGeom>
          <a:ln w="1397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321040" y="3547872"/>
            <a:ext cx="0" cy="795528"/>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321040" y="4343400"/>
            <a:ext cx="0" cy="128016"/>
          </a:xfrm>
          <a:prstGeom prst="line">
            <a:avLst/>
          </a:prstGeom>
          <a:ln w="1397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321040" y="3547872"/>
            <a:ext cx="210312" cy="530352"/>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531352" y="4078224"/>
            <a:ext cx="68397" cy="128016"/>
          </a:xfrm>
          <a:prstGeom prst="line">
            <a:avLst/>
          </a:prstGeom>
          <a:ln w="13970">
            <a:solidFill>
              <a:srgbClr val="F4B86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7818120" y="4617720"/>
            <a:ext cx="1325880" cy="164592"/>
          </a:xfrm>
          <a:prstGeom prst="rect">
            <a:avLst/>
          </a:prstGeom>
          <a:noFill/>
        </p:spPr>
        <p:txBody>
          <a:bodyPr wrap="square" lIns="0" rIns="0" tIns="0" bIns="0" anchor="t">
            <a:spAutoFit/>
          </a:bodyPr>
          <a:lstStyle/>
          <a:p>
            <a:pPr algn="ctr"/>
            <a:r>
              <a:rPr sz="700" b="1" i="0">
                <a:solidFill>
                  <a:srgbClr val="F4B860"/>
                </a:solidFill>
                <a:latin typeface="Aptos"/>
              </a:rPr>
              <a:t>WASTED ENERGY</a:t>
            </a:r>
          </a:p>
        </p:txBody>
      </p:sp>
      <p:sp>
        <p:nvSpPr>
          <p:cNvPr id="58" name="Rounded Rectangle 57"/>
          <p:cNvSpPr/>
          <p:nvPr/>
        </p:nvSpPr>
        <p:spPr>
          <a:xfrm>
            <a:off x="4379976" y="2176272"/>
            <a:ext cx="1188720"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489704" y="2331720"/>
            <a:ext cx="54864" cy="54864"/>
          </a:xfrm>
          <a:prstGeom prst="ellipse">
            <a:avLst/>
          </a:prstGeom>
          <a:solidFill>
            <a:srgbClr val="6F8292"/>
          </a:solidFill>
          <a:ln w="12700">
            <a:solidFill>
              <a:srgbClr val="6F82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99432" y="2267712"/>
            <a:ext cx="841248" cy="164592"/>
          </a:xfrm>
          <a:prstGeom prst="rect">
            <a:avLst/>
          </a:prstGeom>
          <a:noFill/>
        </p:spPr>
        <p:txBody>
          <a:bodyPr wrap="square" lIns="0" rIns="0" tIns="0" bIns="0" anchor="t">
            <a:spAutoFit/>
          </a:bodyPr>
          <a:lstStyle/>
          <a:p>
            <a:pPr algn="l"/>
            <a:r>
              <a:rPr sz="680" b="1" i="0">
                <a:solidFill>
                  <a:srgbClr val="9AA9B8"/>
                </a:solidFill>
                <a:latin typeface="Aptos"/>
              </a:rPr>
              <a:t>MOTORS</a:t>
            </a:r>
          </a:p>
        </p:txBody>
      </p:sp>
      <p:sp>
        <p:nvSpPr>
          <p:cNvPr id="61" name="Rounded Rectangle 60"/>
          <p:cNvSpPr/>
          <p:nvPr/>
        </p:nvSpPr>
        <p:spPr>
          <a:xfrm>
            <a:off x="5952744" y="2176272"/>
            <a:ext cx="1188720"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062472" y="2331720"/>
            <a:ext cx="54864" cy="54864"/>
          </a:xfrm>
          <a:prstGeom prst="ellipse">
            <a:avLst/>
          </a:prstGeom>
          <a:solidFill>
            <a:srgbClr val="6F8292"/>
          </a:solidFill>
          <a:ln w="12700">
            <a:solidFill>
              <a:srgbClr val="6F82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72200" y="2267712"/>
            <a:ext cx="841248" cy="164592"/>
          </a:xfrm>
          <a:prstGeom prst="rect">
            <a:avLst/>
          </a:prstGeom>
          <a:noFill/>
        </p:spPr>
        <p:txBody>
          <a:bodyPr wrap="square" lIns="0" rIns="0" tIns="0" bIns="0" anchor="t">
            <a:spAutoFit/>
          </a:bodyPr>
          <a:lstStyle/>
          <a:p>
            <a:pPr algn="l"/>
            <a:r>
              <a:rPr sz="680" b="1" i="0">
                <a:solidFill>
                  <a:srgbClr val="9AA9B8"/>
                </a:solidFill>
                <a:latin typeface="Aptos"/>
              </a:rPr>
              <a:t>VALVES</a:t>
            </a:r>
          </a:p>
        </p:txBody>
      </p:sp>
      <p:sp>
        <p:nvSpPr>
          <p:cNvPr id="64" name="Rounded Rectangle 63"/>
          <p:cNvSpPr/>
          <p:nvPr/>
        </p:nvSpPr>
        <p:spPr>
          <a:xfrm>
            <a:off x="7525512" y="2176272"/>
            <a:ext cx="1188720"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635240" y="2331720"/>
            <a:ext cx="54864" cy="54864"/>
          </a:xfrm>
          <a:prstGeom prst="ellipse">
            <a:avLst/>
          </a:prstGeom>
          <a:solidFill>
            <a:srgbClr val="6F8292"/>
          </a:solidFill>
          <a:ln w="12700">
            <a:solidFill>
              <a:srgbClr val="6F82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744968" y="2267712"/>
            <a:ext cx="841248" cy="164592"/>
          </a:xfrm>
          <a:prstGeom prst="rect">
            <a:avLst/>
          </a:prstGeom>
          <a:noFill/>
        </p:spPr>
        <p:txBody>
          <a:bodyPr wrap="square" lIns="0" rIns="0" tIns="0" bIns="0" anchor="t">
            <a:spAutoFit/>
          </a:bodyPr>
          <a:lstStyle/>
          <a:p>
            <a:pPr algn="l"/>
            <a:r>
              <a:rPr sz="680" b="1" i="0">
                <a:solidFill>
                  <a:srgbClr val="9AA9B8"/>
                </a:solidFill>
                <a:latin typeface="Aptos"/>
              </a:rPr>
              <a:t>FANS</a:t>
            </a:r>
          </a:p>
        </p:txBody>
      </p:sp>
      <p:sp>
        <p:nvSpPr>
          <p:cNvPr id="67" name="Rounded Rectangle 66"/>
          <p:cNvSpPr/>
          <p:nvPr/>
        </p:nvSpPr>
        <p:spPr>
          <a:xfrm>
            <a:off x="9098280" y="2176272"/>
            <a:ext cx="1188720"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208007" y="2331720"/>
            <a:ext cx="54864" cy="54864"/>
          </a:xfrm>
          <a:prstGeom prst="ellipse">
            <a:avLst/>
          </a:prstGeom>
          <a:solidFill>
            <a:srgbClr val="6F8292"/>
          </a:solidFill>
          <a:ln w="12700">
            <a:solidFill>
              <a:srgbClr val="6F82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17736" y="2267712"/>
            <a:ext cx="841248" cy="164592"/>
          </a:xfrm>
          <a:prstGeom prst="rect">
            <a:avLst/>
          </a:prstGeom>
          <a:noFill/>
        </p:spPr>
        <p:txBody>
          <a:bodyPr wrap="square" lIns="0" rIns="0" tIns="0" bIns="0" anchor="t">
            <a:spAutoFit/>
          </a:bodyPr>
          <a:lstStyle/>
          <a:p>
            <a:pPr algn="l"/>
            <a:r>
              <a:rPr sz="680" b="1" i="0">
                <a:solidFill>
                  <a:srgbClr val="9AA9B8"/>
                </a:solidFill>
                <a:latin typeface="Aptos"/>
              </a:rPr>
              <a:t>PEOPLE</a:t>
            </a:r>
          </a:p>
        </p:txBody>
      </p:sp>
      <p:cxnSp>
        <p:nvCxnSpPr>
          <p:cNvPr id="70" name="Connector 69"/>
          <p:cNvCxnSpPr/>
          <p:nvPr/>
        </p:nvCxnSpPr>
        <p:spPr>
          <a:xfrm flipV="1">
            <a:off x="9235440" y="1920240"/>
            <a:ext cx="0" cy="640080"/>
          </a:xfrm>
          <a:prstGeom prst="line">
            <a:avLst/>
          </a:prstGeom>
          <a:ln w="10160">
            <a:solidFill>
              <a:srgbClr val="FF6B6B"/>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381744" y="1847088"/>
            <a:ext cx="1737360" cy="310896"/>
          </a:xfrm>
          <a:prstGeom prst="rect">
            <a:avLst/>
          </a:prstGeom>
          <a:noFill/>
        </p:spPr>
        <p:txBody>
          <a:bodyPr wrap="square" lIns="0" rIns="0" tIns="0" bIns="0" anchor="t">
            <a:spAutoFit/>
          </a:bodyPr>
          <a:lstStyle/>
          <a:p>
            <a:pPr algn="l"/>
            <a:r>
              <a:rPr sz="800" b="1" i="0">
                <a:solidFill>
                  <a:srgbClr val="FF6B6B"/>
                </a:solidFill>
                <a:latin typeface="Aptos"/>
              </a:rPr>
              <a:t>INDUSTRIAL NOISE
can mask the signature</a:t>
            </a:r>
          </a:p>
        </p:txBody>
      </p:sp>
      <p:sp>
        <p:nvSpPr>
          <p:cNvPr id="72" name="Rounded Rectangle 71"/>
          <p:cNvSpPr/>
          <p:nvPr/>
        </p:nvSpPr>
        <p:spPr>
          <a:xfrm>
            <a:off x="4370832" y="5102352"/>
            <a:ext cx="2121408" cy="6126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480560" y="5212080"/>
            <a:ext cx="1874519" cy="146304"/>
          </a:xfrm>
          <a:prstGeom prst="rect">
            <a:avLst/>
          </a:prstGeom>
          <a:noFill/>
        </p:spPr>
        <p:txBody>
          <a:bodyPr wrap="square" lIns="0" rIns="0" tIns="0" bIns="0" anchor="t">
            <a:spAutoFit/>
          </a:bodyPr>
          <a:lstStyle/>
          <a:p>
            <a:pPr algn="l"/>
            <a:r>
              <a:rPr sz="700" b="1" i="0">
                <a:solidFill>
                  <a:srgbClr val="FF6B6B"/>
                </a:solidFill>
                <a:latin typeface="Aptos"/>
              </a:rPr>
              <a:t>HARD TO DETECT</a:t>
            </a:r>
          </a:p>
        </p:txBody>
      </p:sp>
      <p:sp>
        <p:nvSpPr>
          <p:cNvPr id="74" name="TextBox 73"/>
          <p:cNvSpPr txBox="1"/>
          <p:nvPr/>
        </p:nvSpPr>
        <p:spPr>
          <a:xfrm>
            <a:off x="4480560" y="5404104"/>
            <a:ext cx="1874519" cy="201168"/>
          </a:xfrm>
          <a:prstGeom prst="rect">
            <a:avLst/>
          </a:prstGeom>
          <a:noFill/>
        </p:spPr>
        <p:txBody>
          <a:bodyPr wrap="square" lIns="0" rIns="0" tIns="0" bIns="0" anchor="t">
            <a:spAutoFit/>
          </a:bodyPr>
          <a:lstStyle/>
          <a:p>
            <a:pPr algn="l"/>
            <a:r>
              <a:rPr sz="740" b="0" i="0">
                <a:solidFill>
                  <a:srgbClr val="9AA9B8"/>
                </a:solidFill>
                <a:latin typeface="Aptos"/>
              </a:rPr>
              <a:t>Subtle leaks compete with plant noise.</a:t>
            </a:r>
          </a:p>
        </p:txBody>
      </p:sp>
      <p:sp>
        <p:nvSpPr>
          <p:cNvPr id="75" name="Rounded Rectangle 74"/>
          <p:cNvSpPr/>
          <p:nvPr/>
        </p:nvSpPr>
        <p:spPr>
          <a:xfrm>
            <a:off x="6711696" y="5102352"/>
            <a:ext cx="2121408" cy="6126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821424" y="5212080"/>
            <a:ext cx="1874519" cy="146304"/>
          </a:xfrm>
          <a:prstGeom prst="rect">
            <a:avLst/>
          </a:prstGeom>
          <a:noFill/>
        </p:spPr>
        <p:txBody>
          <a:bodyPr wrap="square" lIns="0" rIns="0" tIns="0" bIns="0" anchor="t">
            <a:spAutoFit/>
          </a:bodyPr>
          <a:lstStyle/>
          <a:p>
            <a:pPr algn="l"/>
            <a:r>
              <a:rPr sz="700" b="1" i="0">
                <a:solidFill>
                  <a:srgbClr val="5EA7FF"/>
                </a:solidFill>
                <a:latin typeface="Aptos"/>
              </a:rPr>
              <a:t>HARD TO REPEAT</a:t>
            </a:r>
          </a:p>
        </p:txBody>
      </p:sp>
      <p:sp>
        <p:nvSpPr>
          <p:cNvPr id="77" name="TextBox 76"/>
          <p:cNvSpPr txBox="1"/>
          <p:nvPr/>
        </p:nvSpPr>
        <p:spPr>
          <a:xfrm>
            <a:off x="6821424" y="5404104"/>
            <a:ext cx="1874519" cy="201168"/>
          </a:xfrm>
          <a:prstGeom prst="rect">
            <a:avLst/>
          </a:prstGeom>
          <a:noFill/>
        </p:spPr>
        <p:txBody>
          <a:bodyPr wrap="square" lIns="0" rIns="0" tIns="0" bIns="0" anchor="t">
            <a:spAutoFit/>
          </a:bodyPr>
          <a:lstStyle/>
          <a:p>
            <a:pPr algn="l"/>
            <a:r>
              <a:rPr sz="740" b="0" i="0">
                <a:solidFill>
                  <a:srgbClr val="9AA9B8"/>
                </a:solidFill>
                <a:latin typeface="Aptos"/>
              </a:rPr>
              <a:t>Inspection depends on people and availability.</a:t>
            </a:r>
          </a:p>
        </p:txBody>
      </p:sp>
      <p:sp>
        <p:nvSpPr>
          <p:cNvPr id="78" name="Rounded Rectangle 77"/>
          <p:cNvSpPr/>
          <p:nvPr/>
        </p:nvSpPr>
        <p:spPr>
          <a:xfrm>
            <a:off x="9052560" y="5102352"/>
            <a:ext cx="2121408" cy="6126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162288" y="5212080"/>
            <a:ext cx="1874519" cy="146304"/>
          </a:xfrm>
          <a:prstGeom prst="rect">
            <a:avLst/>
          </a:prstGeom>
          <a:noFill/>
        </p:spPr>
        <p:txBody>
          <a:bodyPr wrap="square" lIns="0" rIns="0" tIns="0" bIns="0" anchor="t">
            <a:spAutoFit/>
          </a:bodyPr>
          <a:lstStyle/>
          <a:p>
            <a:pPr algn="l"/>
            <a:r>
              <a:rPr sz="700" b="1" i="0">
                <a:solidFill>
                  <a:srgbClr val="F4B860"/>
                </a:solidFill>
                <a:latin typeface="Aptos"/>
              </a:rPr>
              <a:t>HARD TO PRIORITIZE</a:t>
            </a:r>
          </a:p>
        </p:txBody>
      </p:sp>
      <p:sp>
        <p:nvSpPr>
          <p:cNvPr id="80" name="TextBox 79"/>
          <p:cNvSpPr txBox="1"/>
          <p:nvPr/>
        </p:nvSpPr>
        <p:spPr>
          <a:xfrm>
            <a:off x="9162288" y="5404104"/>
            <a:ext cx="1874519" cy="201168"/>
          </a:xfrm>
          <a:prstGeom prst="rect">
            <a:avLst/>
          </a:prstGeom>
          <a:noFill/>
        </p:spPr>
        <p:txBody>
          <a:bodyPr wrap="square" lIns="0" rIns="0" tIns="0" bIns="0" anchor="t">
            <a:spAutoFit/>
          </a:bodyPr>
          <a:lstStyle/>
          <a:p>
            <a:pPr algn="l"/>
            <a:r>
              <a:rPr sz="740" b="0" i="0">
                <a:solidFill>
                  <a:srgbClr val="9AA9B8"/>
                </a:solidFill>
                <a:latin typeface="Aptos"/>
              </a:rPr>
              <a:t>A finding without context slows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5EA7FF"/>
                </a:solidFill>
                <a:latin typeface="Aptos"/>
              </a:rPr>
              <a:t>02  /  THE GAP</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03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Manual inspection is useful — but not scalable.</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Traditional handheld ultrasonic detection finds leaks; it does not create an automated inspection memory.</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517904"/>
            <a:ext cx="4681728" cy="4535424"/>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1248" y="1755648"/>
            <a:ext cx="694944" cy="246888"/>
          </a:xfrm>
          <a:prstGeom prst="roundRect">
            <a:avLst/>
          </a:prstGeom>
          <a:solidFill>
            <a:srgbClr val="203042"/>
          </a:solidFill>
          <a:ln w="889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1760219"/>
            <a:ext cx="694944" cy="228600"/>
          </a:xfrm>
          <a:prstGeom prst="rect">
            <a:avLst/>
          </a:prstGeom>
          <a:noFill/>
        </p:spPr>
        <p:txBody>
          <a:bodyPr wrap="square" lIns="9144" rIns="9144" tIns="9144" bIns="9144" anchor="ctr">
            <a:spAutoFit/>
          </a:bodyPr>
          <a:lstStyle/>
          <a:p>
            <a:pPr algn="ctr"/>
            <a:r>
              <a:rPr sz="700" b="1" i="0">
                <a:solidFill>
                  <a:srgbClr val="5EA7FF"/>
                </a:solidFill>
                <a:latin typeface="Aptos"/>
              </a:rPr>
              <a:t>TODAY</a:t>
            </a:r>
          </a:p>
        </p:txBody>
      </p:sp>
      <p:sp>
        <p:nvSpPr>
          <p:cNvPr id="20" name="TextBox 19"/>
          <p:cNvSpPr txBox="1"/>
          <p:nvPr/>
        </p:nvSpPr>
        <p:spPr>
          <a:xfrm>
            <a:off x="841248" y="2148840"/>
            <a:ext cx="2926080" cy="274320"/>
          </a:xfrm>
          <a:prstGeom prst="rect">
            <a:avLst/>
          </a:prstGeom>
          <a:noFill/>
        </p:spPr>
        <p:txBody>
          <a:bodyPr wrap="square" lIns="0" rIns="0" tIns="0" bIns="0" anchor="t">
            <a:spAutoFit/>
          </a:bodyPr>
          <a:lstStyle/>
          <a:p>
            <a:pPr algn="l"/>
            <a:r>
              <a:rPr sz="1550" b="1" i="0">
                <a:solidFill>
                  <a:srgbClr val="F4F7FA"/>
                </a:solidFill>
                <a:latin typeface="Aptos Display"/>
              </a:rPr>
              <a:t>Handheld ultrasonic rounds</a:t>
            </a:r>
          </a:p>
        </p:txBody>
      </p:sp>
      <p:sp>
        <p:nvSpPr>
          <p:cNvPr id="21" name="TextBox 20"/>
          <p:cNvSpPr txBox="1"/>
          <p:nvPr/>
        </p:nvSpPr>
        <p:spPr>
          <a:xfrm>
            <a:off x="841248" y="2532888"/>
            <a:ext cx="3803904" cy="402336"/>
          </a:xfrm>
          <a:prstGeom prst="rect">
            <a:avLst/>
          </a:prstGeom>
          <a:noFill/>
        </p:spPr>
        <p:txBody>
          <a:bodyPr wrap="square" lIns="0" rIns="0" tIns="0" bIns="0" anchor="t">
            <a:spAutoFit/>
          </a:bodyPr>
          <a:lstStyle/>
          <a:p>
            <a:pPr algn="l"/>
            <a:r>
              <a:rPr sz="969" b="0" i="0">
                <a:solidFill>
                  <a:srgbClr val="9AA9B8"/>
                </a:solidFill>
                <a:latin typeface="Aptos"/>
              </a:rPr>
              <a:t>A trained worker inspects pipeline sections one by one, often recording findings after the fact.</a:t>
            </a:r>
          </a:p>
        </p:txBody>
      </p:sp>
      <p:sp>
        <p:nvSpPr>
          <p:cNvPr id="22" name="Oval 21"/>
          <p:cNvSpPr/>
          <p:nvPr/>
        </p:nvSpPr>
        <p:spPr>
          <a:xfrm>
            <a:off x="1097280" y="3255264"/>
            <a:ext cx="310896" cy="310896"/>
          </a:xfrm>
          <a:prstGeom prst="ellipse">
            <a:avLst/>
          </a:prstGeom>
          <a:solidFill>
            <a:srgbClr val="172330"/>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252728" y="3566160"/>
            <a:ext cx="0" cy="804672"/>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914400" y="3794760"/>
            <a:ext cx="338328" cy="246888"/>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52728" y="3794760"/>
            <a:ext cx="356616" cy="246888"/>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969264" y="4370832"/>
            <a:ext cx="283464" cy="457200"/>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52728" y="4370832"/>
            <a:ext cx="301752" cy="457200"/>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591056" y="3858768"/>
            <a:ext cx="384048" cy="548640"/>
          </a:xfrm>
          <a:prstGeom prst="roundRect">
            <a:avLst/>
          </a:prstGeom>
          <a:solidFill>
            <a:srgbClr val="1C2B38"/>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V="1">
            <a:off x="1783080" y="3511296"/>
            <a:ext cx="246888" cy="347472"/>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423160" y="3767328"/>
            <a:ext cx="2441448" cy="0"/>
          </a:xfrm>
          <a:prstGeom prst="line">
            <a:avLst/>
          </a:prstGeom>
          <a:ln w="279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423160" y="3858768"/>
            <a:ext cx="2441448" cy="0"/>
          </a:xfrm>
          <a:prstGeom prst="line">
            <a:avLst/>
          </a:prstGeom>
          <a:ln w="889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834640" y="3675887"/>
            <a:ext cx="0" cy="274321"/>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37560" y="3675887"/>
            <a:ext cx="0" cy="274321"/>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840480" y="3675887"/>
            <a:ext cx="0" cy="274321"/>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43400" y="3675887"/>
            <a:ext cx="0" cy="274321"/>
          </a:xfrm>
          <a:prstGeom prst="line">
            <a:avLst/>
          </a:prstGeom>
          <a:ln w="10160">
            <a:solidFill>
              <a:srgbClr val="5EA7FF"/>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2560320" y="3675887"/>
            <a:ext cx="91440" cy="91440"/>
          </a:xfrm>
          <a:prstGeom prst="ellipse">
            <a:avLst/>
          </a:prstGeom>
          <a:solidFill>
            <a:srgbClr val="0A0F15"/>
          </a:solidFill>
          <a:ln w="1143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68880" y="4050791"/>
            <a:ext cx="274320" cy="146304"/>
          </a:xfrm>
          <a:prstGeom prst="rect">
            <a:avLst/>
          </a:prstGeom>
          <a:noFill/>
        </p:spPr>
        <p:txBody>
          <a:bodyPr wrap="square" lIns="0" rIns="0" tIns="0" bIns="0" anchor="t">
            <a:spAutoFit/>
          </a:bodyPr>
          <a:lstStyle/>
          <a:p>
            <a:pPr algn="ctr"/>
            <a:r>
              <a:rPr sz="720" b="1" i="0">
                <a:solidFill>
                  <a:srgbClr val="6F8292"/>
                </a:solidFill>
                <a:latin typeface="Aptos"/>
              </a:rPr>
              <a:t>A</a:t>
            </a:r>
          </a:p>
        </p:txBody>
      </p:sp>
      <p:sp>
        <p:nvSpPr>
          <p:cNvPr id="38" name="Oval 37"/>
          <p:cNvSpPr/>
          <p:nvPr/>
        </p:nvSpPr>
        <p:spPr>
          <a:xfrm>
            <a:off x="3246120" y="3675887"/>
            <a:ext cx="91440" cy="91440"/>
          </a:xfrm>
          <a:prstGeom prst="ellipse">
            <a:avLst/>
          </a:prstGeom>
          <a:solidFill>
            <a:srgbClr val="0A0F15"/>
          </a:solidFill>
          <a:ln w="1143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80" y="4050791"/>
            <a:ext cx="274320" cy="146304"/>
          </a:xfrm>
          <a:prstGeom prst="rect">
            <a:avLst/>
          </a:prstGeom>
          <a:noFill/>
        </p:spPr>
        <p:txBody>
          <a:bodyPr wrap="square" lIns="0" rIns="0" tIns="0" bIns="0" anchor="t">
            <a:spAutoFit/>
          </a:bodyPr>
          <a:lstStyle/>
          <a:p>
            <a:pPr algn="ctr"/>
            <a:r>
              <a:rPr sz="720" b="1" i="0">
                <a:solidFill>
                  <a:srgbClr val="6F8292"/>
                </a:solidFill>
                <a:latin typeface="Aptos"/>
              </a:rPr>
              <a:t>B</a:t>
            </a:r>
          </a:p>
        </p:txBody>
      </p:sp>
      <p:sp>
        <p:nvSpPr>
          <p:cNvPr id="40" name="Oval 39"/>
          <p:cNvSpPr/>
          <p:nvPr/>
        </p:nvSpPr>
        <p:spPr>
          <a:xfrm>
            <a:off x="3931920" y="3675887"/>
            <a:ext cx="91440" cy="91440"/>
          </a:xfrm>
          <a:prstGeom prst="ellipse">
            <a:avLst/>
          </a:prstGeom>
          <a:solidFill>
            <a:srgbClr val="0A0F15"/>
          </a:solidFill>
          <a:ln w="1143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40479" y="4050791"/>
            <a:ext cx="274320" cy="146304"/>
          </a:xfrm>
          <a:prstGeom prst="rect">
            <a:avLst/>
          </a:prstGeom>
          <a:noFill/>
        </p:spPr>
        <p:txBody>
          <a:bodyPr wrap="square" lIns="0" rIns="0" tIns="0" bIns="0" anchor="t">
            <a:spAutoFit/>
          </a:bodyPr>
          <a:lstStyle/>
          <a:p>
            <a:pPr algn="ctr"/>
            <a:r>
              <a:rPr sz="720" b="1" i="0">
                <a:solidFill>
                  <a:srgbClr val="6F8292"/>
                </a:solidFill>
                <a:latin typeface="Aptos"/>
              </a:rPr>
              <a:t>B</a:t>
            </a:r>
          </a:p>
        </p:txBody>
      </p:sp>
      <p:sp>
        <p:nvSpPr>
          <p:cNvPr id="42" name="Oval 41"/>
          <p:cNvSpPr/>
          <p:nvPr/>
        </p:nvSpPr>
        <p:spPr>
          <a:xfrm>
            <a:off x="4617720" y="3675887"/>
            <a:ext cx="91440" cy="91440"/>
          </a:xfrm>
          <a:prstGeom prst="ellipse">
            <a:avLst/>
          </a:prstGeom>
          <a:solidFill>
            <a:srgbClr val="0A0F15"/>
          </a:solidFill>
          <a:ln w="1143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26279" y="4050791"/>
            <a:ext cx="274320" cy="146304"/>
          </a:xfrm>
          <a:prstGeom prst="rect">
            <a:avLst/>
          </a:prstGeom>
          <a:noFill/>
        </p:spPr>
        <p:txBody>
          <a:bodyPr wrap="square" lIns="0" rIns="0" tIns="0" bIns="0" anchor="t">
            <a:spAutoFit/>
          </a:bodyPr>
          <a:lstStyle/>
          <a:p>
            <a:pPr algn="ctr"/>
            <a:r>
              <a:rPr sz="720" b="1" i="0">
                <a:solidFill>
                  <a:srgbClr val="6F8292"/>
                </a:solidFill>
                <a:latin typeface="Aptos"/>
              </a:rPr>
              <a:t>C</a:t>
            </a:r>
          </a:p>
        </p:txBody>
      </p:sp>
      <p:sp>
        <p:nvSpPr>
          <p:cNvPr id="44" name="Rounded Rectangle 43"/>
          <p:cNvSpPr/>
          <p:nvPr/>
        </p:nvSpPr>
        <p:spPr>
          <a:xfrm>
            <a:off x="841248" y="5010912"/>
            <a:ext cx="1207008" cy="65836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50976" y="5138928"/>
            <a:ext cx="64008" cy="64008"/>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60704" y="5093208"/>
            <a:ext cx="859536" cy="182880"/>
          </a:xfrm>
          <a:prstGeom prst="rect">
            <a:avLst/>
          </a:prstGeom>
          <a:noFill/>
        </p:spPr>
        <p:txBody>
          <a:bodyPr wrap="square" lIns="0" rIns="0" tIns="0" bIns="0" anchor="t">
            <a:spAutoFit/>
          </a:bodyPr>
          <a:lstStyle/>
          <a:p>
            <a:pPr algn="l"/>
            <a:r>
              <a:rPr sz="640" b="1" i="0">
                <a:solidFill>
                  <a:srgbClr val="5EA7FF"/>
                </a:solidFill>
                <a:latin typeface="Aptos"/>
              </a:rPr>
              <a:t>HUMAN-DEPENDENT</a:t>
            </a:r>
          </a:p>
        </p:txBody>
      </p:sp>
      <p:sp>
        <p:nvSpPr>
          <p:cNvPr id="47" name="TextBox 46"/>
          <p:cNvSpPr txBox="1"/>
          <p:nvPr/>
        </p:nvSpPr>
        <p:spPr>
          <a:xfrm>
            <a:off x="950976" y="5321808"/>
            <a:ext cx="987552" cy="237744"/>
          </a:xfrm>
          <a:prstGeom prst="rect">
            <a:avLst/>
          </a:prstGeom>
          <a:noFill/>
        </p:spPr>
        <p:txBody>
          <a:bodyPr wrap="square" lIns="0" rIns="0" tIns="0" bIns="0" anchor="t">
            <a:spAutoFit/>
          </a:bodyPr>
          <a:lstStyle/>
          <a:p>
            <a:pPr algn="l"/>
            <a:r>
              <a:rPr sz="700" b="0" i="0">
                <a:solidFill>
                  <a:srgbClr val="9AA9B8"/>
                </a:solidFill>
                <a:latin typeface="Aptos"/>
              </a:rPr>
              <a:t>coverage follows
worker availability</a:t>
            </a:r>
          </a:p>
        </p:txBody>
      </p:sp>
      <p:sp>
        <p:nvSpPr>
          <p:cNvPr id="48" name="Rounded Rectangle 47"/>
          <p:cNvSpPr/>
          <p:nvPr/>
        </p:nvSpPr>
        <p:spPr>
          <a:xfrm>
            <a:off x="2231136" y="5010912"/>
            <a:ext cx="1207008" cy="65836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340864" y="5138928"/>
            <a:ext cx="64008" cy="6400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450591" y="5093208"/>
            <a:ext cx="859536" cy="182880"/>
          </a:xfrm>
          <a:prstGeom prst="rect">
            <a:avLst/>
          </a:prstGeom>
          <a:noFill/>
        </p:spPr>
        <p:txBody>
          <a:bodyPr wrap="square" lIns="0" rIns="0" tIns="0" bIns="0" anchor="t">
            <a:spAutoFit/>
          </a:bodyPr>
          <a:lstStyle/>
          <a:p>
            <a:pPr algn="l"/>
            <a:r>
              <a:rPr sz="640" b="1" i="0">
                <a:solidFill>
                  <a:srgbClr val="F4B860"/>
                </a:solidFill>
                <a:latin typeface="Aptos"/>
              </a:rPr>
              <a:t>TIME-INTENSIVE</a:t>
            </a:r>
          </a:p>
        </p:txBody>
      </p:sp>
      <p:sp>
        <p:nvSpPr>
          <p:cNvPr id="51" name="TextBox 50"/>
          <p:cNvSpPr txBox="1"/>
          <p:nvPr/>
        </p:nvSpPr>
        <p:spPr>
          <a:xfrm>
            <a:off x="2340864" y="5321808"/>
            <a:ext cx="987552" cy="237744"/>
          </a:xfrm>
          <a:prstGeom prst="rect">
            <a:avLst/>
          </a:prstGeom>
          <a:noFill/>
        </p:spPr>
        <p:txBody>
          <a:bodyPr wrap="square" lIns="0" rIns="0" tIns="0" bIns="0" anchor="t">
            <a:spAutoFit/>
          </a:bodyPr>
          <a:lstStyle/>
          <a:p>
            <a:pPr algn="l"/>
            <a:r>
              <a:rPr sz="700" b="0" i="0">
                <a:solidFill>
                  <a:srgbClr val="9AA9B8"/>
                </a:solidFill>
                <a:latin typeface="Aptos"/>
              </a:rPr>
              <a:t>walk section by
section</a:t>
            </a:r>
          </a:p>
        </p:txBody>
      </p:sp>
      <p:sp>
        <p:nvSpPr>
          <p:cNvPr id="52" name="Rounded Rectangle 51"/>
          <p:cNvSpPr/>
          <p:nvPr/>
        </p:nvSpPr>
        <p:spPr>
          <a:xfrm>
            <a:off x="3621024" y="5010912"/>
            <a:ext cx="1207008" cy="65836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730752" y="5138928"/>
            <a:ext cx="64008" cy="64008"/>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40480" y="5093208"/>
            <a:ext cx="859536" cy="182880"/>
          </a:xfrm>
          <a:prstGeom prst="rect">
            <a:avLst/>
          </a:prstGeom>
          <a:noFill/>
        </p:spPr>
        <p:txBody>
          <a:bodyPr wrap="square" lIns="0" rIns="0" tIns="0" bIns="0" anchor="t">
            <a:spAutoFit/>
          </a:bodyPr>
          <a:lstStyle/>
          <a:p>
            <a:pPr algn="l"/>
            <a:r>
              <a:rPr sz="640" b="1" i="0">
                <a:solidFill>
                  <a:srgbClr val="FF6B6B"/>
                </a:solidFill>
                <a:latin typeface="Aptos"/>
              </a:rPr>
              <a:t>SNAPSHOT-BASED</a:t>
            </a:r>
          </a:p>
        </p:txBody>
      </p:sp>
      <p:sp>
        <p:nvSpPr>
          <p:cNvPr id="55" name="TextBox 54"/>
          <p:cNvSpPr txBox="1"/>
          <p:nvPr/>
        </p:nvSpPr>
        <p:spPr>
          <a:xfrm>
            <a:off x="3730752" y="5321808"/>
            <a:ext cx="987552" cy="237744"/>
          </a:xfrm>
          <a:prstGeom prst="rect">
            <a:avLst/>
          </a:prstGeom>
          <a:noFill/>
        </p:spPr>
        <p:txBody>
          <a:bodyPr wrap="square" lIns="0" rIns="0" tIns="0" bIns="0" anchor="t">
            <a:spAutoFit/>
          </a:bodyPr>
          <a:lstStyle/>
          <a:p>
            <a:pPr algn="l"/>
            <a:r>
              <a:rPr sz="700" b="0" i="0">
                <a:solidFill>
                  <a:srgbClr val="9AA9B8"/>
                </a:solidFill>
                <a:latin typeface="Aptos"/>
              </a:rPr>
              <a:t>finding may lack
route context</a:t>
            </a:r>
          </a:p>
        </p:txBody>
      </p:sp>
      <p:sp>
        <p:nvSpPr>
          <p:cNvPr id="56" name="Rounded Rectangle 55"/>
          <p:cNvSpPr/>
          <p:nvPr/>
        </p:nvSpPr>
        <p:spPr>
          <a:xfrm>
            <a:off x="5596128" y="1517904"/>
            <a:ext cx="5925312" cy="4535424"/>
          </a:xfrm>
          <a:prstGeom prst="roundRect">
            <a:avLst/>
          </a:prstGeom>
          <a:solidFill>
            <a:srgbClr val="172330"/>
          </a:solidFill>
          <a:ln w="1270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879592" y="1755648"/>
            <a:ext cx="676656"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79592" y="1760219"/>
            <a:ext cx="676656" cy="228600"/>
          </a:xfrm>
          <a:prstGeom prst="rect">
            <a:avLst/>
          </a:prstGeom>
          <a:noFill/>
        </p:spPr>
        <p:txBody>
          <a:bodyPr wrap="square" lIns="9144" rIns="9144" tIns="9144" bIns="9144" anchor="ctr">
            <a:spAutoFit/>
          </a:bodyPr>
          <a:lstStyle/>
          <a:p>
            <a:pPr algn="ctr"/>
            <a:r>
              <a:rPr sz="700" b="1" i="0">
                <a:solidFill>
                  <a:srgbClr val="48E0D2"/>
                </a:solidFill>
                <a:latin typeface="Aptos"/>
              </a:rPr>
              <a:t>GAP</a:t>
            </a:r>
          </a:p>
        </p:txBody>
      </p:sp>
      <p:sp>
        <p:nvSpPr>
          <p:cNvPr id="59" name="TextBox 58"/>
          <p:cNvSpPr txBox="1"/>
          <p:nvPr/>
        </p:nvSpPr>
        <p:spPr>
          <a:xfrm>
            <a:off x="5879592" y="2148840"/>
            <a:ext cx="4828032" cy="713232"/>
          </a:xfrm>
          <a:prstGeom prst="rect">
            <a:avLst/>
          </a:prstGeom>
          <a:noFill/>
        </p:spPr>
        <p:txBody>
          <a:bodyPr wrap="square" lIns="0" rIns="0" tIns="0" bIns="0" anchor="t">
            <a:spAutoFit/>
          </a:bodyPr>
          <a:lstStyle/>
          <a:p>
            <a:pPr algn="l"/>
            <a:r>
              <a:rPr sz="1950" b="1" i="0">
                <a:solidFill>
                  <a:srgbClr val="F4F7FA"/>
                </a:solidFill>
                <a:latin typeface="Aptos Display"/>
              </a:rPr>
              <a:t>Industries need a flexible system capable of automated periodic inspection across predefined pipeline routes.</a:t>
            </a:r>
          </a:p>
        </p:txBody>
      </p:sp>
      <p:cxnSp>
        <p:nvCxnSpPr>
          <p:cNvPr id="60" name="Connector 59"/>
          <p:cNvCxnSpPr/>
          <p:nvPr/>
        </p:nvCxnSpPr>
        <p:spPr>
          <a:xfrm>
            <a:off x="5888736" y="3072384"/>
            <a:ext cx="5285232" cy="0"/>
          </a:xfrm>
          <a:prstGeom prst="line">
            <a:avLst/>
          </a:prstGeom>
          <a:ln w="12700">
            <a:solidFill>
              <a:srgbClr val="1E8F91"/>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897880" y="3346704"/>
            <a:ext cx="2194560" cy="182880"/>
          </a:xfrm>
          <a:prstGeom prst="rect">
            <a:avLst/>
          </a:prstGeom>
          <a:noFill/>
        </p:spPr>
        <p:txBody>
          <a:bodyPr wrap="square" lIns="0" rIns="0" tIns="0" bIns="0" anchor="t">
            <a:spAutoFit/>
          </a:bodyPr>
          <a:lstStyle/>
          <a:p>
            <a:pPr algn="l"/>
            <a:r>
              <a:rPr sz="720" b="1" i="0">
                <a:solidFill>
                  <a:srgbClr val="48E0D2"/>
                </a:solidFill>
                <a:latin typeface="Aptos"/>
              </a:rPr>
              <a:t>WHAT CHANGES</a:t>
            </a:r>
          </a:p>
        </p:txBody>
      </p:sp>
      <p:sp>
        <p:nvSpPr>
          <p:cNvPr id="62" name="Oval 61"/>
          <p:cNvSpPr/>
          <p:nvPr/>
        </p:nvSpPr>
        <p:spPr>
          <a:xfrm>
            <a:off x="5925312" y="3703320"/>
            <a:ext cx="201168" cy="201168"/>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1032" y="3717036"/>
            <a:ext cx="109728" cy="118872"/>
          </a:xfrm>
          <a:prstGeom prst="rect">
            <a:avLst/>
          </a:prstGeom>
          <a:noFill/>
        </p:spPr>
        <p:txBody>
          <a:bodyPr wrap="square" lIns="0" rIns="0" tIns="0" bIns="0" anchor="t">
            <a:spAutoFit/>
          </a:bodyPr>
          <a:lstStyle/>
          <a:p>
            <a:pPr algn="ctr"/>
            <a:r>
              <a:rPr sz="680" b="1" i="0">
                <a:solidFill>
                  <a:srgbClr val="0A0F15"/>
                </a:solidFill>
                <a:latin typeface="Aptos"/>
              </a:rPr>
              <a:t>1</a:t>
            </a:r>
          </a:p>
        </p:txBody>
      </p:sp>
      <p:sp>
        <p:nvSpPr>
          <p:cNvPr id="64" name="TextBox 63"/>
          <p:cNvSpPr txBox="1"/>
          <p:nvPr/>
        </p:nvSpPr>
        <p:spPr>
          <a:xfrm>
            <a:off x="6254496" y="3685032"/>
            <a:ext cx="1143000" cy="164592"/>
          </a:xfrm>
          <a:prstGeom prst="rect">
            <a:avLst/>
          </a:prstGeom>
          <a:noFill/>
        </p:spPr>
        <p:txBody>
          <a:bodyPr wrap="square" lIns="0" rIns="0" tIns="0" bIns="0" anchor="t">
            <a:spAutoFit/>
          </a:bodyPr>
          <a:lstStyle/>
          <a:p>
            <a:pPr algn="l"/>
            <a:r>
              <a:rPr sz="800" b="1" i="0">
                <a:solidFill>
                  <a:srgbClr val="48E0D2"/>
                </a:solidFill>
                <a:latin typeface="Aptos"/>
              </a:rPr>
              <a:t>PATROL</a:t>
            </a:r>
          </a:p>
        </p:txBody>
      </p:sp>
      <p:sp>
        <p:nvSpPr>
          <p:cNvPr id="65" name="TextBox 64"/>
          <p:cNvSpPr txBox="1"/>
          <p:nvPr/>
        </p:nvSpPr>
        <p:spPr>
          <a:xfrm>
            <a:off x="7479792" y="3685032"/>
            <a:ext cx="3429000" cy="164592"/>
          </a:xfrm>
          <a:prstGeom prst="rect">
            <a:avLst/>
          </a:prstGeom>
          <a:noFill/>
        </p:spPr>
        <p:txBody>
          <a:bodyPr wrap="square" lIns="0" rIns="0" tIns="0" bIns="0" anchor="t">
            <a:spAutoFit/>
          </a:bodyPr>
          <a:lstStyle/>
          <a:p>
            <a:pPr algn="l"/>
            <a:r>
              <a:rPr sz="860" b="0" i="0">
                <a:solidFill>
                  <a:srgbClr val="9AA9B8"/>
                </a:solidFill>
                <a:latin typeface="Aptos"/>
              </a:rPr>
              <a:t>repeatable route coverage</a:t>
            </a:r>
          </a:p>
        </p:txBody>
      </p:sp>
      <p:sp>
        <p:nvSpPr>
          <p:cNvPr id="66" name="Oval 65"/>
          <p:cNvSpPr/>
          <p:nvPr/>
        </p:nvSpPr>
        <p:spPr>
          <a:xfrm>
            <a:off x="5925312" y="4151376"/>
            <a:ext cx="201168" cy="201168"/>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71032" y="4165092"/>
            <a:ext cx="109728" cy="118872"/>
          </a:xfrm>
          <a:prstGeom prst="rect">
            <a:avLst/>
          </a:prstGeom>
          <a:noFill/>
        </p:spPr>
        <p:txBody>
          <a:bodyPr wrap="square" lIns="0" rIns="0" tIns="0" bIns="0" anchor="t">
            <a:spAutoFit/>
          </a:bodyPr>
          <a:lstStyle/>
          <a:p>
            <a:pPr algn="ctr"/>
            <a:r>
              <a:rPr sz="680" b="1" i="0">
                <a:solidFill>
                  <a:srgbClr val="0A0F15"/>
                </a:solidFill>
                <a:latin typeface="Aptos"/>
              </a:rPr>
              <a:t>2</a:t>
            </a:r>
          </a:p>
        </p:txBody>
      </p:sp>
      <p:sp>
        <p:nvSpPr>
          <p:cNvPr id="68" name="TextBox 67"/>
          <p:cNvSpPr txBox="1"/>
          <p:nvPr/>
        </p:nvSpPr>
        <p:spPr>
          <a:xfrm>
            <a:off x="6254496" y="4133088"/>
            <a:ext cx="1143000" cy="164592"/>
          </a:xfrm>
          <a:prstGeom prst="rect">
            <a:avLst/>
          </a:prstGeom>
          <a:noFill/>
        </p:spPr>
        <p:txBody>
          <a:bodyPr wrap="square" lIns="0" rIns="0" tIns="0" bIns="0" anchor="t">
            <a:spAutoFit/>
          </a:bodyPr>
          <a:lstStyle/>
          <a:p>
            <a:pPr algn="l"/>
            <a:r>
              <a:rPr sz="800" b="1" i="0">
                <a:solidFill>
                  <a:srgbClr val="5EA7FF"/>
                </a:solidFill>
                <a:latin typeface="Aptos"/>
              </a:rPr>
              <a:t>LISTEN</a:t>
            </a:r>
          </a:p>
        </p:txBody>
      </p:sp>
      <p:sp>
        <p:nvSpPr>
          <p:cNvPr id="69" name="TextBox 68"/>
          <p:cNvSpPr txBox="1"/>
          <p:nvPr/>
        </p:nvSpPr>
        <p:spPr>
          <a:xfrm>
            <a:off x="7479792" y="4133088"/>
            <a:ext cx="3429000" cy="164592"/>
          </a:xfrm>
          <a:prstGeom prst="rect">
            <a:avLst/>
          </a:prstGeom>
          <a:noFill/>
        </p:spPr>
        <p:txBody>
          <a:bodyPr wrap="square" lIns="0" rIns="0" tIns="0" bIns="0" anchor="t">
            <a:spAutoFit/>
          </a:bodyPr>
          <a:lstStyle/>
          <a:p>
            <a:pPr algn="l"/>
            <a:r>
              <a:rPr sz="860" b="0" i="0">
                <a:solidFill>
                  <a:srgbClr val="9AA9B8"/>
                </a:solidFill>
                <a:latin typeface="Aptos"/>
              </a:rPr>
              <a:t>continuous sensing while moving</a:t>
            </a:r>
          </a:p>
        </p:txBody>
      </p:sp>
      <p:sp>
        <p:nvSpPr>
          <p:cNvPr id="70" name="Oval 69"/>
          <p:cNvSpPr/>
          <p:nvPr/>
        </p:nvSpPr>
        <p:spPr>
          <a:xfrm>
            <a:off x="5925312" y="4599431"/>
            <a:ext cx="201168" cy="20116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971032" y="4613148"/>
            <a:ext cx="109728" cy="118872"/>
          </a:xfrm>
          <a:prstGeom prst="rect">
            <a:avLst/>
          </a:prstGeom>
          <a:noFill/>
        </p:spPr>
        <p:txBody>
          <a:bodyPr wrap="square" lIns="0" rIns="0" tIns="0" bIns="0" anchor="t">
            <a:spAutoFit/>
          </a:bodyPr>
          <a:lstStyle/>
          <a:p>
            <a:pPr algn="ctr"/>
            <a:r>
              <a:rPr sz="680" b="1" i="0">
                <a:solidFill>
                  <a:srgbClr val="0A0F15"/>
                </a:solidFill>
                <a:latin typeface="Aptos"/>
              </a:rPr>
              <a:t>3</a:t>
            </a:r>
          </a:p>
        </p:txBody>
      </p:sp>
      <p:sp>
        <p:nvSpPr>
          <p:cNvPr id="72" name="TextBox 71"/>
          <p:cNvSpPr txBox="1"/>
          <p:nvPr/>
        </p:nvSpPr>
        <p:spPr>
          <a:xfrm>
            <a:off x="6254496" y="4581144"/>
            <a:ext cx="1143000" cy="164592"/>
          </a:xfrm>
          <a:prstGeom prst="rect">
            <a:avLst/>
          </a:prstGeom>
          <a:noFill/>
        </p:spPr>
        <p:txBody>
          <a:bodyPr wrap="square" lIns="0" rIns="0" tIns="0" bIns="0" anchor="t">
            <a:spAutoFit/>
          </a:bodyPr>
          <a:lstStyle/>
          <a:p>
            <a:pPr algn="l"/>
            <a:r>
              <a:rPr sz="800" b="1" i="0">
                <a:solidFill>
                  <a:srgbClr val="F4B860"/>
                </a:solidFill>
                <a:latin typeface="Aptos"/>
              </a:rPr>
              <a:t>REMEMBER</a:t>
            </a:r>
          </a:p>
        </p:txBody>
      </p:sp>
      <p:sp>
        <p:nvSpPr>
          <p:cNvPr id="73" name="TextBox 72"/>
          <p:cNvSpPr txBox="1"/>
          <p:nvPr/>
        </p:nvSpPr>
        <p:spPr>
          <a:xfrm>
            <a:off x="7479792" y="4581144"/>
            <a:ext cx="3429000" cy="164592"/>
          </a:xfrm>
          <a:prstGeom prst="rect">
            <a:avLst/>
          </a:prstGeom>
          <a:noFill/>
        </p:spPr>
        <p:txBody>
          <a:bodyPr wrap="square" lIns="0" rIns="0" tIns="0" bIns="0" anchor="t">
            <a:spAutoFit/>
          </a:bodyPr>
          <a:lstStyle/>
          <a:p>
            <a:pPr algn="l"/>
            <a:r>
              <a:rPr sz="860" b="0" i="0">
                <a:solidFill>
                  <a:srgbClr val="9AA9B8"/>
                </a:solidFill>
                <a:latin typeface="Aptos"/>
              </a:rPr>
              <a:t>location + confidence + time</a:t>
            </a:r>
          </a:p>
        </p:txBody>
      </p:sp>
      <p:sp>
        <p:nvSpPr>
          <p:cNvPr id="74" name="Oval 73"/>
          <p:cNvSpPr/>
          <p:nvPr/>
        </p:nvSpPr>
        <p:spPr>
          <a:xfrm>
            <a:off x="5925312" y="5047488"/>
            <a:ext cx="201168" cy="201168"/>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71032" y="5061204"/>
            <a:ext cx="109728" cy="118872"/>
          </a:xfrm>
          <a:prstGeom prst="rect">
            <a:avLst/>
          </a:prstGeom>
          <a:noFill/>
        </p:spPr>
        <p:txBody>
          <a:bodyPr wrap="square" lIns="0" rIns="0" tIns="0" bIns="0" anchor="t">
            <a:spAutoFit/>
          </a:bodyPr>
          <a:lstStyle/>
          <a:p>
            <a:pPr algn="ctr"/>
            <a:r>
              <a:rPr sz="680" b="1" i="0">
                <a:solidFill>
                  <a:srgbClr val="0A0F15"/>
                </a:solidFill>
                <a:latin typeface="Aptos"/>
              </a:rPr>
              <a:t>4</a:t>
            </a:r>
          </a:p>
        </p:txBody>
      </p:sp>
      <p:sp>
        <p:nvSpPr>
          <p:cNvPr id="76" name="TextBox 75"/>
          <p:cNvSpPr txBox="1"/>
          <p:nvPr/>
        </p:nvSpPr>
        <p:spPr>
          <a:xfrm>
            <a:off x="6254496" y="5029200"/>
            <a:ext cx="1143000" cy="164592"/>
          </a:xfrm>
          <a:prstGeom prst="rect">
            <a:avLst/>
          </a:prstGeom>
          <a:noFill/>
        </p:spPr>
        <p:txBody>
          <a:bodyPr wrap="square" lIns="0" rIns="0" tIns="0" bIns="0" anchor="t">
            <a:spAutoFit/>
          </a:bodyPr>
          <a:lstStyle/>
          <a:p>
            <a:pPr algn="l"/>
            <a:r>
              <a:rPr sz="800" b="1" i="0">
                <a:solidFill>
                  <a:srgbClr val="FF6B6B"/>
                </a:solidFill>
                <a:latin typeface="Aptos"/>
              </a:rPr>
              <a:t>ACT</a:t>
            </a:r>
          </a:p>
        </p:txBody>
      </p:sp>
      <p:sp>
        <p:nvSpPr>
          <p:cNvPr id="77" name="TextBox 76"/>
          <p:cNvSpPr txBox="1"/>
          <p:nvPr/>
        </p:nvSpPr>
        <p:spPr>
          <a:xfrm>
            <a:off x="7479792" y="5029200"/>
            <a:ext cx="3429000" cy="164592"/>
          </a:xfrm>
          <a:prstGeom prst="rect">
            <a:avLst/>
          </a:prstGeom>
          <a:noFill/>
        </p:spPr>
        <p:txBody>
          <a:bodyPr wrap="square" lIns="0" rIns="0" tIns="0" bIns="0" anchor="t">
            <a:spAutoFit/>
          </a:bodyPr>
          <a:lstStyle/>
          <a:p>
            <a:pPr algn="l"/>
            <a:r>
              <a:rPr sz="860" b="0" i="0">
                <a:solidFill>
                  <a:srgbClr val="9AA9B8"/>
                </a:solidFill>
                <a:latin typeface="Aptos"/>
              </a:rPr>
              <a:t>priority for maintenance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48E0D2"/>
                </a:solidFill>
                <a:latin typeface="Aptos"/>
              </a:rPr>
              <a:t>03  /  OUR SOLUTION</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04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Move from leak hunting to leak intelligence.</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One patrol produces a connected chain from acoustic evidence to a maintenance-ready alert.</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63040"/>
            <a:ext cx="10954512" cy="566928"/>
          </a:xfrm>
          <a:prstGeom prst="roundRect">
            <a:avLst/>
          </a:prstGeom>
          <a:solidFill>
            <a:srgbClr val="14313A"/>
          </a:solidFill>
          <a:ln w="1016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3668" y="1670425"/>
            <a:ext cx="385511" cy="272125"/>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6030" y="1727118"/>
            <a:ext cx="90708" cy="73700"/>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46108" y="1727118"/>
            <a:ext cx="90708" cy="73700"/>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106424" y="1602394"/>
            <a:ext cx="0" cy="68031"/>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83746" y="1574048"/>
            <a:ext cx="45354" cy="45354"/>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879652" y="1987905"/>
            <a:ext cx="453543"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30676" y="1919874"/>
            <a:ext cx="102047" cy="102047"/>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91463" y="1919874"/>
            <a:ext cx="102047" cy="102047"/>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106424" y="1942551"/>
            <a:ext cx="0" cy="12472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572768" y="1572768"/>
            <a:ext cx="8549640" cy="201168"/>
          </a:xfrm>
          <a:prstGeom prst="rect">
            <a:avLst/>
          </a:prstGeom>
          <a:noFill/>
        </p:spPr>
        <p:txBody>
          <a:bodyPr wrap="square" lIns="0" rIns="0" tIns="0" bIns="0" anchor="t">
            <a:spAutoFit/>
          </a:bodyPr>
          <a:lstStyle/>
          <a:p>
            <a:pPr algn="l"/>
            <a:r>
              <a:rPr sz="1350" b="1" i="0">
                <a:solidFill>
                  <a:srgbClr val="F4F7FA"/>
                </a:solidFill>
                <a:latin typeface="Aptos"/>
              </a:rPr>
              <a:t>Turn manual leak inspection into an automated inspection and intelligence workflow.</a:t>
            </a:r>
          </a:p>
        </p:txBody>
      </p:sp>
      <p:sp>
        <p:nvSpPr>
          <p:cNvPr id="28" name="Rounded Rectangle 27"/>
          <p:cNvSpPr/>
          <p:nvPr/>
        </p:nvSpPr>
        <p:spPr>
          <a:xfrm>
            <a:off x="10277856" y="1627632"/>
            <a:ext cx="950976" cy="246888"/>
          </a:xfrm>
          <a:prstGeom prst="roundRect">
            <a:avLst/>
          </a:prstGeom>
          <a:solidFill>
            <a:srgbClr val="172330"/>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77856" y="1632204"/>
            <a:ext cx="950976" cy="228600"/>
          </a:xfrm>
          <a:prstGeom prst="rect">
            <a:avLst/>
          </a:prstGeom>
          <a:noFill/>
        </p:spPr>
        <p:txBody>
          <a:bodyPr wrap="square" lIns="9144" rIns="9144" tIns="9144" bIns="9144" anchor="ctr">
            <a:spAutoFit/>
          </a:bodyPr>
          <a:lstStyle/>
          <a:p>
            <a:pPr algn="ctr"/>
            <a:r>
              <a:rPr sz="680" b="1" i="0">
                <a:solidFill>
                  <a:srgbClr val="48E0D2"/>
                </a:solidFill>
                <a:latin typeface="Aptos"/>
              </a:rPr>
              <a:t>MVP FLOW</a:t>
            </a:r>
          </a:p>
        </p:txBody>
      </p:sp>
      <p:sp>
        <p:nvSpPr>
          <p:cNvPr id="30" name="Rounded Rectangle 29"/>
          <p:cNvSpPr/>
          <p:nvPr/>
        </p:nvSpPr>
        <p:spPr>
          <a:xfrm>
            <a:off x="621792" y="248716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2642616"/>
            <a:ext cx="283464" cy="28346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2645359"/>
            <a:ext cx="283464" cy="274320"/>
          </a:xfrm>
          <a:prstGeom prst="rect">
            <a:avLst/>
          </a:prstGeom>
          <a:noFill/>
        </p:spPr>
        <p:txBody>
          <a:bodyPr wrap="square" lIns="0" rIns="0" tIns="0" bIns="0" anchor="ctr">
            <a:spAutoFit/>
          </a:bodyPr>
          <a:lstStyle/>
          <a:p>
            <a:pPr algn="ctr"/>
            <a:r>
              <a:rPr sz="850" b="1" i="0">
                <a:solidFill>
                  <a:srgbClr val="0A0F15"/>
                </a:solidFill>
                <a:latin typeface="Aptos"/>
              </a:rPr>
              <a:t>1</a:t>
            </a:r>
          </a:p>
        </p:txBody>
      </p:sp>
      <p:sp>
        <p:nvSpPr>
          <p:cNvPr id="33" name="Rounded Rectangle 32"/>
          <p:cNvSpPr/>
          <p:nvPr/>
        </p:nvSpPr>
        <p:spPr>
          <a:xfrm>
            <a:off x="2334280" y="2689433"/>
            <a:ext cx="360639" cy="254568"/>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392619" y="2742468"/>
            <a:ext cx="84856" cy="68945"/>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551724" y="2742468"/>
            <a:ext cx="84856" cy="68945"/>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2514600" y="2625791"/>
            <a:ext cx="0" cy="63642"/>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2493385" y="2599273"/>
            <a:ext cx="42428" cy="4242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2302459" y="2986430"/>
            <a:ext cx="424281"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2350190" y="2922788"/>
            <a:ext cx="95463" cy="95463"/>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594152" y="2922788"/>
            <a:ext cx="95463" cy="95463"/>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2514600" y="2944002"/>
            <a:ext cx="0" cy="116677"/>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77240" y="3054096"/>
            <a:ext cx="2057400" cy="237744"/>
          </a:xfrm>
          <a:prstGeom prst="rect">
            <a:avLst/>
          </a:prstGeom>
          <a:noFill/>
        </p:spPr>
        <p:txBody>
          <a:bodyPr wrap="square" lIns="0" rIns="0" tIns="0" bIns="0" anchor="t">
            <a:spAutoFit/>
          </a:bodyPr>
          <a:lstStyle/>
          <a:p>
            <a:pPr algn="l"/>
            <a:r>
              <a:rPr sz="919" b="1" i="0">
                <a:solidFill>
                  <a:srgbClr val="F4F7FA"/>
                </a:solidFill>
                <a:latin typeface="Aptos"/>
              </a:rPr>
              <a:t>Robot patrol</a:t>
            </a:r>
          </a:p>
        </p:txBody>
      </p:sp>
      <p:sp>
        <p:nvSpPr>
          <p:cNvPr id="43" name="TextBox 42"/>
          <p:cNvSpPr txBox="1"/>
          <p:nvPr/>
        </p:nvSpPr>
        <p:spPr>
          <a:xfrm>
            <a:off x="777240" y="3319272"/>
            <a:ext cx="2057400" cy="374903"/>
          </a:xfrm>
          <a:prstGeom prst="rect">
            <a:avLst/>
          </a:prstGeom>
          <a:noFill/>
        </p:spPr>
        <p:txBody>
          <a:bodyPr wrap="square" lIns="0" rIns="0" tIns="0" bIns="0" anchor="t">
            <a:spAutoFit/>
          </a:bodyPr>
          <a:lstStyle/>
          <a:p>
            <a:pPr algn="l"/>
            <a:r>
              <a:rPr sz="740" b="0" i="0">
                <a:solidFill>
                  <a:srgbClr val="9AA9B8"/>
                </a:solidFill>
                <a:latin typeface="Aptos"/>
              </a:rPr>
              <a:t>predefined route</a:t>
            </a:r>
          </a:p>
        </p:txBody>
      </p:sp>
      <p:sp>
        <p:nvSpPr>
          <p:cNvPr id="44" name="Chevron 43"/>
          <p:cNvSpPr/>
          <p:nvPr/>
        </p:nvSpPr>
        <p:spPr>
          <a:xfrm>
            <a:off x="3026664" y="2999232"/>
            <a:ext cx="164592"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300984" y="248716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456432" y="2642616"/>
            <a:ext cx="283464" cy="283464"/>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56432" y="2645359"/>
            <a:ext cx="283464" cy="274320"/>
          </a:xfrm>
          <a:prstGeom prst="rect">
            <a:avLst/>
          </a:prstGeom>
          <a:noFill/>
        </p:spPr>
        <p:txBody>
          <a:bodyPr wrap="square" lIns="0" rIns="0" tIns="0" bIns="0" anchor="ctr">
            <a:spAutoFit/>
          </a:bodyPr>
          <a:lstStyle/>
          <a:p>
            <a:pPr algn="ctr"/>
            <a:r>
              <a:rPr sz="850" b="1" i="0">
                <a:solidFill>
                  <a:srgbClr val="0A0F15"/>
                </a:solidFill>
                <a:latin typeface="Aptos"/>
              </a:rPr>
              <a:t>2</a:t>
            </a:r>
          </a:p>
        </p:txBody>
      </p:sp>
      <p:cxnSp>
        <p:nvCxnSpPr>
          <p:cNvPr id="48" name="Connector 47"/>
          <p:cNvCxnSpPr/>
          <p:nvPr/>
        </p:nvCxnSpPr>
        <p:spPr>
          <a:xfrm flipV="1">
            <a:off x="5193792" y="2721254"/>
            <a:ext cx="0" cy="180320"/>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5045293" y="2647005"/>
            <a:ext cx="148499" cy="7424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193792" y="2647005"/>
            <a:ext cx="148498" cy="7424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193792" y="2647005"/>
            <a:ext cx="0" cy="7424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093025" y="2918810"/>
            <a:ext cx="45345" cy="68150"/>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5249213" y="2918810"/>
            <a:ext cx="45345" cy="68150"/>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5013472" y="2898922"/>
            <a:ext cx="81144" cy="80083"/>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292967" y="2898922"/>
            <a:ext cx="81144" cy="80083"/>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933919" y="2879034"/>
            <a:ext cx="116943" cy="9201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336721" y="2879034"/>
            <a:ext cx="116943" cy="9201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456432" y="3054096"/>
            <a:ext cx="2057400" cy="237744"/>
          </a:xfrm>
          <a:prstGeom prst="rect">
            <a:avLst/>
          </a:prstGeom>
          <a:noFill/>
        </p:spPr>
        <p:txBody>
          <a:bodyPr wrap="square" lIns="0" rIns="0" tIns="0" bIns="0" anchor="t">
            <a:spAutoFit/>
          </a:bodyPr>
          <a:lstStyle/>
          <a:p>
            <a:pPr algn="l"/>
            <a:r>
              <a:rPr sz="919" b="1" i="0">
                <a:solidFill>
                  <a:srgbClr val="F4F7FA"/>
                </a:solidFill>
                <a:latin typeface="Aptos"/>
              </a:rPr>
              <a:t>Acoustic sense</a:t>
            </a:r>
          </a:p>
        </p:txBody>
      </p:sp>
      <p:sp>
        <p:nvSpPr>
          <p:cNvPr id="59" name="TextBox 58"/>
          <p:cNvSpPr txBox="1"/>
          <p:nvPr/>
        </p:nvSpPr>
        <p:spPr>
          <a:xfrm>
            <a:off x="3456432" y="3319272"/>
            <a:ext cx="2057400" cy="374903"/>
          </a:xfrm>
          <a:prstGeom prst="rect">
            <a:avLst/>
          </a:prstGeom>
          <a:noFill/>
        </p:spPr>
        <p:txBody>
          <a:bodyPr wrap="square" lIns="0" rIns="0" tIns="0" bIns="0" anchor="t">
            <a:spAutoFit/>
          </a:bodyPr>
          <a:lstStyle/>
          <a:p>
            <a:pPr algn="l"/>
            <a:r>
              <a:rPr sz="740" b="0" i="0">
                <a:solidFill>
                  <a:srgbClr val="9AA9B8"/>
                </a:solidFill>
                <a:latin typeface="Aptos"/>
              </a:rPr>
              <a:t>capture while moving</a:t>
            </a:r>
          </a:p>
        </p:txBody>
      </p:sp>
      <p:sp>
        <p:nvSpPr>
          <p:cNvPr id="60" name="Chevron 59"/>
          <p:cNvSpPr/>
          <p:nvPr/>
        </p:nvSpPr>
        <p:spPr>
          <a:xfrm>
            <a:off x="5705855" y="2999232"/>
            <a:ext cx="164592"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980175" y="248716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135623" y="2642616"/>
            <a:ext cx="283464" cy="283464"/>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135623" y="2645359"/>
            <a:ext cx="283464" cy="274320"/>
          </a:xfrm>
          <a:prstGeom prst="rect">
            <a:avLst/>
          </a:prstGeom>
          <a:noFill/>
        </p:spPr>
        <p:txBody>
          <a:bodyPr wrap="square" lIns="0" rIns="0" tIns="0" bIns="0" anchor="ctr">
            <a:spAutoFit/>
          </a:bodyPr>
          <a:lstStyle/>
          <a:p>
            <a:pPr algn="ctr"/>
            <a:r>
              <a:rPr sz="850" b="1" i="0">
                <a:solidFill>
                  <a:srgbClr val="0A0F15"/>
                </a:solidFill>
                <a:latin typeface="Aptos"/>
              </a:rPr>
              <a:t>3</a:t>
            </a:r>
          </a:p>
        </p:txBody>
      </p:sp>
      <p:cxnSp>
        <p:nvCxnSpPr>
          <p:cNvPr id="64" name="Connector 63"/>
          <p:cNvCxnSpPr/>
          <p:nvPr/>
        </p:nvCxnSpPr>
        <p:spPr>
          <a:xfrm>
            <a:off x="7671450" y="2678826"/>
            <a:ext cx="371246" cy="0"/>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740395" y="2800807"/>
            <a:ext cx="233355" cy="0"/>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814645" y="2922788"/>
            <a:ext cx="84856" cy="0"/>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135623" y="3054096"/>
            <a:ext cx="2057400" cy="237744"/>
          </a:xfrm>
          <a:prstGeom prst="rect">
            <a:avLst/>
          </a:prstGeom>
          <a:noFill/>
        </p:spPr>
        <p:txBody>
          <a:bodyPr wrap="square" lIns="0" rIns="0" tIns="0" bIns="0" anchor="t">
            <a:spAutoFit/>
          </a:bodyPr>
          <a:lstStyle/>
          <a:p>
            <a:pPr algn="l"/>
            <a:r>
              <a:rPr sz="919" b="1" i="0">
                <a:solidFill>
                  <a:srgbClr val="F4F7FA"/>
                </a:solidFill>
                <a:latin typeface="Aptos"/>
              </a:rPr>
              <a:t>Preprocess</a:t>
            </a:r>
          </a:p>
        </p:txBody>
      </p:sp>
      <p:sp>
        <p:nvSpPr>
          <p:cNvPr id="68" name="TextBox 67"/>
          <p:cNvSpPr txBox="1"/>
          <p:nvPr/>
        </p:nvSpPr>
        <p:spPr>
          <a:xfrm>
            <a:off x="6135623" y="3319272"/>
            <a:ext cx="2057400" cy="374903"/>
          </a:xfrm>
          <a:prstGeom prst="rect">
            <a:avLst/>
          </a:prstGeom>
          <a:noFill/>
        </p:spPr>
        <p:txBody>
          <a:bodyPr wrap="square" lIns="0" rIns="0" tIns="0" bIns="0" anchor="t">
            <a:spAutoFit/>
          </a:bodyPr>
          <a:lstStyle/>
          <a:p>
            <a:pPr algn="l"/>
            <a:r>
              <a:rPr sz="740" b="0" i="0">
                <a:solidFill>
                  <a:srgbClr val="9AA9B8"/>
                </a:solidFill>
                <a:latin typeface="Aptos"/>
              </a:rPr>
              <a:t>filter + window</a:t>
            </a:r>
          </a:p>
        </p:txBody>
      </p:sp>
      <p:sp>
        <p:nvSpPr>
          <p:cNvPr id="69" name="Chevron 68"/>
          <p:cNvSpPr/>
          <p:nvPr/>
        </p:nvSpPr>
        <p:spPr>
          <a:xfrm>
            <a:off x="8385047" y="2999232"/>
            <a:ext cx="164592"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659367" y="248716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814815" y="2642616"/>
            <a:ext cx="283464" cy="283464"/>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814815" y="2645359"/>
            <a:ext cx="283464" cy="274320"/>
          </a:xfrm>
          <a:prstGeom prst="rect">
            <a:avLst/>
          </a:prstGeom>
          <a:noFill/>
        </p:spPr>
        <p:txBody>
          <a:bodyPr wrap="square" lIns="0" rIns="0" tIns="0" bIns="0" anchor="ctr">
            <a:spAutoFit/>
          </a:bodyPr>
          <a:lstStyle/>
          <a:p>
            <a:pPr algn="ctr"/>
            <a:r>
              <a:rPr sz="850" b="1" i="0">
                <a:solidFill>
                  <a:srgbClr val="0A0F15"/>
                </a:solidFill>
                <a:latin typeface="Aptos"/>
              </a:rPr>
              <a:t>4</a:t>
            </a:r>
          </a:p>
        </p:txBody>
      </p:sp>
      <p:sp>
        <p:nvSpPr>
          <p:cNvPr id="73" name="Oval 72"/>
          <p:cNvSpPr/>
          <p:nvPr/>
        </p:nvSpPr>
        <p:spPr>
          <a:xfrm>
            <a:off x="10382463" y="2668219"/>
            <a:ext cx="169712" cy="201533"/>
          </a:xfrm>
          <a:prstGeom prst="ellipse">
            <a:avLst/>
          </a:prstGeom>
          <a:solidFill>
            <a:srgbClr val="0A0F15"/>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515051" y="2668219"/>
            <a:ext cx="169712" cy="201533"/>
          </a:xfrm>
          <a:prstGeom prst="ellipse">
            <a:avLst/>
          </a:prstGeom>
          <a:solidFill>
            <a:srgbClr val="0A0F15"/>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0552175" y="2678826"/>
            <a:ext cx="0" cy="190926"/>
          </a:xfrm>
          <a:prstGeom prst="line">
            <a:avLst/>
          </a:prstGeom>
          <a:ln w="12700">
            <a:solidFill>
              <a:srgbClr val="B796F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430195" y="2747772"/>
            <a:ext cx="79552" cy="0"/>
          </a:xfrm>
          <a:prstGeom prst="line">
            <a:avLst/>
          </a:prstGeom>
          <a:ln w="11430">
            <a:solidFill>
              <a:srgbClr val="B796FF"/>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0594604" y="2795503"/>
            <a:ext cx="79552" cy="0"/>
          </a:xfrm>
          <a:prstGeom prst="line">
            <a:avLst/>
          </a:prstGeom>
          <a:ln w="11430">
            <a:solidFill>
              <a:srgbClr val="B796FF"/>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10446105" y="2689433"/>
            <a:ext cx="37124" cy="37124"/>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610514" y="2837931"/>
            <a:ext cx="37124" cy="37124"/>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814815" y="3054096"/>
            <a:ext cx="2057400" cy="237744"/>
          </a:xfrm>
          <a:prstGeom prst="rect">
            <a:avLst/>
          </a:prstGeom>
          <a:noFill/>
        </p:spPr>
        <p:txBody>
          <a:bodyPr wrap="square" lIns="0" rIns="0" tIns="0" bIns="0" anchor="t">
            <a:spAutoFit/>
          </a:bodyPr>
          <a:lstStyle/>
          <a:p>
            <a:pPr algn="l"/>
            <a:r>
              <a:rPr sz="919" b="1" i="0">
                <a:solidFill>
                  <a:srgbClr val="F4F7FA"/>
                </a:solidFill>
                <a:latin typeface="Aptos"/>
              </a:rPr>
              <a:t>Edge AI</a:t>
            </a:r>
          </a:p>
        </p:txBody>
      </p:sp>
      <p:sp>
        <p:nvSpPr>
          <p:cNvPr id="81" name="TextBox 80"/>
          <p:cNvSpPr txBox="1"/>
          <p:nvPr/>
        </p:nvSpPr>
        <p:spPr>
          <a:xfrm>
            <a:off x="8814815" y="3319272"/>
            <a:ext cx="2057400" cy="374903"/>
          </a:xfrm>
          <a:prstGeom prst="rect">
            <a:avLst/>
          </a:prstGeom>
          <a:noFill/>
        </p:spPr>
        <p:txBody>
          <a:bodyPr wrap="square" lIns="0" rIns="0" tIns="0" bIns="0" anchor="t">
            <a:spAutoFit/>
          </a:bodyPr>
          <a:lstStyle/>
          <a:p>
            <a:pPr algn="l"/>
            <a:r>
              <a:rPr sz="740" b="0" i="0">
                <a:solidFill>
                  <a:srgbClr val="9AA9B8"/>
                </a:solidFill>
                <a:latin typeface="Aptos"/>
              </a:rPr>
              <a:t>classify locally</a:t>
            </a:r>
          </a:p>
        </p:txBody>
      </p:sp>
      <p:sp>
        <p:nvSpPr>
          <p:cNvPr id="82" name="Rounded Rectangle 81"/>
          <p:cNvSpPr/>
          <p:nvPr/>
        </p:nvSpPr>
        <p:spPr>
          <a:xfrm>
            <a:off x="621792" y="422452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77240" y="4379976"/>
            <a:ext cx="283464" cy="283464"/>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77240" y="4382719"/>
            <a:ext cx="283464" cy="274320"/>
          </a:xfrm>
          <a:prstGeom prst="rect">
            <a:avLst/>
          </a:prstGeom>
          <a:noFill/>
        </p:spPr>
        <p:txBody>
          <a:bodyPr wrap="square" lIns="0" rIns="0" tIns="0" bIns="0" anchor="ctr">
            <a:spAutoFit/>
          </a:bodyPr>
          <a:lstStyle/>
          <a:p>
            <a:pPr algn="ctr"/>
            <a:r>
              <a:rPr sz="850" b="1" i="0">
                <a:solidFill>
                  <a:srgbClr val="0A0F15"/>
                </a:solidFill>
                <a:latin typeface="Aptos"/>
              </a:rPr>
              <a:t>5</a:t>
            </a:r>
          </a:p>
        </p:txBody>
      </p:sp>
      <p:sp>
        <p:nvSpPr>
          <p:cNvPr id="85" name="Isosceles Triangle 84"/>
          <p:cNvSpPr/>
          <p:nvPr/>
        </p:nvSpPr>
        <p:spPr>
          <a:xfrm>
            <a:off x="2249424" y="4352544"/>
            <a:ext cx="381853" cy="339425"/>
          </a:xfrm>
          <a:prstGeom prst="triangle">
            <a:avLst/>
          </a:prstGeom>
          <a:solidFill>
            <a:srgbClr val="0A0F15"/>
          </a:solidFill>
          <a:ln w="1651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366101" y="4448007"/>
            <a:ext cx="148498" cy="159105"/>
          </a:xfrm>
          <a:prstGeom prst="rect">
            <a:avLst/>
          </a:prstGeom>
          <a:noFill/>
        </p:spPr>
        <p:txBody>
          <a:bodyPr wrap="square" lIns="0" rIns="0" tIns="0" bIns="0" anchor="t">
            <a:spAutoFit/>
          </a:bodyPr>
          <a:lstStyle/>
          <a:p>
            <a:pPr algn="ctr"/>
            <a:r>
              <a:rPr sz="753" b="1" i="0">
                <a:solidFill>
                  <a:srgbClr val="FF6B6B"/>
                </a:solidFill>
                <a:latin typeface="Aptos"/>
              </a:rPr>
              <a:t>!</a:t>
            </a:r>
          </a:p>
        </p:txBody>
      </p:sp>
      <p:sp>
        <p:nvSpPr>
          <p:cNvPr id="87" name="TextBox 86"/>
          <p:cNvSpPr txBox="1"/>
          <p:nvPr/>
        </p:nvSpPr>
        <p:spPr>
          <a:xfrm>
            <a:off x="777240" y="4791456"/>
            <a:ext cx="2057400" cy="237744"/>
          </a:xfrm>
          <a:prstGeom prst="rect">
            <a:avLst/>
          </a:prstGeom>
          <a:noFill/>
        </p:spPr>
        <p:txBody>
          <a:bodyPr wrap="square" lIns="0" rIns="0" tIns="0" bIns="0" anchor="t">
            <a:spAutoFit/>
          </a:bodyPr>
          <a:lstStyle/>
          <a:p>
            <a:pPr algn="l"/>
            <a:r>
              <a:rPr sz="919" b="1" i="0">
                <a:solidFill>
                  <a:srgbClr val="F4F7FA"/>
                </a:solidFill>
                <a:latin typeface="Aptos"/>
              </a:rPr>
              <a:t>Leak detected</a:t>
            </a:r>
          </a:p>
        </p:txBody>
      </p:sp>
      <p:sp>
        <p:nvSpPr>
          <p:cNvPr id="88" name="TextBox 87"/>
          <p:cNvSpPr txBox="1"/>
          <p:nvPr/>
        </p:nvSpPr>
        <p:spPr>
          <a:xfrm>
            <a:off x="777240" y="5056632"/>
            <a:ext cx="2057400" cy="374903"/>
          </a:xfrm>
          <a:prstGeom prst="rect">
            <a:avLst/>
          </a:prstGeom>
          <a:noFill/>
        </p:spPr>
        <p:txBody>
          <a:bodyPr wrap="square" lIns="0" rIns="0" tIns="0" bIns="0" anchor="t">
            <a:spAutoFit/>
          </a:bodyPr>
          <a:lstStyle/>
          <a:p>
            <a:pPr algn="l"/>
            <a:r>
              <a:rPr sz="740" b="0" i="0">
                <a:solidFill>
                  <a:srgbClr val="9AA9B8"/>
                </a:solidFill>
                <a:latin typeface="Aptos"/>
              </a:rPr>
              <a:t>leak / no leak</a:t>
            </a:r>
          </a:p>
        </p:txBody>
      </p:sp>
      <p:sp>
        <p:nvSpPr>
          <p:cNvPr id="89" name="Chevron 88"/>
          <p:cNvSpPr/>
          <p:nvPr/>
        </p:nvSpPr>
        <p:spPr>
          <a:xfrm>
            <a:off x="3026664" y="4736592"/>
            <a:ext cx="164592"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3300984" y="422452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456432" y="4379976"/>
            <a:ext cx="283464" cy="28346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456432" y="4382719"/>
            <a:ext cx="283464" cy="274320"/>
          </a:xfrm>
          <a:prstGeom prst="rect">
            <a:avLst/>
          </a:prstGeom>
          <a:noFill/>
        </p:spPr>
        <p:txBody>
          <a:bodyPr wrap="square" lIns="0" rIns="0" tIns="0" bIns="0" anchor="ctr">
            <a:spAutoFit/>
          </a:bodyPr>
          <a:lstStyle/>
          <a:p>
            <a:pPr algn="ctr"/>
            <a:r>
              <a:rPr sz="850" b="1" i="0">
                <a:solidFill>
                  <a:srgbClr val="0A0F15"/>
                </a:solidFill>
                <a:latin typeface="Aptos"/>
              </a:rPr>
              <a:t>6</a:t>
            </a:r>
          </a:p>
        </p:txBody>
      </p:sp>
      <p:sp>
        <p:nvSpPr>
          <p:cNvPr id="93" name="Oval 92"/>
          <p:cNvSpPr/>
          <p:nvPr/>
        </p:nvSpPr>
        <p:spPr>
          <a:xfrm>
            <a:off x="5024079" y="4363151"/>
            <a:ext cx="169712" cy="169712"/>
          </a:xfrm>
          <a:prstGeom prst="ellipse">
            <a:avLst/>
          </a:prstGeom>
          <a:solidFill>
            <a:srgbClr val="0A0F15"/>
          </a:solidFill>
          <a:ln w="1397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5108935" y="4532863"/>
            <a:ext cx="0" cy="159106"/>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5034686" y="4596505"/>
            <a:ext cx="74249" cy="95464"/>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108935" y="4596505"/>
            <a:ext cx="74249" cy="95464"/>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3456432" y="4791456"/>
            <a:ext cx="2057400" cy="237744"/>
          </a:xfrm>
          <a:prstGeom prst="rect">
            <a:avLst/>
          </a:prstGeom>
          <a:noFill/>
        </p:spPr>
        <p:txBody>
          <a:bodyPr wrap="square" lIns="0" rIns="0" tIns="0" bIns="0" anchor="t">
            <a:spAutoFit/>
          </a:bodyPr>
          <a:lstStyle/>
          <a:p>
            <a:pPr algn="l"/>
            <a:r>
              <a:rPr sz="919" b="1" i="0">
                <a:solidFill>
                  <a:srgbClr val="F4F7FA"/>
                </a:solidFill>
                <a:latin typeface="Aptos"/>
              </a:rPr>
              <a:t>Locate</a:t>
            </a:r>
          </a:p>
        </p:txBody>
      </p:sp>
      <p:sp>
        <p:nvSpPr>
          <p:cNvPr id="98" name="TextBox 97"/>
          <p:cNvSpPr txBox="1"/>
          <p:nvPr/>
        </p:nvSpPr>
        <p:spPr>
          <a:xfrm>
            <a:off x="3456432" y="5056632"/>
            <a:ext cx="2057400" cy="374903"/>
          </a:xfrm>
          <a:prstGeom prst="rect">
            <a:avLst/>
          </a:prstGeom>
          <a:noFill/>
        </p:spPr>
        <p:txBody>
          <a:bodyPr wrap="square" lIns="0" rIns="0" tIns="0" bIns="0" anchor="t">
            <a:spAutoFit/>
          </a:bodyPr>
          <a:lstStyle/>
          <a:p>
            <a:pPr algn="l"/>
            <a:r>
              <a:rPr sz="740" b="0" i="0">
                <a:solidFill>
                  <a:srgbClr val="9AA9B8"/>
                </a:solidFill>
                <a:latin typeface="Aptos"/>
              </a:rPr>
              <a:t>route + distance</a:t>
            </a:r>
          </a:p>
        </p:txBody>
      </p:sp>
      <p:sp>
        <p:nvSpPr>
          <p:cNvPr id="99" name="Chevron 98"/>
          <p:cNvSpPr/>
          <p:nvPr/>
        </p:nvSpPr>
        <p:spPr>
          <a:xfrm>
            <a:off x="5705855" y="4736592"/>
            <a:ext cx="164592"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5980175" y="422452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135623" y="4379976"/>
            <a:ext cx="283464" cy="283464"/>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135623" y="4382719"/>
            <a:ext cx="283464" cy="274320"/>
          </a:xfrm>
          <a:prstGeom prst="rect">
            <a:avLst/>
          </a:prstGeom>
          <a:noFill/>
        </p:spPr>
        <p:txBody>
          <a:bodyPr wrap="square" lIns="0" rIns="0" tIns="0" bIns="0" anchor="ctr">
            <a:spAutoFit/>
          </a:bodyPr>
          <a:lstStyle/>
          <a:p>
            <a:pPr algn="ctr"/>
            <a:r>
              <a:rPr sz="850" b="1" i="0">
                <a:solidFill>
                  <a:srgbClr val="0A0F15"/>
                </a:solidFill>
                <a:latin typeface="Aptos"/>
              </a:rPr>
              <a:t>7</a:t>
            </a:r>
          </a:p>
        </p:txBody>
      </p:sp>
      <p:cxnSp>
        <p:nvCxnSpPr>
          <p:cNvPr id="103" name="Connector 102"/>
          <p:cNvCxnSpPr/>
          <p:nvPr/>
        </p:nvCxnSpPr>
        <p:spPr>
          <a:xfrm flipV="1">
            <a:off x="7724485" y="4448007"/>
            <a:ext cx="212141" cy="212141"/>
          </a:xfrm>
          <a:prstGeom prst="line">
            <a:avLst/>
          </a:prstGeom>
          <a:ln w="30480">
            <a:solidFill>
              <a:srgbClr val="F4B860"/>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7883591" y="4373758"/>
            <a:ext cx="116677" cy="116677"/>
          </a:xfrm>
          <a:prstGeom prst="ellipse">
            <a:avLst/>
          </a:prstGeom>
          <a:solidFill>
            <a:srgbClr val="0A0F15"/>
          </a:solidFill>
          <a:ln w="1905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7899501" y="4373758"/>
            <a:ext cx="90160" cy="90159"/>
          </a:xfrm>
          <a:prstGeom prst="line">
            <a:avLst/>
          </a:prstGeom>
          <a:ln w="38100">
            <a:solidFill>
              <a:srgbClr val="0A0F15"/>
            </a:solidFill>
          </a:ln>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7660843" y="4607112"/>
            <a:ext cx="121980" cy="121980"/>
          </a:xfrm>
          <a:prstGeom prst="ellipse">
            <a:avLst/>
          </a:prstGeom>
          <a:solidFill>
            <a:srgbClr val="0A0F15"/>
          </a:solidFill>
          <a:ln w="1778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135623" y="4791456"/>
            <a:ext cx="2057400" cy="237744"/>
          </a:xfrm>
          <a:prstGeom prst="rect">
            <a:avLst/>
          </a:prstGeom>
          <a:noFill/>
        </p:spPr>
        <p:txBody>
          <a:bodyPr wrap="square" lIns="0" rIns="0" tIns="0" bIns="0" anchor="t">
            <a:spAutoFit/>
          </a:bodyPr>
          <a:lstStyle/>
          <a:p>
            <a:pPr algn="l"/>
            <a:r>
              <a:rPr sz="919" b="1" i="0">
                <a:solidFill>
                  <a:srgbClr val="F4F7FA"/>
                </a:solidFill>
                <a:latin typeface="Aptos"/>
              </a:rPr>
              <a:t>Prioritize</a:t>
            </a:r>
          </a:p>
        </p:txBody>
      </p:sp>
      <p:sp>
        <p:nvSpPr>
          <p:cNvPr id="108" name="TextBox 107"/>
          <p:cNvSpPr txBox="1"/>
          <p:nvPr/>
        </p:nvSpPr>
        <p:spPr>
          <a:xfrm>
            <a:off x="6135623" y="5056632"/>
            <a:ext cx="2057400" cy="374903"/>
          </a:xfrm>
          <a:prstGeom prst="rect">
            <a:avLst/>
          </a:prstGeom>
          <a:noFill/>
        </p:spPr>
        <p:txBody>
          <a:bodyPr wrap="square" lIns="0" rIns="0" tIns="0" bIns="0" anchor="t">
            <a:spAutoFit/>
          </a:bodyPr>
          <a:lstStyle/>
          <a:p>
            <a:pPr algn="l"/>
            <a:r>
              <a:rPr sz="740" b="0" i="0">
                <a:solidFill>
                  <a:srgbClr val="9AA9B8"/>
                </a:solidFill>
                <a:latin typeface="Aptos"/>
              </a:rPr>
              <a:t>severity / action</a:t>
            </a:r>
          </a:p>
        </p:txBody>
      </p:sp>
      <p:sp>
        <p:nvSpPr>
          <p:cNvPr id="109" name="Chevron 108"/>
          <p:cNvSpPr/>
          <p:nvPr/>
        </p:nvSpPr>
        <p:spPr>
          <a:xfrm>
            <a:off x="8385047" y="4736592"/>
            <a:ext cx="164592"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8659367" y="4224528"/>
            <a:ext cx="2313432" cy="1261872"/>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814815" y="4379976"/>
            <a:ext cx="283464" cy="283464"/>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814815" y="4382719"/>
            <a:ext cx="283464" cy="274320"/>
          </a:xfrm>
          <a:prstGeom prst="rect">
            <a:avLst/>
          </a:prstGeom>
          <a:noFill/>
        </p:spPr>
        <p:txBody>
          <a:bodyPr wrap="square" lIns="0" rIns="0" tIns="0" bIns="0" anchor="ctr">
            <a:spAutoFit/>
          </a:bodyPr>
          <a:lstStyle/>
          <a:p>
            <a:pPr algn="ctr"/>
            <a:r>
              <a:rPr sz="850" b="1" i="0">
                <a:solidFill>
                  <a:srgbClr val="0A0F15"/>
                </a:solidFill>
                <a:latin typeface="Aptos"/>
              </a:rPr>
              <a:t>8</a:t>
            </a:r>
          </a:p>
        </p:txBody>
      </p:sp>
      <p:sp>
        <p:nvSpPr>
          <p:cNvPr id="113" name="Rounded Rectangle 112"/>
          <p:cNvSpPr/>
          <p:nvPr/>
        </p:nvSpPr>
        <p:spPr>
          <a:xfrm>
            <a:off x="10286999" y="4352544"/>
            <a:ext cx="328818" cy="146304"/>
          </a:xfrm>
          <a:prstGeom prst="roundRect">
            <a:avLst/>
          </a:prstGeom>
          <a:solidFill>
            <a:srgbClr val="0A0F15"/>
          </a:solidFill>
          <a:ln w="1143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360151" y="4402836"/>
            <a:ext cx="45720" cy="457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5" name="Connector 114"/>
          <p:cNvCxnSpPr/>
          <p:nvPr/>
        </p:nvCxnSpPr>
        <p:spPr>
          <a:xfrm>
            <a:off x="10506455" y="4425696"/>
            <a:ext cx="36211" cy="0"/>
          </a:xfrm>
          <a:prstGeom prst="line">
            <a:avLst/>
          </a:prstGeom>
          <a:ln w="8890">
            <a:solidFill>
              <a:srgbClr val="7FE0A4"/>
            </a:solidFill>
          </a:ln>
        </p:spPr>
        <p:style>
          <a:lnRef idx="2">
            <a:schemeClr val="accent1"/>
          </a:lnRef>
          <a:fillRef idx="0">
            <a:schemeClr val="accent1"/>
          </a:fillRef>
          <a:effectRef idx="1">
            <a:schemeClr val="accent1"/>
          </a:effectRef>
          <a:fontRef idx="minor">
            <a:schemeClr val="tx1"/>
          </a:fontRef>
        </p:style>
      </p:cxnSp>
      <p:sp>
        <p:nvSpPr>
          <p:cNvPr id="116" name="Rounded Rectangle 115"/>
          <p:cNvSpPr/>
          <p:nvPr/>
        </p:nvSpPr>
        <p:spPr>
          <a:xfrm>
            <a:off x="10286999" y="4553712"/>
            <a:ext cx="328818" cy="146304"/>
          </a:xfrm>
          <a:prstGeom prst="roundRect">
            <a:avLst/>
          </a:prstGeom>
          <a:solidFill>
            <a:srgbClr val="0A0F15"/>
          </a:solidFill>
          <a:ln w="1143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360151" y="4604003"/>
            <a:ext cx="45720" cy="457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8" name="Connector 117"/>
          <p:cNvCxnSpPr/>
          <p:nvPr/>
        </p:nvCxnSpPr>
        <p:spPr>
          <a:xfrm>
            <a:off x="10506455" y="4626864"/>
            <a:ext cx="36211" cy="0"/>
          </a:xfrm>
          <a:prstGeom prst="line">
            <a:avLst/>
          </a:prstGeom>
          <a:ln w="8890">
            <a:solidFill>
              <a:srgbClr val="7FE0A4"/>
            </a:solidFill>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10286999" y="4754880"/>
            <a:ext cx="328818" cy="146304"/>
          </a:xfrm>
          <a:prstGeom prst="roundRect">
            <a:avLst/>
          </a:prstGeom>
          <a:solidFill>
            <a:srgbClr val="0A0F15"/>
          </a:solidFill>
          <a:ln w="1143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0360151" y="4805172"/>
            <a:ext cx="45720" cy="457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10506455" y="4828032"/>
            <a:ext cx="36211" cy="0"/>
          </a:xfrm>
          <a:prstGeom prst="line">
            <a:avLst/>
          </a:prstGeom>
          <a:ln w="8890">
            <a:solidFill>
              <a:srgbClr val="7FE0A4"/>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8814815" y="4791456"/>
            <a:ext cx="2057400" cy="237744"/>
          </a:xfrm>
          <a:prstGeom prst="rect">
            <a:avLst/>
          </a:prstGeom>
          <a:noFill/>
        </p:spPr>
        <p:txBody>
          <a:bodyPr wrap="square" lIns="0" rIns="0" tIns="0" bIns="0" anchor="t">
            <a:spAutoFit/>
          </a:bodyPr>
          <a:lstStyle/>
          <a:p>
            <a:pPr algn="l"/>
            <a:r>
              <a:rPr sz="919" b="1" i="0">
                <a:solidFill>
                  <a:srgbClr val="F4F7FA"/>
                </a:solidFill>
                <a:latin typeface="Aptos"/>
              </a:rPr>
              <a:t>Alert</a:t>
            </a:r>
          </a:p>
        </p:txBody>
      </p:sp>
      <p:sp>
        <p:nvSpPr>
          <p:cNvPr id="123" name="TextBox 122"/>
          <p:cNvSpPr txBox="1"/>
          <p:nvPr/>
        </p:nvSpPr>
        <p:spPr>
          <a:xfrm>
            <a:off x="8814815" y="5056632"/>
            <a:ext cx="2057400" cy="374903"/>
          </a:xfrm>
          <a:prstGeom prst="rect">
            <a:avLst/>
          </a:prstGeom>
          <a:noFill/>
        </p:spPr>
        <p:txBody>
          <a:bodyPr wrap="square" lIns="0" rIns="0" tIns="0" bIns="0" anchor="t">
            <a:spAutoFit/>
          </a:bodyPr>
          <a:lstStyle/>
          <a:p>
            <a:pPr algn="l"/>
            <a:r>
              <a:rPr sz="740" b="0" i="0">
                <a:solidFill>
                  <a:srgbClr val="9AA9B8"/>
                </a:solidFill>
                <a:latin typeface="Aptos"/>
              </a:rPr>
              <a:t>dashboard record</a:t>
            </a:r>
          </a:p>
        </p:txBody>
      </p:sp>
      <p:cxnSp>
        <p:nvCxnSpPr>
          <p:cNvPr id="124" name="Connector 123"/>
          <p:cNvCxnSpPr/>
          <p:nvPr/>
        </p:nvCxnSpPr>
        <p:spPr>
          <a:xfrm>
            <a:off x="8531352" y="3749039"/>
            <a:ext cx="0" cy="329185"/>
          </a:xfrm>
          <a:prstGeom prst="line">
            <a:avLst/>
          </a:prstGeom>
          <a:ln w="12700">
            <a:solidFill>
              <a:srgbClr val="20313D"/>
            </a:solidFill>
          </a:ln>
        </p:spPr>
        <p:style>
          <a:lnRef idx="2">
            <a:schemeClr val="accent1"/>
          </a:lnRef>
          <a:fillRef idx="0">
            <a:schemeClr val="accent1"/>
          </a:fillRef>
          <a:effectRef idx="1">
            <a:schemeClr val="accent1"/>
          </a:effectRef>
          <a:fontRef idx="minor">
            <a:schemeClr val="tx1"/>
          </a:fontRef>
        </p:style>
      </p:cxnSp>
      <p:sp>
        <p:nvSpPr>
          <p:cNvPr id="125" name="Chevron 124"/>
          <p:cNvSpPr/>
          <p:nvPr/>
        </p:nvSpPr>
        <p:spPr>
          <a:xfrm>
            <a:off x="8430768" y="3904487"/>
            <a:ext cx="201168" cy="164592"/>
          </a:xfrm>
          <a:prstGeom prst="chevron">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621792" y="5788152"/>
            <a:ext cx="10936224" cy="338328"/>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41248" y="5879592"/>
            <a:ext cx="1097280" cy="146304"/>
          </a:xfrm>
          <a:prstGeom prst="rect">
            <a:avLst/>
          </a:prstGeom>
          <a:noFill/>
        </p:spPr>
        <p:txBody>
          <a:bodyPr wrap="square" lIns="0" rIns="0" tIns="0" bIns="0" anchor="t">
            <a:spAutoFit/>
          </a:bodyPr>
          <a:lstStyle/>
          <a:p>
            <a:pPr algn="l"/>
            <a:r>
              <a:rPr sz="700" b="1" i="0">
                <a:solidFill>
                  <a:srgbClr val="48E0D2"/>
                </a:solidFill>
                <a:latin typeface="Aptos"/>
              </a:rPr>
              <a:t>THE OUTPUT</a:t>
            </a:r>
          </a:p>
        </p:txBody>
      </p:sp>
      <p:sp>
        <p:nvSpPr>
          <p:cNvPr id="128" name="TextBox 127"/>
          <p:cNvSpPr txBox="1"/>
          <p:nvPr/>
        </p:nvSpPr>
        <p:spPr>
          <a:xfrm>
            <a:off x="1965960" y="5852160"/>
            <a:ext cx="9070848" cy="164592"/>
          </a:xfrm>
          <a:prstGeom prst="rect">
            <a:avLst/>
          </a:prstGeom>
          <a:noFill/>
        </p:spPr>
        <p:txBody>
          <a:bodyPr wrap="square" lIns="0" rIns="0" tIns="0" bIns="0" anchor="t">
            <a:spAutoFit/>
          </a:bodyPr>
          <a:lstStyle/>
          <a:p>
            <a:pPr algn="l"/>
            <a:r>
              <a:rPr sz="960" b="1" i="0">
                <a:solidFill>
                  <a:srgbClr val="F4F7FA"/>
                </a:solidFill>
                <a:latin typeface="Aptos"/>
              </a:rPr>
              <a:t>An approximate, route-aware leak record — not just a raw sensor reading.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48E0D2"/>
                </a:solidFill>
                <a:latin typeface="Aptos"/>
              </a:rPr>
              <a:t>04  /  SYSTEM DESIGN</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05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A compact robot closes the loop.</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Sensing, movement, inference, position, and communication are designed as one inspection system.</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81328"/>
            <a:ext cx="4901184" cy="4517136"/>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1737360"/>
            <a:ext cx="2743200" cy="164592"/>
          </a:xfrm>
          <a:prstGeom prst="rect">
            <a:avLst/>
          </a:prstGeom>
          <a:noFill/>
        </p:spPr>
        <p:txBody>
          <a:bodyPr wrap="square" lIns="36576" rIns="36576" tIns="36576" bIns="36576" anchor="t">
            <a:spAutoFit/>
          </a:bodyPr>
          <a:lstStyle/>
          <a:p>
            <a:pPr algn="l"/>
            <a:r>
              <a:rPr sz="740" b="1" i="0">
                <a:solidFill>
                  <a:srgbClr val="6F8292"/>
                </a:solidFill>
                <a:latin typeface="Aptos"/>
              </a:rPr>
              <a:t>MOBILE INSPECTION NODE</a:t>
            </a:r>
          </a:p>
        </p:txBody>
      </p:sp>
      <p:cxnSp>
        <p:nvCxnSpPr>
          <p:cNvPr id="19" name="Connector 18"/>
          <p:cNvCxnSpPr/>
          <p:nvPr/>
        </p:nvCxnSpPr>
        <p:spPr>
          <a:xfrm>
            <a:off x="878738" y="4898440"/>
            <a:ext cx="3485144" cy="0"/>
          </a:xfrm>
          <a:prstGeom prst="line">
            <a:avLst/>
          </a:prstGeom>
          <a:ln w="25400">
            <a:solidFill>
              <a:srgbClr val="1E8F9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2167" y="4963180"/>
            <a:ext cx="496336" cy="0"/>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74301" y="4963180"/>
            <a:ext cx="517916" cy="0"/>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518806" y="4963180"/>
            <a:ext cx="517916" cy="0"/>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3310" y="4963180"/>
            <a:ext cx="517916" cy="0"/>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601663" y="3279952"/>
            <a:ext cx="2104034" cy="1132941"/>
          </a:xfrm>
          <a:prstGeom prst="roundRect">
            <a:avLst/>
          </a:prstGeom>
          <a:solidFill>
            <a:srgbClr val="172330"/>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849831" y="3484961"/>
            <a:ext cx="668975" cy="517916"/>
          </a:xfrm>
          <a:prstGeom prst="roundRect">
            <a:avLst/>
          </a:prstGeom>
          <a:solidFill>
            <a:srgbClr val="0A0F15"/>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2011680" y="3636020"/>
            <a:ext cx="323697" cy="0"/>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076419" y="3733129"/>
            <a:ext cx="75529" cy="75529"/>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249058" y="3733129"/>
            <a:ext cx="75529" cy="75529"/>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842503" y="3636020"/>
            <a:ext cx="561075" cy="291327"/>
          </a:xfrm>
          <a:prstGeom prst="roundRect">
            <a:avLst/>
          </a:prstGeom>
          <a:solidFill>
            <a:srgbClr val="0A0F15"/>
          </a:solidFill>
          <a:ln w="1397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403579" y="3720505"/>
            <a:ext cx="64008" cy="122357"/>
          </a:xfrm>
          <a:prstGeom prst="roundRect">
            <a:avLst/>
          </a:prstGeom>
          <a:solidFill>
            <a:srgbClr val="7FE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15655" y="3709172"/>
            <a:ext cx="196376" cy="145023"/>
          </a:xfrm>
          <a:prstGeom prst="roundRect">
            <a:avLst/>
          </a:prstGeom>
          <a:solidFill>
            <a:srgbClr val="7FE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281415" y="3709172"/>
            <a:ext cx="112215" cy="145023"/>
          </a:xfrm>
          <a:prstGeom prst="roundRect">
            <a:avLst/>
          </a:prstGeom>
          <a:solidFill>
            <a:srgbClr val="7FE0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817461" y="4218675"/>
            <a:ext cx="528706" cy="528706"/>
          </a:xfrm>
          <a:prstGeom prst="ellipse">
            <a:avLst/>
          </a:prstGeom>
          <a:solidFill>
            <a:srgbClr val="0A0F15"/>
          </a:solidFill>
          <a:ln w="1778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090672" y="4218675"/>
            <a:ext cx="528706" cy="528706"/>
          </a:xfrm>
          <a:prstGeom prst="ellipse">
            <a:avLst/>
          </a:prstGeom>
          <a:solidFill>
            <a:srgbClr val="0A0F15"/>
          </a:solidFill>
          <a:ln w="1778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11680" y="4412894"/>
            <a:ext cx="129479" cy="129479"/>
          </a:xfrm>
          <a:prstGeom prst="ellipse">
            <a:avLst/>
          </a:prstGeom>
          <a:solidFill>
            <a:srgbClr val="6F8292"/>
          </a:solidFill>
          <a:ln w="12700">
            <a:solidFill>
              <a:srgbClr val="6F82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284890" y="4412894"/>
            <a:ext cx="129479" cy="129479"/>
          </a:xfrm>
          <a:prstGeom prst="ellipse">
            <a:avLst/>
          </a:prstGeom>
          <a:solidFill>
            <a:srgbClr val="6F8292"/>
          </a:solidFill>
          <a:ln w="12700">
            <a:solidFill>
              <a:srgbClr val="6F829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flipV="1">
            <a:off x="2637495" y="2708087"/>
            <a:ext cx="0" cy="561075"/>
          </a:xfrm>
          <a:prstGeom prst="line">
            <a:avLst/>
          </a:prstGeom>
          <a:ln w="17780">
            <a:solidFill>
              <a:srgbClr val="48E0D2"/>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2335377" y="2319649"/>
            <a:ext cx="625815" cy="431596"/>
          </a:xfrm>
          <a:prstGeom prst="roundRect">
            <a:avLst/>
          </a:prstGeom>
          <a:solidFill>
            <a:srgbClr val="1C2B38"/>
          </a:solidFill>
          <a:ln w="1524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2648285" y="2481498"/>
            <a:ext cx="0" cy="18342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497226" y="2405969"/>
            <a:ext cx="151059" cy="7552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648285" y="2405969"/>
            <a:ext cx="151059" cy="7552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2648285" y="2405969"/>
            <a:ext cx="0" cy="75529"/>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545781" y="2682460"/>
            <a:ext cx="46126" cy="6932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2704662" y="2682460"/>
            <a:ext cx="46127" cy="6932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464856" y="2662229"/>
            <a:ext cx="82543" cy="8146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749171" y="2662229"/>
            <a:ext cx="82542" cy="8146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383932" y="2641998"/>
            <a:ext cx="118959" cy="93603"/>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793679" y="2641998"/>
            <a:ext cx="118959" cy="93603"/>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195108" y="2017532"/>
            <a:ext cx="1186891" cy="194218"/>
          </a:xfrm>
          <a:prstGeom prst="rect">
            <a:avLst/>
          </a:prstGeom>
          <a:noFill/>
        </p:spPr>
        <p:txBody>
          <a:bodyPr wrap="square" lIns="0" rIns="0" tIns="0" bIns="0" anchor="t">
            <a:spAutoFit/>
          </a:bodyPr>
          <a:lstStyle/>
          <a:p>
            <a:pPr algn="ctr"/>
            <a:r>
              <a:rPr sz="700" b="1" i="0">
                <a:solidFill>
                  <a:srgbClr val="F4B860"/>
                </a:solidFill>
                <a:latin typeface="Aptos"/>
              </a:rPr>
              <a:t>ACOUSTIC SENSOR</a:t>
            </a:r>
          </a:p>
        </p:txBody>
      </p:sp>
      <p:cxnSp>
        <p:nvCxnSpPr>
          <p:cNvPr id="50" name="Connector 49"/>
          <p:cNvCxnSpPr/>
          <p:nvPr/>
        </p:nvCxnSpPr>
        <p:spPr>
          <a:xfrm flipH="1" flipV="1">
            <a:off x="1062167" y="2945465"/>
            <a:ext cx="787664" cy="539496"/>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24788" y="2708087"/>
            <a:ext cx="1348739" cy="258958"/>
          </a:xfrm>
          <a:prstGeom prst="rect">
            <a:avLst/>
          </a:prstGeom>
          <a:noFill/>
        </p:spPr>
        <p:txBody>
          <a:bodyPr wrap="square" lIns="0" rIns="0" tIns="0" bIns="0" anchor="t">
            <a:spAutoFit/>
          </a:bodyPr>
          <a:lstStyle/>
          <a:p>
            <a:pPr algn="l"/>
            <a:r>
              <a:rPr sz="700" b="1" i="0">
                <a:solidFill>
                  <a:srgbClr val="9AA9B8"/>
                </a:solidFill>
                <a:latin typeface="Aptos"/>
              </a:rPr>
              <a:t>EDGE AI PROCESSOR</a:t>
            </a:r>
          </a:p>
        </p:txBody>
      </p:sp>
      <p:cxnSp>
        <p:nvCxnSpPr>
          <p:cNvPr id="52" name="Connector 51"/>
          <p:cNvCxnSpPr/>
          <p:nvPr/>
        </p:nvCxnSpPr>
        <p:spPr>
          <a:xfrm flipV="1">
            <a:off x="3576218" y="3193633"/>
            <a:ext cx="615025" cy="496336"/>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867546" y="2956255"/>
            <a:ext cx="1240840" cy="258958"/>
          </a:xfrm>
          <a:prstGeom prst="rect">
            <a:avLst/>
          </a:prstGeom>
          <a:noFill/>
        </p:spPr>
        <p:txBody>
          <a:bodyPr wrap="square" lIns="0" rIns="0" tIns="0" bIns="0" anchor="t">
            <a:spAutoFit/>
          </a:bodyPr>
          <a:lstStyle/>
          <a:p>
            <a:pPr algn="l"/>
            <a:r>
              <a:rPr sz="700" b="1" i="0">
                <a:solidFill>
                  <a:srgbClr val="9AA9B8"/>
                </a:solidFill>
                <a:latin typeface="Aptos"/>
              </a:rPr>
              <a:t>COMMS LINK</a:t>
            </a:r>
          </a:p>
        </p:txBody>
      </p:sp>
      <p:sp>
        <p:nvSpPr>
          <p:cNvPr id="54" name="Oval 53"/>
          <p:cNvSpPr/>
          <p:nvPr/>
        </p:nvSpPr>
        <p:spPr>
          <a:xfrm>
            <a:off x="2205898" y="2103851"/>
            <a:ext cx="863193" cy="863193"/>
          </a:xfrm>
          <a:prstGeom prst="ellipse">
            <a:avLst/>
          </a:prstGeom>
          <a:solidFill>
            <a:srgbClr val="0A0F15"/>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044049" y="1942002"/>
            <a:ext cx="1186891" cy="1186891"/>
          </a:xfrm>
          <a:prstGeom prst="ellipse">
            <a:avLst/>
          </a:prstGeom>
          <a:solidFill>
            <a:srgbClr val="0A0F15"/>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871411" y="1769364"/>
            <a:ext cx="1532168" cy="1532168"/>
          </a:xfrm>
          <a:prstGeom prst="ellipse">
            <a:avLst/>
          </a:prstGeom>
          <a:solidFill>
            <a:srgbClr val="0A0F15"/>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43016" y="1645920"/>
            <a:ext cx="3657600" cy="219456"/>
          </a:xfrm>
          <a:prstGeom prst="rect">
            <a:avLst/>
          </a:prstGeom>
          <a:noFill/>
        </p:spPr>
        <p:txBody>
          <a:bodyPr wrap="square" lIns="0" rIns="0" tIns="0" bIns="0" anchor="t">
            <a:spAutoFit/>
          </a:bodyPr>
          <a:lstStyle/>
          <a:p>
            <a:pPr algn="l"/>
            <a:r>
              <a:rPr sz="1350" b="1" i="0">
                <a:solidFill>
                  <a:srgbClr val="F4F7FA"/>
                </a:solidFill>
                <a:latin typeface="Aptos Display"/>
              </a:rPr>
              <a:t>System blocks</a:t>
            </a:r>
          </a:p>
        </p:txBody>
      </p:sp>
      <p:sp>
        <p:nvSpPr>
          <p:cNvPr id="58" name="TextBox 57"/>
          <p:cNvSpPr txBox="1"/>
          <p:nvPr/>
        </p:nvSpPr>
        <p:spPr>
          <a:xfrm>
            <a:off x="5852160" y="1965960"/>
            <a:ext cx="5029200" cy="347472"/>
          </a:xfrm>
          <a:prstGeom prst="rect">
            <a:avLst/>
          </a:prstGeom>
          <a:noFill/>
        </p:spPr>
        <p:txBody>
          <a:bodyPr wrap="square" lIns="0" rIns="0" tIns="0" bIns="0" anchor="t">
            <a:spAutoFit/>
          </a:bodyPr>
          <a:lstStyle/>
          <a:p>
            <a:pPr algn="l"/>
            <a:r>
              <a:rPr sz="940" b="0" i="0">
                <a:solidFill>
                  <a:srgbClr val="9AA9B8"/>
                </a:solidFill>
                <a:latin typeface="Aptos"/>
              </a:rPr>
              <a:t>Each block has a clear role in the MVP — no hidden magic.</a:t>
            </a:r>
          </a:p>
        </p:txBody>
      </p:sp>
      <p:sp>
        <p:nvSpPr>
          <p:cNvPr id="59" name="Rounded Rectangle 58"/>
          <p:cNvSpPr/>
          <p:nvPr/>
        </p:nvSpPr>
        <p:spPr>
          <a:xfrm>
            <a:off x="5852160" y="2551176"/>
            <a:ext cx="2542032" cy="621792"/>
          </a:xfrm>
          <a:prstGeom prst="roundRect">
            <a:avLst/>
          </a:prstGeom>
          <a:solidFill>
            <a:srgbClr val="111A24"/>
          </a:solidFill>
          <a:ln w="825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998464" y="2715768"/>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53912" y="2651760"/>
            <a:ext cx="246888" cy="164592"/>
          </a:xfrm>
          <a:prstGeom prst="rect">
            <a:avLst/>
          </a:prstGeom>
          <a:noFill/>
        </p:spPr>
        <p:txBody>
          <a:bodyPr wrap="square" lIns="0" rIns="0" tIns="0" bIns="0" anchor="t">
            <a:spAutoFit/>
          </a:bodyPr>
          <a:lstStyle/>
          <a:p>
            <a:pPr algn="l"/>
            <a:r>
              <a:rPr sz="680" b="1" i="0">
                <a:solidFill>
                  <a:srgbClr val="48E0D2"/>
                </a:solidFill>
                <a:latin typeface="Aptos"/>
              </a:rPr>
              <a:t>01</a:t>
            </a:r>
          </a:p>
        </p:txBody>
      </p:sp>
      <p:sp>
        <p:nvSpPr>
          <p:cNvPr id="62" name="TextBox 61"/>
          <p:cNvSpPr txBox="1"/>
          <p:nvPr/>
        </p:nvSpPr>
        <p:spPr>
          <a:xfrm>
            <a:off x="6455664" y="2642616"/>
            <a:ext cx="1783080" cy="182880"/>
          </a:xfrm>
          <a:prstGeom prst="rect">
            <a:avLst/>
          </a:prstGeom>
          <a:noFill/>
        </p:spPr>
        <p:txBody>
          <a:bodyPr wrap="square" lIns="0" rIns="0" tIns="0" bIns="0" anchor="t">
            <a:spAutoFit/>
          </a:bodyPr>
          <a:lstStyle/>
          <a:p>
            <a:pPr algn="l"/>
            <a:r>
              <a:rPr sz="800" b="1" i="0">
                <a:solidFill>
                  <a:srgbClr val="F4F7FA"/>
                </a:solidFill>
                <a:latin typeface="Aptos"/>
              </a:rPr>
              <a:t>Line following</a:t>
            </a:r>
          </a:p>
        </p:txBody>
      </p:sp>
      <p:sp>
        <p:nvSpPr>
          <p:cNvPr id="63" name="TextBox 62"/>
          <p:cNvSpPr txBox="1"/>
          <p:nvPr/>
        </p:nvSpPr>
        <p:spPr>
          <a:xfrm>
            <a:off x="6455664" y="2862072"/>
            <a:ext cx="1773936" cy="201168"/>
          </a:xfrm>
          <a:prstGeom prst="rect">
            <a:avLst/>
          </a:prstGeom>
          <a:noFill/>
        </p:spPr>
        <p:txBody>
          <a:bodyPr wrap="square" lIns="0" rIns="0" tIns="0" bIns="0" anchor="t">
            <a:spAutoFit/>
          </a:bodyPr>
          <a:lstStyle/>
          <a:p>
            <a:pPr algn="l"/>
            <a:r>
              <a:rPr sz="700" b="0" i="0">
                <a:solidFill>
                  <a:srgbClr val="9AA9B8"/>
                </a:solidFill>
                <a:latin typeface="Aptos"/>
              </a:rPr>
              <a:t>Autonomous movement on a controlled route.</a:t>
            </a:r>
          </a:p>
        </p:txBody>
      </p:sp>
      <p:cxnSp>
        <p:nvCxnSpPr>
          <p:cNvPr id="64" name="Connector 63"/>
          <p:cNvCxnSpPr/>
          <p:nvPr/>
        </p:nvCxnSpPr>
        <p:spPr>
          <a:xfrm flipV="1">
            <a:off x="7950195" y="2733507"/>
            <a:ext cx="50175" cy="90343"/>
          </a:xfrm>
          <a:prstGeom prst="line">
            <a:avLst/>
          </a:prstGeom>
          <a:ln w="15875">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000370" y="2733507"/>
            <a:ext cx="63379" cy="56012"/>
          </a:xfrm>
          <a:prstGeom prst="line">
            <a:avLst/>
          </a:prstGeom>
          <a:ln w="15875">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063749" y="2710018"/>
            <a:ext cx="52816" cy="79501"/>
          </a:xfrm>
          <a:prstGeom prst="line">
            <a:avLst/>
          </a:prstGeom>
          <a:ln w="15875">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16565" y="2710018"/>
            <a:ext cx="68660" cy="54205"/>
          </a:xfrm>
          <a:prstGeom prst="line">
            <a:avLst/>
          </a:prstGeom>
          <a:ln w="15875">
            <a:solidFill>
              <a:srgbClr val="48E0D2"/>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913619" y="2787274"/>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963794" y="2696931"/>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027173" y="2752943"/>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079989" y="2673442"/>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148649" y="2727647"/>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668512" y="2551176"/>
            <a:ext cx="2542032" cy="621792"/>
          </a:xfrm>
          <a:prstGeom prst="roundRect">
            <a:avLst/>
          </a:prstGeom>
          <a:solidFill>
            <a:srgbClr val="111A24"/>
          </a:solidFill>
          <a:ln w="825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814816" y="2715768"/>
            <a:ext cx="73152" cy="73152"/>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970264" y="2651760"/>
            <a:ext cx="246888" cy="164592"/>
          </a:xfrm>
          <a:prstGeom prst="rect">
            <a:avLst/>
          </a:prstGeom>
          <a:noFill/>
        </p:spPr>
        <p:txBody>
          <a:bodyPr wrap="square" lIns="0" rIns="0" tIns="0" bIns="0" anchor="t">
            <a:spAutoFit/>
          </a:bodyPr>
          <a:lstStyle/>
          <a:p>
            <a:pPr algn="l"/>
            <a:r>
              <a:rPr sz="680" b="1" i="0">
                <a:solidFill>
                  <a:srgbClr val="F4B860"/>
                </a:solidFill>
                <a:latin typeface="Aptos"/>
              </a:rPr>
              <a:t>02</a:t>
            </a:r>
          </a:p>
        </p:txBody>
      </p:sp>
      <p:sp>
        <p:nvSpPr>
          <p:cNvPr id="76" name="TextBox 75"/>
          <p:cNvSpPr txBox="1"/>
          <p:nvPr/>
        </p:nvSpPr>
        <p:spPr>
          <a:xfrm>
            <a:off x="9272016" y="2642616"/>
            <a:ext cx="1783080" cy="182880"/>
          </a:xfrm>
          <a:prstGeom prst="rect">
            <a:avLst/>
          </a:prstGeom>
          <a:noFill/>
        </p:spPr>
        <p:txBody>
          <a:bodyPr wrap="square" lIns="0" rIns="0" tIns="0" bIns="0" anchor="t">
            <a:spAutoFit/>
          </a:bodyPr>
          <a:lstStyle/>
          <a:p>
            <a:pPr algn="l"/>
            <a:r>
              <a:rPr sz="800" b="1" i="0">
                <a:solidFill>
                  <a:srgbClr val="F4F7FA"/>
                </a:solidFill>
                <a:latin typeface="Aptos"/>
              </a:rPr>
              <a:t>Ultrasonic / acoustic sensor</a:t>
            </a:r>
          </a:p>
        </p:txBody>
      </p:sp>
      <p:sp>
        <p:nvSpPr>
          <p:cNvPr id="77" name="TextBox 76"/>
          <p:cNvSpPr txBox="1"/>
          <p:nvPr/>
        </p:nvSpPr>
        <p:spPr>
          <a:xfrm>
            <a:off x="9272016" y="2862072"/>
            <a:ext cx="1773936" cy="201168"/>
          </a:xfrm>
          <a:prstGeom prst="rect">
            <a:avLst/>
          </a:prstGeom>
          <a:noFill/>
        </p:spPr>
        <p:txBody>
          <a:bodyPr wrap="square" lIns="0" rIns="0" tIns="0" bIns="0" anchor="t">
            <a:spAutoFit/>
          </a:bodyPr>
          <a:lstStyle/>
          <a:p>
            <a:pPr algn="l"/>
            <a:r>
              <a:rPr sz="700" b="0" i="0">
                <a:solidFill>
                  <a:srgbClr val="9AA9B8"/>
                </a:solidFill>
                <a:latin typeface="Aptos"/>
              </a:rPr>
              <a:t>Captures leak-related signal windows.</a:t>
            </a:r>
          </a:p>
        </p:txBody>
      </p:sp>
      <p:cxnSp>
        <p:nvCxnSpPr>
          <p:cNvPr id="78" name="Connector 77"/>
          <p:cNvCxnSpPr/>
          <p:nvPr/>
        </p:nvCxnSpPr>
        <p:spPr>
          <a:xfrm flipV="1">
            <a:off x="10927080" y="2757830"/>
            <a:ext cx="0" cy="118140"/>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10829787" y="2709184"/>
            <a:ext cx="97293" cy="48646"/>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0927080" y="2709184"/>
            <a:ext cx="97292" cy="48646"/>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927080" y="2709184"/>
            <a:ext cx="0" cy="48646"/>
          </a:xfrm>
          <a:prstGeom prst="line">
            <a:avLst/>
          </a:prstGeom>
          <a:ln w="1778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861060" y="2887263"/>
            <a:ext cx="29709" cy="44650"/>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963390" y="2887263"/>
            <a:ext cx="29709" cy="44650"/>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808939" y="2874233"/>
            <a:ext cx="53163" cy="52468"/>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992057" y="2874233"/>
            <a:ext cx="53163" cy="52468"/>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756818" y="2861203"/>
            <a:ext cx="76618" cy="6028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1020723" y="2861203"/>
            <a:ext cx="76618" cy="60286"/>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88" name="Rounded Rectangle 87"/>
          <p:cNvSpPr/>
          <p:nvPr/>
        </p:nvSpPr>
        <p:spPr>
          <a:xfrm>
            <a:off x="5852160" y="3364992"/>
            <a:ext cx="2542032" cy="621792"/>
          </a:xfrm>
          <a:prstGeom prst="roundRect">
            <a:avLst/>
          </a:prstGeom>
          <a:solidFill>
            <a:srgbClr val="111A24"/>
          </a:solidFill>
          <a:ln w="825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998464" y="3529584"/>
            <a:ext cx="73152" cy="73152"/>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153912" y="3465576"/>
            <a:ext cx="246888" cy="164592"/>
          </a:xfrm>
          <a:prstGeom prst="rect">
            <a:avLst/>
          </a:prstGeom>
          <a:noFill/>
        </p:spPr>
        <p:txBody>
          <a:bodyPr wrap="square" lIns="0" rIns="0" tIns="0" bIns="0" anchor="t">
            <a:spAutoFit/>
          </a:bodyPr>
          <a:lstStyle/>
          <a:p>
            <a:pPr algn="l"/>
            <a:r>
              <a:rPr sz="680" b="1" i="0">
                <a:solidFill>
                  <a:srgbClr val="B796FF"/>
                </a:solidFill>
                <a:latin typeface="Aptos"/>
              </a:rPr>
              <a:t>03</a:t>
            </a:r>
          </a:p>
        </p:txBody>
      </p:sp>
      <p:sp>
        <p:nvSpPr>
          <p:cNvPr id="91" name="TextBox 90"/>
          <p:cNvSpPr txBox="1"/>
          <p:nvPr/>
        </p:nvSpPr>
        <p:spPr>
          <a:xfrm>
            <a:off x="6455664" y="3456432"/>
            <a:ext cx="1783080" cy="182880"/>
          </a:xfrm>
          <a:prstGeom prst="rect">
            <a:avLst/>
          </a:prstGeom>
          <a:noFill/>
        </p:spPr>
        <p:txBody>
          <a:bodyPr wrap="square" lIns="0" rIns="0" tIns="0" bIns="0" anchor="t">
            <a:spAutoFit/>
          </a:bodyPr>
          <a:lstStyle/>
          <a:p>
            <a:pPr algn="l"/>
            <a:r>
              <a:rPr sz="800" b="1" i="0">
                <a:solidFill>
                  <a:srgbClr val="F4F7FA"/>
                </a:solidFill>
                <a:latin typeface="Aptos"/>
              </a:rPr>
              <a:t>Embedded / Edge AI processor</a:t>
            </a:r>
          </a:p>
        </p:txBody>
      </p:sp>
      <p:sp>
        <p:nvSpPr>
          <p:cNvPr id="92" name="TextBox 91"/>
          <p:cNvSpPr txBox="1"/>
          <p:nvPr/>
        </p:nvSpPr>
        <p:spPr>
          <a:xfrm>
            <a:off x="6455664" y="3675888"/>
            <a:ext cx="1773936" cy="201168"/>
          </a:xfrm>
          <a:prstGeom prst="rect">
            <a:avLst/>
          </a:prstGeom>
          <a:noFill/>
        </p:spPr>
        <p:txBody>
          <a:bodyPr wrap="square" lIns="0" rIns="0" tIns="0" bIns="0" anchor="t">
            <a:spAutoFit/>
          </a:bodyPr>
          <a:lstStyle/>
          <a:p>
            <a:pPr algn="l"/>
            <a:r>
              <a:rPr sz="700" b="0" i="0">
                <a:solidFill>
                  <a:srgbClr val="9AA9B8"/>
                </a:solidFill>
                <a:latin typeface="Aptos"/>
              </a:rPr>
              <a:t>Runs local classification and scoring.</a:t>
            </a:r>
          </a:p>
        </p:txBody>
      </p:sp>
      <p:sp>
        <p:nvSpPr>
          <p:cNvPr id="93" name="Oval 92"/>
          <p:cNvSpPr/>
          <p:nvPr/>
        </p:nvSpPr>
        <p:spPr>
          <a:xfrm>
            <a:off x="7999536" y="3536899"/>
            <a:ext cx="111191" cy="132039"/>
          </a:xfrm>
          <a:prstGeom prst="ellipse">
            <a:avLst/>
          </a:prstGeom>
          <a:solidFill>
            <a:srgbClr val="0A0F15"/>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086404" y="3536899"/>
            <a:ext cx="111191" cy="132039"/>
          </a:xfrm>
          <a:prstGeom prst="ellipse">
            <a:avLst/>
          </a:prstGeom>
          <a:solidFill>
            <a:srgbClr val="0A0F15"/>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8110727" y="3543848"/>
            <a:ext cx="0" cy="125090"/>
          </a:xfrm>
          <a:prstGeom prst="line">
            <a:avLst/>
          </a:prstGeom>
          <a:ln w="12700">
            <a:solidFill>
              <a:srgbClr val="B796FF"/>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030809" y="3589020"/>
            <a:ext cx="52121" cy="0"/>
          </a:xfrm>
          <a:prstGeom prst="line">
            <a:avLst/>
          </a:prstGeom>
          <a:ln w="11430">
            <a:solidFill>
              <a:srgbClr val="B796FF"/>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138525" y="3620292"/>
            <a:ext cx="52121" cy="0"/>
          </a:xfrm>
          <a:prstGeom prst="line">
            <a:avLst/>
          </a:prstGeom>
          <a:ln w="11430">
            <a:solidFill>
              <a:srgbClr val="B796FF"/>
            </a:solidFill>
          </a:ln>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8041233" y="3550798"/>
            <a:ext cx="24323" cy="24323"/>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148949" y="3648090"/>
            <a:ext cx="24323" cy="24323"/>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8668512" y="3364992"/>
            <a:ext cx="2542032" cy="621792"/>
          </a:xfrm>
          <a:prstGeom prst="roundRect">
            <a:avLst/>
          </a:prstGeom>
          <a:solidFill>
            <a:srgbClr val="111A24"/>
          </a:solidFill>
          <a:ln w="825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814816" y="3529584"/>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970264" y="3465576"/>
            <a:ext cx="246888" cy="164592"/>
          </a:xfrm>
          <a:prstGeom prst="rect">
            <a:avLst/>
          </a:prstGeom>
          <a:noFill/>
        </p:spPr>
        <p:txBody>
          <a:bodyPr wrap="square" lIns="0" rIns="0" tIns="0" bIns="0" anchor="t">
            <a:spAutoFit/>
          </a:bodyPr>
          <a:lstStyle/>
          <a:p>
            <a:pPr algn="l"/>
            <a:r>
              <a:rPr sz="680" b="1" i="0">
                <a:solidFill>
                  <a:srgbClr val="5EA7FF"/>
                </a:solidFill>
                <a:latin typeface="Aptos"/>
              </a:rPr>
              <a:t>04</a:t>
            </a:r>
          </a:p>
        </p:txBody>
      </p:sp>
      <p:sp>
        <p:nvSpPr>
          <p:cNvPr id="103" name="TextBox 102"/>
          <p:cNvSpPr txBox="1"/>
          <p:nvPr/>
        </p:nvSpPr>
        <p:spPr>
          <a:xfrm>
            <a:off x="9272016" y="3456432"/>
            <a:ext cx="1783080" cy="182880"/>
          </a:xfrm>
          <a:prstGeom prst="rect">
            <a:avLst/>
          </a:prstGeom>
          <a:noFill/>
        </p:spPr>
        <p:txBody>
          <a:bodyPr wrap="square" lIns="0" rIns="0" tIns="0" bIns="0" anchor="t">
            <a:spAutoFit/>
          </a:bodyPr>
          <a:lstStyle/>
          <a:p>
            <a:pPr algn="l"/>
            <a:r>
              <a:rPr sz="800" b="1" i="0">
                <a:solidFill>
                  <a:srgbClr val="F4F7FA"/>
                </a:solidFill>
                <a:latin typeface="Aptos"/>
              </a:rPr>
              <a:t>Position + distance</a:t>
            </a:r>
          </a:p>
        </p:txBody>
      </p:sp>
      <p:sp>
        <p:nvSpPr>
          <p:cNvPr id="104" name="TextBox 103"/>
          <p:cNvSpPr txBox="1"/>
          <p:nvPr/>
        </p:nvSpPr>
        <p:spPr>
          <a:xfrm>
            <a:off x="9272016" y="3675888"/>
            <a:ext cx="1773936" cy="201168"/>
          </a:xfrm>
          <a:prstGeom prst="rect">
            <a:avLst/>
          </a:prstGeom>
          <a:noFill/>
        </p:spPr>
        <p:txBody>
          <a:bodyPr wrap="square" lIns="0" rIns="0" tIns="0" bIns="0" anchor="t">
            <a:spAutoFit/>
          </a:bodyPr>
          <a:lstStyle/>
          <a:p>
            <a:pPr algn="l"/>
            <a:r>
              <a:rPr sz="700" b="0" i="0">
                <a:solidFill>
                  <a:srgbClr val="9AA9B8"/>
                </a:solidFill>
                <a:latin typeface="Aptos"/>
              </a:rPr>
              <a:t>Maps detections to section and route distance.</a:t>
            </a:r>
          </a:p>
        </p:txBody>
      </p:sp>
      <p:sp>
        <p:nvSpPr>
          <p:cNvPr id="105" name="Oval 104"/>
          <p:cNvSpPr/>
          <p:nvPr/>
        </p:nvSpPr>
        <p:spPr>
          <a:xfrm>
            <a:off x="10815888" y="3509101"/>
            <a:ext cx="111191" cy="111191"/>
          </a:xfrm>
          <a:prstGeom prst="ellipse">
            <a:avLst/>
          </a:prstGeom>
          <a:solidFill>
            <a:srgbClr val="0A0F15"/>
          </a:solidFill>
          <a:ln w="1397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a:off x="10871484" y="3620292"/>
            <a:ext cx="0" cy="104242"/>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0822838" y="3661989"/>
            <a:ext cx="48646" cy="62545"/>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0871484" y="3661989"/>
            <a:ext cx="48646" cy="62545"/>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5852160" y="4178808"/>
            <a:ext cx="2542032" cy="621792"/>
          </a:xfrm>
          <a:prstGeom prst="roundRect">
            <a:avLst/>
          </a:prstGeom>
          <a:solidFill>
            <a:srgbClr val="111A24"/>
          </a:solidFill>
          <a:ln w="825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5998464" y="4343400"/>
            <a:ext cx="73152" cy="73152"/>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153912" y="4279392"/>
            <a:ext cx="246888" cy="164592"/>
          </a:xfrm>
          <a:prstGeom prst="rect">
            <a:avLst/>
          </a:prstGeom>
          <a:noFill/>
        </p:spPr>
        <p:txBody>
          <a:bodyPr wrap="square" lIns="0" rIns="0" tIns="0" bIns="0" anchor="t">
            <a:spAutoFit/>
          </a:bodyPr>
          <a:lstStyle/>
          <a:p>
            <a:pPr algn="l"/>
            <a:r>
              <a:rPr sz="680" b="1" i="0">
                <a:solidFill>
                  <a:srgbClr val="7FE0A4"/>
                </a:solidFill>
                <a:latin typeface="Aptos"/>
              </a:rPr>
              <a:t>05</a:t>
            </a:r>
          </a:p>
        </p:txBody>
      </p:sp>
      <p:sp>
        <p:nvSpPr>
          <p:cNvPr id="112" name="TextBox 111"/>
          <p:cNvSpPr txBox="1"/>
          <p:nvPr/>
        </p:nvSpPr>
        <p:spPr>
          <a:xfrm>
            <a:off x="6455664" y="4270248"/>
            <a:ext cx="1783080" cy="182880"/>
          </a:xfrm>
          <a:prstGeom prst="rect">
            <a:avLst/>
          </a:prstGeom>
          <a:noFill/>
        </p:spPr>
        <p:txBody>
          <a:bodyPr wrap="square" lIns="0" rIns="0" tIns="0" bIns="0" anchor="t">
            <a:spAutoFit/>
          </a:bodyPr>
          <a:lstStyle/>
          <a:p>
            <a:pPr algn="l"/>
            <a:r>
              <a:rPr sz="800" b="1" i="0">
                <a:solidFill>
                  <a:srgbClr val="F4F7FA"/>
                </a:solidFill>
                <a:latin typeface="Aptos"/>
              </a:rPr>
              <a:t>Communication module</a:t>
            </a:r>
          </a:p>
        </p:txBody>
      </p:sp>
      <p:sp>
        <p:nvSpPr>
          <p:cNvPr id="113" name="TextBox 112"/>
          <p:cNvSpPr txBox="1"/>
          <p:nvPr/>
        </p:nvSpPr>
        <p:spPr>
          <a:xfrm>
            <a:off x="6455664" y="4489704"/>
            <a:ext cx="1773936" cy="201168"/>
          </a:xfrm>
          <a:prstGeom prst="rect">
            <a:avLst/>
          </a:prstGeom>
          <a:noFill/>
        </p:spPr>
        <p:txBody>
          <a:bodyPr wrap="square" lIns="0" rIns="0" tIns="0" bIns="0" anchor="t">
            <a:spAutoFit/>
          </a:bodyPr>
          <a:lstStyle/>
          <a:p>
            <a:pPr algn="l"/>
            <a:r>
              <a:rPr sz="700" b="0" i="0">
                <a:solidFill>
                  <a:srgbClr val="9AA9B8"/>
                </a:solidFill>
                <a:latin typeface="Aptos"/>
              </a:rPr>
              <a:t>Sends compact records to the dashboard.</a:t>
            </a:r>
          </a:p>
        </p:txBody>
      </p:sp>
      <p:sp>
        <p:nvSpPr>
          <p:cNvPr id="114" name="Rounded Rectangle 113"/>
          <p:cNvSpPr/>
          <p:nvPr/>
        </p:nvSpPr>
        <p:spPr>
          <a:xfrm>
            <a:off x="7936992" y="4315968"/>
            <a:ext cx="215432" cy="146304"/>
          </a:xfrm>
          <a:prstGeom prst="roundRect">
            <a:avLst/>
          </a:prstGeom>
          <a:solidFill>
            <a:srgbClr val="0A0F15"/>
          </a:solidFill>
          <a:ln w="1143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8010144" y="4366260"/>
            <a:ext cx="45720" cy="457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flipH="1">
            <a:off x="8079272" y="4389120"/>
            <a:ext cx="77176" cy="0"/>
          </a:xfrm>
          <a:prstGeom prst="line">
            <a:avLst/>
          </a:prstGeom>
          <a:ln w="8890">
            <a:solidFill>
              <a:srgbClr val="7FE0A4"/>
            </a:solidFill>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7936992" y="4517136"/>
            <a:ext cx="215432" cy="146304"/>
          </a:xfrm>
          <a:prstGeom prst="roundRect">
            <a:avLst/>
          </a:prstGeom>
          <a:solidFill>
            <a:srgbClr val="0A0F15"/>
          </a:solidFill>
          <a:ln w="1143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010144" y="4567428"/>
            <a:ext cx="45720" cy="457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flipH="1">
            <a:off x="8079272" y="4590288"/>
            <a:ext cx="77176" cy="0"/>
          </a:xfrm>
          <a:prstGeom prst="line">
            <a:avLst/>
          </a:prstGeom>
          <a:ln w="8890">
            <a:solidFill>
              <a:srgbClr val="7FE0A4"/>
            </a:solidFill>
          </a:ln>
        </p:spPr>
        <p:style>
          <a:lnRef idx="2">
            <a:schemeClr val="accent1"/>
          </a:lnRef>
          <a:fillRef idx="0">
            <a:schemeClr val="accent1"/>
          </a:fillRef>
          <a:effectRef idx="1">
            <a:schemeClr val="accent1"/>
          </a:effectRef>
          <a:fontRef idx="minor">
            <a:schemeClr val="tx1"/>
          </a:fontRef>
        </p:style>
      </p:cxnSp>
      <p:sp>
        <p:nvSpPr>
          <p:cNvPr id="120" name="Rounded Rectangle 119"/>
          <p:cNvSpPr/>
          <p:nvPr/>
        </p:nvSpPr>
        <p:spPr>
          <a:xfrm>
            <a:off x="7936992" y="4718304"/>
            <a:ext cx="215432" cy="146304"/>
          </a:xfrm>
          <a:prstGeom prst="roundRect">
            <a:avLst/>
          </a:prstGeom>
          <a:solidFill>
            <a:srgbClr val="0A0F15"/>
          </a:solidFill>
          <a:ln w="1143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8010144" y="4768596"/>
            <a:ext cx="45720" cy="457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flipH="1">
            <a:off x="8079272" y="4791456"/>
            <a:ext cx="77176" cy="0"/>
          </a:xfrm>
          <a:prstGeom prst="line">
            <a:avLst/>
          </a:prstGeom>
          <a:ln w="8890">
            <a:solidFill>
              <a:srgbClr val="7FE0A4"/>
            </a:solidFill>
          </a:ln>
        </p:spPr>
        <p:style>
          <a:lnRef idx="2">
            <a:schemeClr val="accent1"/>
          </a:lnRef>
          <a:fillRef idx="0">
            <a:schemeClr val="accent1"/>
          </a:fillRef>
          <a:effectRef idx="1">
            <a:schemeClr val="accent1"/>
          </a:effectRef>
          <a:fontRef idx="minor">
            <a:schemeClr val="tx1"/>
          </a:fontRef>
        </p:style>
      </p:cxnSp>
      <p:sp>
        <p:nvSpPr>
          <p:cNvPr id="123" name="Rounded Rectangle 122"/>
          <p:cNvSpPr/>
          <p:nvPr/>
        </p:nvSpPr>
        <p:spPr>
          <a:xfrm>
            <a:off x="8668512" y="4178808"/>
            <a:ext cx="2542032" cy="621792"/>
          </a:xfrm>
          <a:prstGeom prst="roundRect">
            <a:avLst/>
          </a:prstGeom>
          <a:solidFill>
            <a:srgbClr val="111A24"/>
          </a:solidFill>
          <a:ln w="825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814816" y="4343400"/>
            <a:ext cx="73152" cy="73152"/>
          </a:xfrm>
          <a:prstGeom prst="ellipse">
            <a:avLst/>
          </a:prstGeom>
          <a:solidFill>
            <a:srgbClr val="F28D52"/>
          </a:solidFill>
          <a:ln w="1270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970264" y="4279392"/>
            <a:ext cx="246888" cy="164592"/>
          </a:xfrm>
          <a:prstGeom prst="rect">
            <a:avLst/>
          </a:prstGeom>
          <a:noFill/>
        </p:spPr>
        <p:txBody>
          <a:bodyPr wrap="square" lIns="0" rIns="0" tIns="0" bIns="0" anchor="t">
            <a:spAutoFit/>
          </a:bodyPr>
          <a:lstStyle/>
          <a:p>
            <a:pPr algn="l"/>
            <a:r>
              <a:rPr sz="680" b="1" i="0">
                <a:solidFill>
                  <a:srgbClr val="F28D52"/>
                </a:solidFill>
                <a:latin typeface="Aptos"/>
              </a:rPr>
              <a:t>06</a:t>
            </a:r>
          </a:p>
        </p:txBody>
      </p:sp>
      <p:sp>
        <p:nvSpPr>
          <p:cNvPr id="126" name="TextBox 125"/>
          <p:cNvSpPr txBox="1"/>
          <p:nvPr/>
        </p:nvSpPr>
        <p:spPr>
          <a:xfrm>
            <a:off x="9272016" y="4270248"/>
            <a:ext cx="1783080" cy="182880"/>
          </a:xfrm>
          <a:prstGeom prst="rect">
            <a:avLst/>
          </a:prstGeom>
          <a:noFill/>
        </p:spPr>
        <p:txBody>
          <a:bodyPr wrap="square" lIns="0" rIns="0" tIns="0" bIns="0" anchor="t">
            <a:spAutoFit/>
          </a:bodyPr>
          <a:lstStyle/>
          <a:p>
            <a:pPr algn="l"/>
            <a:r>
              <a:rPr sz="800" b="1" i="0">
                <a:solidFill>
                  <a:srgbClr val="F4F7FA"/>
                </a:solidFill>
                <a:latin typeface="Aptos"/>
              </a:rPr>
              <a:t>Battery / power</a:t>
            </a:r>
          </a:p>
        </p:txBody>
      </p:sp>
      <p:sp>
        <p:nvSpPr>
          <p:cNvPr id="127" name="TextBox 126"/>
          <p:cNvSpPr txBox="1"/>
          <p:nvPr/>
        </p:nvSpPr>
        <p:spPr>
          <a:xfrm>
            <a:off x="9272016" y="4489704"/>
            <a:ext cx="1773936" cy="201168"/>
          </a:xfrm>
          <a:prstGeom prst="rect">
            <a:avLst/>
          </a:prstGeom>
          <a:noFill/>
        </p:spPr>
        <p:txBody>
          <a:bodyPr wrap="square" lIns="0" rIns="0" tIns="0" bIns="0" anchor="t">
            <a:spAutoFit/>
          </a:bodyPr>
          <a:lstStyle/>
          <a:p>
            <a:pPr algn="l"/>
            <a:r>
              <a:rPr sz="700" b="0" i="0">
                <a:solidFill>
                  <a:srgbClr val="9AA9B8"/>
                </a:solidFill>
                <a:latin typeface="Aptos"/>
              </a:rPr>
              <a:t>Supports the patrol cycle and safe return.</a:t>
            </a:r>
          </a:p>
        </p:txBody>
      </p:sp>
      <p:sp>
        <p:nvSpPr>
          <p:cNvPr id="128" name="Rounded Rectangle 127"/>
          <p:cNvSpPr/>
          <p:nvPr/>
        </p:nvSpPr>
        <p:spPr>
          <a:xfrm>
            <a:off x="10753344" y="4315968"/>
            <a:ext cx="236280" cy="132039"/>
          </a:xfrm>
          <a:prstGeom prst="roundRect">
            <a:avLst/>
          </a:prstGeom>
          <a:solidFill>
            <a:srgbClr val="0A0F15"/>
          </a:solidFill>
          <a:ln w="1397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10989624" y="4354259"/>
            <a:ext cx="64008" cy="55456"/>
          </a:xfrm>
          <a:prstGeom prst="roundRect">
            <a:avLst/>
          </a:prstGeom>
          <a:solidFill>
            <a:srgbClr val="F2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10826496" y="4389120"/>
            <a:ext cx="82698" cy="-14264"/>
          </a:xfrm>
          <a:prstGeom prst="roundRect">
            <a:avLst/>
          </a:prstGeom>
          <a:solidFill>
            <a:srgbClr val="F2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11192256" y="4389120"/>
            <a:ext cx="47256" cy="-14264"/>
          </a:xfrm>
          <a:prstGeom prst="roundRect">
            <a:avLst/>
          </a:prstGeom>
          <a:solidFill>
            <a:srgbClr val="F28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5852160" y="5148072"/>
            <a:ext cx="5559552" cy="658368"/>
          </a:xfrm>
          <a:prstGeom prst="roundRect">
            <a:avLst/>
          </a:prstGeom>
          <a:solidFill>
            <a:srgbClr val="14313A"/>
          </a:solidFill>
          <a:ln w="1016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6080760" y="5276088"/>
            <a:ext cx="822960" cy="146304"/>
          </a:xfrm>
          <a:prstGeom prst="rect">
            <a:avLst/>
          </a:prstGeom>
          <a:noFill/>
        </p:spPr>
        <p:txBody>
          <a:bodyPr wrap="square" lIns="0" rIns="0" tIns="0" bIns="0" anchor="t">
            <a:spAutoFit/>
          </a:bodyPr>
          <a:lstStyle/>
          <a:p>
            <a:pPr algn="l"/>
            <a:r>
              <a:rPr sz="700" b="1" i="0">
                <a:solidFill>
                  <a:srgbClr val="48E0D2"/>
                </a:solidFill>
                <a:latin typeface="Aptos"/>
              </a:rPr>
              <a:t>LOOP</a:t>
            </a:r>
          </a:p>
        </p:txBody>
      </p:sp>
      <p:sp>
        <p:nvSpPr>
          <p:cNvPr id="134" name="TextBox 133"/>
          <p:cNvSpPr txBox="1"/>
          <p:nvPr/>
        </p:nvSpPr>
        <p:spPr>
          <a:xfrm>
            <a:off x="6912864" y="5239512"/>
            <a:ext cx="4233672" cy="228600"/>
          </a:xfrm>
          <a:prstGeom prst="rect">
            <a:avLst/>
          </a:prstGeom>
          <a:noFill/>
        </p:spPr>
        <p:txBody>
          <a:bodyPr wrap="square" lIns="0" rIns="0" tIns="0" bIns="0" anchor="t">
            <a:spAutoFit/>
          </a:bodyPr>
          <a:lstStyle/>
          <a:p>
            <a:pPr algn="l"/>
            <a:r>
              <a:rPr sz="1200" b="1" i="0">
                <a:solidFill>
                  <a:srgbClr val="F4F7FA"/>
                </a:solidFill>
                <a:latin typeface="Aptos"/>
              </a:rPr>
              <a:t>Move → listen → decide → log → continue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B796FF"/>
                </a:solidFill>
                <a:latin typeface="Aptos"/>
              </a:rPr>
              <a:t>05  /  EDGE AI</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06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Edge AI makes the sensor useful in the factory.</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The differentiator is not a microphone alone — it is local classification that can separate signal from surrounding noise.</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90472"/>
            <a:ext cx="4626864" cy="4526280"/>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1746504"/>
            <a:ext cx="2743200" cy="164592"/>
          </a:xfrm>
          <a:prstGeom prst="rect">
            <a:avLst/>
          </a:prstGeom>
          <a:noFill/>
        </p:spPr>
        <p:txBody>
          <a:bodyPr wrap="square" lIns="36576" rIns="36576" tIns="36576" bIns="36576" anchor="t">
            <a:spAutoFit/>
          </a:bodyPr>
          <a:lstStyle/>
          <a:p>
            <a:pPr algn="l"/>
            <a:r>
              <a:rPr sz="740" b="1" i="0">
                <a:solidFill>
                  <a:srgbClr val="6F8292"/>
                </a:solidFill>
                <a:latin typeface="Aptos"/>
              </a:rPr>
              <a:t>FROM SOUND TO DECISION</a:t>
            </a:r>
          </a:p>
        </p:txBody>
      </p:sp>
      <p:sp>
        <p:nvSpPr>
          <p:cNvPr id="19" name="Rounded Rectangle 18"/>
          <p:cNvSpPr/>
          <p:nvPr/>
        </p:nvSpPr>
        <p:spPr>
          <a:xfrm>
            <a:off x="859536" y="2066543"/>
            <a:ext cx="4114800" cy="1389888"/>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5" y="2212848"/>
            <a:ext cx="3749039" cy="164592"/>
          </a:xfrm>
          <a:prstGeom prst="rect">
            <a:avLst/>
          </a:prstGeom>
          <a:noFill/>
        </p:spPr>
        <p:txBody>
          <a:bodyPr wrap="square" lIns="36576" rIns="36576" tIns="36576" bIns="36576" anchor="t">
            <a:spAutoFit/>
          </a:bodyPr>
          <a:lstStyle/>
          <a:p>
            <a:pPr algn="l"/>
            <a:r>
              <a:rPr sz="700" b="1" i="0">
                <a:solidFill>
                  <a:srgbClr val="6F8292"/>
                </a:solidFill>
                <a:latin typeface="Aptos"/>
              </a:rPr>
              <a:t>RAW ACOUSTIC WINDOW</a:t>
            </a:r>
          </a:p>
        </p:txBody>
      </p:sp>
      <p:cxnSp>
        <p:nvCxnSpPr>
          <p:cNvPr id="21" name="Connector 20"/>
          <p:cNvCxnSpPr/>
          <p:nvPr/>
        </p:nvCxnSpPr>
        <p:spPr>
          <a:xfrm>
            <a:off x="1060704" y="2638958"/>
            <a:ext cx="3730751"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60704" y="2799892"/>
            <a:ext cx="3730751"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60704" y="2960827"/>
            <a:ext cx="3730751"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60704" y="3121761"/>
            <a:ext cx="3730751"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60704" y="2901391"/>
            <a:ext cx="445495" cy="0"/>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506199" y="2672059"/>
            <a:ext cx="371247" cy="22933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877446" y="2672059"/>
            <a:ext cx="334121" cy="410383"/>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211567" y="2822935"/>
            <a:ext cx="408371" cy="259507"/>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619938" y="2822935"/>
            <a:ext cx="371247" cy="108631"/>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991185" y="2738445"/>
            <a:ext cx="408371" cy="193121"/>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399556" y="2738445"/>
            <a:ext cx="408371" cy="253471"/>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807927" y="2841040"/>
            <a:ext cx="371246" cy="150876"/>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79173" y="2841040"/>
            <a:ext cx="593995" cy="0"/>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60704" y="2919496"/>
            <a:ext cx="296997" cy="0"/>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357701" y="2738445"/>
            <a:ext cx="222747" cy="181051"/>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580448" y="2738445"/>
            <a:ext cx="185624" cy="337962"/>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766072" y="2889321"/>
            <a:ext cx="296997" cy="187086"/>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063069" y="2889321"/>
            <a:ext cx="222748" cy="30175"/>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285817" y="2678094"/>
            <a:ext cx="259872" cy="241402"/>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545689" y="2678094"/>
            <a:ext cx="222748" cy="410383"/>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768437" y="2847075"/>
            <a:ext cx="259872" cy="241402"/>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028309" y="2847075"/>
            <a:ext cx="371247" cy="66386"/>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399556" y="2702234"/>
            <a:ext cx="296997" cy="211227"/>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696553" y="2702234"/>
            <a:ext cx="185623" cy="313822"/>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82176" y="2871215"/>
            <a:ext cx="334122" cy="144841"/>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16298" y="2871215"/>
            <a:ext cx="296997" cy="48281"/>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513295" y="2919496"/>
            <a:ext cx="259873" cy="0"/>
          </a:xfrm>
          <a:prstGeom prst="line">
            <a:avLst/>
          </a:prstGeom>
          <a:ln w="19050">
            <a:solidFill>
              <a:srgbClr val="48E0D2"/>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822191" y="2240279"/>
            <a:ext cx="914400" cy="201168"/>
          </a:xfrm>
          <a:prstGeom prst="roundRect">
            <a:avLst/>
          </a:prstGeom>
          <a:solidFill>
            <a:srgbClr val="1E8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79" y="2249424"/>
            <a:ext cx="877824" cy="164592"/>
          </a:xfrm>
          <a:prstGeom prst="rect">
            <a:avLst/>
          </a:prstGeom>
          <a:noFill/>
        </p:spPr>
        <p:txBody>
          <a:bodyPr wrap="square" lIns="0" rIns="0" tIns="0" bIns="0" anchor="t">
            <a:spAutoFit/>
          </a:bodyPr>
          <a:lstStyle/>
          <a:p>
            <a:pPr algn="ctr"/>
            <a:r>
              <a:rPr sz="670" b="1" i="0">
                <a:solidFill>
                  <a:srgbClr val="48E0D2"/>
                </a:solidFill>
                <a:latin typeface="Aptos"/>
              </a:rPr>
              <a:t>EVENT WINDOW</a:t>
            </a:r>
          </a:p>
        </p:txBody>
      </p:sp>
      <p:sp>
        <p:nvSpPr>
          <p:cNvPr id="50" name="Rounded Rectangle 49"/>
          <p:cNvSpPr/>
          <p:nvPr/>
        </p:nvSpPr>
        <p:spPr>
          <a:xfrm>
            <a:off x="859536" y="3749039"/>
            <a:ext cx="1115568" cy="832104"/>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007668" y="3906316"/>
            <a:ext cx="224028" cy="0"/>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49274" y="3979926"/>
            <a:ext cx="140817" cy="0"/>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4079" y="4053535"/>
            <a:ext cx="51207" cy="0"/>
          </a:xfrm>
          <a:prstGeom prst="line">
            <a:avLst/>
          </a:prstGeom>
          <a:ln w="17780">
            <a:solidFill>
              <a:srgbClr val="5EA7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69264" y="4206240"/>
            <a:ext cx="905256" cy="146304"/>
          </a:xfrm>
          <a:prstGeom prst="rect">
            <a:avLst/>
          </a:prstGeom>
          <a:noFill/>
        </p:spPr>
        <p:txBody>
          <a:bodyPr wrap="square" lIns="0" rIns="0" tIns="0" bIns="0" anchor="t">
            <a:spAutoFit/>
          </a:bodyPr>
          <a:lstStyle/>
          <a:p>
            <a:pPr algn="l"/>
            <a:r>
              <a:rPr sz="670" b="1" i="0">
                <a:solidFill>
                  <a:srgbClr val="5EA7FF"/>
                </a:solidFill>
                <a:latin typeface="Aptos"/>
              </a:rPr>
              <a:t>FILTER</a:t>
            </a:r>
          </a:p>
        </p:txBody>
      </p:sp>
      <p:sp>
        <p:nvSpPr>
          <p:cNvPr id="55" name="TextBox 54"/>
          <p:cNvSpPr txBox="1"/>
          <p:nvPr/>
        </p:nvSpPr>
        <p:spPr>
          <a:xfrm>
            <a:off x="969264" y="4379976"/>
            <a:ext cx="877824" cy="182880"/>
          </a:xfrm>
          <a:prstGeom prst="rect">
            <a:avLst/>
          </a:prstGeom>
          <a:noFill/>
        </p:spPr>
        <p:txBody>
          <a:bodyPr wrap="square" lIns="0" rIns="0" tIns="0" bIns="0" anchor="t">
            <a:spAutoFit/>
          </a:bodyPr>
          <a:lstStyle/>
          <a:p>
            <a:pPr algn="l"/>
            <a:r>
              <a:rPr sz="680" b="0" i="0">
                <a:solidFill>
                  <a:srgbClr val="9AA9B8"/>
                </a:solidFill>
                <a:latin typeface="Aptos"/>
              </a:rPr>
              <a:t>remove irrelevant
frequency / noise</a:t>
            </a:r>
          </a:p>
        </p:txBody>
      </p:sp>
      <p:sp>
        <p:nvSpPr>
          <p:cNvPr id="56" name="Chevron 55"/>
          <p:cNvSpPr/>
          <p:nvPr/>
        </p:nvSpPr>
        <p:spPr>
          <a:xfrm>
            <a:off x="1965960" y="3922776"/>
            <a:ext cx="155448"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212848" y="3749039"/>
            <a:ext cx="1115568" cy="832104"/>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2322576" y="3941841"/>
            <a:ext cx="29187" cy="0"/>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351763" y="3890762"/>
            <a:ext cx="24323" cy="51079"/>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376086" y="3890762"/>
            <a:ext cx="21891" cy="91404"/>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397977" y="3924367"/>
            <a:ext cx="26755" cy="57799"/>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424732" y="3924367"/>
            <a:ext cx="24323" cy="24195"/>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449055" y="3905548"/>
            <a:ext cx="26756" cy="43014"/>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475811" y="3905548"/>
            <a:ext cx="26755" cy="56455"/>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2502566" y="3928399"/>
            <a:ext cx="24323" cy="33604"/>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526889" y="3928399"/>
            <a:ext cx="38917" cy="0"/>
          </a:xfrm>
          <a:prstGeom prst="line">
            <a:avLst/>
          </a:prstGeom>
          <a:ln w="12700">
            <a:solidFill>
              <a:srgbClr val="48E0D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322576" y="4206240"/>
            <a:ext cx="905256" cy="146304"/>
          </a:xfrm>
          <a:prstGeom prst="rect">
            <a:avLst/>
          </a:prstGeom>
          <a:noFill/>
        </p:spPr>
        <p:txBody>
          <a:bodyPr wrap="square" lIns="0" rIns="0" tIns="0" bIns="0" anchor="t">
            <a:spAutoFit/>
          </a:bodyPr>
          <a:lstStyle/>
          <a:p>
            <a:pPr algn="l"/>
            <a:r>
              <a:rPr sz="670" b="1" i="0">
                <a:solidFill>
                  <a:srgbClr val="48E0D2"/>
                </a:solidFill>
                <a:latin typeface="Aptos"/>
              </a:rPr>
              <a:t>FEATURES</a:t>
            </a:r>
          </a:p>
        </p:txBody>
      </p:sp>
      <p:sp>
        <p:nvSpPr>
          <p:cNvPr id="68" name="TextBox 67"/>
          <p:cNvSpPr txBox="1"/>
          <p:nvPr/>
        </p:nvSpPr>
        <p:spPr>
          <a:xfrm>
            <a:off x="2322576" y="4379976"/>
            <a:ext cx="877824" cy="182880"/>
          </a:xfrm>
          <a:prstGeom prst="rect">
            <a:avLst/>
          </a:prstGeom>
          <a:noFill/>
        </p:spPr>
        <p:txBody>
          <a:bodyPr wrap="square" lIns="0" rIns="0" tIns="0" bIns="0" anchor="t">
            <a:spAutoFit/>
          </a:bodyPr>
          <a:lstStyle/>
          <a:p>
            <a:pPr algn="l"/>
            <a:r>
              <a:rPr sz="680" b="0" i="0">
                <a:solidFill>
                  <a:srgbClr val="9AA9B8"/>
                </a:solidFill>
                <a:latin typeface="Aptos"/>
              </a:rPr>
              <a:t>describe the
signal window</a:t>
            </a:r>
          </a:p>
        </p:txBody>
      </p:sp>
      <p:sp>
        <p:nvSpPr>
          <p:cNvPr id="69" name="Chevron 68"/>
          <p:cNvSpPr/>
          <p:nvPr/>
        </p:nvSpPr>
        <p:spPr>
          <a:xfrm>
            <a:off x="3319272" y="3922776"/>
            <a:ext cx="155448"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3566160" y="3749039"/>
            <a:ext cx="1115568" cy="832104"/>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733495" y="3899916"/>
            <a:ext cx="102412" cy="121615"/>
          </a:xfrm>
          <a:prstGeom prst="ellipse">
            <a:avLst/>
          </a:prstGeom>
          <a:solidFill>
            <a:srgbClr val="0A0F15"/>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813505" y="3899916"/>
            <a:ext cx="102412" cy="121615"/>
          </a:xfrm>
          <a:prstGeom prst="ellipse">
            <a:avLst/>
          </a:prstGeom>
          <a:solidFill>
            <a:srgbClr val="0A0F15"/>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3835907" y="3906316"/>
            <a:ext cx="0" cy="115215"/>
          </a:xfrm>
          <a:prstGeom prst="line">
            <a:avLst/>
          </a:prstGeom>
          <a:ln w="12700">
            <a:solidFill>
              <a:srgbClr val="B796F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762298" y="3947922"/>
            <a:ext cx="48006" cy="0"/>
          </a:xfrm>
          <a:prstGeom prst="line">
            <a:avLst/>
          </a:prstGeom>
          <a:ln w="11430">
            <a:solidFill>
              <a:srgbClr val="B796FF"/>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861511" y="3976725"/>
            <a:ext cx="48006" cy="0"/>
          </a:xfrm>
          <a:prstGeom prst="line">
            <a:avLst/>
          </a:prstGeom>
          <a:ln w="11430">
            <a:solidFill>
              <a:srgbClr val="B796FF"/>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3771900" y="3912717"/>
            <a:ext cx="22402" cy="22402"/>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871112" y="4002328"/>
            <a:ext cx="22402" cy="22402"/>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675887" y="4206240"/>
            <a:ext cx="905256" cy="146304"/>
          </a:xfrm>
          <a:prstGeom prst="rect">
            <a:avLst/>
          </a:prstGeom>
          <a:noFill/>
        </p:spPr>
        <p:txBody>
          <a:bodyPr wrap="square" lIns="0" rIns="0" tIns="0" bIns="0" anchor="t">
            <a:spAutoFit/>
          </a:bodyPr>
          <a:lstStyle/>
          <a:p>
            <a:pPr algn="l"/>
            <a:r>
              <a:rPr sz="670" b="1" i="0">
                <a:solidFill>
                  <a:srgbClr val="B796FF"/>
                </a:solidFill>
                <a:latin typeface="Aptos"/>
              </a:rPr>
              <a:t>CLASSIFY</a:t>
            </a:r>
          </a:p>
        </p:txBody>
      </p:sp>
      <p:sp>
        <p:nvSpPr>
          <p:cNvPr id="79" name="TextBox 78"/>
          <p:cNvSpPr txBox="1"/>
          <p:nvPr/>
        </p:nvSpPr>
        <p:spPr>
          <a:xfrm>
            <a:off x="3675887" y="4379976"/>
            <a:ext cx="877824" cy="182880"/>
          </a:xfrm>
          <a:prstGeom prst="rect">
            <a:avLst/>
          </a:prstGeom>
          <a:noFill/>
        </p:spPr>
        <p:txBody>
          <a:bodyPr wrap="square" lIns="0" rIns="0" tIns="0" bIns="0" anchor="t">
            <a:spAutoFit/>
          </a:bodyPr>
          <a:lstStyle/>
          <a:p>
            <a:pPr algn="l"/>
            <a:r>
              <a:rPr sz="680" b="0" i="0">
                <a:solidFill>
                  <a:srgbClr val="9AA9B8"/>
                </a:solidFill>
                <a:latin typeface="Aptos"/>
              </a:rPr>
              <a:t>compare with
learned patterns</a:t>
            </a:r>
          </a:p>
        </p:txBody>
      </p:sp>
      <p:sp>
        <p:nvSpPr>
          <p:cNvPr id="80" name="Rounded Rectangle 79"/>
          <p:cNvSpPr/>
          <p:nvPr/>
        </p:nvSpPr>
        <p:spPr>
          <a:xfrm>
            <a:off x="859536" y="4873752"/>
            <a:ext cx="4114800" cy="676656"/>
          </a:xfrm>
          <a:prstGeom prst="roundRect">
            <a:avLst/>
          </a:prstGeom>
          <a:solidFill>
            <a:srgbClr val="1A2F38"/>
          </a:solidFill>
          <a:ln w="1016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038344"/>
            <a:ext cx="1042415" cy="164592"/>
          </a:xfrm>
          <a:prstGeom prst="rect">
            <a:avLst/>
          </a:prstGeom>
          <a:noFill/>
        </p:spPr>
        <p:txBody>
          <a:bodyPr wrap="square" lIns="0" rIns="0" tIns="0" bIns="0" anchor="t">
            <a:spAutoFit/>
          </a:bodyPr>
          <a:lstStyle/>
          <a:p>
            <a:pPr algn="l"/>
            <a:r>
              <a:rPr sz="700" b="1" i="0">
                <a:solidFill>
                  <a:srgbClr val="48E0D2"/>
                </a:solidFill>
                <a:latin typeface="Aptos"/>
              </a:rPr>
              <a:t>OUTPUT</a:t>
            </a:r>
          </a:p>
        </p:txBody>
      </p:sp>
      <p:sp>
        <p:nvSpPr>
          <p:cNvPr id="82" name="Rounded Rectangle 81"/>
          <p:cNvSpPr/>
          <p:nvPr/>
        </p:nvSpPr>
        <p:spPr>
          <a:xfrm>
            <a:off x="2157984" y="4992624"/>
            <a:ext cx="850392" cy="246888"/>
          </a:xfrm>
          <a:prstGeom prst="roundRect">
            <a:avLst/>
          </a:prstGeom>
          <a:solidFill>
            <a:srgbClr val="352B1F"/>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157984" y="4997196"/>
            <a:ext cx="850392" cy="228600"/>
          </a:xfrm>
          <a:prstGeom prst="rect">
            <a:avLst/>
          </a:prstGeom>
          <a:noFill/>
        </p:spPr>
        <p:txBody>
          <a:bodyPr wrap="square" lIns="9144" rIns="9144" tIns="9144" bIns="9144" anchor="ctr">
            <a:spAutoFit/>
          </a:bodyPr>
          <a:lstStyle/>
          <a:p>
            <a:pPr algn="ctr"/>
            <a:r>
              <a:rPr sz="690" b="1" i="0">
                <a:solidFill>
                  <a:srgbClr val="F4B860"/>
                </a:solidFill>
                <a:latin typeface="Aptos"/>
              </a:rPr>
              <a:t>LEAK</a:t>
            </a:r>
          </a:p>
        </p:txBody>
      </p:sp>
      <p:sp>
        <p:nvSpPr>
          <p:cNvPr id="84" name="TextBox 83"/>
          <p:cNvSpPr txBox="1"/>
          <p:nvPr/>
        </p:nvSpPr>
        <p:spPr>
          <a:xfrm>
            <a:off x="3127248" y="5047488"/>
            <a:ext cx="1499616" cy="146304"/>
          </a:xfrm>
          <a:prstGeom prst="rect">
            <a:avLst/>
          </a:prstGeom>
          <a:noFill/>
        </p:spPr>
        <p:txBody>
          <a:bodyPr wrap="square" lIns="0" rIns="0" tIns="0" bIns="0" anchor="t">
            <a:spAutoFit/>
          </a:bodyPr>
          <a:lstStyle/>
          <a:p>
            <a:pPr algn="r"/>
            <a:r>
              <a:rPr sz="840" b="1" i="0">
                <a:solidFill>
                  <a:srgbClr val="F4F7FA"/>
                </a:solidFill>
                <a:latin typeface="Aptos"/>
              </a:rPr>
              <a:t>confidence score</a:t>
            </a:r>
          </a:p>
        </p:txBody>
      </p:sp>
      <p:sp>
        <p:nvSpPr>
          <p:cNvPr id="85" name="TextBox 84"/>
          <p:cNvSpPr txBox="1"/>
          <p:nvPr/>
        </p:nvSpPr>
        <p:spPr>
          <a:xfrm>
            <a:off x="5669280" y="1682496"/>
            <a:ext cx="2926080" cy="256032"/>
          </a:xfrm>
          <a:prstGeom prst="rect">
            <a:avLst/>
          </a:prstGeom>
          <a:noFill/>
        </p:spPr>
        <p:txBody>
          <a:bodyPr wrap="square" lIns="0" rIns="0" tIns="0" bIns="0" anchor="t">
            <a:spAutoFit/>
          </a:bodyPr>
          <a:lstStyle/>
          <a:p>
            <a:pPr algn="l"/>
            <a:r>
              <a:rPr sz="1450" b="1" i="0">
                <a:solidFill>
                  <a:srgbClr val="F4F7FA"/>
                </a:solidFill>
                <a:latin typeface="Aptos Display"/>
              </a:rPr>
              <a:t>Why process locally?</a:t>
            </a:r>
          </a:p>
        </p:txBody>
      </p:sp>
      <p:sp>
        <p:nvSpPr>
          <p:cNvPr id="86" name="Rounded Rectangle 85"/>
          <p:cNvSpPr/>
          <p:nvPr/>
        </p:nvSpPr>
        <p:spPr>
          <a:xfrm>
            <a:off x="5669280" y="2212848"/>
            <a:ext cx="5760720" cy="457200"/>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861304" y="2386584"/>
            <a:ext cx="82296" cy="82296"/>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062472" y="2304288"/>
            <a:ext cx="1645920" cy="164592"/>
          </a:xfrm>
          <a:prstGeom prst="rect">
            <a:avLst/>
          </a:prstGeom>
          <a:noFill/>
        </p:spPr>
        <p:txBody>
          <a:bodyPr wrap="square" lIns="0" rIns="0" tIns="0" bIns="0" anchor="t">
            <a:spAutoFit/>
          </a:bodyPr>
          <a:lstStyle/>
          <a:p>
            <a:pPr algn="l"/>
            <a:r>
              <a:rPr sz="730" b="1" i="0">
                <a:solidFill>
                  <a:srgbClr val="48E0D2"/>
                </a:solidFill>
                <a:latin typeface="Aptos"/>
              </a:rPr>
              <a:t>LOW LATENCY</a:t>
            </a:r>
          </a:p>
        </p:txBody>
      </p:sp>
      <p:sp>
        <p:nvSpPr>
          <p:cNvPr id="89" name="TextBox 88"/>
          <p:cNvSpPr txBox="1"/>
          <p:nvPr/>
        </p:nvSpPr>
        <p:spPr>
          <a:xfrm>
            <a:off x="7799831" y="2304288"/>
            <a:ext cx="3383280" cy="228600"/>
          </a:xfrm>
          <a:prstGeom prst="rect">
            <a:avLst/>
          </a:prstGeom>
          <a:noFill/>
        </p:spPr>
        <p:txBody>
          <a:bodyPr wrap="square" lIns="0" rIns="0" tIns="0" bIns="0" anchor="t">
            <a:spAutoFit/>
          </a:bodyPr>
          <a:lstStyle/>
          <a:p>
            <a:pPr algn="l"/>
            <a:r>
              <a:rPr sz="800" b="0" i="0">
                <a:solidFill>
                  <a:srgbClr val="9AA9B8"/>
                </a:solidFill>
                <a:latin typeface="Aptos"/>
              </a:rPr>
              <a:t>A detection decision does not wait for a round trip.</a:t>
            </a:r>
          </a:p>
        </p:txBody>
      </p:sp>
      <p:sp>
        <p:nvSpPr>
          <p:cNvPr id="90" name="Rounded Rectangle 89"/>
          <p:cNvSpPr/>
          <p:nvPr/>
        </p:nvSpPr>
        <p:spPr>
          <a:xfrm>
            <a:off x="5669280" y="2825496"/>
            <a:ext cx="5760720" cy="457200"/>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861304" y="2999232"/>
            <a:ext cx="82296" cy="82296"/>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062472" y="2916936"/>
            <a:ext cx="1645920" cy="164592"/>
          </a:xfrm>
          <a:prstGeom prst="rect">
            <a:avLst/>
          </a:prstGeom>
          <a:noFill/>
        </p:spPr>
        <p:txBody>
          <a:bodyPr wrap="square" lIns="0" rIns="0" tIns="0" bIns="0" anchor="t">
            <a:spAutoFit/>
          </a:bodyPr>
          <a:lstStyle/>
          <a:p>
            <a:pPr algn="l"/>
            <a:r>
              <a:rPr sz="730" b="1" i="0">
                <a:solidFill>
                  <a:srgbClr val="5EA7FF"/>
                </a:solidFill>
                <a:latin typeface="Aptos"/>
              </a:rPr>
              <a:t>LESS CLOUD DEPENDENCY</a:t>
            </a:r>
          </a:p>
        </p:txBody>
      </p:sp>
      <p:sp>
        <p:nvSpPr>
          <p:cNvPr id="93" name="TextBox 92"/>
          <p:cNvSpPr txBox="1"/>
          <p:nvPr/>
        </p:nvSpPr>
        <p:spPr>
          <a:xfrm>
            <a:off x="7799831" y="2916936"/>
            <a:ext cx="3383280" cy="228600"/>
          </a:xfrm>
          <a:prstGeom prst="rect">
            <a:avLst/>
          </a:prstGeom>
          <a:noFill/>
        </p:spPr>
        <p:txBody>
          <a:bodyPr wrap="square" lIns="0" rIns="0" tIns="0" bIns="0" anchor="t">
            <a:spAutoFit/>
          </a:bodyPr>
          <a:lstStyle/>
          <a:p>
            <a:pPr algn="l"/>
            <a:r>
              <a:rPr sz="800" b="0" i="0">
                <a:solidFill>
                  <a:srgbClr val="9AA9B8"/>
                </a:solidFill>
                <a:latin typeface="Aptos"/>
              </a:rPr>
              <a:t>The patrol can keep sensing with limited connectivity.</a:t>
            </a:r>
          </a:p>
        </p:txBody>
      </p:sp>
      <p:sp>
        <p:nvSpPr>
          <p:cNvPr id="94" name="Rounded Rectangle 93"/>
          <p:cNvSpPr/>
          <p:nvPr/>
        </p:nvSpPr>
        <p:spPr>
          <a:xfrm>
            <a:off x="5669280" y="3438144"/>
            <a:ext cx="5760720" cy="457200"/>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5861304" y="3611879"/>
            <a:ext cx="82296" cy="82296"/>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062472" y="3529584"/>
            <a:ext cx="1645920" cy="164592"/>
          </a:xfrm>
          <a:prstGeom prst="rect">
            <a:avLst/>
          </a:prstGeom>
          <a:noFill/>
        </p:spPr>
        <p:txBody>
          <a:bodyPr wrap="square" lIns="0" rIns="0" tIns="0" bIns="0" anchor="t">
            <a:spAutoFit/>
          </a:bodyPr>
          <a:lstStyle/>
          <a:p>
            <a:pPr algn="l"/>
            <a:r>
              <a:rPr sz="730" b="1" i="0">
                <a:solidFill>
                  <a:srgbClr val="F4B860"/>
                </a:solidFill>
                <a:latin typeface="Aptos"/>
              </a:rPr>
              <a:t>FASTER RESPONSE</a:t>
            </a:r>
          </a:p>
        </p:txBody>
      </p:sp>
      <p:sp>
        <p:nvSpPr>
          <p:cNvPr id="97" name="TextBox 96"/>
          <p:cNvSpPr txBox="1"/>
          <p:nvPr/>
        </p:nvSpPr>
        <p:spPr>
          <a:xfrm>
            <a:off x="7799831" y="3529584"/>
            <a:ext cx="3383280" cy="228600"/>
          </a:xfrm>
          <a:prstGeom prst="rect">
            <a:avLst/>
          </a:prstGeom>
          <a:noFill/>
        </p:spPr>
        <p:txBody>
          <a:bodyPr wrap="square" lIns="0" rIns="0" tIns="0" bIns="0" anchor="t">
            <a:spAutoFit/>
          </a:bodyPr>
          <a:lstStyle/>
          <a:p>
            <a:pPr algn="l"/>
            <a:r>
              <a:rPr sz="800" b="0" i="0">
                <a:solidFill>
                  <a:srgbClr val="9AA9B8"/>
                </a:solidFill>
                <a:latin typeface="Aptos"/>
              </a:rPr>
              <a:t>A likely event can be surfaced close to the moment it occurs.</a:t>
            </a:r>
          </a:p>
        </p:txBody>
      </p:sp>
      <p:sp>
        <p:nvSpPr>
          <p:cNvPr id="98" name="Rounded Rectangle 97"/>
          <p:cNvSpPr/>
          <p:nvPr/>
        </p:nvSpPr>
        <p:spPr>
          <a:xfrm>
            <a:off x="5669280" y="4050791"/>
            <a:ext cx="5760720" cy="457200"/>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861304" y="4224528"/>
            <a:ext cx="82296" cy="82296"/>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062472" y="4142231"/>
            <a:ext cx="1645920" cy="164592"/>
          </a:xfrm>
          <a:prstGeom prst="rect">
            <a:avLst/>
          </a:prstGeom>
          <a:noFill/>
        </p:spPr>
        <p:txBody>
          <a:bodyPr wrap="square" lIns="0" rIns="0" tIns="0" bIns="0" anchor="t">
            <a:spAutoFit/>
          </a:bodyPr>
          <a:lstStyle/>
          <a:p>
            <a:pPr algn="l"/>
            <a:r>
              <a:rPr sz="730" b="1" i="0">
                <a:solidFill>
                  <a:srgbClr val="7FE0A4"/>
                </a:solidFill>
                <a:latin typeface="Aptos"/>
              </a:rPr>
              <a:t>RELIABLE + PRIVATE</a:t>
            </a:r>
          </a:p>
        </p:txBody>
      </p:sp>
      <p:sp>
        <p:nvSpPr>
          <p:cNvPr id="101" name="TextBox 100"/>
          <p:cNvSpPr txBox="1"/>
          <p:nvPr/>
        </p:nvSpPr>
        <p:spPr>
          <a:xfrm>
            <a:off x="7799831" y="4142231"/>
            <a:ext cx="3383280" cy="228600"/>
          </a:xfrm>
          <a:prstGeom prst="rect">
            <a:avLst/>
          </a:prstGeom>
          <a:noFill/>
        </p:spPr>
        <p:txBody>
          <a:bodyPr wrap="square" lIns="0" rIns="0" tIns="0" bIns="0" anchor="t">
            <a:spAutoFit/>
          </a:bodyPr>
          <a:lstStyle/>
          <a:p>
            <a:pPr algn="l"/>
            <a:r>
              <a:rPr sz="800" b="0" i="0">
                <a:solidFill>
                  <a:srgbClr val="9AA9B8"/>
                </a:solidFill>
                <a:latin typeface="Aptos"/>
              </a:rPr>
              <a:t>Raw acoustic windows can stay on-device unless shared deliberately.</a:t>
            </a:r>
          </a:p>
        </p:txBody>
      </p:sp>
      <p:sp>
        <p:nvSpPr>
          <p:cNvPr id="102" name="Rounded Rectangle 101"/>
          <p:cNvSpPr/>
          <p:nvPr/>
        </p:nvSpPr>
        <p:spPr>
          <a:xfrm>
            <a:off x="5669280" y="4864608"/>
            <a:ext cx="5760720" cy="795528"/>
          </a:xfrm>
          <a:prstGeom prst="roundRect">
            <a:avLst/>
          </a:prstGeom>
          <a:solidFill>
            <a:srgbClr val="211B2A"/>
          </a:solidFill>
          <a:ln w="1016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897880" y="5010912"/>
            <a:ext cx="1371600" cy="164592"/>
          </a:xfrm>
          <a:prstGeom prst="rect">
            <a:avLst/>
          </a:prstGeom>
          <a:noFill/>
        </p:spPr>
        <p:txBody>
          <a:bodyPr wrap="square" lIns="0" rIns="0" tIns="0" bIns="0" anchor="t">
            <a:spAutoFit/>
          </a:bodyPr>
          <a:lstStyle/>
          <a:p>
            <a:pPr algn="l"/>
            <a:r>
              <a:rPr sz="700" b="1" i="0">
                <a:solidFill>
                  <a:srgbClr val="B796FF"/>
                </a:solidFill>
                <a:latin typeface="Aptos"/>
              </a:rPr>
              <a:t>MODEL GUARDRAIL</a:t>
            </a:r>
          </a:p>
        </p:txBody>
      </p:sp>
      <p:sp>
        <p:nvSpPr>
          <p:cNvPr id="104" name="TextBox 103"/>
          <p:cNvSpPr txBox="1"/>
          <p:nvPr/>
        </p:nvSpPr>
        <p:spPr>
          <a:xfrm>
            <a:off x="5897880" y="5212080"/>
            <a:ext cx="5166360" cy="256032"/>
          </a:xfrm>
          <a:prstGeom prst="rect">
            <a:avLst/>
          </a:prstGeom>
          <a:noFill/>
        </p:spPr>
        <p:txBody>
          <a:bodyPr wrap="square" lIns="0" rIns="0" tIns="0" bIns="0" anchor="t">
            <a:spAutoFit/>
          </a:bodyPr>
          <a:lstStyle/>
          <a:p>
            <a:pPr algn="l"/>
            <a:r>
              <a:rPr sz="830" b="1" i="0">
                <a:solidFill>
                  <a:srgbClr val="F4F7FA"/>
                </a:solidFill>
                <a:latin typeface="Aptos"/>
              </a:rPr>
              <a:t>Edge AI classifier — model to be selected based on dataset and 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F4B860"/>
                </a:solidFill>
                <a:latin typeface="Aptos"/>
              </a:rPr>
              <a:t>06  /  LOCATION + PRIORITY</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07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Every alert arrives with context.</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For the MVP, approximate location comes from a known route, distance tracking, section ID, and event time.</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99616"/>
            <a:ext cx="6419088" cy="4517136"/>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1737360"/>
            <a:ext cx="2743200" cy="164592"/>
          </a:xfrm>
          <a:prstGeom prst="rect">
            <a:avLst/>
          </a:prstGeom>
          <a:noFill/>
        </p:spPr>
        <p:txBody>
          <a:bodyPr wrap="square" lIns="36576" rIns="36576" tIns="36576" bIns="36576" anchor="t">
            <a:spAutoFit/>
          </a:bodyPr>
          <a:lstStyle/>
          <a:p>
            <a:pPr algn="l"/>
            <a:r>
              <a:rPr sz="740" b="1" i="0">
                <a:solidFill>
                  <a:srgbClr val="6F8292"/>
                </a:solidFill>
                <a:latin typeface="Aptos"/>
              </a:rPr>
              <a:t>MVP ROUTE MAP  /  P-03</a:t>
            </a:r>
          </a:p>
        </p:txBody>
      </p:sp>
      <p:sp>
        <p:nvSpPr>
          <p:cNvPr id="19" name="Rounded Rectangle 18"/>
          <p:cNvSpPr/>
          <p:nvPr/>
        </p:nvSpPr>
        <p:spPr>
          <a:xfrm>
            <a:off x="1060704" y="2084831"/>
            <a:ext cx="329184" cy="246888"/>
          </a:xfrm>
          <a:prstGeom prst="roundRect">
            <a:avLst/>
          </a:prstGeom>
          <a:solidFill>
            <a:srgbClr val="17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2089403"/>
            <a:ext cx="329184" cy="228600"/>
          </a:xfrm>
          <a:prstGeom prst="rect">
            <a:avLst/>
          </a:prstGeom>
          <a:noFill/>
        </p:spPr>
        <p:txBody>
          <a:bodyPr wrap="square" lIns="9144" rIns="9144" tIns="9144" bIns="9144" anchor="ctr">
            <a:spAutoFit/>
          </a:bodyPr>
          <a:lstStyle/>
          <a:p>
            <a:pPr algn="ctr"/>
            <a:r>
              <a:rPr sz="700" b="1" i="0">
                <a:solidFill>
                  <a:srgbClr val="9AA9B8"/>
                </a:solidFill>
                <a:latin typeface="Aptos"/>
              </a:rPr>
              <a:t>A</a:t>
            </a:r>
          </a:p>
        </p:txBody>
      </p:sp>
      <p:sp>
        <p:nvSpPr>
          <p:cNvPr id="21" name="Rounded Rectangle 20"/>
          <p:cNvSpPr/>
          <p:nvPr/>
        </p:nvSpPr>
        <p:spPr>
          <a:xfrm>
            <a:off x="2578608" y="2084831"/>
            <a:ext cx="329184" cy="246888"/>
          </a:xfrm>
          <a:prstGeom prst="roundRect">
            <a:avLst/>
          </a:prstGeom>
          <a:solidFill>
            <a:srgbClr val="17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2089403"/>
            <a:ext cx="329184" cy="228600"/>
          </a:xfrm>
          <a:prstGeom prst="rect">
            <a:avLst/>
          </a:prstGeom>
          <a:noFill/>
        </p:spPr>
        <p:txBody>
          <a:bodyPr wrap="square" lIns="9144" rIns="9144" tIns="9144" bIns="9144" anchor="ctr">
            <a:spAutoFit/>
          </a:bodyPr>
          <a:lstStyle/>
          <a:p>
            <a:pPr algn="ctr"/>
            <a:r>
              <a:rPr sz="700" b="1" i="0">
                <a:solidFill>
                  <a:srgbClr val="9AA9B8"/>
                </a:solidFill>
                <a:latin typeface="Aptos"/>
              </a:rPr>
              <a:t>B</a:t>
            </a:r>
          </a:p>
        </p:txBody>
      </p:sp>
      <p:sp>
        <p:nvSpPr>
          <p:cNvPr id="23" name="Rounded Rectangle 22"/>
          <p:cNvSpPr/>
          <p:nvPr/>
        </p:nvSpPr>
        <p:spPr>
          <a:xfrm>
            <a:off x="4187952" y="2084831"/>
            <a:ext cx="329184" cy="246888"/>
          </a:xfrm>
          <a:prstGeom prst="roundRect">
            <a:avLst/>
          </a:prstGeom>
          <a:solidFill>
            <a:srgbClr val="17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87952" y="2089403"/>
            <a:ext cx="329184" cy="228600"/>
          </a:xfrm>
          <a:prstGeom prst="rect">
            <a:avLst/>
          </a:prstGeom>
          <a:noFill/>
        </p:spPr>
        <p:txBody>
          <a:bodyPr wrap="square" lIns="9144" rIns="9144" tIns="9144" bIns="9144" anchor="ctr">
            <a:spAutoFit/>
          </a:bodyPr>
          <a:lstStyle/>
          <a:p>
            <a:pPr algn="ctr"/>
            <a:r>
              <a:rPr sz="700" b="1" i="0">
                <a:solidFill>
                  <a:srgbClr val="9AA9B8"/>
                </a:solidFill>
                <a:latin typeface="Aptos"/>
              </a:rPr>
              <a:t>C</a:t>
            </a:r>
          </a:p>
        </p:txBody>
      </p:sp>
      <p:sp>
        <p:nvSpPr>
          <p:cNvPr id="25" name="Rounded Rectangle 24"/>
          <p:cNvSpPr/>
          <p:nvPr/>
        </p:nvSpPr>
        <p:spPr>
          <a:xfrm>
            <a:off x="5559552" y="2084831"/>
            <a:ext cx="329184" cy="246888"/>
          </a:xfrm>
          <a:prstGeom prst="roundRect">
            <a:avLst/>
          </a:prstGeom>
          <a:solidFill>
            <a:srgbClr val="17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59552" y="2089403"/>
            <a:ext cx="329184" cy="228600"/>
          </a:xfrm>
          <a:prstGeom prst="rect">
            <a:avLst/>
          </a:prstGeom>
          <a:noFill/>
        </p:spPr>
        <p:txBody>
          <a:bodyPr wrap="square" lIns="9144" rIns="9144" tIns="9144" bIns="9144" anchor="ctr">
            <a:spAutoFit/>
          </a:bodyPr>
          <a:lstStyle/>
          <a:p>
            <a:pPr algn="ctr"/>
            <a:r>
              <a:rPr sz="700" b="1" i="0">
                <a:solidFill>
                  <a:srgbClr val="9AA9B8"/>
                </a:solidFill>
                <a:latin typeface="Aptos"/>
              </a:rPr>
              <a:t>D</a:t>
            </a:r>
          </a:p>
        </p:txBody>
      </p:sp>
      <p:cxnSp>
        <p:nvCxnSpPr>
          <p:cNvPr id="27" name="Connector 26"/>
          <p:cNvCxnSpPr/>
          <p:nvPr/>
        </p:nvCxnSpPr>
        <p:spPr>
          <a:xfrm flipV="1">
            <a:off x="1050645" y="3085185"/>
            <a:ext cx="761695" cy="808330"/>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812340" y="3085185"/>
            <a:ext cx="979323" cy="373075"/>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791663" y="2991916"/>
            <a:ext cx="979322" cy="466344"/>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70985" y="2991916"/>
            <a:ext cx="979323" cy="715061"/>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750308" y="3240633"/>
            <a:ext cx="979322" cy="466344"/>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29630" y="3240633"/>
            <a:ext cx="544068" cy="341986"/>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50645" y="3085185"/>
            <a:ext cx="761695" cy="808330"/>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812340" y="3085185"/>
            <a:ext cx="979323" cy="373075"/>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91663" y="2991916"/>
            <a:ext cx="979322" cy="466344"/>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000353" y="3843223"/>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762048" y="3034893"/>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741371" y="3407968"/>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720693" y="2941624"/>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700016" y="3656685"/>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679338" y="3190341"/>
            <a:ext cx="100584" cy="100584"/>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223406" y="3532327"/>
            <a:ext cx="100584" cy="100584"/>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313432" y="2596896"/>
            <a:ext cx="0" cy="2286000"/>
          </a:xfrm>
          <a:prstGeom prst="line">
            <a:avLst/>
          </a:prstGeom>
          <a:ln w="101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840480" y="2596896"/>
            <a:ext cx="0" cy="2286000"/>
          </a:xfrm>
          <a:prstGeom prst="line">
            <a:avLst/>
          </a:prstGeom>
          <a:ln w="1016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303520" y="2596896"/>
            <a:ext cx="0" cy="2286000"/>
          </a:xfrm>
          <a:prstGeom prst="line">
            <a:avLst/>
          </a:prstGeom>
          <a:ln w="10160">
            <a:solidFill>
              <a:srgbClr val="20313D"/>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567428" y="3524097"/>
            <a:ext cx="365760" cy="365760"/>
          </a:xfrm>
          <a:prstGeom prst="ellipse">
            <a:avLst/>
          </a:prstGeom>
          <a:solidFill>
            <a:srgbClr val="0A0F15"/>
          </a:solidFill>
          <a:ln w="1651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95444" y="3652113"/>
            <a:ext cx="109728" cy="10972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558284" y="3514953"/>
            <a:ext cx="384048" cy="384048"/>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393692" y="3350361"/>
            <a:ext cx="713232" cy="713232"/>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247388" y="3204057"/>
            <a:ext cx="1005840" cy="1005840"/>
          </a:xfrm>
          <a:prstGeom prst="ellipse">
            <a:avLst/>
          </a:prstGeom>
          <a:solidFill>
            <a:srgbClr val="0A0F15"/>
          </a:solidFill>
          <a:ln w="1016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19956" y="4054449"/>
            <a:ext cx="1097280" cy="182880"/>
          </a:xfrm>
          <a:prstGeom prst="rect">
            <a:avLst/>
          </a:prstGeom>
          <a:noFill/>
        </p:spPr>
        <p:txBody>
          <a:bodyPr wrap="square" lIns="0" rIns="0" tIns="0" bIns="0" anchor="t">
            <a:spAutoFit/>
          </a:bodyPr>
          <a:lstStyle/>
          <a:p>
            <a:pPr algn="ctr"/>
            <a:r>
              <a:rPr sz="760" b="1" i="0">
                <a:solidFill>
                  <a:srgbClr val="F4B860"/>
                </a:solidFill>
                <a:latin typeface="Aptos"/>
              </a:rPr>
              <a:t>18.6 m  /  SECTION B</a:t>
            </a:r>
          </a:p>
        </p:txBody>
      </p:sp>
      <p:cxnSp>
        <p:nvCxnSpPr>
          <p:cNvPr id="52" name="Connector 51"/>
          <p:cNvCxnSpPr/>
          <p:nvPr/>
        </p:nvCxnSpPr>
        <p:spPr>
          <a:xfrm>
            <a:off x="932688" y="4983480"/>
            <a:ext cx="5449824" cy="0"/>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32688"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77240"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0</a:t>
            </a:r>
          </a:p>
        </p:txBody>
      </p:sp>
      <p:cxnSp>
        <p:nvCxnSpPr>
          <p:cNvPr id="55" name="Connector 54"/>
          <p:cNvCxnSpPr/>
          <p:nvPr/>
        </p:nvCxnSpPr>
        <p:spPr>
          <a:xfrm>
            <a:off x="1711234"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555786"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5</a:t>
            </a:r>
          </a:p>
        </p:txBody>
      </p:sp>
      <p:cxnSp>
        <p:nvCxnSpPr>
          <p:cNvPr id="57" name="Connector 56"/>
          <p:cNvCxnSpPr/>
          <p:nvPr/>
        </p:nvCxnSpPr>
        <p:spPr>
          <a:xfrm>
            <a:off x="2489780"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334332"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10</a:t>
            </a:r>
          </a:p>
        </p:txBody>
      </p:sp>
      <p:cxnSp>
        <p:nvCxnSpPr>
          <p:cNvPr id="59" name="Connector 58"/>
          <p:cNvCxnSpPr/>
          <p:nvPr/>
        </p:nvCxnSpPr>
        <p:spPr>
          <a:xfrm>
            <a:off x="3268326"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12878"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15</a:t>
            </a:r>
          </a:p>
        </p:txBody>
      </p:sp>
      <p:cxnSp>
        <p:nvCxnSpPr>
          <p:cNvPr id="61" name="Connector 60"/>
          <p:cNvCxnSpPr/>
          <p:nvPr/>
        </p:nvCxnSpPr>
        <p:spPr>
          <a:xfrm>
            <a:off x="4046873"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891425"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20</a:t>
            </a:r>
          </a:p>
        </p:txBody>
      </p:sp>
      <p:cxnSp>
        <p:nvCxnSpPr>
          <p:cNvPr id="63" name="Connector 62"/>
          <p:cNvCxnSpPr/>
          <p:nvPr/>
        </p:nvCxnSpPr>
        <p:spPr>
          <a:xfrm>
            <a:off x="4825419"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669971"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25</a:t>
            </a:r>
          </a:p>
        </p:txBody>
      </p:sp>
      <p:cxnSp>
        <p:nvCxnSpPr>
          <p:cNvPr id="65" name="Connector 64"/>
          <p:cNvCxnSpPr/>
          <p:nvPr/>
        </p:nvCxnSpPr>
        <p:spPr>
          <a:xfrm>
            <a:off x="5603965"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448517"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30</a:t>
            </a:r>
          </a:p>
        </p:txBody>
      </p:sp>
      <p:cxnSp>
        <p:nvCxnSpPr>
          <p:cNvPr id="67" name="Connector 66"/>
          <p:cNvCxnSpPr/>
          <p:nvPr/>
        </p:nvCxnSpPr>
        <p:spPr>
          <a:xfrm>
            <a:off x="6382512" y="4928616"/>
            <a:ext cx="0" cy="118872"/>
          </a:xfrm>
          <a:prstGeom prst="line">
            <a:avLst/>
          </a:prstGeom>
          <a:ln w="10160">
            <a:solidFill>
              <a:srgbClr val="6F8292"/>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227064" y="5120640"/>
            <a:ext cx="310896" cy="146304"/>
          </a:xfrm>
          <a:prstGeom prst="rect">
            <a:avLst/>
          </a:prstGeom>
          <a:noFill/>
        </p:spPr>
        <p:txBody>
          <a:bodyPr wrap="square" lIns="0" rIns="0" tIns="0" bIns="0" anchor="t">
            <a:spAutoFit/>
          </a:bodyPr>
          <a:lstStyle/>
          <a:p>
            <a:pPr algn="ctr"/>
            <a:r>
              <a:rPr sz="640" b="0" i="0">
                <a:solidFill>
                  <a:srgbClr val="6F8292"/>
                </a:solidFill>
                <a:latin typeface="Aptos"/>
              </a:rPr>
              <a:t>35</a:t>
            </a:r>
          </a:p>
        </p:txBody>
      </p:sp>
      <p:sp>
        <p:nvSpPr>
          <p:cNvPr id="69" name="TextBox 68"/>
          <p:cNvSpPr txBox="1"/>
          <p:nvPr/>
        </p:nvSpPr>
        <p:spPr>
          <a:xfrm>
            <a:off x="5861304" y="5111496"/>
            <a:ext cx="502920" cy="155448"/>
          </a:xfrm>
          <a:prstGeom prst="rect">
            <a:avLst/>
          </a:prstGeom>
          <a:noFill/>
        </p:spPr>
        <p:txBody>
          <a:bodyPr wrap="square" lIns="0" rIns="0" tIns="0" bIns="0" anchor="t">
            <a:spAutoFit/>
          </a:bodyPr>
          <a:lstStyle/>
          <a:p>
            <a:pPr algn="l"/>
            <a:r>
              <a:rPr sz="680" b="1" i="0">
                <a:solidFill>
                  <a:srgbClr val="6F8292"/>
                </a:solidFill>
                <a:latin typeface="Aptos"/>
              </a:rPr>
              <a:t>m</a:t>
            </a:r>
          </a:p>
        </p:txBody>
      </p:sp>
      <p:sp>
        <p:nvSpPr>
          <p:cNvPr id="70" name="Rounded Rectangle 69"/>
          <p:cNvSpPr/>
          <p:nvPr/>
        </p:nvSpPr>
        <p:spPr>
          <a:xfrm>
            <a:off x="7333488" y="1499616"/>
            <a:ext cx="4187952" cy="3255264"/>
          </a:xfrm>
          <a:prstGeom prst="roundRect">
            <a:avLst/>
          </a:prstGeom>
          <a:solidFill>
            <a:srgbClr val="17233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7626096" y="1764792"/>
            <a:ext cx="1316736" cy="246888"/>
          </a:xfrm>
          <a:prstGeom prst="roundRect">
            <a:avLst/>
          </a:prstGeom>
          <a:solidFill>
            <a:srgbClr val="352B1F"/>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626096" y="1769363"/>
            <a:ext cx="1316736" cy="228600"/>
          </a:xfrm>
          <a:prstGeom prst="rect">
            <a:avLst/>
          </a:prstGeom>
          <a:noFill/>
        </p:spPr>
        <p:txBody>
          <a:bodyPr wrap="square" lIns="9144" rIns="9144" tIns="9144" bIns="9144" anchor="ctr">
            <a:spAutoFit/>
          </a:bodyPr>
          <a:lstStyle/>
          <a:p>
            <a:pPr algn="ctr"/>
            <a:r>
              <a:rPr sz="670" b="1" i="0">
                <a:solidFill>
                  <a:srgbClr val="F4B860"/>
                </a:solidFill>
                <a:latin typeface="Aptos"/>
              </a:rPr>
              <a:t>EXAMPLE RECORD</a:t>
            </a:r>
          </a:p>
        </p:txBody>
      </p:sp>
      <p:sp>
        <p:nvSpPr>
          <p:cNvPr id="73" name="TextBox 72"/>
          <p:cNvSpPr txBox="1"/>
          <p:nvPr/>
        </p:nvSpPr>
        <p:spPr>
          <a:xfrm>
            <a:off x="7626096" y="2176272"/>
            <a:ext cx="2286000" cy="256032"/>
          </a:xfrm>
          <a:prstGeom prst="rect">
            <a:avLst/>
          </a:prstGeom>
          <a:noFill/>
        </p:spPr>
        <p:txBody>
          <a:bodyPr wrap="square" lIns="0" rIns="0" tIns="0" bIns="0" anchor="t">
            <a:spAutoFit/>
          </a:bodyPr>
          <a:lstStyle/>
          <a:p>
            <a:pPr algn="l"/>
            <a:r>
              <a:rPr sz="1450" b="1" i="0">
                <a:solidFill>
                  <a:srgbClr val="F4F7FA"/>
                </a:solidFill>
                <a:latin typeface="Aptos Display"/>
              </a:rPr>
              <a:t>Maintenance record</a:t>
            </a:r>
          </a:p>
        </p:txBody>
      </p:sp>
      <p:cxnSp>
        <p:nvCxnSpPr>
          <p:cNvPr id="74" name="Connector 73"/>
          <p:cNvCxnSpPr/>
          <p:nvPr/>
        </p:nvCxnSpPr>
        <p:spPr>
          <a:xfrm>
            <a:off x="7626096" y="2843784"/>
            <a:ext cx="3566160"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7626096" y="2615184"/>
            <a:ext cx="1536192" cy="155448"/>
          </a:xfrm>
          <a:prstGeom prst="rect">
            <a:avLst/>
          </a:prstGeom>
          <a:noFill/>
        </p:spPr>
        <p:txBody>
          <a:bodyPr wrap="square" lIns="0" rIns="0" tIns="0" bIns="0" anchor="t">
            <a:spAutoFit/>
          </a:bodyPr>
          <a:lstStyle/>
          <a:p>
            <a:pPr algn="l"/>
            <a:r>
              <a:rPr sz="770" b="0" i="0">
                <a:solidFill>
                  <a:srgbClr val="9AA9B8"/>
                </a:solidFill>
                <a:latin typeface="Aptos"/>
              </a:rPr>
              <a:t>Pipeline</a:t>
            </a:r>
          </a:p>
        </p:txBody>
      </p:sp>
      <p:sp>
        <p:nvSpPr>
          <p:cNvPr id="76" name="TextBox 75"/>
          <p:cNvSpPr txBox="1"/>
          <p:nvPr/>
        </p:nvSpPr>
        <p:spPr>
          <a:xfrm>
            <a:off x="9235440" y="2615184"/>
            <a:ext cx="1956816" cy="155448"/>
          </a:xfrm>
          <a:prstGeom prst="rect">
            <a:avLst/>
          </a:prstGeom>
          <a:noFill/>
        </p:spPr>
        <p:txBody>
          <a:bodyPr wrap="square" lIns="0" rIns="0" tIns="0" bIns="0" anchor="t">
            <a:spAutoFit/>
          </a:bodyPr>
          <a:lstStyle/>
          <a:p>
            <a:pPr algn="r"/>
            <a:r>
              <a:rPr sz="800" b="0" i="0">
                <a:solidFill>
                  <a:srgbClr val="F4F7FA"/>
                </a:solidFill>
                <a:latin typeface="Aptos"/>
              </a:rPr>
              <a:t>P-03</a:t>
            </a:r>
          </a:p>
        </p:txBody>
      </p:sp>
      <p:cxnSp>
        <p:nvCxnSpPr>
          <p:cNvPr id="77" name="Connector 76"/>
          <p:cNvCxnSpPr/>
          <p:nvPr/>
        </p:nvCxnSpPr>
        <p:spPr>
          <a:xfrm>
            <a:off x="7626096" y="3127248"/>
            <a:ext cx="3566160"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7626096" y="2898648"/>
            <a:ext cx="1536192" cy="155448"/>
          </a:xfrm>
          <a:prstGeom prst="rect">
            <a:avLst/>
          </a:prstGeom>
          <a:noFill/>
        </p:spPr>
        <p:txBody>
          <a:bodyPr wrap="square" lIns="0" rIns="0" tIns="0" bIns="0" anchor="t">
            <a:spAutoFit/>
          </a:bodyPr>
          <a:lstStyle/>
          <a:p>
            <a:pPr algn="l"/>
            <a:r>
              <a:rPr sz="770" b="0" i="0">
                <a:solidFill>
                  <a:srgbClr val="9AA9B8"/>
                </a:solidFill>
                <a:latin typeface="Aptos"/>
              </a:rPr>
              <a:t>Section</a:t>
            </a:r>
          </a:p>
        </p:txBody>
      </p:sp>
      <p:sp>
        <p:nvSpPr>
          <p:cNvPr id="79" name="TextBox 78"/>
          <p:cNvSpPr txBox="1"/>
          <p:nvPr/>
        </p:nvSpPr>
        <p:spPr>
          <a:xfrm>
            <a:off x="9235440" y="2898648"/>
            <a:ext cx="1956816" cy="155448"/>
          </a:xfrm>
          <a:prstGeom prst="rect">
            <a:avLst/>
          </a:prstGeom>
          <a:noFill/>
        </p:spPr>
        <p:txBody>
          <a:bodyPr wrap="square" lIns="0" rIns="0" tIns="0" bIns="0" anchor="t">
            <a:spAutoFit/>
          </a:bodyPr>
          <a:lstStyle/>
          <a:p>
            <a:pPr algn="r"/>
            <a:r>
              <a:rPr sz="800" b="0" i="0">
                <a:solidFill>
                  <a:srgbClr val="F4F7FA"/>
                </a:solidFill>
                <a:latin typeface="Aptos"/>
              </a:rPr>
              <a:t>B</a:t>
            </a:r>
          </a:p>
        </p:txBody>
      </p:sp>
      <p:cxnSp>
        <p:nvCxnSpPr>
          <p:cNvPr id="80" name="Connector 79"/>
          <p:cNvCxnSpPr/>
          <p:nvPr/>
        </p:nvCxnSpPr>
        <p:spPr>
          <a:xfrm>
            <a:off x="7626096" y="3410712"/>
            <a:ext cx="3566160"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626096" y="3182112"/>
            <a:ext cx="1536192" cy="155448"/>
          </a:xfrm>
          <a:prstGeom prst="rect">
            <a:avLst/>
          </a:prstGeom>
          <a:noFill/>
        </p:spPr>
        <p:txBody>
          <a:bodyPr wrap="square" lIns="0" rIns="0" tIns="0" bIns="0" anchor="t">
            <a:spAutoFit/>
          </a:bodyPr>
          <a:lstStyle/>
          <a:p>
            <a:pPr algn="l"/>
            <a:r>
              <a:rPr sz="770" b="0" i="0">
                <a:solidFill>
                  <a:srgbClr val="9AA9B8"/>
                </a:solidFill>
                <a:latin typeface="Aptos"/>
              </a:rPr>
              <a:t>Distance</a:t>
            </a:r>
          </a:p>
        </p:txBody>
      </p:sp>
      <p:sp>
        <p:nvSpPr>
          <p:cNvPr id="82" name="TextBox 81"/>
          <p:cNvSpPr txBox="1"/>
          <p:nvPr/>
        </p:nvSpPr>
        <p:spPr>
          <a:xfrm>
            <a:off x="9235440" y="3182112"/>
            <a:ext cx="1956816" cy="155448"/>
          </a:xfrm>
          <a:prstGeom prst="rect">
            <a:avLst/>
          </a:prstGeom>
          <a:noFill/>
        </p:spPr>
        <p:txBody>
          <a:bodyPr wrap="square" lIns="0" rIns="0" tIns="0" bIns="0" anchor="t">
            <a:spAutoFit/>
          </a:bodyPr>
          <a:lstStyle/>
          <a:p>
            <a:pPr algn="r"/>
            <a:r>
              <a:rPr sz="800" b="0" i="0">
                <a:solidFill>
                  <a:srgbClr val="F4F7FA"/>
                </a:solidFill>
                <a:latin typeface="Aptos"/>
              </a:rPr>
              <a:t>18.6 m</a:t>
            </a:r>
          </a:p>
        </p:txBody>
      </p:sp>
      <p:cxnSp>
        <p:nvCxnSpPr>
          <p:cNvPr id="83" name="Connector 82"/>
          <p:cNvCxnSpPr/>
          <p:nvPr/>
        </p:nvCxnSpPr>
        <p:spPr>
          <a:xfrm>
            <a:off x="7626096" y="3694176"/>
            <a:ext cx="3566160"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7626096" y="3465576"/>
            <a:ext cx="1536192" cy="155448"/>
          </a:xfrm>
          <a:prstGeom prst="rect">
            <a:avLst/>
          </a:prstGeom>
          <a:noFill/>
        </p:spPr>
        <p:txBody>
          <a:bodyPr wrap="square" lIns="0" rIns="0" tIns="0" bIns="0" anchor="t">
            <a:spAutoFit/>
          </a:bodyPr>
          <a:lstStyle/>
          <a:p>
            <a:pPr algn="l"/>
            <a:r>
              <a:rPr sz="770" b="0" i="0">
                <a:solidFill>
                  <a:srgbClr val="9AA9B8"/>
                </a:solidFill>
                <a:latin typeface="Aptos"/>
              </a:rPr>
              <a:t>Leak probability</a:t>
            </a:r>
          </a:p>
        </p:txBody>
      </p:sp>
      <p:sp>
        <p:nvSpPr>
          <p:cNvPr id="85" name="TextBox 84"/>
          <p:cNvSpPr txBox="1"/>
          <p:nvPr/>
        </p:nvSpPr>
        <p:spPr>
          <a:xfrm>
            <a:off x="9235440" y="3465576"/>
            <a:ext cx="1956816" cy="155448"/>
          </a:xfrm>
          <a:prstGeom prst="rect">
            <a:avLst/>
          </a:prstGeom>
          <a:noFill/>
        </p:spPr>
        <p:txBody>
          <a:bodyPr wrap="square" lIns="0" rIns="0" tIns="0" bIns="0" anchor="t">
            <a:spAutoFit/>
          </a:bodyPr>
          <a:lstStyle/>
          <a:p>
            <a:pPr algn="r"/>
            <a:r>
              <a:rPr sz="800" b="1" i="0">
                <a:solidFill>
                  <a:srgbClr val="F4B860"/>
                </a:solidFill>
                <a:latin typeface="Aptos"/>
              </a:rPr>
              <a:t>94%</a:t>
            </a:r>
          </a:p>
        </p:txBody>
      </p:sp>
      <p:cxnSp>
        <p:nvCxnSpPr>
          <p:cNvPr id="86" name="Connector 85"/>
          <p:cNvCxnSpPr/>
          <p:nvPr/>
        </p:nvCxnSpPr>
        <p:spPr>
          <a:xfrm>
            <a:off x="7626096" y="3977639"/>
            <a:ext cx="3566160"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7626096" y="3749039"/>
            <a:ext cx="1536192" cy="155448"/>
          </a:xfrm>
          <a:prstGeom prst="rect">
            <a:avLst/>
          </a:prstGeom>
          <a:noFill/>
        </p:spPr>
        <p:txBody>
          <a:bodyPr wrap="square" lIns="0" rIns="0" tIns="0" bIns="0" anchor="t">
            <a:spAutoFit/>
          </a:bodyPr>
          <a:lstStyle/>
          <a:p>
            <a:pPr algn="l"/>
            <a:r>
              <a:rPr sz="770" b="0" i="0">
                <a:solidFill>
                  <a:srgbClr val="9AA9B8"/>
                </a:solidFill>
                <a:latin typeface="Aptos"/>
              </a:rPr>
              <a:t>Priority</a:t>
            </a:r>
          </a:p>
        </p:txBody>
      </p:sp>
      <p:sp>
        <p:nvSpPr>
          <p:cNvPr id="88" name="TextBox 87"/>
          <p:cNvSpPr txBox="1"/>
          <p:nvPr/>
        </p:nvSpPr>
        <p:spPr>
          <a:xfrm>
            <a:off x="9235440" y="3749039"/>
            <a:ext cx="1956816" cy="155448"/>
          </a:xfrm>
          <a:prstGeom prst="rect">
            <a:avLst/>
          </a:prstGeom>
          <a:noFill/>
        </p:spPr>
        <p:txBody>
          <a:bodyPr wrap="square" lIns="0" rIns="0" tIns="0" bIns="0" anchor="t">
            <a:spAutoFit/>
          </a:bodyPr>
          <a:lstStyle/>
          <a:p>
            <a:pPr algn="r"/>
            <a:r>
              <a:rPr sz="800" b="1" i="0">
                <a:solidFill>
                  <a:srgbClr val="FF6B6B"/>
                </a:solidFill>
                <a:latin typeface="Aptos"/>
              </a:rPr>
              <a:t>HIGH</a:t>
            </a:r>
          </a:p>
        </p:txBody>
      </p:sp>
      <p:cxnSp>
        <p:nvCxnSpPr>
          <p:cNvPr id="89" name="Connector 88"/>
          <p:cNvCxnSpPr/>
          <p:nvPr/>
        </p:nvCxnSpPr>
        <p:spPr>
          <a:xfrm>
            <a:off x="7626096" y="4261104"/>
            <a:ext cx="3566160"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7626096" y="4032504"/>
            <a:ext cx="1536192" cy="155448"/>
          </a:xfrm>
          <a:prstGeom prst="rect">
            <a:avLst/>
          </a:prstGeom>
          <a:noFill/>
        </p:spPr>
        <p:txBody>
          <a:bodyPr wrap="square" lIns="0" rIns="0" tIns="0" bIns="0" anchor="t">
            <a:spAutoFit/>
          </a:bodyPr>
          <a:lstStyle/>
          <a:p>
            <a:pPr algn="l"/>
            <a:r>
              <a:rPr sz="770" b="0" i="0">
                <a:solidFill>
                  <a:srgbClr val="9AA9B8"/>
                </a:solidFill>
                <a:latin typeface="Aptos"/>
              </a:rPr>
              <a:t>Status</a:t>
            </a:r>
          </a:p>
        </p:txBody>
      </p:sp>
      <p:sp>
        <p:nvSpPr>
          <p:cNvPr id="91" name="TextBox 90"/>
          <p:cNvSpPr txBox="1"/>
          <p:nvPr/>
        </p:nvSpPr>
        <p:spPr>
          <a:xfrm>
            <a:off x="9235440" y="4032504"/>
            <a:ext cx="1956816" cy="155448"/>
          </a:xfrm>
          <a:prstGeom prst="rect">
            <a:avLst/>
          </a:prstGeom>
          <a:noFill/>
        </p:spPr>
        <p:txBody>
          <a:bodyPr wrap="square" lIns="0" rIns="0" tIns="0" bIns="0" anchor="t">
            <a:spAutoFit/>
          </a:bodyPr>
          <a:lstStyle/>
          <a:p>
            <a:pPr algn="r"/>
            <a:r>
              <a:rPr sz="800" b="0" i="0">
                <a:solidFill>
                  <a:srgbClr val="F4F7FA"/>
                </a:solidFill>
                <a:latin typeface="Aptos"/>
              </a:rPr>
              <a:t>Maintenance Required</a:t>
            </a:r>
          </a:p>
        </p:txBody>
      </p:sp>
      <p:sp>
        <p:nvSpPr>
          <p:cNvPr id="92" name="Rounded Rectangle 91"/>
          <p:cNvSpPr/>
          <p:nvPr/>
        </p:nvSpPr>
        <p:spPr>
          <a:xfrm>
            <a:off x="7333488" y="4974336"/>
            <a:ext cx="4187952" cy="1042415"/>
          </a:xfrm>
          <a:prstGeom prst="roundRect">
            <a:avLst/>
          </a:prstGeom>
          <a:solidFill>
            <a:srgbClr val="111A24"/>
          </a:solidFill>
          <a:ln w="889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7607808" y="5166360"/>
            <a:ext cx="667512"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607808" y="5170932"/>
            <a:ext cx="667512" cy="228600"/>
          </a:xfrm>
          <a:prstGeom prst="rect">
            <a:avLst/>
          </a:prstGeom>
          <a:noFill/>
        </p:spPr>
        <p:txBody>
          <a:bodyPr wrap="square" lIns="9144" rIns="9144" tIns="9144" bIns="9144" anchor="ctr">
            <a:spAutoFit/>
          </a:bodyPr>
          <a:lstStyle/>
          <a:p>
            <a:pPr algn="ctr"/>
            <a:r>
              <a:rPr sz="680" b="1" i="0">
                <a:solidFill>
                  <a:srgbClr val="48E0D2"/>
                </a:solidFill>
                <a:latin typeface="Aptos"/>
              </a:rPr>
              <a:t>MVP</a:t>
            </a:r>
          </a:p>
        </p:txBody>
      </p:sp>
      <p:sp>
        <p:nvSpPr>
          <p:cNvPr id="95" name="TextBox 94"/>
          <p:cNvSpPr txBox="1"/>
          <p:nvPr/>
        </p:nvSpPr>
        <p:spPr>
          <a:xfrm>
            <a:off x="8394192" y="5138928"/>
            <a:ext cx="2788920" cy="256032"/>
          </a:xfrm>
          <a:prstGeom prst="rect">
            <a:avLst/>
          </a:prstGeom>
          <a:noFill/>
        </p:spPr>
        <p:txBody>
          <a:bodyPr wrap="square" lIns="0" rIns="0" tIns="0" bIns="0" anchor="t">
            <a:spAutoFit/>
          </a:bodyPr>
          <a:lstStyle/>
          <a:p>
            <a:pPr algn="l"/>
            <a:r>
              <a:rPr sz="850" b="1" i="0">
                <a:solidFill>
                  <a:srgbClr val="F4F7FA"/>
                </a:solidFill>
                <a:latin typeface="Aptos"/>
              </a:rPr>
              <a:t>route + distance + section + timestamp</a:t>
            </a:r>
          </a:p>
        </p:txBody>
      </p:sp>
      <p:sp>
        <p:nvSpPr>
          <p:cNvPr id="96" name="Rounded Rectangle 95"/>
          <p:cNvSpPr/>
          <p:nvPr/>
        </p:nvSpPr>
        <p:spPr>
          <a:xfrm>
            <a:off x="7607808" y="5541264"/>
            <a:ext cx="813816" cy="246888"/>
          </a:xfrm>
          <a:prstGeom prst="roundRect">
            <a:avLst/>
          </a:prstGeom>
          <a:solidFill>
            <a:srgbClr val="211B2A"/>
          </a:solidFill>
          <a:ln w="889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607808" y="5545836"/>
            <a:ext cx="813816" cy="228600"/>
          </a:xfrm>
          <a:prstGeom prst="rect">
            <a:avLst/>
          </a:prstGeom>
          <a:noFill/>
        </p:spPr>
        <p:txBody>
          <a:bodyPr wrap="square" lIns="9144" rIns="9144" tIns="9144" bIns="9144" anchor="ctr">
            <a:spAutoFit/>
          </a:bodyPr>
          <a:lstStyle/>
          <a:p>
            <a:pPr algn="ctr"/>
            <a:r>
              <a:rPr sz="680" b="1" i="0">
                <a:solidFill>
                  <a:srgbClr val="B796FF"/>
                </a:solidFill>
                <a:latin typeface="Aptos"/>
              </a:rPr>
              <a:t>FUTURE</a:t>
            </a:r>
          </a:p>
        </p:txBody>
      </p:sp>
      <p:sp>
        <p:nvSpPr>
          <p:cNvPr id="98" name="TextBox 97"/>
          <p:cNvSpPr txBox="1"/>
          <p:nvPr/>
        </p:nvSpPr>
        <p:spPr>
          <a:xfrm>
            <a:off x="8549640" y="5513832"/>
            <a:ext cx="2606040" cy="256032"/>
          </a:xfrm>
          <a:prstGeom prst="rect">
            <a:avLst/>
          </a:prstGeom>
          <a:noFill/>
        </p:spPr>
        <p:txBody>
          <a:bodyPr wrap="square" lIns="0" rIns="0" tIns="0" bIns="0" anchor="t">
            <a:spAutoFit/>
          </a:bodyPr>
          <a:lstStyle/>
          <a:p>
            <a:pPr algn="l"/>
            <a:r>
              <a:rPr sz="819" b="0" i="0">
                <a:solidFill>
                  <a:srgbClr val="9AA9B8"/>
                </a:solidFill>
                <a:latin typeface="Aptos"/>
              </a:rPr>
              <a:t>SLAM / UWB / multi-sensor refinement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FF6B6B"/>
                </a:solidFill>
                <a:latin typeface="Aptos"/>
              </a:rPr>
              <a:t>07  /  DASHBOARD</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08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The dashboard answers: what needs attention first?</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A maintenance team should see the route, the evidence, and the next action in one glance.</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90472"/>
            <a:ext cx="10936224" cy="4553712"/>
          </a:xfrm>
          <a:prstGeom prst="roundRect">
            <a:avLst/>
          </a:prstGeom>
          <a:solidFill>
            <a:srgbClr val="0D141D"/>
          </a:solidFill>
          <a:ln w="1143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3504" y="1490472"/>
            <a:ext cx="1325880" cy="4553712"/>
          </a:xfrm>
          <a:prstGeom prst="roundRect">
            <a:avLst/>
          </a:prstGeom>
          <a:solidFill>
            <a:srgbClr val="0B1118"/>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1764792"/>
            <a:ext cx="859536" cy="201168"/>
          </a:xfrm>
          <a:prstGeom prst="rect">
            <a:avLst/>
          </a:prstGeom>
          <a:noFill/>
        </p:spPr>
        <p:txBody>
          <a:bodyPr wrap="square" lIns="0" rIns="0" tIns="0" bIns="0" anchor="t">
            <a:spAutoFit/>
          </a:bodyPr>
          <a:lstStyle/>
          <a:p>
            <a:pPr algn="l"/>
            <a:r>
              <a:rPr sz="1050" b="1" i="0">
                <a:solidFill>
                  <a:srgbClr val="F4F7FA"/>
                </a:solidFill>
                <a:latin typeface="Aptos Display"/>
              </a:rPr>
              <a:t>AIR//SENSE</a:t>
            </a:r>
          </a:p>
        </p:txBody>
      </p:sp>
      <p:sp>
        <p:nvSpPr>
          <p:cNvPr id="20" name="Rounded Rectangle 19"/>
          <p:cNvSpPr/>
          <p:nvPr/>
        </p:nvSpPr>
        <p:spPr>
          <a:xfrm>
            <a:off x="804672" y="2148840"/>
            <a:ext cx="758952"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2153412"/>
            <a:ext cx="758952" cy="228600"/>
          </a:xfrm>
          <a:prstGeom prst="rect">
            <a:avLst/>
          </a:prstGeom>
          <a:noFill/>
        </p:spPr>
        <p:txBody>
          <a:bodyPr wrap="square" lIns="9144" rIns="9144" tIns="9144" bIns="9144" anchor="ctr">
            <a:spAutoFit/>
          </a:bodyPr>
          <a:lstStyle/>
          <a:p>
            <a:pPr algn="ctr"/>
            <a:r>
              <a:rPr sz="680" b="1" i="0">
                <a:solidFill>
                  <a:srgbClr val="48E0D2"/>
                </a:solidFill>
                <a:latin typeface="Aptos"/>
              </a:rPr>
              <a:t>LIVE</a:t>
            </a:r>
          </a:p>
        </p:txBody>
      </p:sp>
      <p:sp>
        <p:nvSpPr>
          <p:cNvPr id="22" name="Rounded Rectangle 21"/>
          <p:cNvSpPr/>
          <p:nvPr/>
        </p:nvSpPr>
        <p:spPr>
          <a:xfrm>
            <a:off x="749808" y="2642616"/>
            <a:ext cx="987552" cy="283464"/>
          </a:xfrm>
          <a:prstGeom prst="roundRect">
            <a:avLst/>
          </a:prstGeom>
          <a:solidFill>
            <a:srgbClr val="172330"/>
          </a:solidFill>
          <a:ln w="762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77824" y="2724912"/>
            <a:ext cx="64008" cy="64008"/>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4984" y="2697480"/>
            <a:ext cx="621792" cy="164592"/>
          </a:xfrm>
          <a:prstGeom prst="rect">
            <a:avLst/>
          </a:prstGeom>
          <a:noFill/>
        </p:spPr>
        <p:txBody>
          <a:bodyPr wrap="square" lIns="0" rIns="0" tIns="0" bIns="0" anchor="t">
            <a:spAutoFit/>
          </a:bodyPr>
          <a:lstStyle/>
          <a:p>
            <a:pPr algn="l"/>
            <a:r>
              <a:rPr sz="760" b="1" i="0">
                <a:solidFill>
                  <a:srgbClr val="F4F7FA"/>
                </a:solidFill>
                <a:latin typeface="Aptos"/>
              </a:rPr>
              <a:t>Overview</a:t>
            </a:r>
          </a:p>
        </p:txBody>
      </p:sp>
      <p:sp>
        <p:nvSpPr>
          <p:cNvPr id="25" name="Oval 24"/>
          <p:cNvSpPr/>
          <p:nvPr/>
        </p:nvSpPr>
        <p:spPr>
          <a:xfrm>
            <a:off x="877824" y="3182112"/>
            <a:ext cx="64008" cy="64008"/>
          </a:xfrm>
          <a:prstGeom prst="ellipse">
            <a:avLst/>
          </a:prstGeom>
          <a:solidFill>
            <a:srgbClr val="9AA9B8"/>
          </a:solidFill>
          <a:ln w="12700">
            <a:solidFill>
              <a:srgbClr val="9AA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4984" y="3154680"/>
            <a:ext cx="621792" cy="164592"/>
          </a:xfrm>
          <a:prstGeom prst="rect">
            <a:avLst/>
          </a:prstGeom>
          <a:noFill/>
        </p:spPr>
        <p:txBody>
          <a:bodyPr wrap="square" lIns="0" rIns="0" tIns="0" bIns="0" anchor="t">
            <a:spAutoFit/>
          </a:bodyPr>
          <a:lstStyle/>
          <a:p>
            <a:pPr algn="l"/>
            <a:r>
              <a:rPr sz="760" b="0" i="0">
                <a:solidFill>
                  <a:srgbClr val="9AA9B8"/>
                </a:solidFill>
                <a:latin typeface="Aptos"/>
              </a:rPr>
              <a:t>Patrols</a:t>
            </a:r>
          </a:p>
        </p:txBody>
      </p:sp>
      <p:sp>
        <p:nvSpPr>
          <p:cNvPr id="27" name="Oval 26"/>
          <p:cNvSpPr/>
          <p:nvPr/>
        </p:nvSpPr>
        <p:spPr>
          <a:xfrm>
            <a:off x="877824" y="3639312"/>
            <a:ext cx="64008" cy="64008"/>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3611880"/>
            <a:ext cx="621792" cy="164592"/>
          </a:xfrm>
          <a:prstGeom prst="rect">
            <a:avLst/>
          </a:prstGeom>
          <a:noFill/>
        </p:spPr>
        <p:txBody>
          <a:bodyPr wrap="square" lIns="0" rIns="0" tIns="0" bIns="0" anchor="t">
            <a:spAutoFit/>
          </a:bodyPr>
          <a:lstStyle/>
          <a:p>
            <a:pPr algn="l"/>
            <a:r>
              <a:rPr sz="760" b="0" i="0">
                <a:solidFill>
                  <a:srgbClr val="9AA9B8"/>
                </a:solidFill>
                <a:latin typeface="Aptos"/>
              </a:rPr>
              <a:t>Alerts</a:t>
            </a:r>
          </a:p>
        </p:txBody>
      </p:sp>
      <p:sp>
        <p:nvSpPr>
          <p:cNvPr id="29" name="Oval 28"/>
          <p:cNvSpPr/>
          <p:nvPr/>
        </p:nvSpPr>
        <p:spPr>
          <a:xfrm>
            <a:off x="877824" y="4096512"/>
            <a:ext cx="64008" cy="64008"/>
          </a:xfrm>
          <a:prstGeom prst="ellipse">
            <a:avLst/>
          </a:prstGeom>
          <a:solidFill>
            <a:srgbClr val="9AA9B8"/>
          </a:solidFill>
          <a:ln w="12700">
            <a:solidFill>
              <a:srgbClr val="9AA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069080"/>
            <a:ext cx="621792" cy="164592"/>
          </a:xfrm>
          <a:prstGeom prst="rect">
            <a:avLst/>
          </a:prstGeom>
          <a:noFill/>
        </p:spPr>
        <p:txBody>
          <a:bodyPr wrap="square" lIns="0" rIns="0" tIns="0" bIns="0" anchor="t">
            <a:spAutoFit/>
          </a:bodyPr>
          <a:lstStyle/>
          <a:p>
            <a:pPr algn="l"/>
            <a:r>
              <a:rPr sz="760" b="0" i="0">
                <a:solidFill>
                  <a:srgbClr val="9AA9B8"/>
                </a:solidFill>
                <a:latin typeface="Aptos"/>
              </a:rPr>
              <a:t>History</a:t>
            </a:r>
          </a:p>
        </p:txBody>
      </p:sp>
      <p:sp>
        <p:nvSpPr>
          <p:cNvPr id="31" name="Oval 30"/>
          <p:cNvSpPr/>
          <p:nvPr/>
        </p:nvSpPr>
        <p:spPr>
          <a:xfrm>
            <a:off x="877824" y="4553712"/>
            <a:ext cx="64008" cy="64008"/>
          </a:xfrm>
          <a:prstGeom prst="ellipse">
            <a:avLst/>
          </a:prstGeom>
          <a:solidFill>
            <a:srgbClr val="9AA9B8"/>
          </a:solidFill>
          <a:ln w="12700">
            <a:solidFill>
              <a:srgbClr val="9AA9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4984" y="4526280"/>
            <a:ext cx="621792" cy="164592"/>
          </a:xfrm>
          <a:prstGeom prst="rect">
            <a:avLst/>
          </a:prstGeom>
          <a:noFill/>
        </p:spPr>
        <p:txBody>
          <a:bodyPr wrap="square" lIns="0" rIns="0" tIns="0" bIns="0" anchor="t">
            <a:spAutoFit/>
          </a:bodyPr>
          <a:lstStyle/>
          <a:p>
            <a:pPr algn="l"/>
            <a:r>
              <a:rPr sz="760" b="0" i="0">
                <a:solidFill>
                  <a:srgbClr val="9AA9B8"/>
                </a:solidFill>
                <a:latin typeface="Aptos"/>
              </a:rPr>
              <a:t>Settings</a:t>
            </a:r>
          </a:p>
        </p:txBody>
      </p:sp>
      <p:sp>
        <p:nvSpPr>
          <p:cNvPr id="33" name="TextBox 32"/>
          <p:cNvSpPr txBox="1"/>
          <p:nvPr/>
        </p:nvSpPr>
        <p:spPr>
          <a:xfrm>
            <a:off x="2212848" y="1764792"/>
            <a:ext cx="3017520" cy="237744"/>
          </a:xfrm>
          <a:prstGeom prst="rect">
            <a:avLst/>
          </a:prstGeom>
          <a:noFill/>
        </p:spPr>
        <p:txBody>
          <a:bodyPr wrap="square" lIns="0" rIns="0" tIns="0" bIns="0" anchor="t">
            <a:spAutoFit/>
          </a:bodyPr>
          <a:lstStyle/>
          <a:p>
            <a:pPr algn="l"/>
            <a:r>
              <a:rPr sz="1350" b="1" i="0">
                <a:solidFill>
                  <a:srgbClr val="F4F7FA"/>
                </a:solidFill>
                <a:latin typeface="Aptos Display"/>
              </a:rPr>
              <a:t>Patrol overview</a:t>
            </a:r>
          </a:p>
        </p:txBody>
      </p:sp>
      <p:sp>
        <p:nvSpPr>
          <p:cNvPr id="34" name="TextBox 33"/>
          <p:cNvSpPr txBox="1"/>
          <p:nvPr/>
        </p:nvSpPr>
        <p:spPr>
          <a:xfrm>
            <a:off x="2221992" y="2039112"/>
            <a:ext cx="3291840" cy="164592"/>
          </a:xfrm>
          <a:prstGeom prst="rect">
            <a:avLst/>
          </a:prstGeom>
          <a:noFill/>
        </p:spPr>
        <p:txBody>
          <a:bodyPr wrap="square" lIns="0" rIns="0" tIns="0" bIns="0" anchor="t">
            <a:spAutoFit/>
          </a:bodyPr>
          <a:lstStyle/>
          <a:p>
            <a:pPr algn="l"/>
            <a:r>
              <a:rPr sz="780" b="0" i="0">
                <a:solidFill>
                  <a:srgbClr val="9AA9B8"/>
                </a:solidFill>
                <a:latin typeface="Aptos"/>
              </a:rPr>
              <a:t>P-03  /  Section B  /  08:42 UTC</a:t>
            </a:r>
          </a:p>
        </p:txBody>
      </p:sp>
      <p:sp>
        <p:nvSpPr>
          <p:cNvPr id="35" name="Rounded Rectangle 34"/>
          <p:cNvSpPr/>
          <p:nvPr/>
        </p:nvSpPr>
        <p:spPr>
          <a:xfrm>
            <a:off x="8558784" y="1755648"/>
            <a:ext cx="1078992" cy="246888"/>
          </a:xfrm>
          <a:prstGeom prst="roundRect">
            <a:avLst/>
          </a:prstGeom>
          <a:solidFill>
            <a:srgbClr val="211B2A"/>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58784" y="1760219"/>
            <a:ext cx="1078992" cy="228600"/>
          </a:xfrm>
          <a:prstGeom prst="rect">
            <a:avLst/>
          </a:prstGeom>
          <a:noFill/>
        </p:spPr>
        <p:txBody>
          <a:bodyPr wrap="square" lIns="9144" rIns="9144" tIns="9144" bIns="9144" anchor="ctr">
            <a:spAutoFit/>
          </a:bodyPr>
          <a:lstStyle/>
          <a:p>
            <a:pPr algn="ctr"/>
            <a:r>
              <a:rPr sz="670" b="1" i="0">
                <a:solidFill>
                  <a:srgbClr val="F4B860"/>
                </a:solidFill>
                <a:latin typeface="Aptos"/>
              </a:rPr>
              <a:t>DEMO DATA</a:t>
            </a:r>
          </a:p>
        </p:txBody>
      </p:sp>
      <p:sp>
        <p:nvSpPr>
          <p:cNvPr id="37" name="Rounded Rectangle 36"/>
          <p:cNvSpPr/>
          <p:nvPr/>
        </p:nvSpPr>
        <p:spPr>
          <a:xfrm>
            <a:off x="9875520" y="1755648"/>
            <a:ext cx="1225296"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0" y="1760219"/>
            <a:ext cx="1225296" cy="228600"/>
          </a:xfrm>
          <a:prstGeom prst="rect">
            <a:avLst/>
          </a:prstGeom>
          <a:noFill/>
        </p:spPr>
        <p:txBody>
          <a:bodyPr wrap="square" lIns="9144" rIns="9144" tIns="9144" bIns="9144" anchor="ctr">
            <a:spAutoFit/>
          </a:bodyPr>
          <a:lstStyle/>
          <a:p>
            <a:pPr algn="ctr"/>
            <a:r>
              <a:rPr sz="670" b="1" i="0">
                <a:solidFill>
                  <a:srgbClr val="48E0D2"/>
                </a:solidFill>
                <a:latin typeface="Aptos"/>
              </a:rPr>
              <a:t>ROBOT ONLINE</a:t>
            </a:r>
          </a:p>
        </p:txBody>
      </p:sp>
      <p:sp>
        <p:nvSpPr>
          <p:cNvPr id="39" name="Rounded Rectangle 38"/>
          <p:cNvSpPr/>
          <p:nvPr/>
        </p:nvSpPr>
        <p:spPr>
          <a:xfrm>
            <a:off x="2212848" y="2386584"/>
            <a:ext cx="1389888" cy="694944"/>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22576" y="2496312"/>
            <a:ext cx="1143000" cy="137160"/>
          </a:xfrm>
          <a:prstGeom prst="rect">
            <a:avLst/>
          </a:prstGeom>
          <a:noFill/>
        </p:spPr>
        <p:txBody>
          <a:bodyPr wrap="square" lIns="0" rIns="0" tIns="0" bIns="0" anchor="t">
            <a:spAutoFit/>
          </a:bodyPr>
          <a:lstStyle/>
          <a:p>
            <a:pPr algn="l"/>
            <a:r>
              <a:rPr sz="650" b="1" i="0">
                <a:solidFill>
                  <a:srgbClr val="6F8292"/>
                </a:solidFill>
                <a:latin typeface="Aptos"/>
              </a:rPr>
              <a:t>ROBOT STATUS</a:t>
            </a:r>
          </a:p>
        </p:txBody>
      </p:sp>
      <p:sp>
        <p:nvSpPr>
          <p:cNvPr id="41" name="TextBox 40"/>
          <p:cNvSpPr txBox="1"/>
          <p:nvPr/>
        </p:nvSpPr>
        <p:spPr>
          <a:xfrm>
            <a:off x="2322576" y="2660904"/>
            <a:ext cx="1115568" cy="219456"/>
          </a:xfrm>
          <a:prstGeom prst="rect">
            <a:avLst/>
          </a:prstGeom>
          <a:noFill/>
        </p:spPr>
        <p:txBody>
          <a:bodyPr wrap="square" lIns="0" rIns="0" tIns="0" bIns="0" anchor="t">
            <a:spAutoFit/>
          </a:bodyPr>
          <a:lstStyle/>
          <a:p>
            <a:pPr algn="l"/>
            <a:r>
              <a:rPr sz="1300" b="1" i="0">
                <a:solidFill>
                  <a:srgbClr val="48E0D2"/>
                </a:solidFill>
                <a:latin typeface="Aptos Display"/>
              </a:rPr>
              <a:t>Patrolling</a:t>
            </a:r>
          </a:p>
        </p:txBody>
      </p:sp>
      <p:sp>
        <p:nvSpPr>
          <p:cNvPr id="42" name="TextBox 41"/>
          <p:cNvSpPr txBox="1"/>
          <p:nvPr/>
        </p:nvSpPr>
        <p:spPr>
          <a:xfrm>
            <a:off x="2322576" y="2916936"/>
            <a:ext cx="1124712" cy="118872"/>
          </a:xfrm>
          <a:prstGeom prst="rect">
            <a:avLst/>
          </a:prstGeom>
          <a:noFill/>
        </p:spPr>
        <p:txBody>
          <a:bodyPr wrap="square" lIns="0" rIns="0" tIns="0" bIns="0" anchor="t">
            <a:spAutoFit/>
          </a:bodyPr>
          <a:lstStyle/>
          <a:p>
            <a:pPr algn="l"/>
            <a:r>
              <a:rPr sz="650" b="0" i="0">
                <a:solidFill>
                  <a:srgbClr val="9AA9B8"/>
                </a:solidFill>
                <a:latin typeface="Aptos"/>
              </a:rPr>
              <a:t>08:42</a:t>
            </a:r>
          </a:p>
        </p:txBody>
      </p:sp>
      <p:sp>
        <p:nvSpPr>
          <p:cNvPr id="43" name="Rounded Rectangle 42"/>
          <p:cNvSpPr/>
          <p:nvPr/>
        </p:nvSpPr>
        <p:spPr>
          <a:xfrm>
            <a:off x="3785615" y="2386584"/>
            <a:ext cx="1389888" cy="694944"/>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95344" y="2496312"/>
            <a:ext cx="1143000" cy="137160"/>
          </a:xfrm>
          <a:prstGeom prst="rect">
            <a:avLst/>
          </a:prstGeom>
          <a:noFill/>
        </p:spPr>
        <p:txBody>
          <a:bodyPr wrap="square" lIns="0" rIns="0" tIns="0" bIns="0" anchor="t">
            <a:spAutoFit/>
          </a:bodyPr>
          <a:lstStyle/>
          <a:p>
            <a:pPr algn="l"/>
            <a:r>
              <a:rPr sz="650" b="1" i="0">
                <a:solidFill>
                  <a:srgbClr val="6F8292"/>
                </a:solidFill>
                <a:latin typeface="Aptos"/>
              </a:rPr>
              <a:t>ROUTE PROGRESS</a:t>
            </a:r>
          </a:p>
        </p:txBody>
      </p:sp>
      <p:sp>
        <p:nvSpPr>
          <p:cNvPr id="45" name="TextBox 44"/>
          <p:cNvSpPr txBox="1"/>
          <p:nvPr/>
        </p:nvSpPr>
        <p:spPr>
          <a:xfrm>
            <a:off x="3895344" y="2660904"/>
            <a:ext cx="1115568" cy="219456"/>
          </a:xfrm>
          <a:prstGeom prst="rect">
            <a:avLst/>
          </a:prstGeom>
          <a:noFill/>
        </p:spPr>
        <p:txBody>
          <a:bodyPr wrap="square" lIns="0" rIns="0" tIns="0" bIns="0" anchor="t">
            <a:spAutoFit/>
          </a:bodyPr>
          <a:lstStyle/>
          <a:p>
            <a:pPr algn="l"/>
            <a:r>
              <a:rPr sz="1300" b="1" i="0">
                <a:solidFill>
                  <a:srgbClr val="5EA7FF"/>
                </a:solidFill>
                <a:latin typeface="Aptos Display"/>
              </a:rPr>
              <a:t>58%</a:t>
            </a:r>
          </a:p>
        </p:txBody>
      </p:sp>
      <p:sp>
        <p:nvSpPr>
          <p:cNvPr id="46" name="TextBox 45"/>
          <p:cNvSpPr txBox="1"/>
          <p:nvPr/>
        </p:nvSpPr>
        <p:spPr>
          <a:xfrm>
            <a:off x="3895344" y="2916936"/>
            <a:ext cx="1124712" cy="118872"/>
          </a:xfrm>
          <a:prstGeom prst="rect">
            <a:avLst/>
          </a:prstGeom>
          <a:noFill/>
        </p:spPr>
        <p:txBody>
          <a:bodyPr wrap="square" lIns="0" rIns="0" tIns="0" bIns="0" anchor="t">
            <a:spAutoFit/>
          </a:bodyPr>
          <a:lstStyle/>
          <a:p>
            <a:pPr algn="l"/>
            <a:r>
              <a:rPr sz="650" b="0" i="0">
                <a:solidFill>
                  <a:srgbClr val="9AA9B8"/>
                </a:solidFill>
                <a:latin typeface="Aptos"/>
              </a:rPr>
              <a:t>P-03 / B</a:t>
            </a:r>
          </a:p>
        </p:txBody>
      </p:sp>
      <p:sp>
        <p:nvSpPr>
          <p:cNvPr id="47" name="Rounded Rectangle 46"/>
          <p:cNvSpPr/>
          <p:nvPr/>
        </p:nvSpPr>
        <p:spPr>
          <a:xfrm>
            <a:off x="5358383" y="2386584"/>
            <a:ext cx="1389888" cy="694944"/>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68112" y="2496312"/>
            <a:ext cx="1143000" cy="137160"/>
          </a:xfrm>
          <a:prstGeom prst="rect">
            <a:avLst/>
          </a:prstGeom>
          <a:noFill/>
        </p:spPr>
        <p:txBody>
          <a:bodyPr wrap="square" lIns="0" rIns="0" tIns="0" bIns="0" anchor="t">
            <a:spAutoFit/>
          </a:bodyPr>
          <a:lstStyle/>
          <a:p>
            <a:pPr algn="l"/>
            <a:r>
              <a:rPr sz="650" b="1" i="0">
                <a:solidFill>
                  <a:srgbClr val="6F8292"/>
                </a:solidFill>
                <a:latin typeface="Aptos"/>
              </a:rPr>
              <a:t>OPEN ALERTS</a:t>
            </a:r>
          </a:p>
        </p:txBody>
      </p:sp>
      <p:sp>
        <p:nvSpPr>
          <p:cNvPr id="49" name="TextBox 48"/>
          <p:cNvSpPr txBox="1"/>
          <p:nvPr/>
        </p:nvSpPr>
        <p:spPr>
          <a:xfrm>
            <a:off x="5468112" y="2660904"/>
            <a:ext cx="1115568" cy="219456"/>
          </a:xfrm>
          <a:prstGeom prst="rect">
            <a:avLst/>
          </a:prstGeom>
          <a:noFill/>
        </p:spPr>
        <p:txBody>
          <a:bodyPr wrap="square" lIns="0" rIns="0" tIns="0" bIns="0" anchor="t">
            <a:spAutoFit/>
          </a:bodyPr>
          <a:lstStyle/>
          <a:p>
            <a:pPr algn="l"/>
            <a:r>
              <a:rPr sz="1300" b="1" i="0">
                <a:solidFill>
                  <a:srgbClr val="FF6B6B"/>
                </a:solidFill>
                <a:latin typeface="Aptos Display"/>
              </a:rPr>
              <a:t>01</a:t>
            </a:r>
          </a:p>
        </p:txBody>
      </p:sp>
      <p:sp>
        <p:nvSpPr>
          <p:cNvPr id="50" name="TextBox 49"/>
          <p:cNvSpPr txBox="1"/>
          <p:nvPr/>
        </p:nvSpPr>
        <p:spPr>
          <a:xfrm>
            <a:off x="5468112" y="2916936"/>
            <a:ext cx="1124712" cy="118872"/>
          </a:xfrm>
          <a:prstGeom prst="rect">
            <a:avLst/>
          </a:prstGeom>
          <a:noFill/>
        </p:spPr>
        <p:txBody>
          <a:bodyPr wrap="square" lIns="0" rIns="0" tIns="0" bIns="0" anchor="t">
            <a:spAutoFit/>
          </a:bodyPr>
          <a:lstStyle/>
          <a:p>
            <a:pPr algn="l"/>
            <a:r>
              <a:rPr sz="650" b="0" i="0">
                <a:solidFill>
                  <a:srgbClr val="9AA9B8"/>
                </a:solidFill>
                <a:latin typeface="Aptos"/>
              </a:rPr>
              <a:t>High priority</a:t>
            </a:r>
          </a:p>
        </p:txBody>
      </p:sp>
      <p:sp>
        <p:nvSpPr>
          <p:cNvPr id="51" name="Rounded Rectangle 50"/>
          <p:cNvSpPr/>
          <p:nvPr/>
        </p:nvSpPr>
        <p:spPr>
          <a:xfrm>
            <a:off x="2212848" y="3319272"/>
            <a:ext cx="3730752" cy="2304288"/>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414016" y="3511296"/>
            <a:ext cx="1645920" cy="155448"/>
          </a:xfrm>
          <a:prstGeom prst="rect">
            <a:avLst/>
          </a:prstGeom>
          <a:noFill/>
        </p:spPr>
        <p:txBody>
          <a:bodyPr wrap="square" lIns="0" rIns="0" tIns="0" bIns="0" anchor="t">
            <a:spAutoFit/>
          </a:bodyPr>
          <a:lstStyle/>
          <a:p>
            <a:pPr algn="l"/>
            <a:r>
              <a:rPr sz="700" b="1" i="0">
                <a:solidFill>
                  <a:srgbClr val="6F8292"/>
                </a:solidFill>
                <a:latin typeface="Aptos"/>
              </a:rPr>
              <a:t>PIPELINE ROUTE</a:t>
            </a:r>
          </a:p>
        </p:txBody>
      </p:sp>
      <p:sp>
        <p:nvSpPr>
          <p:cNvPr id="53" name="TextBox 52"/>
          <p:cNvSpPr txBox="1"/>
          <p:nvPr/>
        </p:nvSpPr>
        <p:spPr>
          <a:xfrm>
            <a:off x="4791456" y="3511296"/>
            <a:ext cx="896112" cy="155448"/>
          </a:xfrm>
          <a:prstGeom prst="rect">
            <a:avLst/>
          </a:prstGeom>
          <a:noFill/>
        </p:spPr>
        <p:txBody>
          <a:bodyPr wrap="square" lIns="0" rIns="0" tIns="0" bIns="0" anchor="t">
            <a:spAutoFit/>
          </a:bodyPr>
          <a:lstStyle/>
          <a:p>
            <a:pPr algn="r"/>
            <a:r>
              <a:rPr sz="700" b="0" i="0">
                <a:solidFill>
                  <a:srgbClr val="9AA9B8"/>
                </a:solidFill>
                <a:latin typeface="Aptos"/>
              </a:rPr>
              <a:t>P-03 / 32 m</a:t>
            </a:r>
          </a:p>
        </p:txBody>
      </p:sp>
      <p:cxnSp>
        <p:nvCxnSpPr>
          <p:cNvPr id="54" name="Connector 53"/>
          <p:cNvCxnSpPr/>
          <p:nvPr/>
        </p:nvCxnSpPr>
        <p:spPr>
          <a:xfrm flipV="1">
            <a:off x="2550444" y="4095048"/>
            <a:ext cx="442935" cy="580096"/>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993379" y="4095048"/>
            <a:ext cx="569489" cy="267737"/>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562868" y="4028114"/>
            <a:ext cx="569488" cy="334671"/>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132356" y="4028114"/>
            <a:ext cx="569488" cy="513162"/>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701844" y="4206605"/>
            <a:ext cx="569489" cy="334671"/>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271333" y="4206605"/>
            <a:ext cx="316382" cy="245425"/>
          </a:xfrm>
          <a:prstGeom prst="line">
            <a:avLst/>
          </a:prstGeom>
          <a:ln w="3048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550444" y="4095048"/>
            <a:ext cx="442935" cy="580096"/>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993379" y="4095048"/>
            <a:ext cx="569489" cy="267737"/>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562868" y="4028114"/>
            <a:ext cx="569488" cy="334671"/>
          </a:xfrm>
          <a:prstGeom prst="line">
            <a:avLst/>
          </a:prstGeom>
          <a:ln w="38100">
            <a:solidFill>
              <a:srgbClr val="48E0D2"/>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2500152" y="4624852"/>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943087" y="4044756"/>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12576" y="4312493"/>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082064" y="3977822"/>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651552" y="4490984"/>
            <a:ext cx="100584" cy="10058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221041" y="4156313"/>
            <a:ext cx="100584" cy="100584"/>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537423" y="4401738"/>
            <a:ext cx="100584" cy="100584"/>
          </a:xfrm>
          <a:prstGeom prst="ellipse">
            <a:avLst/>
          </a:prstGeom>
          <a:solidFill>
            <a:srgbClr val="20313D"/>
          </a:solidFill>
          <a:ln w="1270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637836" y="4477268"/>
            <a:ext cx="128016" cy="128016"/>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564684" y="4404116"/>
            <a:ext cx="274320" cy="274320"/>
          </a:xfrm>
          <a:prstGeom prst="ellipse">
            <a:avLst/>
          </a:prstGeom>
          <a:solidFill>
            <a:srgbClr val="0A0F15"/>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445812" y="4285244"/>
            <a:ext cx="512064" cy="512064"/>
          </a:xfrm>
          <a:prstGeom prst="ellipse">
            <a:avLst/>
          </a:prstGeom>
          <a:solidFill>
            <a:srgbClr val="0A0F15"/>
          </a:solidFill>
          <a:ln w="889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2855854" y="4803160"/>
            <a:ext cx="323331" cy="228234"/>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2908157" y="4850709"/>
            <a:ext cx="76078" cy="61813"/>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3050804" y="4850709"/>
            <a:ext cx="76078" cy="61813"/>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3017520" y="4746101"/>
            <a:ext cx="0" cy="57059"/>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2998500" y="4722327"/>
            <a:ext cx="38039" cy="38039"/>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2827324" y="5069433"/>
            <a:ext cx="380391"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870118" y="5012375"/>
            <a:ext cx="85587" cy="85587"/>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088843" y="5012375"/>
            <a:ext cx="85587" cy="85587"/>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3017520" y="5031394"/>
            <a:ext cx="0" cy="104607"/>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3438144" y="4800600"/>
            <a:ext cx="1920240" cy="164592"/>
          </a:xfrm>
          <a:prstGeom prst="rect">
            <a:avLst/>
          </a:prstGeom>
          <a:noFill/>
        </p:spPr>
        <p:txBody>
          <a:bodyPr wrap="square" lIns="0" rIns="0" tIns="0" bIns="0" anchor="t">
            <a:spAutoFit/>
          </a:bodyPr>
          <a:lstStyle/>
          <a:p>
            <a:pPr algn="l"/>
            <a:r>
              <a:rPr sz="750" b="1" i="0">
                <a:solidFill>
                  <a:srgbClr val="F4B860"/>
                </a:solidFill>
                <a:latin typeface="Aptos"/>
              </a:rPr>
              <a:t>ROBOT  /  18.6 m</a:t>
            </a:r>
          </a:p>
        </p:txBody>
      </p:sp>
      <p:sp>
        <p:nvSpPr>
          <p:cNvPr id="83" name="Rounded Rectangle 82"/>
          <p:cNvSpPr/>
          <p:nvPr/>
        </p:nvSpPr>
        <p:spPr>
          <a:xfrm>
            <a:off x="6144768" y="2386584"/>
            <a:ext cx="5074920" cy="3236976"/>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364224" y="2596896"/>
            <a:ext cx="1645920" cy="164592"/>
          </a:xfrm>
          <a:prstGeom prst="rect">
            <a:avLst/>
          </a:prstGeom>
          <a:noFill/>
        </p:spPr>
        <p:txBody>
          <a:bodyPr wrap="square" lIns="0" rIns="0" tIns="0" bIns="0" anchor="t">
            <a:spAutoFit/>
          </a:bodyPr>
          <a:lstStyle/>
          <a:p>
            <a:pPr algn="l"/>
            <a:r>
              <a:rPr sz="700" b="1" i="0">
                <a:solidFill>
                  <a:srgbClr val="6F8292"/>
                </a:solidFill>
                <a:latin typeface="Aptos"/>
              </a:rPr>
              <a:t>DETECTIONS</a:t>
            </a:r>
          </a:p>
        </p:txBody>
      </p:sp>
      <p:sp>
        <p:nvSpPr>
          <p:cNvPr id="85" name="TextBox 84"/>
          <p:cNvSpPr txBox="1"/>
          <p:nvPr/>
        </p:nvSpPr>
        <p:spPr>
          <a:xfrm>
            <a:off x="10222992" y="2596896"/>
            <a:ext cx="749808" cy="164592"/>
          </a:xfrm>
          <a:prstGeom prst="rect">
            <a:avLst/>
          </a:prstGeom>
          <a:noFill/>
        </p:spPr>
        <p:txBody>
          <a:bodyPr wrap="square" lIns="0" rIns="0" tIns="0" bIns="0" anchor="t">
            <a:spAutoFit/>
          </a:bodyPr>
          <a:lstStyle/>
          <a:p>
            <a:pPr algn="r"/>
            <a:r>
              <a:rPr sz="700" b="1" i="0">
                <a:solidFill>
                  <a:srgbClr val="FF6B6B"/>
                </a:solidFill>
                <a:latin typeface="Aptos"/>
              </a:rPr>
              <a:t>1 open</a:t>
            </a:r>
          </a:p>
        </p:txBody>
      </p:sp>
      <p:sp>
        <p:nvSpPr>
          <p:cNvPr id="86" name="TextBox 85"/>
          <p:cNvSpPr txBox="1"/>
          <p:nvPr/>
        </p:nvSpPr>
        <p:spPr>
          <a:xfrm>
            <a:off x="6364224" y="2926080"/>
            <a:ext cx="1207008" cy="146304"/>
          </a:xfrm>
          <a:prstGeom prst="rect">
            <a:avLst/>
          </a:prstGeom>
          <a:noFill/>
        </p:spPr>
        <p:txBody>
          <a:bodyPr wrap="square" lIns="0" rIns="0" tIns="0" bIns="0" anchor="t">
            <a:spAutoFit/>
          </a:bodyPr>
          <a:lstStyle/>
          <a:p>
            <a:pPr algn="l"/>
            <a:r>
              <a:rPr sz="630" b="1" i="0">
                <a:solidFill>
                  <a:srgbClr val="6F8292"/>
                </a:solidFill>
                <a:latin typeface="Aptos"/>
              </a:rPr>
              <a:t>LOCATION</a:t>
            </a:r>
          </a:p>
        </p:txBody>
      </p:sp>
      <p:sp>
        <p:nvSpPr>
          <p:cNvPr id="87" name="TextBox 86"/>
          <p:cNvSpPr txBox="1"/>
          <p:nvPr/>
        </p:nvSpPr>
        <p:spPr>
          <a:xfrm>
            <a:off x="7589520" y="2926080"/>
            <a:ext cx="658368" cy="146304"/>
          </a:xfrm>
          <a:prstGeom prst="rect">
            <a:avLst/>
          </a:prstGeom>
          <a:noFill/>
        </p:spPr>
        <p:txBody>
          <a:bodyPr wrap="square" lIns="0" rIns="0" tIns="0" bIns="0" anchor="t">
            <a:spAutoFit/>
          </a:bodyPr>
          <a:lstStyle/>
          <a:p>
            <a:pPr algn="l"/>
            <a:r>
              <a:rPr sz="630" b="1" i="0">
                <a:solidFill>
                  <a:srgbClr val="6F8292"/>
                </a:solidFill>
                <a:latin typeface="Aptos"/>
              </a:rPr>
              <a:t>CONF.</a:t>
            </a:r>
          </a:p>
        </p:txBody>
      </p:sp>
      <p:sp>
        <p:nvSpPr>
          <p:cNvPr id="88" name="TextBox 87"/>
          <p:cNvSpPr txBox="1"/>
          <p:nvPr/>
        </p:nvSpPr>
        <p:spPr>
          <a:xfrm>
            <a:off x="8275320" y="2926080"/>
            <a:ext cx="777240" cy="146304"/>
          </a:xfrm>
          <a:prstGeom prst="rect">
            <a:avLst/>
          </a:prstGeom>
          <a:noFill/>
        </p:spPr>
        <p:txBody>
          <a:bodyPr wrap="square" lIns="0" rIns="0" tIns="0" bIns="0" anchor="t">
            <a:spAutoFit/>
          </a:bodyPr>
          <a:lstStyle/>
          <a:p>
            <a:pPr algn="l"/>
            <a:r>
              <a:rPr sz="630" b="1" i="0">
                <a:solidFill>
                  <a:srgbClr val="6F8292"/>
                </a:solidFill>
                <a:latin typeface="Aptos"/>
              </a:rPr>
              <a:t>PRIORITY</a:t>
            </a:r>
          </a:p>
        </p:txBody>
      </p:sp>
      <p:sp>
        <p:nvSpPr>
          <p:cNvPr id="89" name="TextBox 88"/>
          <p:cNvSpPr txBox="1"/>
          <p:nvPr/>
        </p:nvSpPr>
        <p:spPr>
          <a:xfrm>
            <a:off x="9162288" y="2926080"/>
            <a:ext cx="685800" cy="146304"/>
          </a:xfrm>
          <a:prstGeom prst="rect">
            <a:avLst/>
          </a:prstGeom>
          <a:noFill/>
        </p:spPr>
        <p:txBody>
          <a:bodyPr wrap="square" lIns="0" rIns="0" tIns="0" bIns="0" anchor="t">
            <a:spAutoFit/>
          </a:bodyPr>
          <a:lstStyle/>
          <a:p>
            <a:pPr algn="l"/>
            <a:r>
              <a:rPr sz="630" b="1" i="0">
                <a:solidFill>
                  <a:srgbClr val="6F8292"/>
                </a:solidFill>
                <a:latin typeface="Aptos"/>
              </a:rPr>
              <a:t>TIME</a:t>
            </a:r>
          </a:p>
        </p:txBody>
      </p:sp>
      <p:sp>
        <p:nvSpPr>
          <p:cNvPr id="90" name="TextBox 89"/>
          <p:cNvSpPr txBox="1"/>
          <p:nvPr/>
        </p:nvSpPr>
        <p:spPr>
          <a:xfrm>
            <a:off x="9948672" y="2926080"/>
            <a:ext cx="1078992" cy="146304"/>
          </a:xfrm>
          <a:prstGeom prst="rect">
            <a:avLst/>
          </a:prstGeom>
          <a:noFill/>
        </p:spPr>
        <p:txBody>
          <a:bodyPr wrap="square" lIns="0" rIns="0" tIns="0" bIns="0" anchor="t">
            <a:spAutoFit/>
          </a:bodyPr>
          <a:lstStyle/>
          <a:p>
            <a:pPr algn="l"/>
            <a:r>
              <a:rPr sz="630" b="1" i="0">
                <a:solidFill>
                  <a:srgbClr val="6F8292"/>
                </a:solidFill>
                <a:latin typeface="Aptos"/>
              </a:rPr>
              <a:t>STATUS</a:t>
            </a:r>
          </a:p>
        </p:txBody>
      </p:sp>
      <p:cxnSp>
        <p:nvCxnSpPr>
          <p:cNvPr id="91" name="Connector 90"/>
          <p:cNvCxnSpPr/>
          <p:nvPr/>
        </p:nvCxnSpPr>
        <p:spPr>
          <a:xfrm>
            <a:off x="6345936" y="3136392"/>
            <a:ext cx="4645152" cy="0"/>
          </a:xfrm>
          <a:prstGeom prst="line">
            <a:avLst/>
          </a:prstGeom>
          <a:ln w="8890">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345936" y="3703320"/>
            <a:ext cx="4645152"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6400800" y="3447288"/>
            <a:ext cx="73152" cy="73152"/>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547104" y="3401568"/>
            <a:ext cx="1024128" cy="164592"/>
          </a:xfrm>
          <a:prstGeom prst="rect">
            <a:avLst/>
          </a:prstGeom>
          <a:noFill/>
        </p:spPr>
        <p:txBody>
          <a:bodyPr wrap="square" lIns="0" rIns="0" tIns="0" bIns="0" anchor="t">
            <a:spAutoFit/>
          </a:bodyPr>
          <a:lstStyle/>
          <a:p>
            <a:pPr algn="l"/>
            <a:r>
              <a:rPr sz="720" b="1" i="0">
                <a:solidFill>
                  <a:srgbClr val="F4F7FA"/>
                </a:solidFill>
                <a:latin typeface="Aptos"/>
              </a:rPr>
              <a:t>P-03 / B</a:t>
            </a:r>
          </a:p>
        </p:txBody>
      </p:sp>
      <p:sp>
        <p:nvSpPr>
          <p:cNvPr id="95" name="TextBox 94"/>
          <p:cNvSpPr txBox="1"/>
          <p:nvPr/>
        </p:nvSpPr>
        <p:spPr>
          <a:xfrm>
            <a:off x="7589520" y="3401568"/>
            <a:ext cx="640080" cy="164592"/>
          </a:xfrm>
          <a:prstGeom prst="rect">
            <a:avLst/>
          </a:prstGeom>
          <a:noFill/>
        </p:spPr>
        <p:txBody>
          <a:bodyPr wrap="square" lIns="0" rIns="0" tIns="0" bIns="0" anchor="t">
            <a:spAutoFit/>
          </a:bodyPr>
          <a:lstStyle/>
          <a:p>
            <a:pPr algn="l"/>
            <a:r>
              <a:rPr sz="720" b="1" i="0">
                <a:solidFill>
                  <a:srgbClr val="F4B860"/>
                </a:solidFill>
                <a:latin typeface="Aptos"/>
              </a:rPr>
              <a:t>94%</a:t>
            </a:r>
          </a:p>
        </p:txBody>
      </p:sp>
      <p:sp>
        <p:nvSpPr>
          <p:cNvPr id="96" name="TextBox 95"/>
          <p:cNvSpPr txBox="1"/>
          <p:nvPr/>
        </p:nvSpPr>
        <p:spPr>
          <a:xfrm>
            <a:off x="8275320" y="3401568"/>
            <a:ext cx="777240" cy="164592"/>
          </a:xfrm>
          <a:prstGeom prst="rect">
            <a:avLst/>
          </a:prstGeom>
          <a:noFill/>
        </p:spPr>
        <p:txBody>
          <a:bodyPr wrap="square" lIns="0" rIns="0" tIns="0" bIns="0" anchor="t">
            <a:spAutoFit/>
          </a:bodyPr>
          <a:lstStyle/>
          <a:p>
            <a:pPr algn="l"/>
            <a:r>
              <a:rPr sz="700" b="1" i="0">
                <a:solidFill>
                  <a:srgbClr val="FF6B6B"/>
                </a:solidFill>
                <a:latin typeface="Aptos"/>
              </a:rPr>
              <a:t>HIGH</a:t>
            </a:r>
          </a:p>
        </p:txBody>
      </p:sp>
      <p:sp>
        <p:nvSpPr>
          <p:cNvPr id="97" name="TextBox 96"/>
          <p:cNvSpPr txBox="1"/>
          <p:nvPr/>
        </p:nvSpPr>
        <p:spPr>
          <a:xfrm>
            <a:off x="9162288" y="3401568"/>
            <a:ext cx="685800" cy="164592"/>
          </a:xfrm>
          <a:prstGeom prst="rect">
            <a:avLst/>
          </a:prstGeom>
          <a:noFill/>
        </p:spPr>
        <p:txBody>
          <a:bodyPr wrap="square" lIns="0" rIns="0" tIns="0" bIns="0" anchor="t">
            <a:spAutoFit/>
          </a:bodyPr>
          <a:lstStyle/>
          <a:p>
            <a:pPr algn="l"/>
            <a:r>
              <a:rPr sz="700" b="0" i="0">
                <a:solidFill>
                  <a:srgbClr val="9AA9B8"/>
                </a:solidFill>
                <a:latin typeface="Aptos"/>
              </a:rPr>
              <a:t>08:42</a:t>
            </a:r>
          </a:p>
        </p:txBody>
      </p:sp>
      <p:sp>
        <p:nvSpPr>
          <p:cNvPr id="98" name="TextBox 97"/>
          <p:cNvSpPr txBox="1"/>
          <p:nvPr/>
        </p:nvSpPr>
        <p:spPr>
          <a:xfrm>
            <a:off x="9948672" y="3401568"/>
            <a:ext cx="1078992" cy="164592"/>
          </a:xfrm>
          <a:prstGeom prst="rect">
            <a:avLst/>
          </a:prstGeom>
          <a:noFill/>
        </p:spPr>
        <p:txBody>
          <a:bodyPr wrap="square" lIns="0" rIns="0" tIns="0" bIns="0" anchor="t">
            <a:spAutoFit/>
          </a:bodyPr>
          <a:lstStyle/>
          <a:p>
            <a:pPr algn="l"/>
            <a:r>
              <a:rPr sz="660" b="1" i="0">
                <a:solidFill>
                  <a:srgbClr val="FF6B6B"/>
                </a:solidFill>
                <a:latin typeface="Aptos"/>
              </a:rPr>
              <a:t>REQUIRED</a:t>
            </a:r>
          </a:p>
        </p:txBody>
      </p:sp>
      <p:cxnSp>
        <p:nvCxnSpPr>
          <p:cNvPr id="99" name="Connector 98"/>
          <p:cNvCxnSpPr/>
          <p:nvPr/>
        </p:nvCxnSpPr>
        <p:spPr>
          <a:xfrm>
            <a:off x="6345936" y="4315968"/>
            <a:ext cx="4645152"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6400800" y="4059935"/>
            <a:ext cx="73152" cy="73152"/>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6547104" y="4014215"/>
            <a:ext cx="1024128" cy="164592"/>
          </a:xfrm>
          <a:prstGeom prst="rect">
            <a:avLst/>
          </a:prstGeom>
          <a:noFill/>
        </p:spPr>
        <p:txBody>
          <a:bodyPr wrap="square" lIns="0" rIns="0" tIns="0" bIns="0" anchor="t">
            <a:spAutoFit/>
          </a:bodyPr>
          <a:lstStyle/>
          <a:p>
            <a:pPr algn="l"/>
            <a:r>
              <a:rPr sz="720" b="0" i="0">
                <a:solidFill>
                  <a:srgbClr val="F4F7FA"/>
                </a:solidFill>
                <a:latin typeface="Aptos"/>
              </a:rPr>
              <a:t>P-03 / A</a:t>
            </a:r>
          </a:p>
        </p:txBody>
      </p:sp>
      <p:sp>
        <p:nvSpPr>
          <p:cNvPr id="102" name="TextBox 101"/>
          <p:cNvSpPr txBox="1"/>
          <p:nvPr/>
        </p:nvSpPr>
        <p:spPr>
          <a:xfrm>
            <a:off x="7589520" y="4014215"/>
            <a:ext cx="640080" cy="164592"/>
          </a:xfrm>
          <a:prstGeom prst="rect">
            <a:avLst/>
          </a:prstGeom>
          <a:noFill/>
        </p:spPr>
        <p:txBody>
          <a:bodyPr wrap="square" lIns="0" rIns="0" tIns="0" bIns="0" anchor="t">
            <a:spAutoFit/>
          </a:bodyPr>
          <a:lstStyle/>
          <a:p>
            <a:pPr algn="l"/>
            <a:r>
              <a:rPr sz="720" b="0" i="0">
                <a:solidFill>
                  <a:srgbClr val="9AA9B8"/>
                </a:solidFill>
                <a:latin typeface="Aptos"/>
              </a:rPr>
              <a:t>—</a:t>
            </a:r>
          </a:p>
        </p:txBody>
      </p:sp>
      <p:sp>
        <p:nvSpPr>
          <p:cNvPr id="103" name="TextBox 102"/>
          <p:cNvSpPr txBox="1"/>
          <p:nvPr/>
        </p:nvSpPr>
        <p:spPr>
          <a:xfrm>
            <a:off x="8275320" y="4014215"/>
            <a:ext cx="777240" cy="164592"/>
          </a:xfrm>
          <a:prstGeom prst="rect">
            <a:avLst/>
          </a:prstGeom>
          <a:noFill/>
        </p:spPr>
        <p:txBody>
          <a:bodyPr wrap="square" lIns="0" rIns="0" tIns="0" bIns="0" anchor="t">
            <a:spAutoFit/>
          </a:bodyPr>
          <a:lstStyle/>
          <a:p>
            <a:pPr algn="l"/>
            <a:r>
              <a:rPr sz="700" b="1" i="0">
                <a:solidFill>
                  <a:srgbClr val="7FE0A4"/>
                </a:solidFill>
                <a:latin typeface="Aptos"/>
              </a:rPr>
              <a:t>CLEAR</a:t>
            </a:r>
          </a:p>
        </p:txBody>
      </p:sp>
      <p:sp>
        <p:nvSpPr>
          <p:cNvPr id="104" name="TextBox 103"/>
          <p:cNvSpPr txBox="1"/>
          <p:nvPr/>
        </p:nvSpPr>
        <p:spPr>
          <a:xfrm>
            <a:off x="9162288" y="4014215"/>
            <a:ext cx="685800" cy="164592"/>
          </a:xfrm>
          <a:prstGeom prst="rect">
            <a:avLst/>
          </a:prstGeom>
          <a:noFill/>
        </p:spPr>
        <p:txBody>
          <a:bodyPr wrap="square" lIns="0" rIns="0" tIns="0" bIns="0" anchor="t">
            <a:spAutoFit/>
          </a:bodyPr>
          <a:lstStyle/>
          <a:p>
            <a:pPr algn="l"/>
            <a:r>
              <a:rPr sz="700" b="0" i="0">
                <a:solidFill>
                  <a:srgbClr val="9AA9B8"/>
                </a:solidFill>
                <a:latin typeface="Aptos"/>
              </a:rPr>
              <a:t>08:27</a:t>
            </a:r>
          </a:p>
        </p:txBody>
      </p:sp>
      <p:sp>
        <p:nvSpPr>
          <p:cNvPr id="105" name="TextBox 104"/>
          <p:cNvSpPr txBox="1"/>
          <p:nvPr/>
        </p:nvSpPr>
        <p:spPr>
          <a:xfrm>
            <a:off x="9948672" y="4014215"/>
            <a:ext cx="1078992" cy="164592"/>
          </a:xfrm>
          <a:prstGeom prst="rect">
            <a:avLst/>
          </a:prstGeom>
          <a:noFill/>
        </p:spPr>
        <p:txBody>
          <a:bodyPr wrap="square" lIns="0" rIns="0" tIns="0" bIns="0" anchor="t">
            <a:spAutoFit/>
          </a:bodyPr>
          <a:lstStyle/>
          <a:p>
            <a:pPr algn="l"/>
            <a:r>
              <a:rPr sz="660" b="0" i="0">
                <a:solidFill>
                  <a:srgbClr val="9AA9B8"/>
                </a:solidFill>
                <a:latin typeface="Aptos"/>
              </a:rPr>
              <a:t>CLOSED</a:t>
            </a:r>
          </a:p>
        </p:txBody>
      </p:sp>
      <p:cxnSp>
        <p:nvCxnSpPr>
          <p:cNvPr id="106" name="Connector 105"/>
          <p:cNvCxnSpPr/>
          <p:nvPr/>
        </p:nvCxnSpPr>
        <p:spPr>
          <a:xfrm>
            <a:off x="6345936" y="4928616"/>
            <a:ext cx="4645152"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107" name="Oval 106"/>
          <p:cNvSpPr/>
          <p:nvPr/>
        </p:nvSpPr>
        <p:spPr>
          <a:xfrm>
            <a:off x="6400800" y="4672583"/>
            <a:ext cx="73152" cy="73152"/>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547104" y="4626864"/>
            <a:ext cx="1024128" cy="164592"/>
          </a:xfrm>
          <a:prstGeom prst="rect">
            <a:avLst/>
          </a:prstGeom>
          <a:noFill/>
        </p:spPr>
        <p:txBody>
          <a:bodyPr wrap="square" lIns="0" rIns="0" tIns="0" bIns="0" anchor="t">
            <a:spAutoFit/>
          </a:bodyPr>
          <a:lstStyle/>
          <a:p>
            <a:pPr algn="l"/>
            <a:r>
              <a:rPr sz="720" b="0" i="0">
                <a:solidFill>
                  <a:srgbClr val="F4F7FA"/>
                </a:solidFill>
                <a:latin typeface="Aptos"/>
              </a:rPr>
              <a:t>P-02 / C</a:t>
            </a:r>
          </a:p>
        </p:txBody>
      </p:sp>
      <p:sp>
        <p:nvSpPr>
          <p:cNvPr id="109" name="TextBox 108"/>
          <p:cNvSpPr txBox="1"/>
          <p:nvPr/>
        </p:nvSpPr>
        <p:spPr>
          <a:xfrm>
            <a:off x="7589520" y="4626864"/>
            <a:ext cx="640080" cy="164592"/>
          </a:xfrm>
          <a:prstGeom prst="rect">
            <a:avLst/>
          </a:prstGeom>
          <a:noFill/>
        </p:spPr>
        <p:txBody>
          <a:bodyPr wrap="square" lIns="0" rIns="0" tIns="0" bIns="0" anchor="t">
            <a:spAutoFit/>
          </a:bodyPr>
          <a:lstStyle/>
          <a:p>
            <a:pPr algn="l"/>
            <a:r>
              <a:rPr sz="720" b="0" i="0">
                <a:solidFill>
                  <a:srgbClr val="9AA9B8"/>
                </a:solidFill>
                <a:latin typeface="Aptos"/>
              </a:rPr>
              <a:t>—</a:t>
            </a:r>
          </a:p>
        </p:txBody>
      </p:sp>
      <p:sp>
        <p:nvSpPr>
          <p:cNvPr id="110" name="TextBox 109"/>
          <p:cNvSpPr txBox="1"/>
          <p:nvPr/>
        </p:nvSpPr>
        <p:spPr>
          <a:xfrm>
            <a:off x="8275320" y="4626864"/>
            <a:ext cx="777240" cy="164592"/>
          </a:xfrm>
          <a:prstGeom prst="rect">
            <a:avLst/>
          </a:prstGeom>
          <a:noFill/>
        </p:spPr>
        <p:txBody>
          <a:bodyPr wrap="square" lIns="0" rIns="0" tIns="0" bIns="0" anchor="t">
            <a:spAutoFit/>
          </a:bodyPr>
          <a:lstStyle/>
          <a:p>
            <a:pPr algn="l"/>
            <a:r>
              <a:rPr sz="700" b="1" i="0">
                <a:solidFill>
                  <a:srgbClr val="7FE0A4"/>
                </a:solidFill>
                <a:latin typeface="Aptos"/>
              </a:rPr>
              <a:t>CLEAR</a:t>
            </a:r>
          </a:p>
        </p:txBody>
      </p:sp>
      <p:sp>
        <p:nvSpPr>
          <p:cNvPr id="111" name="TextBox 110"/>
          <p:cNvSpPr txBox="1"/>
          <p:nvPr/>
        </p:nvSpPr>
        <p:spPr>
          <a:xfrm>
            <a:off x="9162288" y="4626864"/>
            <a:ext cx="685800" cy="164592"/>
          </a:xfrm>
          <a:prstGeom prst="rect">
            <a:avLst/>
          </a:prstGeom>
          <a:noFill/>
        </p:spPr>
        <p:txBody>
          <a:bodyPr wrap="square" lIns="0" rIns="0" tIns="0" bIns="0" anchor="t">
            <a:spAutoFit/>
          </a:bodyPr>
          <a:lstStyle/>
          <a:p>
            <a:pPr algn="l"/>
            <a:r>
              <a:rPr sz="700" b="0" i="0">
                <a:solidFill>
                  <a:srgbClr val="9AA9B8"/>
                </a:solidFill>
                <a:latin typeface="Aptos"/>
              </a:rPr>
              <a:t>YEST.</a:t>
            </a:r>
          </a:p>
        </p:txBody>
      </p:sp>
      <p:sp>
        <p:nvSpPr>
          <p:cNvPr id="112" name="TextBox 111"/>
          <p:cNvSpPr txBox="1"/>
          <p:nvPr/>
        </p:nvSpPr>
        <p:spPr>
          <a:xfrm>
            <a:off x="9948672" y="4626864"/>
            <a:ext cx="1078992" cy="164592"/>
          </a:xfrm>
          <a:prstGeom prst="rect">
            <a:avLst/>
          </a:prstGeom>
          <a:noFill/>
        </p:spPr>
        <p:txBody>
          <a:bodyPr wrap="square" lIns="0" rIns="0" tIns="0" bIns="0" anchor="t">
            <a:spAutoFit/>
          </a:bodyPr>
          <a:lstStyle/>
          <a:p>
            <a:pPr algn="l"/>
            <a:r>
              <a:rPr sz="660" b="0" i="0">
                <a:solidFill>
                  <a:srgbClr val="9AA9B8"/>
                </a:solidFill>
                <a:latin typeface="Aptos"/>
              </a:rPr>
              <a:t>CLOSED</a:t>
            </a:r>
          </a:p>
        </p:txBody>
      </p:sp>
      <p:sp>
        <p:nvSpPr>
          <p:cNvPr id="113" name="Rounded Rectangle 112"/>
          <p:cNvSpPr/>
          <p:nvPr/>
        </p:nvSpPr>
        <p:spPr>
          <a:xfrm>
            <a:off x="6144768" y="5724144"/>
            <a:ext cx="2423160" cy="274320"/>
          </a:xfrm>
          <a:prstGeom prst="roundRect">
            <a:avLst/>
          </a:prstGeom>
          <a:solidFill>
            <a:srgbClr val="172330"/>
          </a:solidFill>
          <a:ln w="635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309360" y="5797296"/>
            <a:ext cx="749808" cy="137160"/>
          </a:xfrm>
          <a:prstGeom prst="rect">
            <a:avLst/>
          </a:prstGeom>
          <a:noFill/>
        </p:spPr>
        <p:txBody>
          <a:bodyPr wrap="square" lIns="0" rIns="0" tIns="0" bIns="0" anchor="t">
            <a:spAutoFit/>
          </a:bodyPr>
          <a:lstStyle/>
          <a:p>
            <a:pPr algn="l"/>
            <a:r>
              <a:rPr sz="650" b="1" i="0">
                <a:solidFill>
                  <a:srgbClr val="6F8292"/>
                </a:solidFill>
                <a:latin typeface="Aptos"/>
              </a:rPr>
              <a:t>HISTORY</a:t>
            </a:r>
          </a:p>
        </p:txBody>
      </p:sp>
      <p:cxnSp>
        <p:nvCxnSpPr>
          <p:cNvPr id="115" name="Connector 114"/>
          <p:cNvCxnSpPr/>
          <p:nvPr/>
        </p:nvCxnSpPr>
        <p:spPr>
          <a:xfrm flipV="1">
            <a:off x="7132320" y="5886907"/>
            <a:ext cx="171123" cy="21945"/>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7303443" y="5886907"/>
            <a:ext cx="171123" cy="8229"/>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7474566" y="5847130"/>
            <a:ext cx="171124" cy="48006"/>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7645690" y="5847130"/>
            <a:ext cx="171123" cy="20574"/>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816813" y="5829300"/>
            <a:ext cx="171124" cy="38404"/>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987937" y="5829300"/>
            <a:ext cx="171123" cy="6858"/>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8159060" y="5815584"/>
            <a:ext cx="171123" cy="20574"/>
          </a:xfrm>
          <a:prstGeom prst="line">
            <a:avLst/>
          </a:prstGeom>
          <a:ln w="19050">
            <a:solidFill>
              <a:srgbClr val="FF6B6B"/>
            </a:solidFill>
          </a:ln>
        </p:spPr>
        <p:style>
          <a:lnRef idx="2">
            <a:schemeClr val="accent1"/>
          </a:lnRef>
          <a:fillRef idx="0">
            <a:schemeClr val="accent1"/>
          </a:fillRef>
          <a:effectRef idx="1">
            <a:schemeClr val="accent1"/>
          </a:effectRef>
          <a:fontRef idx="minor">
            <a:schemeClr val="tx1"/>
          </a:fontRef>
        </p:style>
      </p:cxnSp>
      <p:sp>
        <p:nvSpPr>
          <p:cNvPr id="122" name="Oval 121"/>
          <p:cNvSpPr/>
          <p:nvPr/>
        </p:nvSpPr>
        <p:spPr>
          <a:xfrm>
            <a:off x="7109459" y="5885992"/>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280583" y="5864047"/>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7451706" y="5872276"/>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7622830" y="5824270"/>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7793953" y="5844844"/>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7965077" y="5806440"/>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136200" y="5813298"/>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307323" y="5792724"/>
            <a:ext cx="45720" cy="45720"/>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8759952" y="5724144"/>
            <a:ext cx="2459736" cy="274320"/>
          </a:xfrm>
          <a:prstGeom prst="roundRect">
            <a:avLst/>
          </a:prstGeom>
          <a:solidFill>
            <a:srgbClr val="172330"/>
          </a:solidFill>
          <a:ln w="635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8933688" y="5797296"/>
            <a:ext cx="841248" cy="137160"/>
          </a:xfrm>
          <a:prstGeom prst="rect">
            <a:avLst/>
          </a:prstGeom>
          <a:noFill/>
        </p:spPr>
        <p:txBody>
          <a:bodyPr wrap="square" lIns="0" rIns="0" tIns="0" bIns="0" anchor="t">
            <a:spAutoFit/>
          </a:bodyPr>
          <a:lstStyle/>
          <a:p>
            <a:pPr algn="l"/>
            <a:r>
              <a:rPr sz="650" b="1" i="0">
                <a:solidFill>
                  <a:srgbClr val="6F8292"/>
                </a:solidFill>
                <a:latin typeface="Aptos"/>
              </a:rPr>
              <a:t>PRIORITY</a:t>
            </a:r>
          </a:p>
        </p:txBody>
      </p:sp>
      <p:sp>
        <p:nvSpPr>
          <p:cNvPr id="132" name="Oval 131"/>
          <p:cNvSpPr/>
          <p:nvPr/>
        </p:nvSpPr>
        <p:spPr>
          <a:xfrm>
            <a:off x="9857232" y="5806440"/>
            <a:ext cx="64008" cy="64008"/>
          </a:xfrm>
          <a:prstGeom prst="ellipse">
            <a:avLst/>
          </a:prstGeom>
          <a:solidFill>
            <a:srgbClr val="FF6B6B"/>
          </a:solidFill>
          <a:ln w="127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149840" y="5806440"/>
            <a:ext cx="64008" cy="64008"/>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442448" y="5806440"/>
            <a:ext cx="64008" cy="64008"/>
          </a:xfrm>
          <a:prstGeom prst="ellipse">
            <a:avLst/>
          </a:prstGeom>
          <a:solidFill>
            <a:srgbClr val="F28D52"/>
          </a:solidFill>
          <a:ln w="1270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735055" y="5806440"/>
            <a:ext cx="64008" cy="64008"/>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621792" y="6236208"/>
            <a:ext cx="10881360" cy="146304"/>
          </a:xfrm>
          <a:prstGeom prst="rect">
            <a:avLst/>
          </a:prstGeom>
          <a:noFill/>
        </p:spPr>
        <p:txBody>
          <a:bodyPr wrap="square" lIns="0" rIns="0" tIns="0" bIns="0" anchor="t">
            <a:spAutoFit/>
          </a:bodyPr>
          <a:lstStyle/>
          <a:p>
            <a:pPr algn="ctr"/>
            <a:r>
              <a:rPr sz="850" b="1" i="0">
                <a:solidFill>
                  <a:srgbClr val="F4F7FA"/>
                </a:solidFill>
                <a:latin typeface="Aptos"/>
              </a:rPr>
              <a:t>The interface is deliberately maintenance-first: location, confidence, urgency, timestamp, and status — in that order.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48E0D2"/>
                </a:solidFill>
                <a:latin typeface="Aptos"/>
              </a:rPr>
              <a:t>08  /  DIFFERENTIATION</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09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The step-change is the workflow — not just the detector.</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The proposed system combines mobility, local intelligence, and maintenance context in a single inspection loop.</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99616"/>
            <a:ext cx="2057400" cy="4526280"/>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326245" y="2013143"/>
            <a:ext cx="584484" cy="412577"/>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20794" y="2099096"/>
            <a:ext cx="137525" cy="111739"/>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78655" y="2099096"/>
            <a:ext cx="137525" cy="111739"/>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618488" y="1909998"/>
            <a:ext cx="0" cy="103145"/>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584106" y="1867021"/>
            <a:ext cx="68762" cy="68762"/>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274673" y="2494483"/>
            <a:ext cx="687629"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352031" y="2391338"/>
            <a:ext cx="154716" cy="154716"/>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47418" y="2391338"/>
            <a:ext cx="154716" cy="154716"/>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618488" y="2425720"/>
            <a:ext cx="0" cy="189098"/>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50392" y="2944368"/>
            <a:ext cx="1572768" cy="612648"/>
          </a:xfrm>
          <a:prstGeom prst="rect">
            <a:avLst/>
          </a:prstGeom>
          <a:noFill/>
        </p:spPr>
        <p:txBody>
          <a:bodyPr wrap="square" lIns="0" rIns="0" tIns="0" bIns="0" anchor="t">
            <a:spAutoFit/>
          </a:bodyPr>
          <a:lstStyle/>
          <a:p>
            <a:pPr algn="ctr"/>
            <a:r>
              <a:rPr sz="1800" b="1" i="0">
                <a:solidFill>
                  <a:srgbClr val="F4F7FA"/>
                </a:solidFill>
                <a:latin typeface="Aptos Display"/>
              </a:rPr>
              <a:t>Not just a
leak detector.</a:t>
            </a:r>
          </a:p>
        </p:txBody>
      </p:sp>
      <p:cxnSp>
        <p:nvCxnSpPr>
          <p:cNvPr id="28" name="Connector 27"/>
          <p:cNvCxnSpPr/>
          <p:nvPr/>
        </p:nvCxnSpPr>
        <p:spPr>
          <a:xfrm>
            <a:off x="868680" y="3822191"/>
            <a:ext cx="1508760" cy="0"/>
          </a:xfrm>
          <a:prstGeom prst="line">
            <a:avLst/>
          </a:prstGeom>
          <a:ln w="12700">
            <a:solidFill>
              <a:srgbClr val="1E8F9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59536" y="4078224"/>
            <a:ext cx="1554480" cy="731520"/>
          </a:xfrm>
          <a:prstGeom prst="rect">
            <a:avLst/>
          </a:prstGeom>
          <a:noFill/>
        </p:spPr>
        <p:txBody>
          <a:bodyPr wrap="square" lIns="0" rIns="0" tIns="0" bIns="0" anchor="t">
            <a:spAutoFit/>
          </a:bodyPr>
          <a:lstStyle/>
          <a:p>
            <a:pPr algn="ctr"/>
            <a:r>
              <a:rPr sz="1000" b="0" i="0">
                <a:solidFill>
                  <a:srgbClr val="9AA9B8"/>
                </a:solidFill>
                <a:latin typeface="Aptos"/>
              </a:rPr>
              <a:t>A route-aware inspection and maintenance-intelligence platform.</a:t>
            </a:r>
          </a:p>
        </p:txBody>
      </p:sp>
      <p:sp>
        <p:nvSpPr>
          <p:cNvPr id="30" name="Rounded Rectangle 29"/>
          <p:cNvSpPr/>
          <p:nvPr/>
        </p:nvSpPr>
        <p:spPr>
          <a:xfrm>
            <a:off x="941832" y="5212080"/>
            <a:ext cx="1389888"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5216652"/>
            <a:ext cx="1389888" cy="228600"/>
          </a:xfrm>
          <a:prstGeom prst="rect">
            <a:avLst/>
          </a:prstGeom>
          <a:noFill/>
        </p:spPr>
        <p:txBody>
          <a:bodyPr wrap="square" lIns="9144" rIns="9144" tIns="9144" bIns="9144" anchor="ctr">
            <a:spAutoFit/>
          </a:bodyPr>
          <a:lstStyle/>
          <a:p>
            <a:pPr algn="ctr"/>
            <a:r>
              <a:rPr sz="700" b="1" i="0">
                <a:solidFill>
                  <a:srgbClr val="48E0D2"/>
                </a:solidFill>
                <a:latin typeface="Aptos"/>
              </a:rPr>
              <a:t>WORKFLOW VALUE</a:t>
            </a:r>
          </a:p>
        </p:txBody>
      </p:sp>
      <p:sp>
        <p:nvSpPr>
          <p:cNvPr id="32" name="Rounded Rectangle 31"/>
          <p:cNvSpPr/>
          <p:nvPr/>
        </p:nvSpPr>
        <p:spPr>
          <a:xfrm>
            <a:off x="2907792" y="1499616"/>
            <a:ext cx="2148840" cy="640080"/>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35808" y="1645919"/>
            <a:ext cx="1892808" cy="320040"/>
          </a:xfrm>
          <a:prstGeom prst="rect">
            <a:avLst/>
          </a:prstGeom>
          <a:noFill/>
        </p:spPr>
        <p:txBody>
          <a:bodyPr wrap="square" lIns="0" rIns="0" tIns="0" bIns="0" anchor="t">
            <a:spAutoFit/>
          </a:bodyPr>
          <a:lstStyle/>
          <a:p>
            <a:pPr algn="ctr"/>
            <a:r>
              <a:rPr sz="800" b="1" i="0">
                <a:solidFill>
                  <a:srgbClr val="9AA9B8"/>
                </a:solidFill>
                <a:latin typeface="Aptos"/>
              </a:rPr>
              <a:t>CRITERIA</a:t>
            </a:r>
          </a:p>
        </p:txBody>
      </p:sp>
      <p:sp>
        <p:nvSpPr>
          <p:cNvPr id="34" name="Rounded Rectangle 33"/>
          <p:cNvSpPr/>
          <p:nvPr/>
        </p:nvSpPr>
        <p:spPr>
          <a:xfrm>
            <a:off x="5056632" y="1499616"/>
            <a:ext cx="1920240" cy="640080"/>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84648" y="1645919"/>
            <a:ext cx="1664208" cy="320040"/>
          </a:xfrm>
          <a:prstGeom prst="rect">
            <a:avLst/>
          </a:prstGeom>
          <a:noFill/>
        </p:spPr>
        <p:txBody>
          <a:bodyPr wrap="square" lIns="0" rIns="0" tIns="0" bIns="0" anchor="t">
            <a:spAutoFit/>
          </a:bodyPr>
          <a:lstStyle/>
          <a:p>
            <a:pPr algn="ctr"/>
            <a:r>
              <a:rPr sz="800" b="1" i="0">
                <a:solidFill>
                  <a:srgbClr val="9AA9B8"/>
                </a:solidFill>
                <a:latin typeface="Aptos"/>
              </a:rPr>
              <a:t>MANUAL HANDHELD</a:t>
            </a:r>
          </a:p>
        </p:txBody>
      </p:sp>
      <p:sp>
        <p:nvSpPr>
          <p:cNvPr id="36" name="Rounded Rectangle 35"/>
          <p:cNvSpPr/>
          <p:nvPr/>
        </p:nvSpPr>
        <p:spPr>
          <a:xfrm>
            <a:off x="6976872" y="1499616"/>
            <a:ext cx="1920240" cy="640080"/>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04888" y="1645919"/>
            <a:ext cx="1664208" cy="320040"/>
          </a:xfrm>
          <a:prstGeom prst="rect">
            <a:avLst/>
          </a:prstGeom>
          <a:noFill/>
        </p:spPr>
        <p:txBody>
          <a:bodyPr wrap="square" lIns="0" rIns="0" tIns="0" bIns="0" anchor="t">
            <a:spAutoFit/>
          </a:bodyPr>
          <a:lstStyle/>
          <a:p>
            <a:pPr algn="ctr"/>
            <a:r>
              <a:rPr sz="800" b="1" i="0">
                <a:solidFill>
                  <a:srgbClr val="9AA9B8"/>
                </a:solidFill>
                <a:latin typeface="Aptos"/>
              </a:rPr>
              <a:t>FIXED SENSOR</a:t>
            </a:r>
          </a:p>
        </p:txBody>
      </p:sp>
      <p:sp>
        <p:nvSpPr>
          <p:cNvPr id="38" name="Rounded Rectangle 37"/>
          <p:cNvSpPr/>
          <p:nvPr/>
        </p:nvSpPr>
        <p:spPr>
          <a:xfrm>
            <a:off x="8897112" y="1499616"/>
            <a:ext cx="2624328" cy="640080"/>
          </a:xfrm>
          <a:prstGeom prst="roundRect">
            <a:avLst/>
          </a:prstGeom>
          <a:solidFill>
            <a:srgbClr val="14313A"/>
          </a:solidFill>
          <a:ln w="1016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25128" y="1645919"/>
            <a:ext cx="2368296" cy="320040"/>
          </a:xfrm>
          <a:prstGeom prst="rect">
            <a:avLst/>
          </a:prstGeom>
          <a:noFill/>
        </p:spPr>
        <p:txBody>
          <a:bodyPr wrap="square" lIns="0" rIns="0" tIns="0" bIns="0" anchor="t">
            <a:spAutoFit/>
          </a:bodyPr>
          <a:lstStyle/>
          <a:p>
            <a:pPr algn="ctr"/>
            <a:r>
              <a:rPr sz="800" b="1" i="0">
                <a:solidFill>
                  <a:srgbClr val="48E0D2"/>
                </a:solidFill>
                <a:latin typeface="Aptos"/>
              </a:rPr>
              <a:t>PROPOSED AUTONOMOUS
EDGE-AI ROBOT</a:t>
            </a:r>
          </a:p>
        </p:txBody>
      </p:sp>
      <p:sp>
        <p:nvSpPr>
          <p:cNvPr id="40" name="Rectangle 39"/>
          <p:cNvSpPr/>
          <p:nvPr/>
        </p:nvSpPr>
        <p:spPr>
          <a:xfrm>
            <a:off x="2907792" y="2212848"/>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35808" y="2331720"/>
            <a:ext cx="1892808" cy="301751"/>
          </a:xfrm>
          <a:prstGeom prst="rect">
            <a:avLst/>
          </a:prstGeom>
          <a:noFill/>
        </p:spPr>
        <p:txBody>
          <a:bodyPr wrap="square" lIns="0" rIns="0" tIns="0" bIns="0" anchor="t">
            <a:spAutoFit/>
          </a:bodyPr>
          <a:lstStyle/>
          <a:p>
            <a:pPr algn="l"/>
            <a:r>
              <a:rPr sz="760" b="1" i="0">
                <a:solidFill>
                  <a:srgbClr val="F4F7FA"/>
                </a:solidFill>
                <a:latin typeface="Aptos"/>
              </a:rPr>
              <a:t>Inspection method</a:t>
            </a:r>
          </a:p>
        </p:txBody>
      </p:sp>
      <p:sp>
        <p:nvSpPr>
          <p:cNvPr id="42" name="Rectangle 41"/>
          <p:cNvSpPr/>
          <p:nvPr/>
        </p:nvSpPr>
        <p:spPr>
          <a:xfrm>
            <a:off x="5056632" y="2212848"/>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84648" y="2331720"/>
            <a:ext cx="1664208" cy="301751"/>
          </a:xfrm>
          <a:prstGeom prst="rect">
            <a:avLst/>
          </a:prstGeom>
          <a:noFill/>
        </p:spPr>
        <p:txBody>
          <a:bodyPr wrap="square" lIns="0" rIns="0" tIns="0" bIns="0" anchor="t">
            <a:spAutoFit/>
          </a:bodyPr>
          <a:lstStyle/>
          <a:p>
            <a:pPr algn="l"/>
            <a:r>
              <a:rPr sz="760" b="0" i="0">
                <a:solidFill>
                  <a:srgbClr val="9AA9B8"/>
                </a:solidFill>
                <a:latin typeface="Aptos"/>
              </a:rPr>
              <a:t>Worker + handheld</a:t>
            </a:r>
          </a:p>
        </p:txBody>
      </p:sp>
      <p:sp>
        <p:nvSpPr>
          <p:cNvPr id="44" name="Rectangle 43"/>
          <p:cNvSpPr/>
          <p:nvPr/>
        </p:nvSpPr>
        <p:spPr>
          <a:xfrm>
            <a:off x="6976872" y="2212848"/>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04888" y="2331720"/>
            <a:ext cx="1664208" cy="301751"/>
          </a:xfrm>
          <a:prstGeom prst="rect">
            <a:avLst/>
          </a:prstGeom>
          <a:noFill/>
        </p:spPr>
        <p:txBody>
          <a:bodyPr wrap="square" lIns="0" rIns="0" tIns="0" bIns="0" anchor="t">
            <a:spAutoFit/>
          </a:bodyPr>
          <a:lstStyle/>
          <a:p>
            <a:pPr algn="l"/>
            <a:r>
              <a:rPr sz="760" b="0" i="0">
                <a:solidFill>
                  <a:srgbClr val="9AA9B8"/>
                </a:solidFill>
                <a:latin typeface="Aptos"/>
              </a:rPr>
              <a:t>Installed nodes</a:t>
            </a:r>
          </a:p>
        </p:txBody>
      </p:sp>
      <p:sp>
        <p:nvSpPr>
          <p:cNvPr id="46" name="Rectangle 45"/>
          <p:cNvSpPr/>
          <p:nvPr/>
        </p:nvSpPr>
        <p:spPr>
          <a:xfrm>
            <a:off x="8897112" y="2212848"/>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025128" y="2331720"/>
            <a:ext cx="2368296" cy="301751"/>
          </a:xfrm>
          <a:prstGeom prst="rect">
            <a:avLst/>
          </a:prstGeom>
          <a:noFill/>
        </p:spPr>
        <p:txBody>
          <a:bodyPr wrap="square" lIns="0" rIns="0" tIns="0" bIns="0" anchor="t">
            <a:spAutoFit/>
          </a:bodyPr>
          <a:lstStyle/>
          <a:p>
            <a:pPr algn="l"/>
            <a:r>
              <a:rPr sz="760" b="1" i="0">
                <a:solidFill>
                  <a:srgbClr val="48E0D2"/>
                </a:solidFill>
                <a:latin typeface="Aptos"/>
              </a:rPr>
              <a:t>Mobile route patrol</a:t>
            </a:r>
          </a:p>
        </p:txBody>
      </p:sp>
      <p:cxnSp>
        <p:nvCxnSpPr>
          <p:cNvPr id="48" name="Connector 47"/>
          <p:cNvCxnSpPr/>
          <p:nvPr/>
        </p:nvCxnSpPr>
        <p:spPr>
          <a:xfrm>
            <a:off x="8915400" y="2258568"/>
            <a:ext cx="0" cy="292608"/>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2907792" y="2651760"/>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35808" y="2770632"/>
            <a:ext cx="1892808" cy="301751"/>
          </a:xfrm>
          <a:prstGeom prst="rect">
            <a:avLst/>
          </a:prstGeom>
          <a:noFill/>
        </p:spPr>
        <p:txBody>
          <a:bodyPr wrap="square" lIns="0" rIns="0" tIns="0" bIns="0" anchor="t">
            <a:spAutoFit/>
          </a:bodyPr>
          <a:lstStyle/>
          <a:p>
            <a:pPr algn="l"/>
            <a:r>
              <a:rPr sz="760" b="1" i="0">
                <a:solidFill>
                  <a:srgbClr val="F4F7FA"/>
                </a:solidFill>
                <a:latin typeface="Aptos"/>
              </a:rPr>
              <a:t>Automation</a:t>
            </a:r>
          </a:p>
        </p:txBody>
      </p:sp>
      <p:sp>
        <p:nvSpPr>
          <p:cNvPr id="51" name="Rectangle 50"/>
          <p:cNvSpPr/>
          <p:nvPr/>
        </p:nvSpPr>
        <p:spPr>
          <a:xfrm>
            <a:off x="5056632" y="2651760"/>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84648" y="2770632"/>
            <a:ext cx="1664208" cy="301751"/>
          </a:xfrm>
          <a:prstGeom prst="rect">
            <a:avLst/>
          </a:prstGeom>
          <a:noFill/>
        </p:spPr>
        <p:txBody>
          <a:bodyPr wrap="square" lIns="0" rIns="0" tIns="0" bIns="0" anchor="t">
            <a:spAutoFit/>
          </a:bodyPr>
          <a:lstStyle/>
          <a:p>
            <a:pPr algn="l"/>
            <a:r>
              <a:rPr sz="760" b="0" i="0">
                <a:solidFill>
                  <a:srgbClr val="9AA9B8"/>
                </a:solidFill>
                <a:latin typeface="Aptos"/>
              </a:rPr>
              <a:t>Human-triggered</a:t>
            </a:r>
          </a:p>
        </p:txBody>
      </p:sp>
      <p:sp>
        <p:nvSpPr>
          <p:cNvPr id="53" name="Rectangle 52"/>
          <p:cNvSpPr/>
          <p:nvPr/>
        </p:nvSpPr>
        <p:spPr>
          <a:xfrm>
            <a:off x="6976872" y="2651760"/>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04888" y="2770632"/>
            <a:ext cx="1664208" cy="301751"/>
          </a:xfrm>
          <a:prstGeom prst="rect">
            <a:avLst/>
          </a:prstGeom>
          <a:noFill/>
        </p:spPr>
        <p:txBody>
          <a:bodyPr wrap="square" lIns="0" rIns="0" tIns="0" bIns="0" anchor="t">
            <a:spAutoFit/>
          </a:bodyPr>
          <a:lstStyle/>
          <a:p>
            <a:pPr algn="l"/>
            <a:r>
              <a:rPr sz="760" b="0" i="0">
                <a:solidFill>
                  <a:srgbClr val="9AA9B8"/>
                </a:solidFill>
                <a:latin typeface="Aptos"/>
              </a:rPr>
              <a:t>Always-on at node</a:t>
            </a:r>
          </a:p>
        </p:txBody>
      </p:sp>
      <p:sp>
        <p:nvSpPr>
          <p:cNvPr id="55" name="Rectangle 54"/>
          <p:cNvSpPr/>
          <p:nvPr/>
        </p:nvSpPr>
        <p:spPr>
          <a:xfrm>
            <a:off x="8897112" y="2651760"/>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25128" y="2770632"/>
            <a:ext cx="2368296" cy="301751"/>
          </a:xfrm>
          <a:prstGeom prst="rect">
            <a:avLst/>
          </a:prstGeom>
          <a:noFill/>
        </p:spPr>
        <p:txBody>
          <a:bodyPr wrap="square" lIns="0" rIns="0" tIns="0" bIns="0" anchor="t">
            <a:spAutoFit/>
          </a:bodyPr>
          <a:lstStyle/>
          <a:p>
            <a:pPr algn="l"/>
            <a:r>
              <a:rPr sz="760" b="1" i="0">
                <a:solidFill>
                  <a:srgbClr val="48E0D2"/>
                </a:solidFill>
                <a:latin typeface="Aptos"/>
              </a:rPr>
              <a:t>Automated periodic inspection</a:t>
            </a:r>
          </a:p>
        </p:txBody>
      </p:sp>
      <p:cxnSp>
        <p:nvCxnSpPr>
          <p:cNvPr id="57" name="Connector 56"/>
          <p:cNvCxnSpPr/>
          <p:nvPr/>
        </p:nvCxnSpPr>
        <p:spPr>
          <a:xfrm>
            <a:off x="8915400" y="2697479"/>
            <a:ext cx="0" cy="292609"/>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907792" y="3090672"/>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35808" y="3209544"/>
            <a:ext cx="1892808" cy="301751"/>
          </a:xfrm>
          <a:prstGeom prst="rect">
            <a:avLst/>
          </a:prstGeom>
          <a:noFill/>
        </p:spPr>
        <p:txBody>
          <a:bodyPr wrap="square" lIns="0" rIns="0" tIns="0" bIns="0" anchor="t">
            <a:spAutoFit/>
          </a:bodyPr>
          <a:lstStyle/>
          <a:p>
            <a:pPr algn="l"/>
            <a:r>
              <a:rPr sz="760" b="1" i="0">
                <a:solidFill>
                  <a:srgbClr val="F4F7FA"/>
                </a:solidFill>
                <a:latin typeface="Aptos"/>
              </a:rPr>
              <a:t>Mobility</a:t>
            </a:r>
          </a:p>
        </p:txBody>
      </p:sp>
      <p:sp>
        <p:nvSpPr>
          <p:cNvPr id="60" name="Rectangle 59"/>
          <p:cNvSpPr/>
          <p:nvPr/>
        </p:nvSpPr>
        <p:spPr>
          <a:xfrm>
            <a:off x="5056632" y="3090672"/>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84648" y="3209544"/>
            <a:ext cx="1664208" cy="301751"/>
          </a:xfrm>
          <a:prstGeom prst="rect">
            <a:avLst/>
          </a:prstGeom>
          <a:noFill/>
        </p:spPr>
        <p:txBody>
          <a:bodyPr wrap="square" lIns="0" rIns="0" tIns="0" bIns="0" anchor="t">
            <a:spAutoFit/>
          </a:bodyPr>
          <a:lstStyle/>
          <a:p>
            <a:pPr algn="l"/>
            <a:r>
              <a:rPr sz="760" b="0" i="0">
                <a:solidFill>
                  <a:srgbClr val="9AA9B8"/>
                </a:solidFill>
                <a:latin typeface="Aptos"/>
              </a:rPr>
              <a:t>Worker moves</a:t>
            </a:r>
          </a:p>
        </p:txBody>
      </p:sp>
      <p:sp>
        <p:nvSpPr>
          <p:cNvPr id="62" name="Rectangle 61"/>
          <p:cNvSpPr/>
          <p:nvPr/>
        </p:nvSpPr>
        <p:spPr>
          <a:xfrm>
            <a:off x="6976872" y="3090672"/>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04888" y="3209544"/>
            <a:ext cx="1664208" cy="301751"/>
          </a:xfrm>
          <a:prstGeom prst="rect">
            <a:avLst/>
          </a:prstGeom>
          <a:noFill/>
        </p:spPr>
        <p:txBody>
          <a:bodyPr wrap="square" lIns="0" rIns="0" tIns="0" bIns="0" anchor="t">
            <a:spAutoFit/>
          </a:bodyPr>
          <a:lstStyle/>
          <a:p>
            <a:pPr algn="l"/>
            <a:r>
              <a:rPr sz="760" b="0" i="0">
                <a:solidFill>
                  <a:srgbClr val="9AA9B8"/>
                </a:solidFill>
                <a:latin typeface="Aptos"/>
              </a:rPr>
              <a:t>Fixed location</a:t>
            </a:r>
          </a:p>
        </p:txBody>
      </p:sp>
      <p:sp>
        <p:nvSpPr>
          <p:cNvPr id="64" name="Rectangle 63"/>
          <p:cNvSpPr/>
          <p:nvPr/>
        </p:nvSpPr>
        <p:spPr>
          <a:xfrm>
            <a:off x="8897112" y="3090672"/>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5128" y="3209544"/>
            <a:ext cx="2368296" cy="301751"/>
          </a:xfrm>
          <a:prstGeom prst="rect">
            <a:avLst/>
          </a:prstGeom>
          <a:noFill/>
        </p:spPr>
        <p:txBody>
          <a:bodyPr wrap="square" lIns="0" rIns="0" tIns="0" bIns="0" anchor="t">
            <a:spAutoFit/>
          </a:bodyPr>
          <a:lstStyle/>
          <a:p>
            <a:pPr algn="l"/>
            <a:r>
              <a:rPr sz="760" b="1" i="0">
                <a:solidFill>
                  <a:srgbClr val="48E0D2"/>
                </a:solidFill>
                <a:latin typeface="Aptos"/>
              </a:rPr>
              <a:t>Robot moves on route</a:t>
            </a:r>
          </a:p>
        </p:txBody>
      </p:sp>
      <p:cxnSp>
        <p:nvCxnSpPr>
          <p:cNvPr id="66" name="Connector 65"/>
          <p:cNvCxnSpPr/>
          <p:nvPr/>
        </p:nvCxnSpPr>
        <p:spPr>
          <a:xfrm>
            <a:off x="8915400" y="3136391"/>
            <a:ext cx="0" cy="292609"/>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2907792" y="3529584"/>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035808" y="3648456"/>
            <a:ext cx="1892808" cy="301751"/>
          </a:xfrm>
          <a:prstGeom prst="rect">
            <a:avLst/>
          </a:prstGeom>
          <a:noFill/>
        </p:spPr>
        <p:txBody>
          <a:bodyPr wrap="square" lIns="0" rIns="0" tIns="0" bIns="0" anchor="t">
            <a:spAutoFit/>
          </a:bodyPr>
          <a:lstStyle/>
          <a:p>
            <a:pPr algn="l"/>
            <a:r>
              <a:rPr sz="760" b="1" i="0">
                <a:solidFill>
                  <a:srgbClr val="F4F7FA"/>
                </a:solidFill>
                <a:latin typeface="Aptos"/>
              </a:rPr>
              <a:t>Noise filtering</a:t>
            </a:r>
          </a:p>
        </p:txBody>
      </p:sp>
      <p:sp>
        <p:nvSpPr>
          <p:cNvPr id="69" name="Rectangle 68"/>
          <p:cNvSpPr/>
          <p:nvPr/>
        </p:nvSpPr>
        <p:spPr>
          <a:xfrm>
            <a:off x="5056632" y="3529584"/>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84648" y="3648456"/>
            <a:ext cx="1664208" cy="301751"/>
          </a:xfrm>
          <a:prstGeom prst="rect">
            <a:avLst/>
          </a:prstGeom>
          <a:noFill/>
        </p:spPr>
        <p:txBody>
          <a:bodyPr wrap="square" lIns="0" rIns="0" tIns="0" bIns="0" anchor="t">
            <a:spAutoFit/>
          </a:bodyPr>
          <a:lstStyle/>
          <a:p>
            <a:pPr algn="l"/>
            <a:r>
              <a:rPr sz="760" b="0" i="0">
                <a:solidFill>
                  <a:srgbClr val="9AA9B8"/>
                </a:solidFill>
                <a:latin typeface="Aptos"/>
              </a:rPr>
              <a:t>Operator judgment</a:t>
            </a:r>
          </a:p>
        </p:txBody>
      </p:sp>
      <p:sp>
        <p:nvSpPr>
          <p:cNvPr id="71" name="Rectangle 70"/>
          <p:cNvSpPr/>
          <p:nvPr/>
        </p:nvSpPr>
        <p:spPr>
          <a:xfrm>
            <a:off x="6976872" y="3529584"/>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104888" y="3648456"/>
            <a:ext cx="1664208" cy="301751"/>
          </a:xfrm>
          <a:prstGeom prst="rect">
            <a:avLst/>
          </a:prstGeom>
          <a:noFill/>
        </p:spPr>
        <p:txBody>
          <a:bodyPr wrap="square" lIns="0" rIns="0" tIns="0" bIns="0" anchor="t">
            <a:spAutoFit/>
          </a:bodyPr>
          <a:lstStyle/>
          <a:p>
            <a:pPr algn="l"/>
            <a:r>
              <a:rPr sz="760" b="0" i="0">
                <a:solidFill>
                  <a:srgbClr val="9AA9B8"/>
                </a:solidFill>
                <a:latin typeface="Aptos"/>
              </a:rPr>
              <a:t>Local thresholding</a:t>
            </a:r>
          </a:p>
        </p:txBody>
      </p:sp>
      <p:sp>
        <p:nvSpPr>
          <p:cNvPr id="73" name="Rectangle 72"/>
          <p:cNvSpPr/>
          <p:nvPr/>
        </p:nvSpPr>
        <p:spPr>
          <a:xfrm>
            <a:off x="8897112" y="3529584"/>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5128" y="3648456"/>
            <a:ext cx="2368296" cy="301751"/>
          </a:xfrm>
          <a:prstGeom prst="rect">
            <a:avLst/>
          </a:prstGeom>
          <a:noFill/>
        </p:spPr>
        <p:txBody>
          <a:bodyPr wrap="square" lIns="0" rIns="0" tIns="0" bIns="0" anchor="t">
            <a:spAutoFit/>
          </a:bodyPr>
          <a:lstStyle/>
          <a:p>
            <a:pPr algn="l"/>
            <a:r>
              <a:rPr sz="760" b="1" i="0">
                <a:solidFill>
                  <a:srgbClr val="48E0D2"/>
                </a:solidFill>
                <a:latin typeface="Aptos"/>
              </a:rPr>
              <a:t>Edge AI classifier</a:t>
            </a:r>
          </a:p>
        </p:txBody>
      </p:sp>
      <p:cxnSp>
        <p:nvCxnSpPr>
          <p:cNvPr id="75" name="Connector 74"/>
          <p:cNvCxnSpPr/>
          <p:nvPr/>
        </p:nvCxnSpPr>
        <p:spPr>
          <a:xfrm>
            <a:off x="8915400" y="3575303"/>
            <a:ext cx="0" cy="292608"/>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2907792" y="3968496"/>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035808" y="4087368"/>
            <a:ext cx="1892808" cy="301751"/>
          </a:xfrm>
          <a:prstGeom prst="rect">
            <a:avLst/>
          </a:prstGeom>
          <a:noFill/>
        </p:spPr>
        <p:txBody>
          <a:bodyPr wrap="square" lIns="0" rIns="0" tIns="0" bIns="0" anchor="t">
            <a:spAutoFit/>
          </a:bodyPr>
          <a:lstStyle/>
          <a:p>
            <a:pPr algn="l"/>
            <a:r>
              <a:rPr sz="760" b="1" i="0">
                <a:solidFill>
                  <a:srgbClr val="F4F7FA"/>
                </a:solidFill>
                <a:latin typeface="Aptos"/>
              </a:rPr>
              <a:t>Localization</a:t>
            </a:r>
          </a:p>
        </p:txBody>
      </p:sp>
      <p:sp>
        <p:nvSpPr>
          <p:cNvPr id="78" name="Rectangle 77"/>
          <p:cNvSpPr/>
          <p:nvPr/>
        </p:nvSpPr>
        <p:spPr>
          <a:xfrm>
            <a:off x="5056632" y="3968496"/>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84648" y="4087368"/>
            <a:ext cx="1664208" cy="301751"/>
          </a:xfrm>
          <a:prstGeom prst="rect">
            <a:avLst/>
          </a:prstGeom>
          <a:noFill/>
        </p:spPr>
        <p:txBody>
          <a:bodyPr wrap="square" lIns="0" rIns="0" tIns="0" bIns="0" anchor="t">
            <a:spAutoFit/>
          </a:bodyPr>
          <a:lstStyle/>
          <a:p>
            <a:pPr algn="l"/>
            <a:r>
              <a:rPr sz="760" b="0" i="0">
                <a:solidFill>
                  <a:srgbClr val="9AA9B8"/>
                </a:solidFill>
                <a:latin typeface="Aptos"/>
              </a:rPr>
              <a:t>Manual notes</a:t>
            </a:r>
          </a:p>
        </p:txBody>
      </p:sp>
      <p:sp>
        <p:nvSpPr>
          <p:cNvPr id="80" name="Rectangle 79"/>
          <p:cNvSpPr/>
          <p:nvPr/>
        </p:nvSpPr>
        <p:spPr>
          <a:xfrm>
            <a:off x="6976872" y="3968496"/>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104888" y="4087368"/>
            <a:ext cx="1664208" cy="301751"/>
          </a:xfrm>
          <a:prstGeom prst="rect">
            <a:avLst/>
          </a:prstGeom>
          <a:noFill/>
        </p:spPr>
        <p:txBody>
          <a:bodyPr wrap="square" lIns="0" rIns="0" tIns="0" bIns="0" anchor="t">
            <a:spAutoFit/>
          </a:bodyPr>
          <a:lstStyle/>
          <a:p>
            <a:pPr algn="l"/>
            <a:r>
              <a:rPr sz="760" b="0" i="0">
                <a:solidFill>
                  <a:srgbClr val="9AA9B8"/>
                </a:solidFill>
                <a:latin typeface="Aptos"/>
              </a:rPr>
              <a:t>Known node</a:t>
            </a:r>
          </a:p>
        </p:txBody>
      </p:sp>
      <p:sp>
        <p:nvSpPr>
          <p:cNvPr id="82" name="Rectangle 81"/>
          <p:cNvSpPr/>
          <p:nvPr/>
        </p:nvSpPr>
        <p:spPr>
          <a:xfrm>
            <a:off x="8897112" y="3968496"/>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025128" y="4087368"/>
            <a:ext cx="2368296" cy="301751"/>
          </a:xfrm>
          <a:prstGeom prst="rect">
            <a:avLst/>
          </a:prstGeom>
          <a:noFill/>
        </p:spPr>
        <p:txBody>
          <a:bodyPr wrap="square" lIns="0" rIns="0" tIns="0" bIns="0" anchor="t">
            <a:spAutoFit/>
          </a:bodyPr>
          <a:lstStyle/>
          <a:p>
            <a:pPr algn="l"/>
            <a:r>
              <a:rPr sz="760" b="1" i="0">
                <a:solidFill>
                  <a:srgbClr val="48E0D2"/>
                </a:solidFill>
                <a:latin typeface="Aptos"/>
              </a:rPr>
              <a:t>Route + distance + section</a:t>
            </a:r>
          </a:p>
        </p:txBody>
      </p:sp>
      <p:cxnSp>
        <p:nvCxnSpPr>
          <p:cNvPr id="84" name="Connector 83"/>
          <p:cNvCxnSpPr/>
          <p:nvPr/>
        </p:nvCxnSpPr>
        <p:spPr>
          <a:xfrm>
            <a:off x="8915400" y="4014215"/>
            <a:ext cx="0" cy="292609"/>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2907792" y="4407408"/>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35808" y="4526280"/>
            <a:ext cx="1892808" cy="301751"/>
          </a:xfrm>
          <a:prstGeom prst="rect">
            <a:avLst/>
          </a:prstGeom>
          <a:noFill/>
        </p:spPr>
        <p:txBody>
          <a:bodyPr wrap="square" lIns="0" rIns="0" tIns="0" bIns="0" anchor="t">
            <a:spAutoFit/>
          </a:bodyPr>
          <a:lstStyle/>
          <a:p>
            <a:pPr algn="l"/>
            <a:r>
              <a:rPr sz="760" b="1" i="0">
                <a:solidFill>
                  <a:srgbClr val="F4F7FA"/>
                </a:solidFill>
                <a:latin typeface="Aptos"/>
              </a:rPr>
              <a:t>Sensing model</a:t>
            </a:r>
          </a:p>
        </p:txBody>
      </p:sp>
      <p:sp>
        <p:nvSpPr>
          <p:cNvPr id="87" name="Rectangle 86"/>
          <p:cNvSpPr/>
          <p:nvPr/>
        </p:nvSpPr>
        <p:spPr>
          <a:xfrm>
            <a:off x="5056632" y="4407408"/>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184648" y="4526280"/>
            <a:ext cx="1664208" cy="301751"/>
          </a:xfrm>
          <a:prstGeom prst="rect">
            <a:avLst/>
          </a:prstGeom>
          <a:noFill/>
        </p:spPr>
        <p:txBody>
          <a:bodyPr wrap="square" lIns="0" rIns="0" tIns="0" bIns="0" anchor="t">
            <a:spAutoFit/>
          </a:bodyPr>
          <a:lstStyle/>
          <a:p>
            <a:pPr algn="l"/>
            <a:r>
              <a:rPr sz="760" b="0" i="0">
                <a:solidFill>
                  <a:srgbClr val="9AA9B8"/>
                </a:solidFill>
                <a:latin typeface="Aptos"/>
              </a:rPr>
              <a:t>Point snapshot</a:t>
            </a:r>
          </a:p>
        </p:txBody>
      </p:sp>
      <p:sp>
        <p:nvSpPr>
          <p:cNvPr id="89" name="Rectangle 88"/>
          <p:cNvSpPr/>
          <p:nvPr/>
        </p:nvSpPr>
        <p:spPr>
          <a:xfrm>
            <a:off x="6976872" y="4407408"/>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104888" y="4526280"/>
            <a:ext cx="1664208" cy="301751"/>
          </a:xfrm>
          <a:prstGeom prst="rect">
            <a:avLst/>
          </a:prstGeom>
          <a:noFill/>
        </p:spPr>
        <p:txBody>
          <a:bodyPr wrap="square" lIns="0" rIns="0" tIns="0" bIns="0" anchor="t">
            <a:spAutoFit/>
          </a:bodyPr>
          <a:lstStyle/>
          <a:p>
            <a:pPr algn="l"/>
            <a:r>
              <a:rPr sz="760" b="0" i="0">
                <a:solidFill>
                  <a:srgbClr val="9AA9B8"/>
                </a:solidFill>
                <a:latin typeface="Aptos"/>
              </a:rPr>
              <a:t>Point sensing</a:t>
            </a:r>
          </a:p>
        </p:txBody>
      </p:sp>
      <p:sp>
        <p:nvSpPr>
          <p:cNvPr id="91" name="Rectangle 90"/>
          <p:cNvSpPr/>
          <p:nvPr/>
        </p:nvSpPr>
        <p:spPr>
          <a:xfrm>
            <a:off x="8897112" y="4407408"/>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025128" y="4526280"/>
            <a:ext cx="2368296" cy="301751"/>
          </a:xfrm>
          <a:prstGeom prst="rect">
            <a:avLst/>
          </a:prstGeom>
          <a:noFill/>
        </p:spPr>
        <p:txBody>
          <a:bodyPr wrap="square" lIns="0" rIns="0" tIns="0" bIns="0" anchor="t">
            <a:spAutoFit/>
          </a:bodyPr>
          <a:lstStyle/>
          <a:p>
            <a:pPr algn="l"/>
            <a:r>
              <a:rPr sz="760" b="1" i="0">
                <a:solidFill>
                  <a:srgbClr val="48E0D2"/>
                </a:solidFill>
                <a:latin typeface="Aptos"/>
              </a:rPr>
              <a:t>Continuous sensing during patrol</a:t>
            </a:r>
          </a:p>
        </p:txBody>
      </p:sp>
      <p:cxnSp>
        <p:nvCxnSpPr>
          <p:cNvPr id="93" name="Connector 92"/>
          <p:cNvCxnSpPr/>
          <p:nvPr/>
        </p:nvCxnSpPr>
        <p:spPr>
          <a:xfrm>
            <a:off x="8915400" y="4453128"/>
            <a:ext cx="0" cy="292608"/>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2907792" y="4846320"/>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3035808" y="4965192"/>
            <a:ext cx="1892808" cy="301751"/>
          </a:xfrm>
          <a:prstGeom prst="rect">
            <a:avLst/>
          </a:prstGeom>
          <a:noFill/>
        </p:spPr>
        <p:txBody>
          <a:bodyPr wrap="square" lIns="0" rIns="0" tIns="0" bIns="0" anchor="t">
            <a:spAutoFit/>
          </a:bodyPr>
          <a:lstStyle/>
          <a:p>
            <a:pPr algn="l"/>
            <a:r>
              <a:rPr sz="760" b="1" i="0">
                <a:solidFill>
                  <a:srgbClr val="F4F7FA"/>
                </a:solidFill>
                <a:latin typeface="Aptos"/>
              </a:rPr>
              <a:t>Maintenance priority</a:t>
            </a:r>
          </a:p>
        </p:txBody>
      </p:sp>
      <p:sp>
        <p:nvSpPr>
          <p:cNvPr id="96" name="Rectangle 95"/>
          <p:cNvSpPr/>
          <p:nvPr/>
        </p:nvSpPr>
        <p:spPr>
          <a:xfrm>
            <a:off x="5056632" y="4846320"/>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184648" y="4965192"/>
            <a:ext cx="1664208" cy="301751"/>
          </a:xfrm>
          <a:prstGeom prst="rect">
            <a:avLst/>
          </a:prstGeom>
          <a:noFill/>
        </p:spPr>
        <p:txBody>
          <a:bodyPr wrap="square" lIns="0" rIns="0" tIns="0" bIns="0" anchor="t">
            <a:spAutoFit/>
          </a:bodyPr>
          <a:lstStyle/>
          <a:p>
            <a:pPr algn="l"/>
            <a:r>
              <a:rPr sz="760" b="0" i="0">
                <a:solidFill>
                  <a:srgbClr val="9AA9B8"/>
                </a:solidFill>
                <a:latin typeface="Aptos"/>
              </a:rPr>
              <a:t>After review</a:t>
            </a:r>
          </a:p>
        </p:txBody>
      </p:sp>
      <p:sp>
        <p:nvSpPr>
          <p:cNvPr id="98" name="Rectangle 97"/>
          <p:cNvSpPr/>
          <p:nvPr/>
        </p:nvSpPr>
        <p:spPr>
          <a:xfrm>
            <a:off x="6976872" y="4846320"/>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104888" y="4965192"/>
            <a:ext cx="1664208" cy="301751"/>
          </a:xfrm>
          <a:prstGeom prst="rect">
            <a:avLst/>
          </a:prstGeom>
          <a:noFill/>
        </p:spPr>
        <p:txBody>
          <a:bodyPr wrap="square" lIns="0" rIns="0" tIns="0" bIns="0" anchor="t">
            <a:spAutoFit/>
          </a:bodyPr>
          <a:lstStyle/>
          <a:p>
            <a:pPr algn="l"/>
            <a:r>
              <a:rPr sz="760" b="0" i="0">
                <a:solidFill>
                  <a:srgbClr val="9AA9B8"/>
                </a:solidFill>
                <a:latin typeface="Aptos"/>
              </a:rPr>
              <a:t>Alert at node</a:t>
            </a:r>
          </a:p>
        </p:txBody>
      </p:sp>
      <p:sp>
        <p:nvSpPr>
          <p:cNvPr id="100" name="Rectangle 99"/>
          <p:cNvSpPr/>
          <p:nvPr/>
        </p:nvSpPr>
        <p:spPr>
          <a:xfrm>
            <a:off x="8897112" y="4846320"/>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025128" y="4965192"/>
            <a:ext cx="2368296" cy="301751"/>
          </a:xfrm>
          <a:prstGeom prst="rect">
            <a:avLst/>
          </a:prstGeom>
          <a:noFill/>
        </p:spPr>
        <p:txBody>
          <a:bodyPr wrap="square" lIns="0" rIns="0" tIns="0" bIns="0" anchor="t">
            <a:spAutoFit/>
          </a:bodyPr>
          <a:lstStyle/>
          <a:p>
            <a:pPr algn="l"/>
            <a:r>
              <a:rPr sz="760" b="1" i="0">
                <a:solidFill>
                  <a:srgbClr val="48E0D2"/>
                </a:solidFill>
                <a:latin typeface="Aptos"/>
              </a:rPr>
              <a:t>Confidence + basic priority</a:t>
            </a:r>
          </a:p>
        </p:txBody>
      </p:sp>
      <p:cxnSp>
        <p:nvCxnSpPr>
          <p:cNvPr id="102" name="Connector 101"/>
          <p:cNvCxnSpPr/>
          <p:nvPr/>
        </p:nvCxnSpPr>
        <p:spPr>
          <a:xfrm>
            <a:off x="8915400" y="4892040"/>
            <a:ext cx="0" cy="292607"/>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103" name="Rectangle 102"/>
          <p:cNvSpPr/>
          <p:nvPr/>
        </p:nvSpPr>
        <p:spPr>
          <a:xfrm>
            <a:off x="2907792" y="5285231"/>
            <a:ext cx="21488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035808" y="5404103"/>
            <a:ext cx="1892808" cy="301751"/>
          </a:xfrm>
          <a:prstGeom prst="rect">
            <a:avLst/>
          </a:prstGeom>
          <a:noFill/>
        </p:spPr>
        <p:txBody>
          <a:bodyPr wrap="square" lIns="0" rIns="0" tIns="0" bIns="0" anchor="t">
            <a:spAutoFit/>
          </a:bodyPr>
          <a:lstStyle/>
          <a:p>
            <a:pPr algn="l"/>
            <a:r>
              <a:rPr sz="760" b="1" i="0">
                <a:solidFill>
                  <a:srgbClr val="F4F7FA"/>
                </a:solidFill>
                <a:latin typeface="Aptos"/>
              </a:rPr>
              <a:t>Scalability</a:t>
            </a:r>
          </a:p>
        </p:txBody>
      </p:sp>
      <p:sp>
        <p:nvSpPr>
          <p:cNvPr id="105" name="Rectangle 104"/>
          <p:cNvSpPr/>
          <p:nvPr/>
        </p:nvSpPr>
        <p:spPr>
          <a:xfrm>
            <a:off x="5056632" y="5285231"/>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184648" y="5404103"/>
            <a:ext cx="1664208" cy="301751"/>
          </a:xfrm>
          <a:prstGeom prst="rect">
            <a:avLst/>
          </a:prstGeom>
          <a:noFill/>
        </p:spPr>
        <p:txBody>
          <a:bodyPr wrap="square" lIns="0" rIns="0" tIns="0" bIns="0" anchor="t">
            <a:spAutoFit/>
          </a:bodyPr>
          <a:lstStyle/>
          <a:p>
            <a:pPr algn="l"/>
            <a:r>
              <a:rPr sz="760" b="0" i="0">
                <a:solidFill>
                  <a:srgbClr val="9AA9B8"/>
                </a:solidFill>
                <a:latin typeface="Aptos"/>
              </a:rPr>
              <a:t>Labor-limited</a:t>
            </a:r>
          </a:p>
        </p:txBody>
      </p:sp>
      <p:sp>
        <p:nvSpPr>
          <p:cNvPr id="107" name="Rectangle 106"/>
          <p:cNvSpPr/>
          <p:nvPr/>
        </p:nvSpPr>
        <p:spPr>
          <a:xfrm>
            <a:off x="6976872" y="5285231"/>
            <a:ext cx="1920240" cy="393192"/>
          </a:xfrm>
          <a:prstGeom prst="rect">
            <a:avLst/>
          </a:prstGeom>
          <a:solidFill>
            <a:srgbClr val="172330"/>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104888" y="5404103"/>
            <a:ext cx="1664208" cy="301751"/>
          </a:xfrm>
          <a:prstGeom prst="rect">
            <a:avLst/>
          </a:prstGeom>
          <a:noFill/>
        </p:spPr>
        <p:txBody>
          <a:bodyPr wrap="square" lIns="0" rIns="0" tIns="0" bIns="0" anchor="t">
            <a:spAutoFit/>
          </a:bodyPr>
          <a:lstStyle/>
          <a:p>
            <a:pPr algn="l"/>
            <a:r>
              <a:rPr sz="760" b="0" i="0">
                <a:solidFill>
                  <a:srgbClr val="9AA9B8"/>
                </a:solidFill>
                <a:latin typeface="Aptos"/>
              </a:rPr>
              <a:t>Wiring / install-limited</a:t>
            </a:r>
          </a:p>
        </p:txBody>
      </p:sp>
      <p:sp>
        <p:nvSpPr>
          <p:cNvPr id="109" name="Rectangle 108"/>
          <p:cNvSpPr/>
          <p:nvPr/>
        </p:nvSpPr>
        <p:spPr>
          <a:xfrm>
            <a:off x="8897112" y="5285231"/>
            <a:ext cx="2624328" cy="393192"/>
          </a:xfrm>
          <a:prstGeom prst="rect">
            <a:avLst/>
          </a:prstGeom>
          <a:solidFill>
            <a:srgbClr val="101E28"/>
          </a:solidFill>
          <a:ln w="571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025128" y="5404103"/>
            <a:ext cx="2368296" cy="301751"/>
          </a:xfrm>
          <a:prstGeom prst="rect">
            <a:avLst/>
          </a:prstGeom>
          <a:noFill/>
        </p:spPr>
        <p:txBody>
          <a:bodyPr wrap="square" lIns="0" rIns="0" tIns="0" bIns="0" anchor="t">
            <a:spAutoFit/>
          </a:bodyPr>
          <a:lstStyle/>
          <a:p>
            <a:pPr algn="l"/>
            <a:r>
              <a:rPr sz="760" b="1" i="0">
                <a:solidFill>
                  <a:srgbClr val="48E0D2"/>
                </a:solidFill>
                <a:latin typeface="Aptos"/>
              </a:rPr>
              <a:t>Routes + fleet over time</a:t>
            </a:r>
          </a:p>
        </p:txBody>
      </p:sp>
      <p:cxnSp>
        <p:nvCxnSpPr>
          <p:cNvPr id="111" name="Connector 110"/>
          <p:cNvCxnSpPr/>
          <p:nvPr/>
        </p:nvCxnSpPr>
        <p:spPr>
          <a:xfrm>
            <a:off x="8915400" y="5330951"/>
            <a:ext cx="0" cy="292608"/>
          </a:xfrm>
          <a:prstGeom prst="line">
            <a:avLst/>
          </a:prstGeom>
          <a:ln w="25400">
            <a:solidFill>
              <a:srgbClr val="48E0D2"/>
            </a:solidFill>
          </a:ln>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2907792" y="5779008"/>
            <a:ext cx="8613648" cy="246888"/>
          </a:xfrm>
          <a:prstGeom prst="roundRect">
            <a:avLst/>
          </a:prstGeom>
          <a:solidFill>
            <a:srgbClr val="211B2A"/>
          </a:solidFill>
          <a:ln w="762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072384" y="5833872"/>
            <a:ext cx="8266175" cy="128016"/>
          </a:xfrm>
          <a:prstGeom prst="rect">
            <a:avLst/>
          </a:prstGeom>
          <a:noFill/>
        </p:spPr>
        <p:txBody>
          <a:bodyPr wrap="square" lIns="0" rIns="0" tIns="0" bIns="0" anchor="t">
            <a:spAutoFit/>
          </a:bodyPr>
          <a:lstStyle/>
          <a:p>
            <a:pPr algn="ctr"/>
            <a:r>
              <a:rPr sz="740" b="1" i="0">
                <a:solidFill>
                  <a:srgbClr val="B796FF"/>
                </a:solidFill>
                <a:latin typeface="Aptos"/>
              </a:rPr>
              <a:t>Boundary: periodic autonomous patrol — not continuous monitoring of every pipeline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7FE0A4"/>
                </a:solidFill>
                <a:latin typeface="Aptos"/>
              </a:rPr>
              <a:t>09  /  MVP + FEASIBILITY</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10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Smallest working system. Strongest proof.</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The hackathon demo proves the core loop on a controlled route — and makes the future boundary explicit.</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499616"/>
            <a:ext cx="5623560" cy="4535424"/>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9536" y="1746504"/>
            <a:ext cx="960120" cy="246888"/>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1751075"/>
            <a:ext cx="960120" cy="228600"/>
          </a:xfrm>
          <a:prstGeom prst="rect">
            <a:avLst/>
          </a:prstGeom>
          <a:noFill/>
        </p:spPr>
        <p:txBody>
          <a:bodyPr wrap="square" lIns="9144" rIns="9144" tIns="9144" bIns="9144" anchor="ctr">
            <a:spAutoFit/>
          </a:bodyPr>
          <a:lstStyle/>
          <a:p>
            <a:pPr algn="ctr"/>
            <a:r>
              <a:rPr sz="690" b="1" i="0">
                <a:solidFill>
                  <a:srgbClr val="7FE0A4"/>
                </a:solidFill>
                <a:latin typeface="Aptos"/>
              </a:rPr>
              <a:t>HACKATHON MVP</a:t>
            </a:r>
          </a:p>
        </p:txBody>
      </p:sp>
      <p:sp>
        <p:nvSpPr>
          <p:cNvPr id="20" name="TextBox 19"/>
          <p:cNvSpPr txBox="1"/>
          <p:nvPr/>
        </p:nvSpPr>
        <p:spPr>
          <a:xfrm>
            <a:off x="859536" y="2139696"/>
            <a:ext cx="4114800" cy="274320"/>
          </a:xfrm>
          <a:prstGeom prst="rect">
            <a:avLst/>
          </a:prstGeom>
          <a:noFill/>
        </p:spPr>
        <p:txBody>
          <a:bodyPr wrap="square" lIns="0" rIns="0" tIns="0" bIns="0" anchor="t">
            <a:spAutoFit/>
          </a:bodyPr>
          <a:lstStyle/>
          <a:p>
            <a:pPr algn="l"/>
            <a:r>
              <a:rPr sz="1500" b="1" i="0">
                <a:solidFill>
                  <a:srgbClr val="F4F7FA"/>
                </a:solidFill>
                <a:latin typeface="Aptos Display"/>
              </a:rPr>
              <a:t>What we will demonstrate</a:t>
            </a:r>
          </a:p>
        </p:txBody>
      </p:sp>
      <p:sp>
        <p:nvSpPr>
          <p:cNvPr id="21" name="Oval 20"/>
          <p:cNvSpPr/>
          <p:nvPr/>
        </p:nvSpPr>
        <p:spPr>
          <a:xfrm>
            <a:off x="877824" y="2670048"/>
            <a:ext cx="274320" cy="274320"/>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2697479"/>
            <a:ext cx="274320" cy="210312"/>
          </a:xfrm>
          <a:prstGeom prst="rect">
            <a:avLst/>
          </a:prstGeom>
          <a:noFill/>
        </p:spPr>
        <p:txBody>
          <a:bodyPr wrap="square" lIns="0" rIns="0" tIns="0" bIns="0" anchor="t">
            <a:spAutoFit/>
          </a:bodyPr>
          <a:lstStyle/>
          <a:p>
            <a:pPr algn="ctr"/>
            <a:r>
              <a:rPr sz="700" b="1" i="0">
                <a:solidFill>
                  <a:srgbClr val="0A0F15"/>
                </a:solidFill>
                <a:latin typeface="Aptos"/>
              </a:rPr>
              <a:t>01</a:t>
            </a:r>
          </a:p>
        </p:txBody>
      </p:sp>
      <p:sp>
        <p:nvSpPr>
          <p:cNvPr id="23" name="TextBox 22"/>
          <p:cNvSpPr txBox="1"/>
          <p:nvPr/>
        </p:nvSpPr>
        <p:spPr>
          <a:xfrm>
            <a:off x="1316736" y="2697479"/>
            <a:ext cx="4343400" cy="210312"/>
          </a:xfrm>
          <a:prstGeom prst="rect">
            <a:avLst/>
          </a:prstGeom>
          <a:noFill/>
        </p:spPr>
        <p:txBody>
          <a:bodyPr wrap="square" lIns="0" rIns="0" tIns="0" bIns="0" anchor="t">
            <a:spAutoFit/>
          </a:bodyPr>
          <a:lstStyle/>
          <a:p>
            <a:pPr algn="l"/>
            <a:r>
              <a:rPr sz="930" b="1" i="0">
                <a:solidFill>
                  <a:srgbClr val="F4F7FA"/>
                </a:solidFill>
                <a:latin typeface="Aptos"/>
              </a:rPr>
              <a:t>Line-following robot + controlled pipeline route</a:t>
            </a:r>
          </a:p>
        </p:txBody>
      </p:sp>
      <p:cxnSp>
        <p:nvCxnSpPr>
          <p:cNvPr id="24" name="Connector 23"/>
          <p:cNvCxnSpPr/>
          <p:nvPr/>
        </p:nvCxnSpPr>
        <p:spPr>
          <a:xfrm>
            <a:off x="1316736" y="3026664"/>
            <a:ext cx="4489704"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77824" y="3154680"/>
            <a:ext cx="274320" cy="274320"/>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3182112"/>
            <a:ext cx="274320" cy="210312"/>
          </a:xfrm>
          <a:prstGeom prst="rect">
            <a:avLst/>
          </a:prstGeom>
          <a:noFill/>
        </p:spPr>
        <p:txBody>
          <a:bodyPr wrap="square" lIns="0" rIns="0" tIns="0" bIns="0" anchor="t">
            <a:spAutoFit/>
          </a:bodyPr>
          <a:lstStyle/>
          <a:p>
            <a:pPr algn="ctr"/>
            <a:r>
              <a:rPr sz="700" b="1" i="0">
                <a:solidFill>
                  <a:srgbClr val="0A0F15"/>
                </a:solidFill>
                <a:latin typeface="Aptos"/>
              </a:rPr>
              <a:t>02</a:t>
            </a:r>
          </a:p>
        </p:txBody>
      </p:sp>
      <p:sp>
        <p:nvSpPr>
          <p:cNvPr id="27" name="TextBox 26"/>
          <p:cNvSpPr txBox="1"/>
          <p:nvPr/>
        </p:nvSpPr>
        <p:spPr>
          <a:xfrm>
            <a:off x="1316736" y="3182112"/>
            <a:ext cx="4343400" cy="210312"/>
          </a:xfrm>
          <a:prstGeom prst="rect">
            <a:avLst/>
          </a:prstGeom>
          <a:noFill/>
        </p:spPr>
        <p:txBody>
          <a:bodyPr wrap="square" lIns="0" rIns="0" tIns="0" bIns="0" anchor="t">
            <a:spAutoFit/>
          </a:bodyPr>
          <a:lstStyle/>
          <a:p>
            <a:pPr algn="l"/>
            <a:r>
              <a:rPr sz="930" b="1" i="0">
                <a:solidFill>
                  <a:srgbClr val="F4F7FA"/>
                </a:solidFill>
                <a:latin typeface="Aptos"/>
              </a:rPr>
              <a:t>Ultrasonic / acoustic sensing while moving</a:t>
            </a:r>
          </a:p>
        </p:txBody>
      </p:sp>
      <p:cxnSp>
        <p:nvCxnSpPr>
          <p:cNvPr id="28" name="Connector 27"/>
          <p:cNvCxnSpPr/>
          <p:nvPr/>
        </p:nvCxnSpPr>
        <p:spPr>
          <a:xfrm>
            <a:off x="1316736" y="3511296"/>
            <a:ext cx="4489704"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77824" y="3639312"/>
            <a:ext cx="274320" cy="274320"/>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 y="3666744"/>
            <a:ext cx="274320" cy="210312"/>
          </a:xfrm>
          <a:prstGeom prst="rect">
            <a:avLst/>
          </a:prstGeom>
          <a:noFill/>
        </p:spPr>
        <p:txBody>
          <a:bodyPr wrap="square" lIns="0" rIns="0" tIns="0" bIns="0" anchor="t">
            <a:spAutoFit/>
          </a:bodyPr>
          <a:lstStyle/>
          <a:p>
            <a:pPr algn="ctr"/>
            <a:r>
              <a:rPr sz="700" b="1" i="0">
                <a:solidFill>
                  <a:srgbClr val="0A0F15"/>
                </a:solidFill>
                <a:latin typeface="Aptos"/>
              </a:rPr>
              <a:t>03</a:t>
            </a:r>
          </a:p>
        </p:txBody>
      </p:sp>
      <p:sp>
        <p:nvSpPr>
          <p:cNvPr id="31" name="TextBox 30"/>
          <p:cNvSpPr txBox="1"/>
          <p:nvPr/>
        </p:nvSpPr>
        <p:spPr>
          <a:xfrm>
            <a:off x="1316736" y="3666744"/>
            <a:ext cx="4343400" cy="210312"/>
          </a:xfrm>
          <a:prstGeom prst="rect">
            <a:avLst/>
          </a:prstGeom>
          <a:noFill/>
        </p:spPr>
        <p:txBody>
          <a:bodyPr wrap="square" lIns="0" rIns="0" tIns="0" bIns="0" anchor="t">
            <a:spAutoFit/>
          </a:bodyPr>
          <a:lstStyle/>
          <a:p>
            <a:pPr algn="l"/>
            <a:r>
              <a:rPr sz="930" b="1" i="0">
                <a:solidFill>
                  <a:srgbClr val="F4F7FA"/>
                </a:solidFill>
                <a:latin typeface="Aptos"/>
              </a:rPr>
              <a:t>Leak / no-leak Edge AI classification</a:t>
            </a:r>
          </a:p>
        </p:txBody>
      </p:sp>
      <p:cxnSp>
        <p:nvCxnSpPr>
          <p:cNvPr id="32" name="Connector 31"/>
          <p:cNvCxnSpPr/>
          <p:nvPr/>
        </p:nvCxnSpPr>
        <p:spPr>
          <a:xfrm>
            <a:off x="1316736" y="3995928"/>
            <a:ext cx="4489704"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77824" y="4123944"/>
            <a:ext cx="274320" cy="274320"/>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4151376"/>
            <a:ext cx="274320" cy="210312"/>
          </a:xfrm>
          <a:prstGeom prst="rect">
            <a:avLst/>
          </a:prstGeom>
          <a:noFill/>
        </p:spPr>
        <p:txBody>
          <a:bodyPr wrap="square" lIns="0" rIns="0" tIns="0" bIns="0" anchor="t">
            <a:spAutoFit/>
          </a:bodyPr>
          <a:lstStyle/>
          <a:p>
            <a:pPr algn="ctr"/>
            <a:r>
              <a:rPr sz="700" b="1" i="0">
                <a:solidFill>
                  <a:srgbClr val="0A0F15"/>
                </a:solidFill>
                <a:latin typeface="Aptos"/>
              </a:rPr>
              <a:t>04</a:t>
            </a:r>
          </a:p>
        </p:txBody>
      </p:sp>
      <p:sp>
        <p:nvSpPr>
          <p:cNvPr id="35" name="TextBox 34"/>
          <p:cNvSpPr txBox="1"/>
          <p:nvPr/>
        </p:nvSpPr>
        <p:spPr>
          <a:xfrm>
            <a:off x="1316736" y="4151376"/>
            <a:ext cx="4343400" cy="210312"/>
          </a:xfrm>
          <a:prstGeom prst="rect">
            <a:avLst/>
          </a:prstGeom>
          <a:noFill/>
        </p:spPr>
        <p:txBody>
          <a:bodyPr wrap="square" lIns="0" rIns="0" tIns="0" bIns="0" anchor="t">
            <a:spAutoFit/>
          </a:bodyPr>
          <a:lstStyle/>
          <a:p>
            <a:pPr algn="l"/>
            <a:r>
              <a:rPr sz="930" b="1" i="0">
                <a:solidFill>
                  <a:srgbClr val="F4F7FA"/>
                </a:solidFill>
                <a:latin typeface="Aptos"/>
              </a:rPr>
              <a:t>Position estimate, confidence score, basic severity / priority</a:t>
            </a:r>
          </a:p>
        </p:txBody>
      </p:sp>
      <p:cxnSp>
        <p:nvCxnSpPr>
          <p:cNvPr id="36" name="Connector 35"/>
          <p:cNvCxnSpPr/>
          <p:nvPr/>
        </p:nvCxnSpPr>
        <p:spPr>
          <a:xfrm>
            <a:off x="1316736" y="4480559"/>
            <a:ext cx="4489704"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77824" y="4608576"/>
            <a:ext cx="274320" cy="274320"/>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 y="4636008"/>
            <a:ext cx="274320" cy="210312"/>
          </a:xfrm>
          <a:prstGeom prst="rect">
            <a:avLst/>
          </a:prstGeom>
          <a:noFill/>
        </p:spPr>
        <p:txBody>
          <a:bodyPr wrap="square" lIns="0" rIns="0" tIns="0" bIns="0" anchor="t">
            <a:spAutoFit/>
          </a:bodyPr>
          <a:lstStyle/>
          <a:p>
            <a:pPr algn="ctr"/>
            <a:r>
              <a:rPr sz="700" b="1" i="0">
                <a:solidFill>
                  <a:srgbClr val="0A0F15"/>
                </a:solidFill>
                <a:latin typeface="Aptos"/>
              </a:rPr>
              <a:t>05</a:t>
            </a:r>
          </a:p>
        </p:txBody>
      </p:sp>
      <p:sp>
        <p:nvSpPr>
          <p:cNvPr id="39" name="TextBox 38"/>
          <p:cNvSpPr txBox="1"/>
          <p:nvPr/>
        </p:nvSpPr>
        <p:spPr>
          <a:xfrm>
            <a:off x="1316736" y="4636008"/>
            <a:ext cx="4343400" cy="210312"/>
          </a:xfrm>
          <a:prstGeom prst="rect">
            <a:avLst/>
          </a:prstGeom>
          <a:noFill/>
        </p:spPr>
        <p:txBody>
          <a:bodyPr wrap="square" lIns="0" rIns="0" tIns="0" bIns="0" anchor="t">
            <a:spAutoFit/>
          </a:bodyPr>
          <a:lstStyle/>
          <a:p>
            <a:pPr algn="l"/>
            <a:r>
              <a:rPr sz="930" b="1" i="0">
                <a:solidFill>
                  <a:srgbClr val="F4F7FA"/>
                </a:solidFill>
                <a:latin typeface="Aptos"/>
              </a:rPr>
              <a:t>Dashboard record + alert generation</a:t>
            </a:r>
          </a:p>
        </p:txBody>
      </p:sp>
      <p:cxnSp>
        <p:nvCxnSpPr>
          <p:cNvPr id="40" name="Connector 39"/>
          <p:cNvCxnSpPr/>
          <p:nvPr/>
        </p:nvCxnSpPr>
        <p:spPr>
          <a:xfrm>
            <a:off x="1316736" y="4965192"/>
            <a:ext cx="4489704" cy="0"/>
          </a:xfrm>
          <a:prstGeom prst="line">
            <a:avLst/>
          </a:prstGeom>
          <a:ln w="6350">
            <a:solidFill>
              <a:srgbClr val="20313D"/>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59536" y="5303520"/>
            <a:ext cx="5074920" cy="438912"/>
          </a:xfrm>
          <a:prstGeom prst="roundRect">
            <a:avLst/>
          </a:prstGeom>
          <a:solidFill>
            <a:srgbClr val="14313A"/>
          </a:solidFill>
          <a:ln w="889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2415" y="5449824"/>
            <a:ext cx="1051560" cy="137160"/>
          </a:xfrm>
          <a:prstGeom prst="rect">
            <a:avLst/>
          </a:prstGeom>
          <a:noFill/>
        </p:spPr>
        <p:txBody>
          <a:bodyPr wrap="square" lIns="0" rIns="0" tIns="0" bIns="0" anchor="t">
            <a:spAutoFit/>
          </a:bodyPr>
          <a:lstStyle/>
          <a:p>
            <a:pPr algn="l"/>
            <a:r>
              <a:rPr sz="680" b="1" i="0">
                <a:solidFill>
                  <a:srgbClr val="48E0D2"/>
                </a:solidFill>
                <a:latin typeface="Aptos"/>
              </a:rPr>
              <a:t>PROOF POINT</a:t>
            </a:r>
          </a:p>
        </p:txBody>
      </p:sp>
      <p:sp>
        <p:nvSpPr>
          <p:cNvPr id="43" name="TextBox 42"/>
          <p:cNvSpPr txBox="1"/>
          <p:nvPr/>
        </p:nvSpPr>
        <p:spPr>
          <a:xfrm>
            <a:off x="2249424" y="5404104"/>
            <a:ext cx="3383280" cy="192024"/>
          </a:xfrm>
          <a:prstGeom prst="rect">
            <a:avLst/>
          </a:prstGeom>
          <a:noFill/>
        </p:spPr>
        <p:txBody>
          <a:bodyPr wrap="square" lIns="0" rIns="0" tIns="0" bIns="0" anchor="t">
            <a:spAutoFit/>
          </a:bodyPr>
          <a:lstStyle/>
          <a:p>
            <a:pPr algn="l"/>
            <a:r>
              <a:rPr sz="919" b="1" i="0">
                <a:solidFill>
                  <a:srgbClr val="F4F7FA"/>
                </a:solidFill>
                <a:latin typeface="Aptos"/>
              </a:rPr>
              <a:t>detect → locate → prioritize → alert</a:t>
            </a:r>
          </a:p>
        </p:txBody>
      </p:sp>
      <p:sp>
        <p:nvSpPr>
          <p:cNvPr id="44" name="Rounded Rectangle 43"/>
          <p:cNvSpPr/>
          <p:nvPr/>
        </p:nvSpPr>
        <p:spPr>
          <a:xfrm>
            <a:off x="6528816" y="1499616"/>
            <a:ext cx="4992624" cy="4535424"/>
          </a:xfrm>
          <a:prstGeom prst="roundRect">
            <a:avLst/>
          </a:prstGeom>
          <a:solidFill>
            <a:srgbClr val="172330"/>
          </a:solidFill>
          <a:ln w="1143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803136" y="1746504"/>
            <a:ext cx="932688" cy="246888"/>
          </a:xfrm>
          <a:prstGeom prst="roundRect">
            <a:avLst/>
          </a:prstGeom>
          <a:solidFill>
            <a:srgbClr val="211B2A"/>
          </a:solidFill>
          <a:ln w="889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03136" y="1751075"/>
            <a:ext cx="932688" cy="228600"/>
          </a:xfrm>
          <a:prstGeom prst="rect">
            <a:avLst/>
          </a:prstGeom>
          <a:noFill/>
        </p:spPr>
        <p:txBody>
          <a:bodyPr wrap="square" lIns="9144" rIns="9144" tIns="9144" bIns="9144" anchor="ctr">
            <a:spAutoFit/>
          </a:bodyPr>
          <a:lstStyle/>
          <a:p>
            <a:pPr algn="ctr"/>
            <a:r>
              <a:rPr sz="700" b="1" i="0">
                <a:solidFill>
                  <a:srgbClr val="B796FF"/>
                </a:solidFill>
                <a:latin typeface="Aptos"/>
              </a:rPr>
              <a:t>FUTURE</a:t>
            </a:r>
          </a:p>
        </p:txBody>
      </p:sp>
      <p:sp>
        <p:nvSpPr>
          <p:cNvPr id="47" name="TextBox 46"/>
          <p:cNvSpPr txBox="1"/>
          <p:nvPr/>
        </p:nvSpPr>
        <p:spPr>
          <a:xfrm>
            <a:off x="6803136" y="2139696"/>
            <a:ext cx="3840480" cy="274320"/>
          </a:xfrm>
          <a:prstGeom prst="rect">
            <a:avLst/>
          </a:prstGeom>
          <a:noFill/>
        </p:spPr>
        <p:txBody>
          <a:bodyPr wrap="square" lIns="0" rIns="0" tIns="0" bIns="0" anchor="t">
            <a:spAutoFit/>
          </a:bodyPr>
          <a:lstStyle/>
          <a:p>
            <a:pPr algn="l"/>
            <a:r>
              <a:rPr sz="1450" b="1" i="0">
                <a:solidFill>
                  <a:srgbClr val="F4F7FA"/>
                </a:solidFill>
                <a:latin typeface="Aptos Display"/>
              </a:rPr>
              <a:t>Enhancements, not MVP claims</a:t>
            </a:r>
          </a:p>
        </p:txBody>
      </p:sp>
      <p:sp>
        <p:nvSpPr>
          <p:cNvPr id="48" name="Rounded Rectangle 47"/>
          <p:cNvSpPr/>
          <p:nvPr/>
        </p:nvSpPr>
        <p:spPr>
          <a:xfrm>
            <a:off x="6803136" y="2670048"/>
            <a:ext cx="4443984" cy="347472"/>
          </a:xfrm>
          <a:prstGeom prst="roundRect">
            <a:avLst/>
          </a:prstGeom>
          <a:solidFill>
            <a:srgbClr val="111A24"/>
          </a:solidFill>
          <a:ln w="698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976872" y="2798064"/>
            <a:ext cx="73152" cy="73152"/>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68896" y="2752344"/>
            <a:ext cx="1737360" cy="155448"/>
          </a:xfrm>
          <a:prstGeom prst="rect">
            <a:avLst/>
          </a:prstGeom>
          <a:noFill/>
        </p:spPr>
        <p:txBody>
          <a:bodyPr wrap="square" lIns="0" rIns="0" tIns="0" bIns="0" anchor="t">
            <a:spAutoFit/>
          </a:bodyPr>
          <a:lstStyle/>
          <a:p>
            <a:pPr algn="l"/>
            <a:r>
              <a:rPr sz="690" b="1" i="0">
                <a:solidFill>
                  <a:srgbClr val="B796FF"/>
                </a:solidFill>
                <a:latin typeface="Aptos"/>
              </a:rPr>
              <a:t>SLAM / UWB</a:t>
            </a:r>
          </a:p>
        </p:txBody>
      </p:sp>
      <p:sp>
        <p:nvSpPr>
          <p:cNvPr id="51" name="TextBox 50"/>
          <p:cNvSpPr txBox="1"/>
          <p:nvPr/>
        </p:nvSpPr>
        <p:spPr>
          <a:xfrm>
            <a:off x="8997696" y="2752344"/>
            <a:ext cx="2029968" cy="155448"/>
          </a:xfrm>
          <a:prstGeom prst="rect">
            <a:avLst/>
          </a:prstGeom>
          <a:noFill/>
        </p:spPr>
        <p:txBody>
          <a:bodyPr wrap="square" lIns="0" rIns="0" tIns="0" bIns="0" anchor="t">
            <a:spAutoFit/>
          </a:bodyPr>
          <a:lstStyle/>
          <a:p>
            <a:pPr algn="l"/>
            <a:r>
              <a:rPr sz="720" b="0" i="0">
                <a:solidFill>
                  <a:srgbClr val="9AA9B8"/>
                </a:solidFill>
                <a:latin typeface="Aptos"/>
              </a:rPr>
              <a:t>refined localization</a:t>
            </a:r>
          </a:p>
        </p:txBody>
      </p:sp>
      <p:sp>
        <p:nvSpPr>
          <p:cNvPr id="52" name="Rounded Rectangle 51"/>
          <p:cNvSpPr/>
          <p:nvPr/>
        </p:nvSpPr>
        <p:spPr>
          <a:xfrm>
            <a:off x="6803136" y="3163824"/>
            <a:ext cx="4443984" cy="347472"/>
          </a:xfrm>
          <a:prstGeom prst="roundRect">
            <a:avLst/>
          </a:prstGeom>
          <a:solidFill>
            <a:srgbClr val="111A24"/>
          </a:solidFill>
          <a:ln w="698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976872" y="3291840"/>
            <a:ext cx="73152" cy="73152"/>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68896" y="3246120"/>
            <a:ext cx="1737360" cy="155448"/>
          </a:xfrm>
          <a:prstGeom prst="rect">
            <a:avLst/>
          </a:prstGeom>
          <a:noFill/>
        </p:spPr>
        <p:txBody>
          <a:bodyPr wrap="square" lIns="0" rIns="0" tIns="0" bIns="0" anchor="t">
            <a:spAutoFit/>
          </a:bodyPr>
          <a:lstStyle/>
          <a:p>
            <a:pPr algn="l"/>
            <a:r>
              <a:rPr sz="690" b="1" i="0">
                <a:solidFill>
                  <a:srgbClr val="F4B860"/>
                </a:solidFill>
                <a:latin typeface="Aptos"/>
              </a:rPr>
              <a:t>ADVANCED SEVERITY</a:t>
            </a:r>
          </a:p>
        </p:txBody>
      </p:sp>
      <p:sp>
        <p:nvSpPr>
          <p:cNvPr id="55" name="TextBox 54"/>
          <p:cNvSpPr txBox="1"/>
          <p:nvPr/>
        </p:nvSpPr>
        <p:spPr>
          <a:xfrm>
            <a:off x="8997696" y="3246120"/>
            <a:ext cx="2029968" cy="155448"/>
          </a:xfrm>
          <a:prstGeom prst="rect">
            <a:avLst/>
          </a:prstGeom>
          <a:noFill/>
        </p:spPr>
        <p:txBody>
          <a:bodyPr wrap="square" lIns="0" rIns="0" tIns="0" bIns="0" anchor="t">
            <a:spAutoFit/>
          </a:bodyPr>
          <a:lstStyle/>
          <a:p>
            <a:pPr algn="l"/>
            <a:r>
              <a:rPr sz="720" b="0" i="0">
                <a:solidFill>
                  <a:srgbClr val="9AA9B8"/>
                </a:solidFill>
                <a:latin typeface="Aptos"/>
              </a:rPr>
              <a:t>validated severity estimation</a:t>
            </a:r>
          </a:p>
        </p:txBody>
      </p:sp>
      <p:sp>
        <p:nvSpPr>
          <p:cNvPr id="56" name="Rounded Rectangle 55"/>
          <p:cNvSpPr/>
          <p:nvPr/>
        </p:nvSpPr>
        <p:spPr>
          <a:xfrm>
            <a:off x="6803136" y="3657600"/>
            <a:ext cx="4443984" cy="347472"/>
          </a:xfrm>
          <a:prstGeom prst="roundRect">
            <a:avLst/>
          </a:prstGeom>
          <a:solidFill>
            <a:srgbClr val="111A24"/>
          </a:solidFill>
          <a:ln w="698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976872" y="3785615"/>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68896" y="3739896"/>
            <a:ext cx="1737360" cy="155448"/>
          </a:xfrm>
          <a:prstGeom prst="rect">
            <a:avLst/>
          </a:prstGeom>
          <a:noFill/>
        </p:spPr>
        <p:txBody>
          <a:bodyPr wrap="square" lIns="0" rIns="0" tIns="0" bIns="0" anchor="t">
            <a:spAutoFit/>
          </a:bodyPr>
          <a:lstStyle/>
          <a:p>
            <a:pPr algn="l"/>
            <a:r>
              <a:rPr sz="690" b="1" i="0">
                <a:solidFill>
                  <a:srgbClr val="5EA7FF"/>
                </a:solidFill>
                <a:latin typeface="Aptos"/>
              </a:rPr>
              <a:t>MULTI-ROBOT</a:t>
            </a:r>
          </a:p>
        </p:txBody>
      </p:sp>
      <p:sp>
        <p:nvSpPr>
          <p:cNvPr id="59" name="TextBox 58"/>
          <p:cNvSpPr txBox="1"/>
          <p:nvPr/>
        </p:nvSpPr>
        <p:spPr>
          <a:xfrm>
            <a:off x="8997696" y="3739896"/>
            <a:ext cx="2029968" cy="155448"/>
          </a:xfrm>
          <a:prstGeom prst="rect">
            <a:avLst/>
          </a:prstGeom>
          <a:noFill/>
        </p:spPr>
        <p:txBody>
          <a:bodyPr wrap="square" lIns="0" rIns="0" tIns="0" bIns="0" anchor="t">
            <a:spAutoFit/>
          </a:bodyPr>
          <a:lstStyle/>
          <a:p>
            <a:pPr algn="l"/>
            <a:r>
              <a:rPr sz="720" b="0" i="0">
                <a:solidFill>
                  <a:srgbClr val="9AA9B8"/>
                </a:solidFill>
                <a:latin typeface="Aptos"/>
              </a:rPr>
              <a:t>fleet coordination</a:t>
            </a:r>
          </a:p>
        </p:txBody>
      </p:sp>
      <p:sp>
        <p:nvSpPr>
          <p:cNvPr id="60" name="Rounded Rectangle 59"/>
          <p:cNvSpPr/>
          <p:nvPr/>
        </p:nvSpPr>
        <p:spPr>
          <a:xfrm>
            <a:off x="6803136" y="4151376"/>
            <a:ext cx="4443984" cy="347472"/>
          </a:xfrm>
          <a:prstGeom prst="roundRect">
            <a:avLst/>
          </a:prstGeom>
          <a:solidFill>
            <a:srgbClr val="111A24"/>
          </a:solidFill>
          <a:ln w="698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976872" y="4279392"/>
            <a:ext cx="73152" cy="73152"/>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68896" y="4233672"/>
            <a:ext cx="1737360" cy="155448"/>
          </a:xfrm>
          <a:prstGeom prst="rect">
            <a:avLst/>
          </a:prstGeom>
          <a:noFill/>
        </p:spPr>
        <p:txBody>
          <a:bodyPr wrap="square" lIns="0" rIns="0" tIns="0" bIns="0" anchor="t">
            <a:spAutoFit/>
          </a:bodyPr>
          <a:lstStyle/>
          <a:p>
            <a:pPr algn="l"/>
            <a:r>
              <a:rPr sz="690" b="1" i="0">
                <a:solidFill>
                  <a:srgbClr val="7FE0A4"/>
                </a:solidFill>
                <a:latin typeface="Aptos"/>
              </a:rPr>
              <a:t>INDUSTRIAL INTEGRATION</a:t>
            </a:r>
          </a:p>
        </p:txBody>
      </p:sp>
      <p:sp>
        <p:nvSpPr>
          <p:cNvPr id="63" name="TextBox 62"/>
          <p:cNvSpPr txBox="1"/>
          <p:nvPr/>
        </p:nvSpPr>
        <p:spPr>
          <a:xfrm>
            <a:off x="8997696" y="4233672"/>
            <a:ext cx="2029968" cy="155448"/>
          </a:xfrm>
          <a:prstGeom prst="rect">
            <a:avLst/>
          </a:prstGeom>
          <a:noFill/>
        </p:spPr>
        <p:txBody>
          <a:bodyPr wrap="square" lIns="0" rIns="0" tIns="0" bIns="0" anchor="t">
            <a:spAutoFit/>
          </a:bodyPr>
          <a:lstStyle/>
          <a:p>
            <a:pPr algn="l"/>
            <a:r>
              <a:rPr sz="720" b="0" i="0">
                <a:solidFill>
                  <a:srgbClr val="9AA9B8"/>
                </a:solidFill>
                <a:latin typeface="Aptos"/>
              </a:rPr>
              <a:t>maintenance-system connectors</a:t>
            </a:r>
          </a:p>
        </p:txBody>
      </p:sp>
      <p:sp>
        <p:nvSpPr>
          <p:cNvPr id="64" name="Rounded Rectangle 63"/>
          <p:cNvSpPr/>
          <p:nvPr/>
        </p:nvSpPr>
        <p:spPr>
          <a:xfrm>
            <a:off x="6803136" y="4645152"/>
            <a:ext cx="4443984" cy="347472"/>
          </a:xfrm>
          <a:prstGeom prst="roundRect">
            <a:avLst/>
          </a:prstGeom>
          <a:solidFill>
            <a:srgbClr val="111A24"/>
          </a:solidFill>
          <a:ln w="6985">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6976872" y="4773168"/>
            <a:ext cx="73152" cy="7315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68896" y="4727448"/>
            <a:ext cx="1737360" cy="155448"/>
          </a:xfrm>
          <a:prstGeom prst="rect">
            <a:avLst/>
          </a:prstGeom>
          <a:noFill/>
        </p:spPr>
        <p:txBody>
          <a:bodyPr wrap="square" lIns="0" rIns="0" tIns="0" bIns="0" anchor="t">
            <a:spAutoFit/>
          </a:bodyPr>
          <a:lstStyle/>
          <a:p>
            <a:pPr algn="l"/>
            <a:r>
              <a:rPr sz="690" b="1" i="0">
                <a:solidFill>
                  <a:srgbClr val="48E0D2"/>
                </a:solidFill>
                <a:latin typeface="Aptos"/>
              </a:rPr>
              <a:t>LARGE-SCALE ROUTES</a:t>
            </a:r>
          </a:p>
        </p:txBody>
      </p:sp>
      <p:sp>
        <p:nvSpPr>
          <p:cNvPr id="67" name="TextBox 66"/>
          <p:cNvSpPr txBox="1"/>
          <p:nvPr/>
        </p:nvSpPr>
        <p:spPr>
          <a:xfrm>
            <a:off x="8997696" y="4727448"/>
            <a:ext cx="2029968" cy="155448"/>
          </a:xfrm>
          <a:prstGeom prst="rect">
            <a:avLst/>
          </a:prstGeom>
          <a:noFill/>
        </p:spPr>
        <p:txBody>
          <a:bodyPr wrap="square" lIns="0" rIns="0" tIns="0" bIns="0" anchor="t">
            <a:spAutoFit/>
          </a:bodyPr>
          <a:lstStyle/>
          <a:p>
            <a:pPr algn="l"/>
            <a:r>
              <a:rPr sz="720" b="0" i="0">
                <a:solidFill>
                  <a:srgbClr val="9AA9B8"/>
                </a:solidFill>
                <a:latin typeface="Aptos"/>
              </a:rPr>
              <a:t>deployment across plant assets</a:t>
            </a:r>
          </a:p>
        </p:txBody>
      </p:sp>
      <p:sp>
        <p:nvSpPr>
          <p:cNvPr id="68" name="TextBox 67"/>
          <p:cNvSpPr txBox="1"/>
          <p:nvPr/>
        </p:nvSpPr>
        <p:spPr>
          <a:xfrm>
            <a:off x="6803136" y="5413248"/>
            <a:ext cx="4389120" cy="182880"/>
          </a:xfrm>
          <a:prstGeom prst="rect">
            <a:avLst/>
          </a:prstGeom>
          <a:noFill/>
        </p:spPr>
        <p:txBody>
          <a:bodyPr wrap="square" lIns="0" rIns="0" tIns="0" bIns="0" anchor="t">
            <a:spAutoFit/>
          </a:bodyPr>
          <a:lstStyle/>
          <a:p>
            <a:pPr algn="ctr"/>
            <a:r>
              <a:rPr sz="950" b="1" i="0">
                <a:solidFill>
                  <a:srgbClr val="F4F7FA"/>
                </a:solidFill>
                <a:latin typeface="Aptos"/>
              </a:rPr>
              <a:t>Build the loop first. Validate before scaling.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7FE0A4"/>
                </a:solidFill>
                <a:latin typeface="Aptos"/>
              </a:rPr>
              <a:t>10  /  IMPACT + SCALE</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11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Create value before you scale complexity.</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Start with better inspection records and faster maintenance decisions; scale only what validation supports.</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TextBox 16"/>
          <p:cNvSpPr txBox="1"/>
          <p:nvPr/>
        </p:nvSpPr>
        <p:spPr>
          <a:xfrm>
            <a:off x="603504" y="1508760"/>
            <a:ext cx="2926080" cy="237744"/>
          </a:xfrm>
          <a:prstGeom prst="rect">
            <a:avLst/>
          </a:prstGeom>
          <a:noFill/>
        </p:spPr>
        <p:txBody>
          <a:bodyPr wrap="square" lIns="0" rIns="0" tIns="0" bIns="0" anchor="t">
            <a:spAutoFit/>
          </a:bodyPr>
          <a:lstStyle/>
          <a:p>
            <a:pPr algn="l"/>
            <a:r>
              <a:rPr sz="1450" b="1" i="0">
                <a:solidFill>
                  <a:srgbClr val="F4F7FA"/>
                </a:solidFill>
                <a:latin typeface="Aptos Display"/>
              </a:rPr>
              <a:t>Industrial value</a:t>
            </a:r>
          </a:p>
        </p:txBody>
      </p:sp>
      <p:sp>
        <p:nvSpPr>
          <p:cNvPr id="18" name="Rounded Rectangle 17"/>
          <p:cNvSpPr/>
          <p:nvPr/>
        </p:nvSpPr>
        <p:spPr>
          <a:xfrm>
            <a:off x="603504" y="1901952"/>
            <a:ext cx="2331720" cy="859536"/>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 y="1901952"/>
            <a:ext cx="45720" cy="859536"/>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77092" y="2164201"/>
            <a:ext cx="385511" cy="272125"/>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39454" y="2220894"/>
            <a:ext cx="90708" cy="73700"/>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09532" y="2220894"/>
            <a:ext cx="90708" cy="73700"/>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069848" y="2096170"/>
            <a:ext cx="0" cy="68031"/>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047170" y="2067824"/>
            <a:ext cx="45354" cy="45354"/>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843076" y="2481681"/>
            <a:ext cx="453543"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94100" y="2413650"/>
            <a:ext cx="102047" cy="102047"/>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54887" y="2413650"/>
            <a:ext cx="102047" cy="102047"/>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069848" y="2436327"/>
            <a:ext cx="0" cy="12472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481328" y="2048256"/>
            <a:ext cx="1289304" cy="228600"/>
          </a:xfrm>
          <a:prstGeom prst="rect">
            <a:avLst/>
          </a:prstGeom>
          <a:noFill/>
        </p:spPr>
        <p:txBody>
          <a:bodyPr wrap="square" lIns="0" rIns="0" tIns="0" bIns="0" anchor="t">
            <a:spAutoFit/>
          </a:bodyPr>
          <a:lstStyle/>
          <a:p>
            <a:pPr algn="l"/>
            <a:r>
              <a:rPr sz="1050" b="1" i="0">
                <a:solidFill>
                  <a:srgbClr val="F4F7FA"/>
                </a:solidFill>
                <a:latin typeface="Aptos"/>
              </a:rPr>
              <a:t>REDUCE EFFORT</a:t>
            </a:r>
          </a:p>
        </p:txBody>
      </p:sp>
      <p:sp>
        <p:nvSpPr>
          <p:cNvPr id="30" name="TextBox 29"/>
          <p:cNvSpPr txBox="1"/>
          <p:nvPr/>
        </p:nvSpPr>
        <p:spPr>
          <a:xfrm>
            <a:off x="1481328" y="2350008"/>
            <a:ext cx="1289304" cy="329184"/>
          </a:xfrm>
          <a:prstGeom prst="rect">
            <a:avLst/>
          </a:prstGeom>
          <a:noFill/>
        </p:spPr>
        <p:txBody>
          <a:bodyPr wrap="square" lIns="0" rIns="0" tIns="0" bIns="0" anchor="t">
            <a:spAutoFit/>
          </a:bodyPr>
          <a:lstStyle/>
          <a:p>
            <a:pPr algn="l"/>
            <a:r>
              <a:rPr sz="860" b="0" i="0">
                <a:solidFill>
                  <a:srgbClr val="9AA9B8"/>
                </a:solidFill>
                <a:latin typeface="Aptos"/>
              </a:rPr>
              <a:t>Less manual first-pass inspection effort.</a:t>
            </a:r>
          </a:p>
        </p:txBody>
      </p:sp>
      <p:sp>
        <p:nvSpPr>
          <p:cNvPr id="31" name="Rounded Rectangle 30"/>
          <p:cNvSpPr/>
          <p:nvPr/>
        </p:nvSpPr>
        <p:spPr>
          <a:xfrm>
            <a:off x="3182112" y="1901952"/>
            <a:ext cx="2331720" cy="859536"/>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182112" y="1901952"/>
            <a:ext cx="45720" cy="859536"/>
          </a:xfrm>
          <a:prstGeom prst="roundRect">
            <a:avLst/>
          </a:prstGeom>
          <a:solidFill>
            <a:srgbClr val="F4B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3364992" y="2084832"/>
            <a:ext cx="408188" cy="362833"/>
          </a:xfrm>
          <a:prstGeom prst="triangle">
            <a:avLst/>
          </a:prstGeom>
          <a:solidFill>
            <a:srgbClr val="0A0F15"/>
          </a:solidFill>
          <a:ln w="1651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89716" y="2186879"/>
            <a:ext cx="158739" cy="170078"/>
          </a:xfrm>
          <a:prstGeom prst="rect">
            <a:avLst/>
          </a:prstGeom>
          <a:noFill/>
        </p:spPr>
        <p:txBody>
          <a:bodyPr wrap="square" lIns="0" rIns="0" tIns="0" bIns="0" anchor="t">
            <a:spAutoFit/>
          </a:bodyPr>
          <a:lstStyle/>
          <a:p>
            <a:pPr algn="ctr"/>
            <a:r>
              <a:rPr sz="806" b="1" i="0">
                <a:solidFill>
                  <a:srgbClr val="F4B860"/>
                </a:solidFill>
                <a:latin typeface="Aptos"/>
              </a:rPr>
              <a:t>!</a:t>
            </a:r>
          </a:p>
        </p:txBody>
      </p:sp>
      <p:sp>
        <p:nvSpPr>
          <p:cNvPr id="35" name="TextBox 34"/>
          <p:cNvSpPr txBox="1"/>
          <p:nvPr/>
        </p:nvSpPr>
        <p:spPr>
          <a:xfrm>
            <a:off x="4059935" y="2048256"/>
            <a:ext cx="1289304" cy="228600"/>
          </a:xfrm>
          <a:prstGeom prst="rect">
            <a:avLst/>
          </a:prstGeom>
          <a:noFill/>
        </p:spPr>
        <p:txBody>
          <a:bodyPr wrap="square" lIns="0" rIns="0" tIns="0" bIns="0" anchor="t">
            <a:spAutoFit/>
          </a:bodyPr>
          <a:lstStyle/>
          <a:p>
            <a:pPr algn="l"/>
            <a:r>
              <a:rPr sz="1050" b="1" i="0">
                <a:solidFill>
                  <a:srgbClr val="F4F7FA"/>
                </a:solidFill>
                <a:latin typeface="Aptos"/>
              </a:rPr>
              <a:t>IDENTIFY EARLIER</a:t>
            </a:r>
          </a:p>
        </p:txBody>
      </p:sp>
      <p:sp>
        <p:nvSpPr>
          <p:cNvPr id="36" name="TextBox 35"/>
          <p:cNvSpPr txBox="1"/>
          <p:nvPr/>
        </p:nvSpPr>
        <p:spPr>
          <a:xfrm>
            <a:off x="4059935" y="2350008"/>
            <a:ext cx="1289304" cy="329184"/>
          </a:xfrm>
          <a:prstGeom prst="rect">
            <a:avLst/>
          </a:prstGeom>
          <a:noFill/>
        </p:spPr>
        <p:txBody>
          <a:bodyPr wrap="square" lIns="0" rIns="0" tIns="0" bIns="0" anchor="t">
            <a:spAutoFit/>
          </a:bodyPr>
          <a:lstStyle/>
          <a:p>
            <a:pPr algn="l"/>
            <a:r>
              <a:rPr sz="860" b="0" i="0">
                <a:solidFill>
                  <a:srgbClr val="9AA9B8"/>
                </a:solidFill>
                <a:latin typeface="Aptos"/>
              </a:rPr>
              <a:t>Surface likely events during a patrol.</a:t>
            </a:r>
          </a:p>
        </p:txBody>
      </p:sp>
      <p:sp>
        <p:nvSpPr>
          <p:cNvPr id="37" name="Rounded Rectangle 36"/>
          <p:cNvSpPr/>
          <p:nvPr/>
        </p:nvSpPr>
        <p:spPr>
          <a:xfrm>
            <a:off x="603504" y="2980944"/>
            <a:ext cx="2331720" cy="859536"/>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03504" y="2980944"/>
            <a:ext cx="45720" cy="85953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911108" y="3265871"/>
            <a:ext cx="226771" cy="226771"/>
          </a:xfrm>
          <a:prstGeom prst="line">
            <a:avLst/>
          </a:prstGeom>
          <a:ln w="30480">
            <a:solidFill>
              <a:srgbClr val="FF6B6B"/>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081186" y="3186501"/>
            <a:ext cx="124724" cy="124724"/>
          </a:xfrm>
          <a:prstGeom prst="ellipse">
            <a:avLst/>
          </a:prstGeom>
          <a:solidFill>
            <a:srgbClr val="0A0F15"/>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098194" y="3186501"/>
            <a:ext cx="96378" cy="96377"/>
          </a:xfrm>
          <a:prstGeom prst="line">
            <a:avLst/>
          </a:prstGeom>
          <a:ln w="38100">
            <a:solidFill>
              <a:srgbClr val="0A0F15"/>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43076" y="3435949"/>
            <a:ext cx="130393" cy="130393"/>
          </a:xfrm>
          <a:prstGeom prst="ellipse">
            <a:avLst/>
          </a:prstGeom>
          <a:solidFill>
            <a:srgbClr val="0A0F15"/>
          </a:solidFill>
          <a:ln w="1778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81328" y="3127248"/>
            <a:ext cx="1289304" cy="228600"/>
          </a:xfrm>
          <a:prstGeom prst="rect">
            <a:avLst/>
          </a:prstGeom>
          <a:noFill/>
        </p:spPr>
        <p:txBody>
          <a:bodyPr wrap="square" lIns="0" rIns="0" tIns="0" bIns="0" anchor="t">
            <a:spAutoFit/>
          </a:bodyPr>
          <a:lstStyle/>
          <a:p>
            <a:pPr algn="l"/>
            <a:r>
              <a:rPr sz="1050" b="1" i="0">
                <a:solidFill>
                  <a:srgbClr val="F4F7FA"/>
                </a:solidFill>
                <a:latin typeface="Aptos"/>
              </a:rPr>
              <a:t>PRIORITIZE BETTER</a:t>
            </a:r>
          </a:p>
        </p:txBody>
      </p:sp>
      <p:sp>
        <p:nvSpPr>
          <p:cNvPr id="44" name="TextBox 43"/>
          <p:cNvSpPr txBox="1"/>
          <p:nvPr/>
        </p:nvSpPr>
        <p:spPr>
          <a:xfrm>
            <a:off x="1481328" y="3429000"/>
            <a:ext cx="1289304" cy="329184"/>
          </a:xfrm>
          <a:prstGeom prst="rect">
            <a:avLst/>
          </a:prstGeom>
          <a:noFill/>
        </p:spPr>
        <p:txBody>
          <a:bodyPr wrap="square" lIns="0" rIns="0" tIns="0" bIns="0" anchor="t">
            <a:spAutoFit/>
          </a:bodyPr>
          <a:lstStyle/>
          <a:p>
            <a:pPr algn="l"/>
            <a:r>
              <a:rPr sz="860" b="0" i="0">
                <a:solidFill>
                  <a:srgbClr val="9AA9B8"/>
                </a:solidFill>
                <a:latin typeface="Aptos"/>
              </a:rPr>
              <a:t>Give teams confidence, context, and urgency.</a:t>
            </a:r>
          </a:p>
        </p:txBody>
      </p:sp>
      <p:sp>
        <p:nvSpPr>
          <p:cNvPr id="45" name="Rounded Rectangle 44"/>
          <p:cNvSpPr/>
          <p:nvPr/>
        </p:nvSpPr>
        <p:spPr>
          <a:xfrm>
            <a:off x="3182112" y="2980944"/>
            <a:ext cx="2331720" cy="859536"/>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182112" y="2980944"/>
            <a:ext cx="45720" cy="859536"/>
          </a:xfrm>
          <a:prstGeom prst="roundRect">
            <a:avLst/>
          </a:prstGeom>
          <a:solidFill>
            <a:srgbClr val="5E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410346" y="3209178"/>
            <a:ext cx="317479" cy="317479"/>
          </a:xfrm>
          <a:prstGeom prst="ellipse">
            <a:avLst/>
          </a:prstGeom>
          <a:solidFill>
            <a:srgbClr val="0A0F15"/>
          </a:solidFill>
          <a:ln w="1397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3569086" y="3271540"/>
            <a:ext cx="0" cy="96378"/>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569086" y="3367918"/>
            <a:ext cx="73700" cy="39685"/>
          </a:xfrm>
          <a:prstGeom prst="line">
            <a:avLst/>
          </a:prstGeom>
          <a:ln w="15240">
            <a:solidFill>
              <a:srgbClr val="5EA7FF"/>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3546408" y="3345240"/>
            <a:ext cx="45354" cy="45354"/>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059935" y="3127248"/>
            <a:ext cx="1289304" cy="228600"/>
          </a:xfrm>
          <a:prstGeom prst="rect">
            <a:avLst/>
          </a:prstGeom>
          <a:noFill/>
        </p:spPr>
        <p:txBody>
          <a:bodyPr wrap="square" lIns="0" rIns="0" tIns="0" bIns="0" anchor="t">
            <a:spAutoFit/>
          </a:bodyPr>
          <a:lstStyle/>
          <a:p>
            <a:pPr algn="l"/>
            <a:r>
              <a:rPr sz="1050" b="1" i="0">
                <a:solidFill>
                  <a:srgbClr val="F4F7FA"/>
                </a:solidFill>
                <a:latin typeface="Aptos"/>
              </a:rPr>
              <a:t>EFFICIENCY + RECORDS</a:t>
            </a:r>
          </a:p>
        </p:txBody>
      </p:sp>
      <p:sp>
        <p:nvSpPr>
          <p:cNvPr id="52" name="TextBox 51"/>
          <p:cNvSpPr txBox="1"/>
          <p:nvPr/>
        </p:nvSpPr>
        <p:spPr>
          <a:xfrm>
            <a:off x="4059935" y="3429000"/>
            <a:ext cx="1289304" cy="329184"/>
          </a:xfrm>
          <a:prstGeom prst="rect">
            <a:avLst/>
          </a:prstGeom>
          <a:noFill/>
        </p:spPr>
        <p:txBody>
          <a:bodyPr wrap="square" lIns="0" rIns="0" tIns="0" bIns="0" anchor="t">
            <a:spAutoFit/>
          </a:bodyPr>
          <a:lstStyle/>
          <a:p>
            <a:pPr algn="l"/>
            <a:r>
              <a:rPr sz="860" b="0" i="0">
                <a:solidFill>
                  <a:srgbClr val="9AA9B8"/>
                </a:solidFill>
                <a:latin typeface="Aptos"/>
              </a:rPr>
              <a:t>Support energy-efficiency work with an automated inspection history.</a:t>
            </a:r>
          </a:p>
        </p:txBody>
      </p:sp>
      <p:sp>
        <p:nvSpPr>
          <p:cNvPr id="53" name="Rounded Rectangle 52"/>
          <p:cNvSpPr/>
          <p:nvPr/>
        </p:nvSpPr>
        <p:spPr>
          <a:xfrm>
            <a:off x="603504" y="4343400"/>
            <a:ext cx="4910328" cy="1399032"/>
          </a:xfrm>
          <a:prstGeom prst="roundRect">
            <a:avLst/>
          </a:prstGeom>
          <a:solidFill>
            <a:srgbClr val="14313A"/>
          </a:solidFill>
          <a:ln w="1016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1248" y="4590288"/>
            <a:ext cx="3108960" cy="164592"/>
          </a:xfrm>
          <a:prstGeom prst="rect">
            <a:avLst/>
          </a:prstGeom>
          <a:noFill/>
        </p:spPr>
        <p:txBody>
          <a:bodyPr wrap="square" lIns="36576" rIns="36576" tIns="36576" bIns="36576" anchor="t">
            <a:spAutoFit/>
          </a:bodyPr>
          <a:lstStyle/>
          <a:p>
            <a:pPr algn="l"/>
            <a:r>
              <a:rPr sz="700" b="1" i="0">
                <a:solidFill>
                  <a:srgbClr val="48E0D2"/>
                </a:solidFill>
                <a:latin typeface="Aptos"/>
              </a:rPr>
              <a:t>MEASURE BEFORE CLAIMING ROI</a:t>
            </a:r>
          </a:p>
        </p:txBody>
      </p:sp>
      <p:sp>
        <p:nvSpPr>
          <p:cNvPr id="55" name="TextBox 54"/>
          <p:cNvSpPr txBox="1"/>
          <p:nvPr/>
        </p:nvSpPr>
        <p:spPr>
          <a:xfrm>
            <a:off x="841248" y="4892040"/>
            <a:ext cx="4206240" cy="457200"/>
          </a:xfrm>
          <a:prstGeom prst="rect">
            <a:avLst/>
          </a:prstGeom>
          <a:noFill/>
        </p:spPr>
        <p:txBody>
          <a:bodyPr wrap="square" lIns="0" rIns="0" tIns="0" bIns="0" anchor="t">
            <a:spAutoFit/>
          </a:bodyPr>
          <a:lstStyle/>
          <a:p>
            <a:pPr algn="l"/>
            <a:r>
              <a:rPr sz="1200" b="1" i="0">
                <a:solidFill>
                  <a:srgbClr val="F4F7FA"/>
                </a:solidFill>
                <a:latin typeface="Aptos Display"/>
              </a:rPr>
              <a:t>Track detections, route coverage, response time, and [validated savings].</a:t>
            </a:r>
          </a:p>
        </p:txBody>
      </p:sp>
      <p:sp>
        <p:nvSpPr>
          <p:cNvPr id="56" name="TextBox 55"/>
          <p:cNvSpPr txBox="1"/>
          <p:nvPr/>
        </p:nvSpPr>
        <p:spPr>
          <a:xfrm>
            <a:off x="6089904" y="1508760"/>
            <a:ext cx="2926080" cy="237744"/>
          </a:xfrm>
          <a:prstGeom prst="rect">
            <a:avLst/>
          </a:prstGeom>
          <a:noFill/>
        </p:spPr>
        <p:txBody>
          <a:bodyPr wrap="square" lIns="0" rIns="0" tIns="0" bIns="0" anchor="t">
            <a:spAutoFit/>
          </a:bodyPr>
          <a:lstStyle/>
          <a:p>
            <a:pPr algn="l"/>
            <a:r>
              <a:rPr sz="1450" b="1" i="0">
                <a:solidFill>
                  <a:srgbClr val="F4F7FA"/>
                </a:solidFill>
                <a:latin typeface="Aptos Display"/>
              </a:rPr>
              <a:t>Path to scale</a:t>
            </a:r>
          </a:p>
        </p:txBody>
      </p:sp>
      <p:cxnSp>
        <p:nvCxnSpPr>
          <p:cNvPr id="57" name="Connector 56"/>
          <p:cNvCxnSpPr/>
          <p:nvPr/>
        </p:nvCxnSpPr>
        <p:spPr>
          <a:xfrm>
            <a:off x="6428232" y="2423160"/>
            <a:ext cx="0" cy="347472"/>
          </a:xfrm>
          <a:prstGeom prst="line">
            <a:avLst/>
          </a:prstGeom>
          <a:ln w="17780">
            <a:solidFill>
              <a:srgbClr val="20313D"/>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172200" y="1920240"/>
            <a:ext cx="512064" cy="512064"/>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72200" y="2066544"/>
            <a:ext cx="512064" cy="182880"/>
          </a:xfrm>
          <a:prstGeom prst="rect">
            <a:avLst/>
          </a:prstGeom>
          <a:noFill/>
        </p:spPr>
        <p:txBody>
          <a:bodyPr wrap="square" lIns="0" rIns="0" tIns="0" bIns="0" anchor="t">
            <a:spAutoFit/>
          </a:bodyPr>
          <a:lstStyle/>
          <a:p>
            <a:pPr algn="ctr"/>
            <a:r>
              <a:rPr sz="819" b="1" i="0">
                <a:solidFill>
                  <a:srgbClr val="0A0F15"/>
                </a:solidFill>
                <a:latin typeface="Aptos"/>
              </a:rPr>
              <a:t>01</a:t>
            </a:r>
          </a:p>
        </p:txBody>
      </p:sp>
      <p:sp>
        <p:nvSpPr>
          <p:cNvPr id="60" name="TextBox 59"/>
          <p:cNvSpPr txBox="1"/>
          <p:nvPr/>
        </p:nvSpPr>
        <p:spPr>
          <a:xfrm>
            <a:off x="6949440" y="1965960"/>
            <a:ext cx="2834640" cy="164592"/>
          </a:xfrm>
          <a:prstGeom prst="rect">
            <a:avLst/>
          </a:prstGeom>
          <a:noFill/>
        </p:spPr>
        <p:txBody>
          <a:bodyPr wrap="square" lIns="0" rIns="0" tIns="0" bIns="0" anchor="t">
            <a:spAutoFit/>
          </a:bodyPr>
          <a:lstStyle/>
          <a:p>
            <a:pPr algn="l"/>
            <a:r>
              <a:rPr sz="850" b="1" i="0">
                <a:solidFill>
                  <a:srgbClr val="48E0D2"/>
                </a:solidFill>
                <a:latin typeface="Aptos"/>
              </a:rPr>
              <a:t>ONE CONTROLLED ROUTE</a:t>
            </a:r>
          </a:p>
        </p:txBody>
      </p:sp>
      <p:sp>
        <p:nvSpPr>
          <p:cNvPr id="61" name="TextBox 60"/>
          <p:cNvSpPr txBox="1"/>
          <p:nvPr/>
        </p:nvSpPr>
        <p:spPr>
          <a:xfrm>
            <a:off x="6949440" y="2185416"/>
            <a:ext cx="3977639" cy="164592"/>
          </a:xfrm>
          <a:prstGeom prst="rect">
            <a:avLst/>
          </a:prstGeom>
          <a:noFill/>
        </p:spPr>
        <p:txBody>
          <a:bodyPr wrap="square" lIns="0" rIns="0" tIns="0" bIns="0" anchor="t">
            <a:spAutoFit/>
          </a:bodyPr>
          <a:lstStyle/>
          <a:p>
            <a:pPr algn="l"/>
            <a:r>
              <a:rPr sz="869" b="0" i="0">
                <a:solidFill>
                  <a:srgbClr val="9AA9B8"/>
                </a:solidFill>
                <a:latin typeface="Aptos"/>
              </a:rPr>
              <a:t>prove the loop</a:t>
            </a:r>
          </a:p>
        </p:txBody>
      </p:sp>
      <p:cxnSp>
        <p:nvCxnSpPr>
          <p:cNvPr id="62" name="Connector 61"/>
          <p:cNvCxnSpPr/>
          <p:nvPr/>
        </p:nvCxnSpPr>
        <p:spPr>
          <a:xfrm>
            <a:off x="6428232" y="3273552"/>
            <a:ext cx="0" cy="347472"/>
          </a:xfrm>
          <a:prstGeom prst="line">
            <a:avLst/>
          </a:prstGeom>
          <a:ln w="17780">
            <a:solidFill>
              <a:srgbClr val="20313D"/>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6172200" y="2770632"/>
            <a:ext cx="512064" cy="512064"/>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72200" y="2916936"/>
            <a:ext cx="512064" cy="182880"/>
          </a:xfrm>
          <a:prstGeom prst="rect">
            <a:avLst/>
          </a:prstGeom>
          <a:noFill/>
        </p:spPr>
        <p:txBody>
          <a:bodyPr wrap="square" lIns="0" rIns="0" tIns="0" bIns="0" anchor="t">
            <a:spAutoFit/>
          </a:bodyPr>
          <a:lstStyle/>
          <a:p>
            <a:pPr algn="ctr"/>
            <a:r>
              <a:rPr sz="819" b="1" i="0">
                <a:solidFill>
                  <a:srgbClr val="0A0F15"/>
                </a:solidFill>
                <a:latin typeface="Aptos"/>
              </a:rPr>
              <a:t>02</a:t>
            </a:r>
          </a:p>
        </p:txBody>
      </p:sp>
      <p:sp>
        <p:nvSpPr>
          <p:cNvPr id="65" name="TextBox 64"/>
          <p:cNvSpPr txBox="1"/>
          <p:nvPr/>
        </p:nvSpPr>
        <p:spPr>
          <a:xfrm>
            <a:off x="6949440" y="2816352"/>
            <a:ext cx="2834640" cy="164592"/>
          </a:xfrm>
          <a:prstGeom prst="rect">
            <a:avLst/>
          </a:prstGeom>
          <a:noFill/>
        </p:spPr>
        <p:txBody>
          <a:bodyPr wrap="square" lIns="0" rIns="0" tIns="0" bIns="0" anchor="t">
            <a:spAutoFit/>
          </a:bodyPr>
          <a:lstStyle/>
          <a:p>
            <a:pPr algn="l"/>
            <a:r>
              <a:rPr sz="850" b="1" i="0">
                <a:solidFill>
                  <a:srgbClr val="5EA7FF"/>
                </a:solidFill>
                <a:latin typeface="Aptos"/>
              </a:rPr>
              <a:t>MULTIPLE ROUTES</a:t>
            </a:r>
          </a:p>
        </p:txBody>
      </p:sp>
      <p:sp>
        <p:nvSpPr>
          <p:cNvPr id="66" name="TextBox 65"/>
          <p:cNvSpPr txBox="1"/>
          <p:nvPr/>
        </p:nvSpPr>
        <p:spPr>
          <a:xfrm>
            <a:off x="6949440" y="3035808"/>
            <a:ext cx="3977639" cy="164592"/>
          </a:xfrm>
          <a:prstGeom prst="rect">
            <a:avLst/>
          </a:prstGeom>
          <a:noFill/>
        </p:spPr>
        <p:txBody>
          <a:bodyPr wrap="square" lIns="0" rIns="0" tIns="0" bIns="0" anchor="t">
            <a:spAutoFit/>
          </a:bodyPr>
          <a:lstStyle/>
          <a:p>
            <a:pPr algn="l"/>
            <a:r>
              <a:rPr sz="869" b="0" i="0">
                <a:solidFill>
                  <a:srgbClr val="9AA9B8"/>
                </a:solidFill>
                <a:latin typeface="Aptos"/>
              </a:rPr>
              <a:t>schedule periodic patrols</a:t>
            </a:r>
          </a:p>
        </p:txBody>
      </p:sp>
      <p:cxnSp>
        <p:nvCxnSpPr>
          <p:cNvPr id="67" name="Connector 66"/>
          <p:cNvCxnSpPr/>
          <p:nvPr/>
        </p:nvCxnSpPr>
        <p:spPr>
          <a:xfrm>
            <a:off x="6428232" y="4123944"/>
            <a:ext cx="0" cy="347472"/>
          </a:xfrm>
          <a:prstGeom prst="line">
            <a:avLst/>
          </a:prstGeom>
          <a:ln w="17780">
            <a:solidFill>
              <a:srgbClr val="20313D"/>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6172200" y="3621024"/>
            <a:ext cx="512064" cy="512064"/>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72200" y="3767328"/>
            <a:ext cx="512064" cy="182880"/>
          </a:xfrm>
          <a:prstGeom prst="rect">
            <a:avLst/>
          </a:prstGeom>
          <a:noFill/>
        </p:spPr>
        <p:txBody>
          <a:bodyPr wrap="square" lIns="0" rIns="0" tIns="0" bIns="0" anchor="t">
            <a:spAutoFit/>
          </a:bodyPr>
          <a:lstStyle/>
          <a:p>
            <a:pPr algn="ctr"/>
            <a:r>
              <a:rPr sz="819" b="1" i="0">
                <a:solidFill>
                  <a:srgbClr val="0A0F15"/>
                </a:solidFill>
                <a:latin typeface="Aptos"/>
              </a:rPr>
              <a:t>03</a:t>
            </a:r>
          </a:p>
        </p:txBody>
      </p:sp>
      <p:sp>
        <p:nvSpPr>
          <p:cNvPr id="70" name="TextBox 69"/>
          <p:cNvSpPr txBox="1"/>
          <p:nvPr/>
        </p:nvSpPr>
        <p:spPr>
          <a:xfrm>
            <a:off x="6949440" y="3666744"/>
            <a:ext cx="2834640" cy="164592"/>
          </a:xfrm>
          <a:prstGeom prst="rect">
            <a:avLst/>
          </a:prstGeom>
          <a:noFill/>
        </p:spPr>
        <p:txBody>
          <a:bodyPr wrap="square" lIns="0" rIns="0" tIns="0" bIns="0" anchor="t">
            <a:spAutoFit/>
          </a:bodyPr>
          <a:lstStyle/>
          <a:p>
            <a:pPr algn="l"/>
            <a:r>
              <a:rPr sz="850" b="1" i="0">
                <a:solidFill>
                  <a:srgbClr val="B796FF"/>
                </a:solidFill>
                <a:latin typeface="Aptos"/>
              </a:rPr>
              <a:t>MULTI-ROBOT FLEET</a:t>
            </a:r>
          </a:p>
        </p:txBody>
      </p:sp>
      <p:sp>
        <p:nvSpPr>
          <p:cNvPr id="71" name="TextBox 70"/>
          <p:cNvSpPr txBox="1"/>
          <p:nvPr/>
        </p:nvSpPr>
        <p:spPr>
          <a:xfrm>
            <a:off x="6949440" y="3886200"/>
            <a:ext cx="3977639" cy="164592"/>
          </a:xfrm>
          <a:prstGeom prst="rect">
            <a:avLst/>
          </a:prstGeom>
          <a:noFill/>
        </p:spPr>
        <p:txBody>
          <a:bodyPr wrap="square" lIns="0" rIns="0" tIns="0" bIns="0" anchor="t">
            <a:spAutoFit/>
          </a:bodyPr>
          <a:lstStyle/>
          <a:p>
            <a:pPr algn="l"/>
            <a:r>
              <a:rPr sz="869" b="0" i="0">
                <a:solidFill>
                  <a:srgbClr val="9AA9B8"/>
                </a:solidFill>
                <a:latin typeface="Aptos"/>
              </a:rPr>
              <a:t>parallelize coverage</a:t>
            </a:r>
          </a:p>
        </p:txBody>
      </p:sp>
      <p:sp>
        <p:nvSpPr>
          <p:cNvPr id="72" name="Oval 71"/>
          <p:cNvSpPr/>
          <p:nvPr/>
        </p:nvSpPr>
        <p:spPr>
          <a:xfrm>
            <a:off x="6172200" y="4471416"/>
            <a:ext cx="512064" cy="512064"/>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172200" y="4617720"/>
            <a:ext cx="512064" cy="182880"/>
          </a:xfrm>
          <a:prstGeom prst="rect">
            <a:avLst/>
          </a:prstGeom>
          <a:noFill/>
        </p:spPr>
        <p:txBody>
          <a:bodyPr wrap="square" lIns="0" rIns="0" tIns="0" bIns="0" anchor="t">
            <a:spAutoFit/>
          </a:bodyPr>
          <a:lstStyle/>
          <a:p>
            <a:pPr algn="ctr"/>
            <a:r>
              <a:rPr sz="819" b="1" i="0">
                <a:solidFill>
                  <a:srgbClr val="0A0F15"/>
                </a:solidFill>
                <a:latin typeface="Aptos"/>
              </a:rPr>
              <a:t>04</a:t>
            </a:r>
          </a:p>
        </p:txBody>
      </p:sp>
      <p:sp>
        <p:nvSpPr>
          <p:cNvPr id="74" name="TextBox 73"/>
          <p:cNvSpPr txBox="1"/>
          <p:nvPr/>
        </p:nvSpPr>
        <p:spPr>
          <a:xfrm>
            <a:off x="6949440" y="4517136"/>
            <a:ext cx="2834640" cy="164592"/>
          </a:xfrm>
          <a:prstGeom prst="rect">
            <a:avLst/>
          </a:prstGeom>
          <a:noFill/>
        </p:spPr>
        <p:txBody>
          <a:bodyPr wrap="square" lIns="0" rIns="0" tIns="0" bIns="0" anchor="t">
            <a:spAutoFit/>
          </a:bodyPr>
          <a:lstStyle/>
          <a:p>
            <a:pPr algn="l"/>
            <a:r>
              <a:rPr sz="850" b="1" i="0">
                <a:solidFill>
                  <a:srgbClr val="F4B860"/>
                </a:solidFill>
                <a:latin typeface="Aptos"/>
              </a:rPr>
              <a:t>MAINTENANCE ECOSYSTEM</a:t>
            </a:r>
          </a:p>
        </p:txBody>
      </p:sp>
      <p:sp>
        <p:nvSpPr>
          <p:cNvPr id="75" name="TextBox 74"/>
          <p:cNvSpPr txBox="1"/>
          <p:nvPr/>
        </p:nvSpPr>
        <p:spPr>
          <a:xfrm>
            <a:off x="6949440" y="4736592"/>
            <a:ext cx="3977639" cy="164592"/>
          </a:xfrm>
          <a:prstGeom prst="rect">
            <a:avLst/>
          </a:prstGeom>
          <a:noFill/>
        </p:spPr>
        <p:txBody>
          <a:bodyPr wrap="square" lIns="0" rIns="0" tIns="0" bIns="0" anchor="t">
            <a:spAutoFit/>
          </a:bodyPr>
          <a:lstStyle/>
          <a:p>
            <a:pPr algn="l"/>
            <a:r>
              <a:rPr sz="869" b="0" i="0">
                <a:solidFill>
                  <a:srgbClr val="9AA9B8"/>
                </a:solidFill>
                <a:latin typeface="Aptos"/>
              </a:rPr>
              <a:t>history → predictive workflows</a:t>
            </a:r>
          </a:p>
        </p:txBody>
      </p:sp>
      <p:sp>
        <p:nvSpPr>
          <p:cNvPr id="76" name="Rounded Rectangle 75"/>
          <p:cNvSpPr/>
          <p:nvPr/>
        </p:nvSpPr>
        <p:spPr>
          <a:xfrm>
            <a:off x="6089904" y="5431536"/>
            <a:ext cx="5431536" cy="320040"/>
          </a:xfrm>
          <a:prstGeom prst="roundRect">
            <a:avLst/>
          </a:prstGeom>
          <a:solidFill>
            <a:srgbClr val="111A24"/>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81928" y="5513832"/>
            <a:ext cx="5029200" cy="146304"/>
          </a:xfrm>
          <a:prstGeom prst="rect">
            <a:avLst/>
          </a:prstGeom>
          <a:noFill/>
        </p:spPr>
        <p:txBody>
          <a:bodyPr wrap="square" lIns="0" rIns="0" tIns="0" bIns="0" anchor="t">
            <a:spAutoFit/>
          </a:bodyPr>
          <a:lstStyle/>
          <a:p>
            <a:pPr algn="ctr"/>
            <a:r>
              <a:rPr sz="750" b="1" i="0">
                <a:solidFill>
                  <a:srgbClr val="F4F7FA"/>
                </a:solidFill>
                <a:latin typeface="Aptos"/>
              </a:rPr>
              <a:t>Scale the routes, the records, and the learning — not the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5"/>
        </a:solidFill>
        <a:effectLst/>
      </p:bgPr>
    </p:bg>
    <p:spTree>
      <p:nvGrpSpPr>
        <p:cNvPr id="1" name=""/>
        <p:cNvGrpSpPr/>
        <p:nvPr/>
      </p:nvGrpSpPr>
      <p:grpSpPr/>
      <p:cxnSp>
        <p:nvCxnSpPr>
          <p:cNvPr id="2" name="Connector 1"/>
          <p:cNvCxnSpPr/>
          <p:nvPr/>
        </p:nvCxnSpPr>
        <p:spPr>
          <a:xfrm>
            <a:off x="41148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27432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4864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75720" y="228600"/>
            <a:ext cx="0" cy="6391656"/>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20040" y="320040"/>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0040" y="1152144"/>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0040" y="6345936"/>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20040" y="6601968"/>
            <a:ext cx="11548872" cy="0"/>
          </a:xfrm>
          <a:prstGeom prst="line">
            <a:avLst/>
          </a:prstGeom>
          <a:ln w="5715">
            <a:solidFill>
              <a:srgbClr val="20313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85216" y="329184"/>
            <a:ext cx="6035040" cy="164592"/>
          </a:xfrm>
          <a:prstGeom prst="rect">
            <a:avLst/>
          </a:prstGeom>
          <a:noFill/>
        </p:spPr>
        <p:txBody>
          <a:bodyPr wrap="square" lIns="36576" rIns="36576" tIns="36576" bIns="36576" anchor="t">
            <a:spAutoFit/>
          </a:bodyPr>
          <a:lstStyle/>
          <a:p>
            <a:pPr algn="l"/>
            <a:r>
              <a:rPr sz="750" b="1" i="0">
                <a:solidFill>
                  <a:srgbClr val="48E0D2"/>
                </a:solidFill>
                <a:latin typeface="Aptos"/>
              </a:rPr>
              <a:t>11  /  FINAL PITCH</a:t>
            </a:r>
          </a:p>
        </p:txBody>
      </p:sp>
      <p:sp>
        <p:nvSpPr>
          <p:cNvPr id="12" name="TextBox 11"/>
          <p:cNvSpPr txBox="1"/>
          <p:nvPr/>
        </p:nvSpPr>
        <p:spPr>
          <a:xfrm>
            <a:off x="10744200" y="310896"/>
            <a:ext cx="868680" cy="182880"/>
          </a:xfrm>
          <a:prstGeom prst="rect">
            <a:avLst/>
          </a:prstGeom>
          <a:noFill/>
        </p:spPr>
        <p:txBody>
          <a:bodyPr wrap="square" lIns="0" rIns="0" tIns="0" bIns="0" anchor="t">
            <a:spAutoFit/>
          </a:bodyPr>
          <a:lstStyle/>
          <a:p>
            <a:pPr algn="r"/>
            <a:r>
              <a:rPr sz="800" b="1" i="0">
                <a:solidFill>
                  <a:srgbClr val="6F8292"/>
                </a:solidFill>
                <a:latin typeface="Aptos"/>
              </a:rPr>
              <a:t>12 / 12</a:t>
            </a:r>
          </a:p>
        </p:txBody>
      </p:sp>
      <p:sp>
        <p:nvSpPr>
          <p:cNvPr id="13" name="TextBox 12"/>
          <p:cNvSpPr txBox="1"/>
          <p:nvPr/>
        </p:nvSpPr>
        <p:spPr>
          <a:xfrm>
            <a:off x="548640" y="576072"/>
            <a:ext cx="10058400" cy="438912"/>
          </a:xfrm>
          <a:prstGeom prst="rect">
            <a:avLst/>
          </a:prstGeom>
          <a:noFill/>
        </p:spPr>
        <p:txBody>
          <a:bodyPr wrap="square" lIns="0" rIns="0" tIns="0" bIns="0" anchor="t">
            <a:spAutoFit/>
          </a:bodyPr>
          <a:lstStyle/>
          <a:p>
            <a:pPr algn="l"/>
            <a:r>
              <a:rPr sz="2500" b="1" i="0">
                <a:solidFill>
                  <a:srgbClr val="F4F7FA"/>
                </a:solidFill>
                <a:latin typeface="Aptos Display"/>
              </a:rPr>
              <a:t>From manual leak hunting to autonomous leak intelligence.</a:t>
            </a:r>
          </a:p>
        </p:txBody>
      </p:sp>
      <p:sp>
        <p:nvSpPr>
          <p:cNvPr id="14" name="TextBox 13"/>
          <p:cNvSpPr txBox="1"/>
          <p:nvPr/>
        </p:nvSpPr>
        <p:spPr>
          <a:xfrm>
            <a:off x="585216" y="1014984"/>
            <a:ext cx="10698480" cy="228600"/>
          </a:xfrm>
          <a:prstGeom prst="rect">
            <a:avLst/>
          </a:prstGeom>
          <a:noFill/>
        </p:spPr>
        <p:txBody>
          <a:bodyPr wrap="square" lIns="0" rIns="0" tIns="0" bIns="0" anchor="t">
            <a:spAutoFit/>
          </a:bodyPr>
          <a:lstStyle/>
          <a:p>
            <a:pPr algn="l"/>
            <a:r>
              <a:rPr sz="950" b="0" i="0">
                <a:solidFill>
                  <a:srgbClr val="9AA9B8"/>
                </a:solidFill>
                <a:latin typeface="Aptos"/>
              </a:rPr>
              <a:t>A realistic MVP today. A scalable operating model tomorrow.</a:t>
            </a:r>
          </a:p>
        </p:txBody>
      </p:sp>
      <p:sp>
        <p:nvSpPr>
          <p:cNvPr id="15" name="TextBox 14"/>
          <p:cNvSpPr txBox="1"/>
          <p:nvPr/>
        </p:nvSpPr>
        <p:spPr>
          <a:xfrm>
            <a:off x="585216" y="6620256"/>
            <a:ext cx="5486400" cy="137160"/>
          </a:xfrm>
          <a:prstGeom prst="rect">
            <a:avLst/>
          </a:prstGeom>
          <a:noFill/>
        </p:spPr>
        <p:txBody>
          <a:bodyPr wrap="square" lIns="0" rIns="0" tIns="0" bIns="0" anchor="t">
            <a:spAutoFit/>
          </a:bodyPr>
          <a:lstStyle/>
          <a:p>
            <a:pPr algn="l"/>
            <a:r>
              <a:rPr sz="650" b="1" i="0">
                <a:solidFill>
                  <a:srgbClr val="6F8292"/>
                </a:solidFill>
                <a:latin typeface="Aptos"/>
              </a:rPr>
              <a:t>AUTONOMOUS LEAK INTELLIGENCE  /  HACKATHON MVP</a:t>
            </a:r>
          </a:p>
        </p:txBody>
      </p:sp>
      <p:sp>
        <p:nvSpPr>
          <p:cNvPr id="16" name="TextBox 15"/>
          <p:cNvSpPr txBox="1"/>
          <p:nvPr/>
        </p:nvSpPr>
        <p:spPr>
          <a:xfrm>
            <a:off x="9281160" y="6620256"/>
            <a:ext cx="2331720" cy="137160"/>
          </a:xfrm>
          <a:prstGeom prst="rect">
            <a:avLst/>
          </a:prstGeom>
          <a:noFill/>
        </p:spPr>
        <p:txBody>
          <a:bodyPr wrap="square" lIns="0" rIns="0" tIns="0" bIns="0" anchor="t">
            <a:spAutoFit/>
          </a:bodyPr>
          <a:lstStyle/>
          <a:p>
            <a:pPr algn="r"/>
            <a:r>
              <a:rPr sz="650" b="1" i="0">
                <a:solidFill>
                  <a:srgbClr val="6F8292"/>
                </a:solidFill>
                <a:latin typeface="Aptos"/>
              </a:rPr>
              <a:t>PERIODIC PATROL · LOCAL INTELLIGENCE</a:t>
            </a:r>
          </a:p>
        </p:txBody>
      </p:sp>
      <p:sp>
        <p:nvSpPr>
          <p:cNvPr id="17" name="Rounded Rectangle 16"/>
          <p:cNvSpPr/>
          <p:nvPr/>
        </p:nvSpPr>
        <p:spPr>
          <a:xfrm>
            <a:off x="603504" y="1554480"/>
            <a:ext cx="10954512" cy="1298448"/>
          </a:xfrm>
          <a:prstGeom prst="roundRect">
            <a:avLst/>
          </a:prstGeom>
          <a:solidFill>
            <a:srgbClr val="111A24"/>
          </a:solidFill>
          <a:ln w="1016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96112" y="1828800"/>
            <a:ext cx="484632" cy="484632"/>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4859" y="1941454"/>
            <a:ext cx="236280" cy="166786"/>
          </a:xfrm>
          <a:prstGeom prst="roundRect">
            <a:avLst/>
          </a:prstGeom>
          <a:solidFill>
            <a:srgbClr val="1C2B38"/>
          </a:solidFill>
          <a:ln w="1651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63081" y="1976201"/>
            <a:ext cx="55595" cy="45171"/>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67323" y="1976201"/>
            <a:ext cx="55595" cy="45171"/>
          </a:xfrm>
          <a:prstGeom prst="roundRect">
            <a:avLst/>
          </a:prstGeom>
          <a:solidFill>
            <a:srgbClr val="48E0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1143000" y="1899757"/>
            <a:ext cx="0" cy="41697"/>
          </a:xfrm>
          <a:prstGeom prst="line">
            <a:avLst/>
          </a:prstGeom>
          <a:ln w="15240">
            <a:solidFill>
              <a:srgbClr val="48E0D2"/>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129101" y="1882383"/>
            <a:ext cx="27797" cy="27797"/>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004011" y="2136038"/>
            <a:ext cx="277977" cy="0"/>
          </a:xfrm>
          <a:prstGeom prst="line">
            <a:avLst/>
          </a:prstGeom>
          <a:ln w="20320">
            <a:solidFill>
              <a:srgbClr val="48E0D2"/>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035283" y="2094341"/>
            <a:ext cx="62544" cy="62544"/>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95120" y="2094341"/>
            <a:ext cx="62544" cy="62544"/>
          </a:xfrm>
          <a:prstGeom prst="ellipse">
            <a:avLst/>
          </a:prstGeom>
          <a:solidFill>
            <a:srgbClr val="0A0F15"/>
          </a:solidFill>
          <a:ln w="1524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43000" y="2108240"/>
            <a:ext cx="0" cy="7644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68096" y="2432304"/>
            <a:ext cx="749808" cy="256032"/>
          </a:xfrm>
          <a:prstGeom prst="rect">
            <a:avLst/>
          </a:prstGeom>
          <a:noFill/>
        </p:spPr>
        <p:txBody>
          <a:bodyPr wrap="square" lIns="0" rIns="0" tIns="0" bIns="0" anchor="t">
            <a:spAutoFit/>
          </a:bodyPr>
          <a:lstStyle/>
          <a:p>
            <a:pPr algn="ctr"/>
            <a:r>
              <a:rPr sz="640" b="1" i="0">
                <a:solidFill>
                  <a:srgbClr val="48E0D2"/>
                </a:solidFill>
                <a:latin typeface="Aptos"/>
              </a:rPr>
              <a:t>SINGLE
ROBOT</a:t>
            </a:r>
          </a:p>
        </p:txBody>
      </p:sp>
      <p:sp>
        <p:nvSpPr>
          <p:cNvPr id="29" name="Chevron 28"/>
          <p:cNvSpPr/>
          <p:nvPr/>
        </p:nvSpPr>
        <p:spPr>
          <a:xfrm>
            <a:off x="2350008" y="2048256"/>
            <a:ext cx="182880"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642615" y="1828800"/>
            <a:ext cx="484632" cy="48463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V="1">
            <a:off x="2728971" y="1937979"/>
            <a:ext cx="50175" cy="90343"/>
          </a:xfrm>
          <a:prstGeom prst="line">
            <a:avLst/>
          </a:prstGeom>
          <a:ln w="15875">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79146" y="1937979"/>
            <a:ext cx="63379" cy="56012"/>
          </a:xfrm>
          <a:prstGeom prst="line">
            <a:avLst/>
          </a:prstGeom>
          <a:ln w="15875">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842525" y="1914490"/>
            <a:ext cx="52816" cy="79501"/>
          </a:xfrm>
          <a:prstGeom prst="line">
            <a:avLst/>
          </a:prstGeom>
          <a:ln w="15875">
            <a:solidFill>
              <a:srgbClr val="5EA7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895341" y="1914490"/>
            <a:ext cx="68660" cy="54205"/>
          </a:xfrm>
          <a:prstGeom prst="line">
            <a:avLst/>
          </a:prstGeom>
          <a:ln w="15875">
            <a:solidFill>
              <a:srgbClr val="5EA7FF"/>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2692395" y="1991746"/>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42570" y="1901403"/>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805949" y="1957415"/>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58765" y="1877914"/>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927425" y="1932119"/>
            <a:ext cx="73152" cy="73152"/>
          </a:xfrm>
          <a:prstGeom prst="ellipse">
            <a:avLst/>
          </a:prstGeom>
          <a:solidFill>
            <a:srgbClr val="5EA7FF"/>
          </a:solidFill>
          <a:ln w="12700">
            <a:solidFill>
              <a:srgbClr val="5EA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14599" y="2432304"/>
            <a:ext cx="749808" cy="256032"/>
          </a:xfrm>
          <a:prstGeom prst="rect">
            <a:avLst/>
          </a:prstGeom>
          <a:noFill/>
        </p:spPr>
        <p:txBody>
          <a:bodyPr wrap="square" lIns="0" rIns="0" tIns="0" bIns="0" anchor="t">
            <a:spAutoFit/>
          </a:bodyPr>
          <a:lstStyle/>
          <a:p>
            <a:pPr algn="ctr"/>
            <a:r>
              <a:rPr sz="640" b="1" i="0">
                <a:solidFill>
                  <a:srgbClr val="5EA7FF"/>
                </a:solidFill>
                <a:latin typeface="Aptos"/>
              </a:rPr>
              <a:t>MULTIPLE
ROUTES</a:t>
            </a:r>
          </a:p>
        </p:txBody>
      </p:sp>
      <p:sp>
        <p:nvSpPr>
          <p:cNvPr id="41" name="Chevron 40"/>
          <p:cNvSpPr/>
          <p:nvPr/>
        </p:nvSpPr>
        <p:spPr>
          <a:xfrm>
            <a:off x="4096511" y="2048256"/>
            <a:ext cx="182880"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389120" y="1828800"/>
            <a:ext cx="484632" cy="484632"/>
          </a:xfrm>
          <a:prstGeom prst="ellipse">
            <a:avLst/>
          </a:prstGeom>
          <a:solidFill>
            <a:srgbClr val="B796FF"/>
          </a:solidFill>
          <a:ln w="1270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517867" y="1941454"/>
            <a:ext cx="236280" cy="166786"/>
          </a:xfrm>
          <a:prstGeom prst="roundRect">
            <a:avLst/>
          </a:prstGeom>
          <a:solidFill>
            <a:srgbClr val="1C2B38"/>
          </a:solidFill>
          <a:ln w="1651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556089" y="1976201"/>
            <a:ext cx="55595" cy="45171"/>
          </a:xfrm>
          <a:prstGeom prst="roundRect">
            <a:avLst/>
          </a:prstGeom>
          <a:solidFill>
            <a:srgbClr val="B7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660331" y="1976201"/>
            <a:ext cx="55595" cy="45171"/>
          </a:xfrm>
          <a:prstGeom prst="roundRect">
            <a:avLst/>
          </a:prstGeom>
          <a:solidFill>
            <a:srgbClr val="B7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4636008" y="1899757"/>
            <a:ext cx="0" cy="41697"/>
          </a:xfrm>
          <a:prstGeom prst="line">
            <a:avLst/>
          </a:prstGeom>
          <a:ln w="15240">
            <a:solidFill>
              <a:srgbClr val="B796FF"/>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4622109" y="1882383"/>
            <a:ext cx="27797" cy="27797"/>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497019" y="2136038"/>
            <a:ext cx="277977" cy="0"/>
          </a:xfrm>
          <a:prstGeom prst="line">
            <a:avLst/>
          </a:prstGeom>
          <a:ln w="20320">
            <a:solidFill>
              <a:srgbClr val="B796FF"/>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4528291" y="2094341"/>
            <a:ext cx="62544" cy="62544"/>
          </a:xfrm>
          <a:prstGeom prst="ellipse">
            <a:avLst/>
          </a:prstGeom>
          <a:solidFill>
            <a:srgbClr val="0A0F15"/>
          </a:solidFill>
          <a:ln w="1524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688128" y="2094341"/>
            <a:ext cx="62544" cy="62544"/>
          </a:xfrm>
          <a:prstGeom prst="ellipse">
            <a:avLst/>
          </a:prstGeom>
          <a:solidFill>
            <a:srgbClr val="0A0F15"/>
          </a:solidFill>
          <a:ln w="15240">
            <a:solidFill>
              <a:srgbClr val="B7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4636008" y="2108240"/>
            <a:ext cx="0" cy="76444"/>
          </a:xfrm>
          <a:prstGeom prst="line">
            <a:avLst/>
          </a:prstGeom>
          <a:ln w="12700">
            <a:solidFill>
              <a:srgbClr val="F4B86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261104" y="2432304"/>
            <a:ext cx="749808" cy="256032"/>
          </a:xfrm>
          <a:prstGeom prst="rect">
            <a:avLst/>
          </a:prstGeom>
          <a:noFill/>
        </p:spPr>
        <p:txBody>
          <a:bodyPr wrap="square" lIns="0" rIns="0" tIns="0" bIns="0" anchor="t">
            <a:spAutoFit/>
          </a:bodyPr>
          <a:lstStyle/>
          <a:p>
            <a:pPr algn="ctr"/>
            <a:r>
              <a:rPr sz="640" b="1" i="0">
                <a:solidFill>
                  <a:srgbClr val="B796FF"/>
                </a:solidFill>
                <a:latin typeface="Aptos"/>
              </a:rPr>
              <a:t>MULTI-ROBOT
FLEET</a:t>
            </a:r>
          </a:p>
        </p:txBody>
      </p:sp>
      <p:sp>
        <p:nvSpPr>
          <p:cNvPr id="53" name="Chevron 52"/>
          <p:cNvSpPr/>
          <p:nvPr/>
        </p:nvSpPr>
        <p:spPr>
          <a:xfrm>
            <a:off x="5843015" y="2048256"/>
            <a:ext cx="182880"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135623" y="1828800"/>
            <a:ext cx="484632" cy="484632"/>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6236573" y="1920605"/>
            <a:ext cx="194584" cy="194584"/>
          </a:xfrm>
          <a:prstGeom prst="ellipse">
            <a:avLst/>
          </a:prstGeom>
          <a:solidFill>
            <a:srgbClr val="0A0F15"/>
          </a:solidFill>
          <a:ln w="1397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6333865" y="1958827"/>
            <a:ext cx="0" cy="59070"/>
          </a:xfrm>
          <a:prstGeom prst="line">
            <a:avLst/>
          </a:prstGeom>
          <a:ln w="15240">
            <a:solidFill>
              <a:srgbClr val="F4B86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333865" y="2017897"/>
            <a:ext cx="45172" cy="24323"/>
          </a:xfrm>
          <a:prstGeom prst="line">
            <a:avLst/>
          </a:prstGeom>
          <a:ln w="15240">
            <a:solidFill>
              <a:srgbClr val="F4B860"/>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319967" y="2003999"/>
            <a:ext cx="27797" cy="27797"/>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007607" y="2432304"/>
            <a:ext cx="749808" cy="256032"/>
          </a:xfrm>
          <a:prstGeom prst="rect">
            <a:avLst/>
          </a:prstGeom>
          <a:noFill/>
        </p:spPr>
        <p:txBody>
          <a:bodyPr wrap="square" lIns="0" rIns="0" tIns="0" bIns="0" anchor="t">
            <a:spAutoFit/>
          </a:bodyPr>
          <a:lstStyle/>
          <a:p>
            <a:pPr algn="ctr"/>
            <a:r>
              <a:rPr sz="640" b="1" i="0">
                <a:solidFill>
                  <a:srgbClr val="F4B860"/>
                </a:solidFill>
                <a:latin typeface="Aptos"/>
              </a:rPr>
              <a:t>SCHEDULED
PATROLS</a:t>
            </a:r>
          </a:p>
        </p:txBody>
      </p:sp>
      <p:sp>
        <p:nvSpPr>
          <p:cNvPr id="60" name="Chevron 59"/>
          <p:cNvSpPr/>
          <p:nvPr/>
        </p:nvSpPr>
        <p:spPr>
          <a:xfrm>
            <a:off x="7589519" y="2048256"/>
            <a:ext cx="182880"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882127" y="1828800"/>
            <a:ext cx="484632" cy="484632"/>
          </a:xfrm>
          <a:prstGeom prst="ellipse">
            <a:avLst/>
          </a:prstGeom>
          <a:solidFill>
            <a:srgbClr val="F28D52"/>
          </a:solidFill>
          <a:ln w="1270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7955279" y="1892807"/>
            <a:ext cx="215432" cy="146304"/>
          </a:xfrm>
          <a:prstGeom prst="roundRect">
            <a:avLst/>
          </a:prstGeom>
          <a:solidFill>
            <a:srgbClr val="0A0F15"/>
          </a:solidFill>
          <a:ln w="1143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028431" y="1943100"/>
            <a:ext cx="45720" cy="45720"/>
          </a:xfrm>
          <a:prstGeom prst="ellipse">
            <a:avLst/>
          </a:prstGeom>
          <a:solidFill>
            <a:srgbClr val="F28D52"/>
          </a:solidFill>
          <a:ln w="1270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flipH="1">
            <a:off x="8097560" y="1965960"/>
            <a:ext cx="77176" cy="0"/>
          </a:xfrm>
          <a:prstGeom prst="line">
            <a:avLst/>
          </a:prstGeom>
          <a:ln w="8890">
            <a:solidFill>
              <a:srgbClr val="F28D52"/>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7955279" y="2093976"/>
            <a:ext cx="215432" cy="146304"/>
          </a:xfrm>
          <a:prstGeom prst="roundRect">
            <a:avLst/>
          </a:prstGeom>
          <a:solidFill>
            <a:srgbClr val="0A0F15"/>
          </a:solidFill>
          <a:ln w="1143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028431" y="2144268"/>
            <a:ext cx="45720" cy="45720"/>
          </a:xfrm>
          <a:prstGeom prst="ellipse">
            <a:avLst/>
          </a:prstGeom>
          <a:solidFill>
            <a:srgbClr val="F28D52"/>
          </a:solidFill>
          <a:ln w="1270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flipH="1">
            <a:off x="8097560" y="2167128"/>
            <a:ext cx="77176" cy="0"/>
          </a:xfrm>
          <a:prstGeom prst="line">
            <a:avLst/>
          </a:prstGeom>
          <a:ln w="8890">
            <a:solidFill>
              <a:srgbClr val="F28D52"/>
            </a:solidFill>
          </a:ln>
        </p:spPr>
        <p:style>
          <a:lnRef idx="2">
            <a:schemeClr val="accent1"/>
          </a:lnRef>
          <a:fillRef idx="0">
            <a:schemeClr val="accent1"/>
          </a:fillRef>
          <a:effectRef idx="1">
            <a:schemeClr val="accent1"/>
          </a:effectRef>
          <a:fontRef idx="minor">
            <a:schemeClr val="tx1"/>
          </a:fontRef>
        </p:style>
      </p:cxnSp>
      <p:sp>
        <p:nvSpPr>
          <p:cNvPr id="68" name="Rounded Rectangle 67"/>
          <p:cNvSpPr/>
          <p:nvPr/>
        </p:nvSpPr>
        <p:spPr>
          <a:xfrm>
            <a:off x="7955279" y="2295144"/>
            <a:ext cx="215432" cy="146304"/>
          </a:xfrm>
          <a:prstGeom prst="roundRect">
            <a:avLst/>
          </a:prstGeom>
          <a:solidFill>
            <a:srgbClr val="0A0F15"/>
          </a:solidFill>
          <a:ln w="1143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028431" y="2345436"/>
            <a:ext cx="45720" cy="45720"/>
          </a:xfrm>
          <a:prstGeom prst="ellipse">
            <a:avLst/>
          </a:prstGeom>
          <a:solidFill>
            <a:srgbClr val="F28D52"/>
          </a:solidFill>
          <a:ln w="12700">
            <a:solidFill>
              <a:srgbClr val="F28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8097560" y="2368296"/>
            <a:ext cx="77176" cy="0"/>
          </a:xfrm>
          <a:prstGeom prst="line">
            <a:avLst/>
          </a:prstGeom>
          <a:ln w="8890">
            <a:solidFill>
              <a:srgbClr val="F28D52"/>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7754111" y="2432304"/>
            <a:ext cx="749808" cy="256032"/>
          </a:xfrm>
          <a:prstGeom prst="rect">
            <a:avLst/>
          </a:prstGeom>
          <a:noFill/>
        </p:spPr>
        <p:txBody>
          <a:bodyPr wrap="square" lIns="0" rIns="0" tIns="0" bIns="0" anchor="t">
            <a:spAutoFit/>
          </a:bodyPr>
          <a:lstStyle/>
          <a:p>
            <a:pPr algn="ctr"/>
            <a:r>
              <a:rPr sz="640" b="1" i="0">
                <a:solidFill>
                  <a:srgbClr val="F28D52"/>
                </a:solidFill>
                <a:latin typeface="Aptos"/>
              </a:rPr>
              <a:t>HISTORICAL
ANALYTICS</a:t>
            </a:r>
          </a:p>
        </p:txBody>
      </p:sp>
      <p:sp>
        <p:nvSpPr>
          <p:cNvPr id="72" name="Chevron 71"/>
          <p:cNvSpPr/>
          <p:nvPr/>
        </p:nvSpPr>
        <p:spPr>
          <a:xfrm>
            <a:off x="9336024" y="2048256"/>
            <a:ext cx="182880" cy="237744"/>
          </a:xfrm>
          <a:prstGeom prst="chevron">
            <a:avLst/>
          </a:prstGeom>
          <a:solidFill>
            <a:srgbClr val="6F8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628632" y="1828800"/>
            <a:ext cx="484632" cy="484632"/>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flipV="1">
            <a:off x="9778227" y="1955352"/>
            <a:ext cx="138989" cy="138989"/>
          </a:xfrm>
          <a:prstGeom prst="line">
            <a:avLst/>
          </a:prstGeom>
          <a:ln w="30480">
            <a:solidFill>
              <a:srgbClr val="7FE0A4"/>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9882469" y="1906706"/>
            <a:ext cx="76443" cy="76443"/>
          </a:xfrm>
          <a:prstGeom prst="ellipse">
            <a:avLst/>
          </a:prstGeom>
          <a:solidFill>
            <a:srgbClr val="0A0F15"/>
          </a:solidFill>
          <a:ln w="1905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9892893" y="1906706"/>
            <a:ext cx="59070" cy="59071"/>
          </a:xfrm>
          <a:prstGeom prst="line">
            <a:avLst/>
          </a:prstGeom>
          <a:ln w="38100">
            <a:solidFill>
              <a:srgbClr val="0A0F15"/>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9736531" y="2059594"/>
            <a:ext cx="79918" cy="79918"/>
          </a:xfrm>
          <a:prstGeom prst="ellipse">
            <a:avLst/>
          </a:prstGeom>
          <a:solidFill>
            <a:srgbClr val="0A0F15"/>
          </a:solidFill>
          <a:ln w="1778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500615" y="2432304"/>
            <a:ext cx="749808" cy="256032"/>
          </a:xfrm>
          <a:prstGeom prst="rect">
            <a:avLst/>
          </a:prstGeom>
          <a:noFill/>
        </p:spPr>
        <p:txBody>
          <a:bodyPr wrap="square" lIns="0" rIns="0" tIns="0" bIns="0" anchor="t">
            <a:spAutoFit/>
          </a:bodyPr>
          <a:lstStyle/>
          <a:p>
            <a:pPr algn="ctr"/>
            <a:r>
              <a:rPr sz="640" b="1" i="0">
                <a:solidFill>
                  <a:srgbClr val="7FE0A4"/>
                </a:solidFill>
                <a:latin typeface="Aptos"/>
              </a:rPr>
              <a:t>PREDICTIVE
MAINTENANCE</a:t>
            </a:r>
          </a:p>
        </p:txBody>
      </p:sp>
      <p:sp>
        <p:nvSpPr>
          <p:cNvPr id="79" name="TextBox 78"/>
          <p:cNvSpPr txBox="1"/>
          <p:nvPr/>
        </p:nvSpPr>
        <p:spPr>
          <a:xfrm>
            <a:off x="640080" y="3447288"/>
            <a:ext cx="5623560" cy="475488"/>
          </a:xfrm>
          <a:prstGeom prst="rect">
            <a:avLst/>
          </a:prstGeom>
          <a:noFill/>
        </p:spPr>
        <p:txBody>
          <a:bodyPr wrap="square" lIns="0" rIns="0" tIns="0" bIns="0" anchor="t">
            <a:spAutoFit/>
          </a:bodyPr>
          <a:lstStyle/>
          <a:p>
            <a:pPr algn="l"/>
            <a:r>
              <a:rPr sz="1720" b="1" i="0">
                <a:solidFill>
                  <a:srgbClr val="F4F7FA"/>
                </a:solidFill>
                <a:latin typeface="Aptos Display"/>
              </a:rPr>
              <a:t>The robot does not replace the maintenance team.
It gives the team better evidence, earlier.</a:t>
            </a:r>
          </a:p>
        </p:txBody>
      </p:sp>
      <p:sp>
        <p:nvSpPr>
          <p:cNvPr id="80" name="Rounded Rectangle 79"/>
          <p:cNvSpPr/>
          <p:nvPr/>
        </p:nvSpPr>
        <p:spPr>
          <a:xfrm>
            <a:off x="7059168" y="3493008"/>
            <a:ext cx="4407408"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278624" y="3639312"/>
            <a:ext cx="82296" cy="82296"/>
          </a:xfrm>
          <a:prstGeom prst="ellipse">
            <a:avLst/>
          </a:prstGeom>
          <a:solidFill>
            <a:srgbClr val="48E0D2"/>
          </a:solidFill>
          <a:ln w="12700">
            <a:solidFill>
              <a:srgbClr val="48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516368" y="3593591"/>
            <a:ext cx="3703320" cy="164592"/>
          </a:xfrm>
          <a:prstGeom prst="rect">
            <a:avLst/>
          </a:prstGeom>
          <a:noFill/>
        </p:spPr>
        <p:txBody>
          <a:bodyPr wrap="square" lIns="0" rIns="0" tIns="0" bIns="0" anchor="t">
            <a:spAutoFit/>
          </a:bodyPr>
          <a:lstStyle/>
          <a:p>
            <a:pPr algn="l"/>
            <a:r>
              <a:rPr sz="1019" b="1" i="0">
                <a:solidFill>
                  <a:srgbClr val="48E0D2"/>
                </a:solidFill>
                <a:latin typeface="Aptos"/>
              </a:rPr>
              <a:t>DETECT EARLIER</a:t>
            </a:r>
          </a:p>
        </p:txBody>
      </p:sp>
      <p:sp>
        <p:nvSpPr>
          <p:cNvPr id="83" name="Rounded Rectangle 82"/>
          <p:cNvSpPr/>
          <p:nvPr/>
        </p:nvSpPr>
        <p:spPr>
          <a:xfrm>
            <a:off x="7059168" y="4014215"/>
            <a:ext cx="4407408"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278624" y="4160520"/>
            <a:ext cx="82296" cy="82296"/>
          </a:xfrm>
          <a:prstGeom prst="ellipse">
            <a:avLst/>
          </a:prstGeom>
          <a:solidFill>
            <a:srgbClr val="F4B860"/>
          </a:solidFill>
          <a:ln w="12700">
            <a:solidFill>
              <a:srgbClr val="F4B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516368" y="4114800"/>
            <a:ext cx="3703320" cy="164592"/>
          </a:xfrm>
          <a:prstGeom prst="rect">
            <a:avLst/>
          </a:prstGeom>
          <a:noFill/>
        </p:spPr>
        <p:txBody>
          <a:bodyPr wrap="square" lIns="0" rIns="0" tIns="0" bIns="0" anchor="t">
            <a:spAutoFit/>
          </a:bodyPr>
          <a:lstStyle/>
          <a:p>
            <a:pPr algn="l"/>
            <a:r>
              <a:rPr sz="1019" b="1" i="0">
                <a:solidFill>
                  <a:srgbClr val="F4B860"/>
                </a:solidFill>
                <a:latin typeface="Aptos"/>
              </a:rPr>
              <a:t>LOCATE FASTER</a:t>
            </a:r>
          </a:p>
        </p:txBody>
      </p:sp>
      <p:sp>
        <p:nvSpPr>
          <p:cNvPr id="86" name="Rounded Rectangle 85"/>
          <p:cNvSpPr/>
          <p:nvPr/>
        </p:nvSpPr>
        <p:spPr>
          <a:xfrm>
            <a:off x="7059168" y="4535424"/>
            <a:ext cx="4407408" cy="384048"/>
          </a:xfrm>
          <a:prstGeom prst="roundRect">
            <a:avLst/>
          </a:prstGeom>
          <a:solidFill>
            <a:srgbClr val="172330"/>
          </a:solidFill>
          <a:ln w="7620">
            <a:solidFill>
              <a:srgbClr val="203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278624" y="4681728"/>
            <a:ext cx="82296" cy="82296"/>
          </a:xfrm>
          <a:prstGeom prst="ellipse">
            <a:avLst/>
          </a:prstGeom>
          <a:solidFill>
            <a:srgbClr val="7FE0A4"/>
          </a:solidFill>
          <a:ln w="12700">
            <a:solidFill>
              <a:srgbClr val="7FE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516368" y="4636008"/>
            <a:ext cx="3703320" cy="164592"/>
          </a:xfrm>
          <a:prstGeom prst="rect">
            <a:avLst/>
          </a:prstGeom>
          <a:noFill/>
        </p:spPr>
        <p:txBody>
          <a:bodyPr wrap="square" lIns="0" rIns="0" tIns="0" bIns="0" anchor="t">
            <a:spAutoFit/>
          </a:bodyPr>
          <a:lstStyle/>
          <a:p>
            <a:pPr algn="l"/>
            <a:r>
              <a:rPr sz="1019" b="1" i="0">
                <a:solidFill>
                  <a:srgbClr val="7FE0A4"/>
                </a:solidFill>
                <a:latin typeface="Aptos"/>
              </a:rPr>
              <a:t>PRIORITIZE SMARTER</a:t>
            </a:r>
          </a:p>
        </p:txBody>
      </p:sp>
      <p:sp>
        <p:nvSpPr>
          <p:cNvPr id="89" name="Rounded Rectangle 88"/>
          <p:cNvSpPr/>
          <p:nvPr/>
        </p:nvSpPr>
        <p:spPr>
          <a:xfrm>
            <a:off x="603504" y="5257800"/>
            <a:ext cx="10954512" cy="576072"/>
          </a:xfrm>
          <a:prstGeom prst="roundRect">
            <a:avLst/>
          </a:prstGeom>
          <a:solidFill>
            <a:srgbClr val="14313A"/>
          </a:solidFill>
          <a:ln w="11430">
            <a:solidFill>
              <a:srgbClr val="1E8F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41248" y="5431536"/>
            <a:ext cx="4251960" cy="182880"/>
          </a:xfrm>
          <a:prstGeom prst="rect">
            <a:avLst/>
          </a:prstGeom>
          <a:noFill/>
        </p:spPr>
        <p:txBody>
          <a:bodyPr wrap="square" lIns="0" rIns="0" tIns="0" bIns="0" anchor="t">
            <a:spAutoFit/>
          </a:bodyPr>
          <a:lstStyle/>
          <a:p>
            <a:pPr algn="l"/>
            <a:r>
              <a:rPr sz="819" b="1" i="0">
                <a:solidFill>
                  <a:srgbClr val="48E0D2"/>
                </a:solidFill>
                <a:latin typeface="Aptos"/>
              </a:rPr>
              <a:t>PERIODIC PATROL  •  LOCAL INTELLIGENCE  •  ACTIONABLE RECORDS</a:t>
            </a:r>
          </a:p>
        </p:txBody>
      </p:sp>
      <p:sp>
        <p:nvSpPr>
          <p:cNvPr id="91" name="TextBox 90"/>
          <p:cNvSpPr txBox="1"/>
          <p:nvPr/>
        </p:nvSpPr>
        <p:spPr>
          <a:xfrm>
            <a:off x="6446520" y="5394960"/>
            <a:ext cx="4727448" cy="219456"/>
          </a:xfrm>
          <a:prstGeom prst="rect">
            <a:avLst/>
          </a:prstGeom>
          <a:noFill/>
        </p:spPr>
        <p:txBody>
          <a:bodyPr wrap="square" lIns="0" rIns="0" tIns="0" bIns="0" anchor="t">
            <a:spAutoFit/>
          </a:bodyPr>
          <a:lstStyle/>
          <a:p>
            <a:pPr algn="r"/>
            <a:r>
              <a:rPr sz="1030" b="1" i="0">
                <a:solidFill>
                  <a:srgbClr val="F4F7FA"/>
                </a:solidFill>
                <a:latin typeface="Aptos"/>
              </a:rPr>
              <a:t>A strong MVP starts with a route — and ends with a decision.</a:t>
            </a:r>
          </a:p>
        </p:txBody>
      </p:sp>
      <p:sp>
        <p:nvSpPr>
          <p:cNvPr id="92" name="TextBox 91"/>
          <p:cNvSpPr txBox="1"/>
          <p:nvPr/>
        </p:nvSpPr>
        <p:spPr>
          <a:xfrm>
            <a:off x="640080" y="6217920"/>
            <a:ext cx="10716768" cy="164592"/>
          </a:xfrm>
          <a:prstGeom prst="rect">
            <a:avLst/>
          </a:prstGeom>
          <a:noFill/>
        </p:spPr>
        <p:txBody>
          <a:bodyPr wrap="square" lIns="0" rIns="0" tIns="0" bIns="0" anchor="t">
            <a:spAutoFit/>
          </a:bodyPr>
          <a:lstStyle/>
          <a:p>
            <a:pPr algn="ctr"/>
            <a:r>
              <a:rPr sz="730" b="1" i="0">
                <a:solidFill>
                  <a:srgbClr val="6F8292"/>
                </a:solidFill>
                <a:latin typeface="Aptos"/>
              </a:rPr>
              <a:t>AUTONOMOUS EDGE-AI ROBOTIC SYSTEM FOR COMPRESSED-AIR LEAK DETECTION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Edge-AI Robotic System for Compressed-Air Leak Detection</dc:title>
  <dc:subject>Automated industrial leak intelligence and maintenance prioritization</dc:subject>
  <dc:creator>Arena.ai Agent Mode</dc:creator>
  <cp:keywords>compressed air, leak detection, edge AI, robotics, predictive maintenance, hackathon</cp:keywords>
  <dc:description>Editable vector-first hackathon presentation. Claims are intentionally bounded to the MVP and proposed functionality.</dc:description>
  <cp:lastModifiedBy>Steve Canny</cp:lastModifiedBy>
  <cp:revision>1</cp:revision>
  <dcterms:created xsi:type="dcterms:W3CDTF">2013-01-27T09:14:16Z</dcterms:created>
  <dcterms:modified xsi:type="dcterms:W3CDTF">2013-01-27T09:15:58Z</dcterms:modified>
  <cp:category/>
</cp:coreProperties>
</file>