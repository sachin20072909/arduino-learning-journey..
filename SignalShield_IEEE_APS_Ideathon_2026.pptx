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team DATAPULSE. SignalShield helps us see which villages may lose mobile service in a disaster.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Storms can knock out towers. Families may lose calls, help, and warnings. We need to know which villages may go offline before danger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apps measure signal after people walk around. They need users in weak areas. SignalShield predicts outage risk and suggests one relay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a village on the map. Turn off one tower to see red areas. The tool picks one relay spot to bring weak areas back into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use terrain and tower data to estimate radio coverage. RF checks include path loss, line of sight, Fresnel zone, antenna height, and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SignalShield supports strong networks, safer villages, climate readiness, and learning. A pilot will measure the village, people reached, and relay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test one village, work with a district disaster management authority, and then scale to flood-prone districts. We seek a pilot partner and data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title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0"/>
            <a:ext cx="582747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64224" y="0"/>
            <a:ext cx="5827471" cy="6858000"/>
          </a:xfrm>
          <a:prstGeom prst="rect">
            <a:avLst/>
          </a:prstGeom>
          <a:noFill/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18504" y="0"/>
            <a:ext cx="50292" cy="6858000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521207"/>
            <a:ext cx="34290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9F36C"/>
                </a:solidFill>
                <a:latin typeface="Aptos"/>
              </a:rPr>
              <a:t>IEEE AP-S IDEATHON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85615" y="521207"/>
            <a:ext cx="213969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AFC0"/>
                </a:solidFill>
                <a:latin typeface="Aptos"/>
              </a:rPr>
              <a:t>TRACK 2 · UN SDGs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49808" y="987552"/>
            <a:ext cx="5047488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261872"/>
            <a:ext cx="539496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3F7F9"/>
                </a:solidFill>
                <a:latin typeface="Aptos"/>
              </a:rPr>
              <a:t>SignalShield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48840"/>
            <a:ext cx="5413248" cy="10332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0">
                <a:solidFill>
                  <a:srgbClr val="F3F7F9"/>
                </a:solidFill>
                <a:latin typeface="Aptos"/>
              </a:rPr>
              <a:t>Predict network blackouts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0">
                <a:solidFill>
                  <a:srgbClr val="F3F7F9"/>
                </a:solidFill>
                <a:latin typeface="Aptos"/>
              </a:rPr>
              <a:t>before disasters strike.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401568"/>
            <a:ext cx="1499616" cy="310896"/>
          </a:xfrm>
          <a:prstGeom prst="roundRect">
            <a:avLst/>
          </a:prstGeom>
          <a:solidFill>
            <a:srgbClr val="12302E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34015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B9F36C"/>
                </a:solidFill>
                <a:latin typeface="Aptos"/>
              </a:rPr>
              <a:t>FREE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913632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F36C"/>
                </a:solidFill>
                <a:latin typeface="Aptos"/>
              </a:rPr>
              <a:t>DATAPULSE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26110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9AAFC0"/>
                </a:solidFill>
                <a:latin typeface="Aptos"/>
              </a:rPr>
              <a:t>SRI SAIRAM ENGINEERING COLLEGE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473659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688196"/>
                </a:solidFill>
                <a:latin typeface="Aptos"/>
              </a:rPr>
              <a:t>TEAM LEAD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95604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7F9"/>
                </a:solidFill>
                <a:latin typeface="Aptos"/>
              </a:rPr>
              <a:t>N.Sachin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7365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688196"/>
                </a:solidFill>
                <a:latin typeface="Aptos"/>
              </a:rPr>
              <a:t>TEAM MEMBERS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956048"/>
            <a:ext cx="3547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3F7F9"/>
                </a:solidFill>
                <a:latin typeface="Aptos"/>
              </a:rPr>
              <a:t>NithyaSri S · Preethika 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555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The Problem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solidFill>
            <a:srgbClr val="B9F36C"/>
          </a:solidFill>
          <a:ln w="10795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49808" y="1591056"/>
            <a:ext cx="45720" cy="7863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07791"/>
            <a:ext cx="45720" cy="7863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45720" cy="7863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5" y="1508760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F3F7F9"/>
                </a:solidFill>
                <a:latin typeface="Aptos"/>
              </a:rPr>
              <a:t>Storms and floods 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1883664"/>
            <a:ext cx="5074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B9F36C"/>
                </a:solidFill>
                <a:latin typeface="Aptos"/>
              </a:rPr>
              <a:t>knock out mobile towers.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2825496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 i="0">
                <a:solidFill>
                  <a:srgbClr val="F3F7F9"/>
                </a:solidFill>
                <a:latin typeface="Aptos"/>
              </a:rPr>
              <a:t>Families may lose calls, help,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5" y="320040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B9F36C"/>
                </a:solidFill>
                <a:latin typeface="Aptos"/>
              </a:rPr>
              <a:t>and warning messages.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160520"/>
            <a:ext cx="51663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150" b="0" i="0">
                <a:solidFill>
                  <a:srgbClr val="F3F7F9"/>
                </a:solidFill>
                <a:latin typeface="Aptos"/>
              </a:rPr>
              <a:t>We need to know which villages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5" y="4535424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020" b="1" i="0">
                <a:solidFill>
                  <a:srgbClr val="B9F36C"/>
                </a:solidFill>
                <a:latin typeface="Aptos"/>
              </a:rPr>
              <a:t>may go offline before danger arrives.</a:t>
            </a:r>
          </a:p>
        </p:txBody>
      </p:sp>
      <p:pic>
        <p:nvPicPr>
          <p:cNvPr id="21" name="Picture 20" descr="slide2_problem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353312"/>
            <a:ext cx="5056632" cy="48646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473952" y="1353312"/>
            <a:ext cx="5056632" cy="4864608"/>
          </a:xfrm>
          <a:prstGeom prst="rect">
            <a:avLst/>
          </a:prstGeom>
          <a:noFill/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555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Why Current Apps Fall Short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solidFill>
            <a:srgbClr val="B9F36C"/>
          </a:solidFill>
          <a:ln w="10795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8368" y="1417320"/>
            <a:ext cx="6473952" cy="4800600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67912" y="1581912"/>
            <a:ext cx="3054096" cy="4462272"/>
          </a:xfrm>
          <a:prstGeom prst="roundRect">
            <a:avLst/>
          </a:prstGeom>
          <a:solidFill>
            <a:srgbClr val="112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636776"/>
            <a:ext cx="26060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3F7F9"/>
                </a:solidFill>
                <a:latin typeface="Aptos"/>
              </a:rPr>
              <a:t>Existing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195681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AFC0"/>
                </a:solidFill>
                <a:latin typeface="Aptos"/>
              </a:rPr>
              <a:t>OpenSignal · Speedtest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7373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B9F36C"/>
                </a:solidFill>
                <a:latin typeface="Aptos"/>
              </a:rPr>
              <a:t>SignalShield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67328" y="1600200"/>
            <a:ext cx="0" cy="4416552"/>
          </a:xfrm>
          <a:prstGeom prst="line">
            <a:avLst/>
          </a:prstGeom>
          <a:ln w="13970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950976" y="2679192"/>
            <a:ext cx="310896" cy="310896"/>
          </a:xfrm>
          <a:prstGeom prst="ellipse">
            <a:avLst/>
          </a:prstGeom>
          <a:solidFill>
            <a:srgbClr val="152B3B"/>
          </a:solidFill>
          <a:ln w="1270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033271" y="2834640"/>
            <a:ext cx="146305" cy="0"/>
          </a:xfrm>
          <a:prstGeom prst="line">
            <a:avLst/>
          </a:prstGeom>
          <a:ln w="2286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26464" y="2532888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1CDD6"/>
                </a:solidFill>
                <a:latin typeface="Aptos"/>
              </a:rPr>
              <a:t>Measure after people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1CDD6"/>
                </a:solidFill>
                <a:latin typeface="Aptos"/>
              </a:rPr>
              <a:t>walk</a:t>
            </a:r>
          </a:p>
        </p:txBody>
      </p:sp>
      <p:sp>
        <p:nvSpPr>
          <p:cNvPr id="21" name="Oval 20"/>
          <p:cNvSpPr/>
          <p:nvPr/>
        </p:nvSpPr>
        <p:spPr>
          <a:xfrm>
            <a:off x="4151376" y="2679192"/>
            <a:ext cx="310896" cy="310896"/>
          </a:xfrm>
          <a:prstGeom prst="ellipse">
            <a:avLst/>
          </a:prstGeom>
          <a:solidFill>
            <a:srgbClr val="203A32"/>
          </a:solidFill>
          <a:ln w="1270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233672" y="2834640"/>
            <a:ext cx="73152" cy="73152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306824" y="2752344"/>
            <a:ext cx="109728" cy="155448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90288" y="2532888"/>
            <a:ext cx="2212848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20" b="1" i="0">
                <a:solidFill>
                  <a:srgbClr val="F3F7F9"/>
                </a:solidFill>
                <a:latin typeface="Aptos"/>
              </a:rPr>
              <a:t>Predict outage risk early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2688" y="3465576"/>
            <a:ext cx="5916168" cy="0"/>
          </a:xfrm>
          <a:prstGeom prst="line">
            <a:avLst/>
          </a:prstGeom>
          <a:ln w="952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50976" y="3767328"/>
            <a:ext cx="310896" cy="310896"/>
          </a:xfrm>
          <a:prstGeom prst="ellipse">
            <a:avLst/>
          </a:prstGeom>
          <a:solidFill>
            <a:srgbClr val="152B3B"/>
          </a:solidFill>
          <a:ln w="1270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033271" y="3922776"/>
            <a:ext cx="146305" cy="0"/>
          </a:xfrm>
          <a:prstGeom prst="line">
            <a:avLst/>
          </a:prstGeom>
          <a:ln w="2286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426464" y="3621024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1CDD6"/>
                </a:solidFill>
                <a:latin typeface="Aptos"/>
              </a:rPr>
              <a:t>Need users in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1CDD6"/>
                </a:solidFill>
                <a:latin typeface="Aptos"/>
              </a:rPr>
              <a:t>dead zones</a:t>
            </a:r>
          </a:p>
        </p:txBody>
      </p:sp>
      <p:sp>
        <p:nvSpPr>
          <p:cNvPr id="29" name="Oval 28"/>
          <p:cNvSpPr/>
          <p:nvPr/>
        </p:nvSpPr>
        <p:spPr>
          <a:xfrm>
            <a:off x="4151376" y="3767328"/>
            <a:ext cx="310896" cy="310896"/>
          </a:xfrm>
          <a:prstGeom prst="ellipse">
            <a:avLst/>
          </a:prstGeom>
          <a:solidFill>
            <a:srgbClr val="203A32"/>
          </a:solidFill>
          <a:ln w="1270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233672" y="3922776"/>
            <a:ext cx="73152" cy="73152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306824" y="3840480"/>
            <a:ext cx="109728" cy="155448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90288" y="3621024"/>
            <a:ext cx="2212848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20" b="1" i="0">
                <a:solidFill>
                  <a:srgbClr val="F3F7F9"/>
                </a:solidFill>
                <a:latin typeface="Aptos"/>
              </a:rPr>
              <a:t>Use free public data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688" y="4553712"/>
            <a:ext cx="5916168" cy="0"/>
          </a:xfrm>
          <a:prstGeom prst="line">
            <a:avLst/>
          </a:prstGeom>
          <a:ln w="952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50976" y="4855464"/>
            <a:ext cx="310896" cy="310896"/>
          </a:xfrm>
          <a:prstGeom prst="ellipse">
            <a:avLst/>
          </a:prstGeom>
          <a:solidFill>
            <a:srgbClr val="152B3B"/>
          </a:solidFill>
          <a:ln w="1270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033271" y="5010912"/>
            <a:ext cx="146305" cy="0"/>
          </a:xfrm>
          <a:prstGeom prst="line">
            <a:avLst/>
          </a:prstGeom>
          <a:ln w="2286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426464" y="47091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C1CDD6"/>
                </a:solidFill>
                <a:latin typeface="Aptos"/>
              </a:rPr>
              <a:t>No suggested fix</a:t>
            </a:r>
          </a:p>
        </p:txBody>
      </p:sp>
      <p:sp>
        <p:nvSpPr>
          <p:cNvPr id="37" name="Oval 36"/>
          <p:cNvSpPr/>
          <p:nvPr/>
        </p:nvSpPr>
        <p:spPr>
          <a:xfrm>
            <a:off x="4151376" y="4855464"/>
            <a:ext cx="310896" cy="310896"/>
          </a:xfrm>
          <a:prstGeom prst="ellipse">
            <a:avLst/>
          </a:prstGeom>
          <a:solidFill>
            <a:srgbClr val="203A32"/>
          </a:solidFill>
          <a:ln w="1270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233672" y="5010912"/>
            <a:ext cx="73152" cy="73152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6824" y="4928616"/>
            <a:ext cx="109728" cy="155448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90288" y="4709160"/>
            <a:ext cx="2212848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20" b="1" i="0">
                <a:solidFill>
                  <a:srgbClr val="F3F7F9"/>
                </a:solidFill>
                <a:latin typeface="Aptos"/>
              </a:rPr>
              <a:t>Suggest one relay site</a:t>
            </a:r>
          </a:p>
        </p:txBody>
      </p:sp>
      <p:pic>
        <p:nvPicPr>
          <p:cNvPr id="41" name="Picture 40" descr="slide3_current_apps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88" y="1417320"/>
            <a:ext cx="4197096" cy="48006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7333488" y="1417320"/>
            <a:ext cx="4197096" cy="4800600"/>
          </a:xfrm>
          <a:prstGeom prst="rect">
            <a:avLst/>
          </a:prstGeom>
          <a:noFill/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555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Our Solution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solidFill>
            <a:srgbClr val="B9F36C"/>
          </a:solidFill>
          <a:ln w="10795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8368" y="1389888"/>
            <a:ext cx="3355848" cy="2103120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1389888"/>
            <a:ext cx="50292" cy="2103120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554480"/>
            <a:ext cx="47548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9F36C"/>
                </a:solidFill>
                <a:latin typeface="Aptos"/>
              </a:rPr>
              <a:t>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389888"/>
            <a:ext cx="3355848" cy="2103120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389888"/>
            <a:ext cx="50292" cy="2103120"/>
          </a:xfrm>
          <a:prstGeom prst="rect">
            <a:avLst/>
          </a:prstGeom>
          <a:solidFill>
            <a:srgbClr val="54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1554480"/>
            <a:ext cx="47548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9F36C"/>
                </a:solidFill>
                <a:latin typeface="Aptos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74736" y="1389888"/>
            <a:ext cx="3355848" cy="2103120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74736" y="1389888"/>
            <a:ext cx="50292" cy="2103120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1554480"/>
            <a:ext cx="47548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9F36C"/>
                </a:solidFill>
                <a:latin typeface="Aptos"/>
              </a:rPr>
              <a:t>03</a:t>
            </a:r>
          </a:p>
        </p:txBody>
      </p:sp>
      <p:sp>
        <p:nvSpPr>
          <p:cNvPr id="21" name="Oval 20"/>
          <p:cNvSpPr/>
          <p:nvPr/>
        </p:nvSpPr>
        <p:spPr>
          <a:xfrm>
            <a:off x="3373404" y="1681764"/>
            <a:ext cx="257495" cy="257495"/>
          </a:xfrm>
          <a:prstGeom prst="ellipse">
            <a:avLst/>
          </a:prstGeom>
          <a:noFill/>
          <a:ln w="228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69965" y="1778325"/>
            <a:ext cx="64373" cy="64373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414603" y="1900635"/>
            <a:ext cx="87549" cy="167372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502152" y="1900635"/>
            <a:ext cx="87548" cy="167372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3544" y="2395728"/>
            <a:ext cx="278892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F3F7F9"/>
                </a:solidFill>
                <a:latin typeface="Aptos"/>
              </a:rPr>
              <a:t>Choose a village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28072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AFC0"/>
                </a:solidFill>
                <a:latin typeface="Aptos"/>
              </a:rPr>
              <a:t>on the map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958584" y="1709928"/>
            <a:ext cx="265176" cy="502920"/>
          </a:xfrm>
          <a:prstGeom prst="line">
            <a:avLst/>
          </a:prstGeom>
          <a:ln w="2095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23760" y="1709928"/>
            <a:ext cx="265176" cy="502920"/>
          </a:xfrm>
          <a:prstGeom prst="line">
            <a:avLst/>
          </a:prstGeom>
          <a:ln w="2095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223760" y="1709928"/>
            <a:ext cx="0" cy="502920"/>
          </a:xfrm>
          <a:prstGeom prst="line">
            <a:avLst/>
          </a:prstGeom>
          <a:ln w="14668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130948" y="1885950"/>
            <a:ext cx="185623" cy="0"/>
          </a:xfrm>
          <a:prstGeom prst="line">
            <a:avLst/>
          </a:prstGeom>
          <a:ln w="15716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051395" y="2036826"/>
            <a:ext cx="344729" cy="0"/>
          </a:xfrm>
          <a:prstGeom prst="line">
            <a:avLst/>
          </a:prstGeom>
          <a:ln w="15716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995708" y="2142439"/>
            <a:ext cx="456103" cy="0"/>
          </a:xfrm>
          <a:prstGeom prst="line">
            <a:avLst/>
          </a:prstGeom>
          <a:ln w="15716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223760" y="1709928"/>
            <a:ext cx="92811" cy="176022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130948" y="1709928"/>
            <a:ext cx="92812" cy="176022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30948" y="1885950"/>
            <a:ext cx="265176" cy="150876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051395" y="1885950"/>
            <a:ext cx="265176" cy="150876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051395" y="2036826"/>
            <a:ext cx="400416" cy="105613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995708" y="2036826"/>
            <a:ext cx="400416" cy="105613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031736" y="1847088"/>
            <a:ext cx="393191" cy="301752"/>
          </a:xfrm>
          <a:prstGeom prst="line">
            <a:avLst/>
          </a:prstGeom>
          <a:ln w="2540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681728" y="2395728"/>
            <a:ext cx="2834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910" b="1" i="0">
                <a:solidFill>
                  <a:srgbClr val="F3F7F9"/>
                </a:solidFill>
                <a:latin typeface="Aptos"/>
              </a:rPr>
              <a:t>Switch off one tower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1728" y="28072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6E75"/>
                </a:solidFill>
                <a:latin typeface="Aptos"/>
              </a:rPr>
              <a:t>See red zones</a:t>
            </a:r>
          </a:p>
        </p:txBody>
      </p:sp>
      <p:sp>
        <p:nvSpPr>
          <p:cNvPr id="42" name="Oval 41"/>
          <p:cNvSpPr/>
          <p:nvPr/>
        </p:nvSpPr>
        <p:spPr>
          <a:xfrm>
            <a:off x="10506456" y="1645920"/>
            <a:ext cx="704088" cy="704088"/>
          </a:xfrm>
          <a:prstGeom prst="ellipse">
            <a:avLst/>
          </a:prstGeom>
          <a:solidFill>
            <a:srgbClr val="1C3A32"/>
          </a:solidFill>
          <a:ln w="1524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>
            <a:off x="10675620" y="1755648"/>
            <a:ext cx="182880" cy="493776"/>
          </a:xfrm>
          <a:prstGeom prst="line">
            <a:avLst/>
          </a:prstGeom>
          <a:ln w="1651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58500" y="1755648"/>
            <a:ext cx="182880" cy="493776"/>
          </a:xfrm>
          <a:prstGeom prst="line">
            <a:avLst/>
          </a:prstGeom>
          <a:ln w="1651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58500" y="1755648"/>
            <a:ext cx="0" cy="493776"/>
          </a:xfrm>
          <a:prstGeom prst="line">
            <a:avLst/>
          </a:prstGeom>
          <a:ln w="127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794492" y="1928469"/>
            <a:ext cx="128016" cy="0"/>
          </a:xfrm>
          <a:prstGeom prst="line">
            <a:avLst/>
          </a:prstGeom>
          <a:ln w="127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739628" y="2076602"/>
            <a:ext cx="237744" cy="0"/>
          </a:xfrm>
          <a:prstGeom prst="line">
            <a:avLst/>
          </a:prstGeom>
          <a:ln w="127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701223" y="2180295"/>
            <a:ext cx="314553" cy="0"/>
          </a:xfrm>
          <a:prstGeom prst="line">
            <a:avLst/>
          </a:prstGeom>
          <a:ln w="127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58500" y="1755648"/>
            <a:ext cx="64008" cy="172821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0794492" y="1755648"/>
            <a:ext cx="64008" cy="172821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794492" y="1928469"/>
            <a:ext cx="182880" cy="148133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0739628" y="1928469"/>
            <a:ext cx="182880" cy="148133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739628" y="2076602"/>
            <a:ext cx="276148" cy="103693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0701223" y="2076602"/>
            <a:ext cx="276149" cy="103693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430768" y="2395728"/>
            <a:ext cx="2898648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60" b="1" i="0">
                <a:solidFill>
                  <a:srgbClr val="F3F7F9"/>
                </a:solidFill>
                <a:latin typeface="Aptos"/>
              </a:rPr>
              <a:t>Tool picks one relay spot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0768" y="2807208"/>
            <a:ext cx="2898648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B9F36C"/>
                </a:solidFill>
                <a:latin typeface="Aptos"/>
              </a:rPr>
              <a:t>Weak areas turn green</a:t>
            </a:r>
          </a:p>
        </p:txBody>
      </p:sp>
      <p:sp>
        <p:nvSpPr>
          <p:cNvPr id="57" name="Chevron 56"/>
          <p:cNvSpPr/>
          <p:nvPr/>
        </p:nvSpPr>
        <p:spPr>
          <a:xfrm>
            <a:off x="4096512" y="2240280"/>
            <a:ext cx="274320" cy="329184"/>
          </a:xfrm>
          <a:prstGeom prst="chevron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hevron 57"/>
          <p:cNvSpPr/>
          <p:nvPr/>
        </p:nvSpPr>
        <p:spPr>
          <a:xfrm>
            <a:off x="7854696" y="2240280"/>
            <a:ext cx="274320" cy="329184"/>
          </a:xfrm>
          <a:prstGeom prst="chevron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58368" y="3749039"/>
            <a:ext cx="5230368" cy="2395728"/>
          </a:xfrm>
          <a:prstGeom prst="roundRect">
            <a:avLst/>
          </a:prstGeom>
          <a:solidFill>
            <a:srgbClr val="0A1B2A"/>
          </a:solidFill>
          <a:ln w="15875">
            <a:solidFill>
              <a:srgbClr val="74D7A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50976" y="4389120"/>
            <a:ext cx="1051560" cy="859536"/>
          </a:xfrm>
          <a:prstGeom prst="roundRect">
            <a:avLst/>
          </a:prstGeom>
          <a:noFill/>
          <a:ln w="17145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051560" y="4672584"/>
            <a:ext cx="347472" cy="338328"/>
          </a:xfrm>
          <a:prstGeom prst="line">
            <a:avLst/>
          </a:prstGeom>
          <a:ln w="15240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399032" y="4672584"/>
            <a:ext cx="246888" cy="237744"/>
          </a:xfrm>
          <a:prstGeom prst="line">
            <a:avLst/>
          </a:prstGeom>
          <a:ln w="15240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170432" y="4517136"/>
            <a:ext cx="82296" cy="82296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67712" y="4361688"/>
            <a:ext cx="3063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3F7F9"/>
                </a:solidFill>
                <a:latin typeface="Aptos"/>
              </a:rPr>
              <a:t>APP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67712" y="4773168"/>
            <a:ext cx="324612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510" b="0" i="0">
                <a:solidFill>
                  <a:srgbClr val="9AAFC0"/>
                </a:solidFill>
                <a:latin typeface="Aptos"/>
              </a:rPr>
              <a:t>Replace with your live app capture</a:t>
            </a:r>
          </a:p>
        </p:txBody>
      </p:sp>
      <p:pic>
        <p:nvPicPr>
          <p:cNvPr id="66" name="Picture 65" descr="slide4_solution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3749039"/>
            <a:ext cx="5349240" cy="2395728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6181344" y="3749039"/>
            <a:ext cx="5349240" cy="2395728"/>
          </a:xfrm>
          <a:prstGeom prst="rect">
            <a:avLst/>
          </a:prstGeom>
          <a:noFill/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555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RF + Tech: How It Works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solidFill>
            <a:srgbClr val="B9F36C"/>
          </a:solidFill>
          <a:ln w="10795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slide5_rf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4818888" cy="2706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58368" y="1389888"/>
            <a:ext cx="4818888" cy="2706624"/>
          </a:xfrm>
          <a:prstGeom prst="rect">
            <a:avLst/>
          </a:prstGeom>
          <a:noFill/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88152" y="1389888"/>
            <a:ext cx="5742432" cy="429768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16752" y="1504188"/>
            <a:ext cx="201168" cy="201168"/>
          </a:xfrm>
          <a:prstGeom prst="ellipse">
            <a:avLst/>
          </a:prstGeom>
          <a:solidFill>
            <a:srgbClr val="B9F36C"/>
          </a:solidFill>
          <a:ln w="1270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403604"/>
            <a:ext cx="490118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3F7F9"/>
                </a:solidFill>
                <a:latin typeface="Aptos"/>
              </a:rPr>
              <a:t>Free terrain + tower data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17336" y="1819656"/>
            <a:ext cx="0" cy="109728"/>
          </a:xfrm>
          <a:prstGeom prst="line">
            <a:avLst/>
          </a:prstGeom>
          <a:ln w="1587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788152" y="1929384"/>
            <a:ext cx="5742432" cy="429768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16752" y="2043684"/>
            <a:ext cx="201168" cy="201168"/>
          </a:xfrm>
          <a:prstGeom prst="ellipse">
            <a:avLst/>
          </a:prstGeom>
          <a:solidFill>
            <a:srgbClr val="12283A"/>
          </a:solidFill>
          <a:ln w="1270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1943100"/>
            <a:ext cx="490118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3F7F9"/>
                </a:solidFill>
                <a:latin typeface="Aptos"/>
              </a:rPr>
              <a:t>RF calculation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17336" y="2359152"/>
            <a:ext cx="0" cy="109727"/>
          </a:xfrm>
          <a:prstGeom prst="line">
            <a:avLst/>
          </a:prstGeom>
          <a:ln w="1587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88152" y="2468880"/>
            <a:ext cx="5742432" cy="429768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16752" y="2583180"/>
            <a:ext cx="201168" cy="201168"/>
          </a:xfrm>
          <a:prstGeom prst="ellipse">
            <a:avLst/>
          </a:prstGeom>
          <a:solidFill>
            <a:srgbClr val="12283A"/>
          </a:solidFill>
          <a:ln w="1270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2482596"/>
            <a:ext cx="490118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3F7F9"/>
                </a:solidFill>
                <a:latin typeface="Aptos"/>
              </a:rPr>
              <a:t>Coverage map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17336" y="2898648"/>
            <a:ext cx="0" cy="109728"/>
          </a:xfrm>
          <a:prstGeom prst="line">
            <a:avLst/>
          </a:prstGeom>
          <a:ln w="1587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88152" y="3008376"/>
            <a:ext cx="5742432" cy="429768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016752" y="3122676"/>
            <a:ext cx="201168" cy="201168"/>
          </a:xfrm>
          <a:prstGeom prst="ellipse">
            <a:avLst/>
          </a:prstGeom>
          <a:solidFill>
            <a:srgbClr val="12283A"/>
          </a:solidFill>
          <a:ln w="1270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3022092"/>
            <a:ext cx="490118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3F7F9"/>
                </a:solidFill>
                <a:latin typeface="Aptos"/>
              </a:rPr>
              <a:t>Disaster Mode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117336" y="3438144"/>
            <a:ext cx="0" cy="109728"/>
          </a:xfrm>
          <a:prstGeom prst="line">
            <a:avLst/>
          </a:prstGeom>
          <a:ln w="1587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788152" y="3547872"/>
            <a:ext cx="5742432" cy="429768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16752" y="3662172"/>
            <a:ext cx="201168" cy="201168"/>
          </a:xfrm>
          <a:prstGeom prst="ellipse">
            <a:avLst/>
          </a:prstGeom>
          <a:solidFill>
            <a:srgbClr val="B9F36C"/>
          </a:solidFill>
          <a:ln w="1270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3561588"/>
            <a:ext cx="490118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3F7F9"/>
                </a:solidFill>
                <a:latin typeface="Aptos"/>
              </a:rPr>
              <a:t>Relay suggestion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049779" y="4462272"/>
            <a:ext cx="1417320" cy="457200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95499" y="4471416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F3F7F9"/>
                </a:solidFill>
                <a:latin typeface="Aptos"/>
              </a:rPr>
              <a:t>Path loss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13403" y="4462272"/>
            <a:ext cx="1627632" cy="457200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9123" y="4471416"/>
            <a:ext cx="153619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F3F7F9"/>
                </a:solidFill>
                <a:latin typeface="Aptos"/>
              </a:rPr>
              <a:t>Line of sight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87339" y="4462272"/>
            <a:ext cx="1554480" cy="457200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33059" y="4471416"/>
            <a:ext cx="1463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F3F7F9"/>
                </a:solidFill>
                <a:latin typeface="Aptos"/>
              </a:rPr>
              <a:t>Fresnel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8123" y="4462272"/>
            <a:ext cx="1874519" cy="457200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3843" y="4471416"/>
            <a:ext cx="178307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F3F7F9"/>
                </a:solidFill>
                <a:latin typeface="Aptos"/>
              </a:rPr>
              <a:t>Antenna height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08947" y="4462272"/>
            <a:ext cx="1033271" cy="457200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54667" y="4471416"/>
            <a:ext cx="94183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F3F7F9"/>
                </a:solidFill>
                <a:latin typeface="Aptos"/>
              </a:rPr>
              <a:t>Gain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8368" y="5193792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2017775" y="5477256"/>
            <a:ext cx="1188720" cy="48463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63495" y="5486400"/>
            <a:ext cx="1097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10" b="1" i="0">
                <a:solidFill>
                  <a:srgbClr val="B9F36C"/>
                </a:solidFill>
                <a:latin typeface="Aptos"/>
              </a:rPr>
              <a:t>Python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71087" y="5477256"/>
            <a:ext cx="1554480" cy="48463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16807" y="5486400"/>
            <a:ext cx="1463039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10" b="1" i="0">
                <a:solidFill>
                  <a:srgbClr val="B9F36C"/>
                </a:solidFill>
                <a:latin typeface="Aptos"/>
              </a:rPr>
              <a:t>Leaflet map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90159" y="5477256"/>
            <a:ext cx="1828800" cy="48463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35879" y="5486400"/>
            <a:ext cx="173736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10" b="1" i="0">
                <a:solidFill>
                  <a:srgbClr val="B9F36C"/>
                </a:solidFill>
                <a:latin typeface="Aptos"/>
              </a:rPr>
              <a:t>SRTM elevation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83551" y="5477256"/>
            <a:ext cx="1600200" cy="48463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29271" y="5486400"/>
            <a:ext cx="150876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10" b="1" i="0">
                <a:solidFill>
                  <a:srgbClr val="B9F36C"/>
                </a:solidFill>
                <a:latin typeface="Aptos"/>
              </a:rPr>
              <a:t>OpenCellID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48343" y="5477256"/>
            <a:ext cx="1325880" cy="48463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94063" y="5486400"/>
            <a:ext cx="1234439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10" b="1" i="0">
                <a:solidFill>
                  <a:srgbClr val="B9F36C"/>
                </a:solidFill>
                <a:latin typeface="Aptos"/>
              </a:rPr>
              <a:t>WorldPop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555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Impact for People and Places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solidFill>
            <a:srgbClr val="B9F36C"/>
          </a:solidFill>
          <a:ln w="10795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8368" y="1399032"/>
            <a:ext cx="2633472" cy="1417320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15087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SDG 9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922995" y="2074224"/>
            <a:ext cx="192573" cy="285293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15568" y="2074224"/>
            <a:ext cx="192572" cy="285293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22995" y="2359517"/>
            <a:ext cx="385145" cy="0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62075" y="2020732"/>
            <a:ext cx="106984" cy="10698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9502" y="2306025"/>
            <a:ext cx="106984" cy="10698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54648" y="2306025"/>
            <a:ext cx="106984" cy="10698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27048" y="1865376"/>
            <a:ext cx="160934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30" b="1" i="0">
                <a:solidFill>
                  <a:srgbClr val="F3F7F9"/>
                </a:solidFill>
                <a:latin typeface="Aptos"/>
              </a:rPr>
              <a:t>Strong network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30" b="1" i="0">
                <a:solidFill>
                  <a:srgbClr val="F3F7F9"/>
                </a:solidFill>
                <a:latin typeface="Aptos"/>
              </a:rPr>
              <a:t>links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1399032"/>
            <a:ext cx="2633472" cy="1417320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9312" y="15087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SDG 11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685032" y="2071481"/>
            <a:ext cx="265176" cy="183429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50208" y="2071481"/>
            <a:ext cx="265176" cy="183429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753977" y="2254910"/>
            <a:ext cx="392460" cy="296722"/>
          </a:xfrm>
          <a:prstGeom prst="rect">
            <a:avLst/>
          </a:prstGeom>
          <a:noFill/>
          <a:ln w="1778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18386" y="2400574"/>
            <a:ext cx="74249" cy="151058"/>
          </a:xfrm>
          <a:prstGeom prst="rect">
            <a:avLst/>
          </a:prstGeom>
          <a:noFill/>
          <a:ln w="1397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1865376"/>
            <a:ext cx="160934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30" b="1" i="0">
                <a:solidFill>
                  <a:srgbClr val="F3F7F9"/>
                </a:solidFill>
                <a:latin typeface="Aptos"/>
              </a:rPr>
              <a:t>Safer villages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2999232"/>
            <a:ext cx="2633472" cy="1417320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31089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SDG 13</a:t>
            </a:r>
          </a:p>
        </p:txBody>
      </p:sp>
      <p:sp>
        <p:nvSpPr>
          <p:cNvPr id="30" name="Oval 29"/>
          <p:cNvSpPr/>
          <p:nvPr/>
        </p:nvSpPr>
        <p:spPr>
          <a:xfrm>
            <a:off x="1018275" y="3734043"/>
            <a:ext cx="194584" cy="194584"/>
          </a:xfrm>
          <a:prstGeom prst="ellipse">
            <a:avLst/>
          </a:prstGeom>
          <a:noFill/>
          <a:ln w="2032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115568" y="3553358"/>
            <a:ext cx="0" cy="83393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15568" y="4025920"/>
            <a:ext cx="0" cy="83393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837590" y="3831335"/>
            <a:ext cx="83393" cy="0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10152" y="3831335"/>
            <a:ext cx="83393" cy="0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914034" y="3629802"/>
            <a:ext cx="62545" cy="62545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54556" y="3629802"/>
            <a:ext cx="62545" cy="62545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914034" y="3970324"/>
            <a:ext cx="62545" cy="62545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254556" y="3970324"/>
            <a:ext cx="62545" cy="62545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527048" y="3465576"/>
            <a:ext cx="160934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30" b="1" i="0">
                <a:solidFill>
                  <a:srgbClr val="F3F7F9"/>
                </a:solidFill>
                <a:latin typeface="Aptos"/>
              </a:rPr>
              <a:t>Ready for extreme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30" b="1" i="0">
                <a:solidFill>
                  <a:srgbClr val="F3F7F9"/>
                </a:solidFill>
                <a:latin typeface="Aptos"/>
              </a:rPr>
              <a:t>weather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74720" y="2999232"/>
            <a:ext cx="2633472" cy="1417320"/>
          </a:xfrm>
          <a:prstGeom prst="roundRect">
            <a:avLst/>
          </a:prstGeom>
          <a:solidFill>
            <a:srgbClr val="0D2030"/>
          </a:solidFill>
          <a:ln w="10795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39312" y="31089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SDG 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931920" y="3655771"/>
            <a:ext cx="0" cy="351129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3727094" y="3648455"/>
            <a:ext cx="204826" cy="65837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27094" y="3648455"/>
            <a:ext cx="0" cy="314554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727094" y="3963009"/>
            <a:ext cx="204826" cy="58522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931920" y="3648455"/>
            <a:ext cx="204825" cy="65837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36745" y="3648455"/>
            <a:ext cx="0" cy="314554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931920" y="3963009"/>
            <a:ext cx="204825" cy="58522"/>
          </a:xfrm>
          <a:prstGeom prst="line">
            <a:avLst/>
          </a:prstGeom>
          <a:ln w="2032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343400" y="3465576"/>
            <a:ext cx="160934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30" b="1" i="0">
                <a:solidFill>
                  <a:srgbClr val="F3F7F9"/>
                </a:solidFill>
                <a:latin typeface="Aptos"/>
              </a:rPr>
              <a:t>Learning stays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30" b="1" i="0">
                <a:solidFill>
                  <a:srgbClr val="F3F7F9"/>
                </a:solidFill>
                <a:latin typeface="Aptos"/>
              </a:rPr>
              <a:t>connected</a:t>
            </a:r>
          </a:p>
        </p:txBody>
      </p:sp>
      <p:pic>
        <p:nvPicPr>
          <p:cNvPr id="50" name="Picture 49" descr="slide6_impact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399032"/>
            <a:ext cx="5184648" cy="301752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6345936" y="1399032"/>
            <a:ext cx="5184648" cy="3017520"/>
          </a:xfrm>
          <a:prstGeom prst="rect">
            <a:avLst/>
          </a:prstGeom>
          <a:noFill/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58368" y="4736592"/>
            <a:ext cx="10872216" cy="1353312"/>
          </a:xfrm>
          <a:prstGeom prst="round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4297680" y="4965192"/>
            <a:ext cx="0" cy="905256"/>
          </a:xfrm>
          <a:prstGeom prst="line">
            <a:avLst/>
          </a:prstGeom>
          <a:ln w="13970">
            <a:solidFill>
              <a:srgbClr val="6D9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18704" y="4965192"/>
            <a:ext cx="0" cy="905256"/>
          </a:xfrm>
          <a:prstGeom prst="line">
            <a:avLst/>
          </a:prstGeom>
          <a:ln w="13970">
            <a:solidFill>
              <a:srgbClr val="6D9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59536" y="4882896"/>
            <a:ext cx="32004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74233"/>
                </a:solidFill>
                <a:latin typeface="Aptos"/>
              </a:rPr>
              <a:t>PILOT VILLAGE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" y="5193792"/>
            <a:ext cx="320040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0202C"/>
                </a:solidFill>
                <a:latin typeface="Aptos"/>
              </a:rPr>
              <a:t>[name]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4882896"/>
            <a:ext cx="31455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74233"/>
                </a:solidFill>
                <a:latin typeface="Aptos"/>
              </a:rPr>
              <a:t>PEOPLE COVERED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26280" y="5193792"/>
            <a:ext cx="3145536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0202C"/>
                </a:solidFill>
                <a:latin typeface="Aptos"/>
              </a:rPr>
              <a:t>[number]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65592" y="4882896"/>
            <a:ext cx="3182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74233"/>
                </a:solidFill>
                <a:latin typeface="Aptos"/>
              </a:rPr>
              <a:t>RELAY COST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65592" y="5193792"/>
            <a:ext cx="318211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0202C"/>
                </a:solidFill>
                <a:latin typeface="Aptos"/>
              </a:rPr>
              <a:t>Rs [amount]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555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Roadmap and Ask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795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solidFill>
            <a:srgbClr val="B9F36C"/>
          </a:solidFill>
          <a:ln w="10795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" y="1536192"/>
            <a:ext cx="0" cy="2944368"/>
          </a:xfrm>
          <a:prstGeom prst="line">
            <a:avLst/>
          </a:prstGeom>
          <a:ln w="25400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49808" y="1536192"/>
            <a:ext cx="512064" cy="51206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2688" y="1719072"/>
            <a:ext cx="146304" cy="146304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1463040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9F36C"/>
                </a:solidFill>
                <a:latin typeface="Aptos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719072"/>
            <a:ext cx="48280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3F7F9"/>
                </a:solidFill>
                <a:latin typeface="Aptos"/>
              </a:rPr>
              <a:t>Prototype in one village</a:t>
            </a:r>
          </a:p>
        </p:txBody>
      </p:sp>
      <p:sp>
        <p:nvSpPr>
          <p:cNvPr id="17" name="Oval 16"/>
          <p:cNvSpPr/>
          <p:nvPr/>
        </p:nvSpPr>
        <p:spPr>
          <a:xfrm>
            <a:off x="749808" y="2606040"/>
            <a:ext cx="512064" cy="51206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88" y="2788920"/>
            <a:ext cx="146304" cy="146304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2532888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9F36C"/>
                </a:solidFill>
                <a:latin typeface="Aptos"/>
              </a:rPr>
              <a:t>PHASE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2788920"/>
            <a:ext cx="48280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F3F7F9"/>
                </a:solidFill>
                <a:latin typeface="Aptos"/>
              </a:rPr>
              <a:t>Pilot with a district disaster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F3F7F9"/>
                </a:solidFill>
                <a:latin typeface="Aptos"/>
              </a:rPr>
              <a:t>management authority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" y="3758184"/>
            <a:ext cx="512064" cy="51206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2688" y="3941064"/>
            <a:ext cx="146304" cy="146304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3685032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9F36C"/>
                </a:solidFill>
                <a:latin typeface="Aptos"/>
              </a:rPr>
              <a:t>PHASE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941064"/>
            <a:ext cx="48280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F3F7F9"/>
                </a:solidFill>
                <a:latin typeface="Aptos"/>
              </a:rPr>
              <a:t>Scale to flood-prone districts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F3F7F9"/>
                </a:solidFill>
                <a:latin typeface="Aptos"/>
              </a:rPr>
              <a:t>across India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846320"/>
            <a:ext cx="5577840" cy="1188720"/>
          </a:xfrm>
          <a:prstGeom prst="round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00176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2503A"/>
                </a:solidFill>
                <a:latin typeface="Aptos"/>
              </a:rPr>
              <a:t>ASK</a:t>
            </a:r>
          </a:p>
        </p:txBody>
      </p:sp>
      <p:sp>
        <p:nvSpPr>
          <p:cNvPr id="27" name="Oval 26"/>
          <p:cNvSpPr/>
          <p:nvPr/>
        </p:nvSpPr>
        <p:spPr>
          <a:xfrm>
            <a:off x="923544" y="5404104"/>
            <a:ext cx="310896" cy="310896"/>
          </a:xfrm>
          <a:prstGeom prst="ellipse">
            <a:avLst/>
          </a:prstGeom>
          <a:solidFill>
            <a:srgbClr val="325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005840" y="5559552"/>
            <a:ext cx="146304" cy="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78992" y="5486400"/>
            <a:ext cx="0" cy="146304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26464" y="5230368"/>
            <a:ext cx="4498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1" i="0">
                <a:solidFill>
                  <a:srgbClr val="10202C"/>
                </a:solidFill>
                <a:latin typeface="Aptos"/>
              </a:rPr>
              <a:t>Pilot partner + data access</a:t>
            </a:r>
          </a:p>
        </p:txBody>
      </p:sp>
      <p:pic>
        <p:nvPicPr>
          <p:cNvPr id="31" name="Picture 30" descr="slide7_roadmap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1399032"/>
            <a:ext cx="4965192" cy="2962656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565392" y="1399032"/>
            <a:ext cx="4965192" cy="2962656"/>
          </a:xfrm>
          <a:prstGeom prst="rect">
            <a:avLst/>
          </a:prstGeom>
          <a:noFill/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65392" y="4553712"/>
            <a:ext cx="4965192" cy="1527048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736592"/>
            <a:ext cx="438912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3F7F9"/>
                </a:solidFill>
                <a:latin typeface="Aptos"/>
              </a:rPr>
              <a:t>Thank you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71231" y="5404104"/>
            <a:ext cx="2944369" cy="0"/>
          </a:xfrm>
          <a:prstGeom prst="line">
            <a:avLst/>
          </a:prstGeom>
          <a:ln w="11430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0" y="5522976"/>
            <a:ext cx="438912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1" i="0">
                <a:solidFill>
                  <a:srgbClr val="B9F36C"/>
                </a:solidFill>
                <a:latin typeface="Aptos"/>
              </a:rPr>
              <a:t>[email]   ·   [phone]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SignalShield — IEEE AP-S Ideathon 2026</dc:title>
  <dc:subject>Track 2: UN SDGs | Predict network blackouts before disasters strike</dc:subject>
  <dc:creator>DATAPULSE — SRI SAIRAM ENGINEERING COLLEGE</dc:creator>
  <cp:keywords>SignalShield, RF, antenna, disaster resilience, SDGs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