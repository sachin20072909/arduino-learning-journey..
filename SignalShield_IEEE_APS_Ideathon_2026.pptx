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</p:sldIdLst>
  <p:sldSz cx="12191999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We are team DATAPULSE. SignalShield helps us see which villages may lose mobile service in a disaster.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Storms can knock out towers. Families may lose calls, help, and warnings. A late warning gives people less time to act. We need to predict weak areas before danger arrives.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Existing apps measure signal after people walk around. They need users in weak areas. SignalShield uses public data to predict which villages may lose service before a storm.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Choose a village, then switch off a tower in the model. The map shows villages that lose signal, people affected, and one good relay location. Compare normal and disaster coverage.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Hills and distance can weaken radio signals. Path loss is signal drop over distance. Line of sight is a clear path. The Fresnel zone is space around that path. Height and gain help the signal reach further.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SignalShield supports strong networks, safer villages, climate readiness, and learning. Better coverage planning helps warnings reach people. A pilot will report the village, people reached, and relay cost.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We will test one village, work with a district disaster management authority, and then scale to flood-prone districts. Start small, measure results, then expand. We seek a pilot partner and data access.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jpg"/><Relationship Id="rId3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jpg"/><Relationship Id="rId3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jpg"/><Relationship Id="rId3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jpg"/><Relationship Id="rId3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jpg"/><Relationship Id="rId3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jpg"/><Relationship Id="rId3" Type="http://schemas.openxmlformats.org/officeDocument/2006/relationships/notesSlide" Target="../notesSlides/notesSlide7.xml"/><Relationship Id="rId4" Type="http://schemas.openxmlformats.org/officeDocument/2006/relationships/hyperlink" Target="mailto:itxsachin6729@gmail.com" TargetMode="Externa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71522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slide1_title_crop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64224" y="0"/>
            <a:ext cx="5827471" cy="68580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6364224" y="0"/>
            <a:ext cx="5827471" cy="6858000"/>
          </a:xfrm>
          <a:prstGeom prst="rect">
            <a:avLst/>
          </a:prstGeom>
          <a:noFill/>
          <a:ln w="11430">
            <a:solidFill>
              <a:srgbClr val="24405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318504" y="0"/>
            <a:ext cx="50292" cy="6858000"/>
          </a:xfrm>
          <a:prstGeom prst="rect">
            <a:avLst/>
          </a:prstGeom>
          <a:solidFill>
            <a:srgbClr val="B9F36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49808" y="521207"/>
            <a:ext cx="3429000" cy="26517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98000"/>
              </a:lnSpc>
              <a:spcBef>
                <a:spcPts val="0"/>
              </a:spcBef>
              <a:spcAft>
                <a:spcPts val="0"/>
              </a:spcAft>
            </a:pPr>
            <a:r>
              <a:rPr sz="1150" b="1" i="0">
                <a:solidFill>
                  <a:srgbClr val="B9F36C"/>
                </a:solidFill>
                <a:latin typeface="Aptos"/>
              </a:rPr>
              <a:t>IEEE AP-S IDEATHON 2026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785615" y="521207"/>
            <a:ext cx="2139696" cy="26517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>
              <a:lnSpc>
                <a:spcPct val="98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9AAFC0"/>
                </a:solidFill>
                <a:latin typeface="Aptos"/>
              </a:rPr>
              <a:t>TRACK 2 · UN SDGs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749808" y="987552"/>
            <a:ext cx="5047488" cy="0"/>
          </a:xfrm>
          <a:prstGeom prst="line">
            <a:avLst/>
          </a:prstGeom>
          <a:ln w="10795">
            <a:solidFill>
              <a:srgbClr val="24405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TextBox 7"/>
          <p:cNvSpPr txBox="1"/>
          <p:nvPr/>
        </p:nvSpPr>
        <p:spPr>
          <a:xfrm>
            <a:off x="731520" y="1261872"/>
            <a:ext cx="5394960" cy="76809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98000"/>
              </a:lnSpc>
              <a:spcBef>
                <a:spcPts val="0"/>
              </a:spcBef>
              <a:spcAft>
                <a:spcPts val="0"/>
              </a:spcAft>
            </a:pPr>
            <a:r>
              <a:rPr sz="4800" b="1" i="0">
                <a:solidFill>
                  <a:srgbClr val="F3F7F9"/>
                </a:solidFill>
                <a:latin typeface="Aptos"/>
              </a:rPr>
              <a:t>SignalShield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68096" y="2148840"/>
            <a:ext cx="5413248" cy="1033271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</a:pPr>
            <a:r>
              <a:rPr sz="2550" b="0" i="0">
                <a:solidFill>
                  <a:srgbClr val="F3F7F9"/>
                </a:solidFill>
                <a:latin typeface="Aptos"/>
              </a:rPr>
              <a:t>Predict network blackouts</a:t>
            </a:r>
          </a:p>
          <a:p>
            <a:pPr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</a:pPr>
            <a:r>
              <a:rPr sz="2550" b="0" i="0">
                <a:solidFill>
                  <a:srgbClr val="F3F7F9"/>
                </a:solidFill>
                <a:latin typeface="Aptos"/>
              </a:rPr>
              <a:t>before disasters strike.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68096" y="3401568"/>
            <a:ext cx="1499616" cy="310896"/>
          </a:xfrm>
          <a:prstGeom prst="roundRect">
            <a:avLst/>
          </a:prstGeom>
          <a:solidFill>
            <a:srgbClr val="12302E"/>
          </a:solidFill>
          <a:ln w="10160">
            <a:solidFill>
              <a:srgbClr val="B9F36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32104" y="3401568"/>
            <a:ext cx="1371600" cy="31089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98000"/>
              </a:lnSpc>
              <a:spcBef>
                <a:spcPts val="0"/>
              </a:spcBef>
              <a:spcAft>
                <a:spcPts val="0"/>
              </a:spcAft>
            </a:pPr>
            <a:r>
              <a:rPr sz="960" b="1" i="0">
                <a:solidFill>
                  <a:srgbClr val="B9F36C"/>
                </a:solidFill>
                <a:latin typeface="Aptos"/>
              </a:rPr>
              <a:t>FREE SOFTWARE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68096" y="3913632"/>
            <a:ext cx="2560320" cy="31089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98000"/>
              </a:lnSpc>
              <a:spcBef>
                <a:spcPts val="0"/>
              </a:spcBef>
              <a:spcAft>
                <a:spcPts val="0"/>
              </a:spcAft>
            </a:pPr>
            <a:r>
              <a:rPr sz="1700" b="1" i="0">
                <a:solidFill>
                  <a:srgbClr val="B9F36C"/>
                </a:solidFill>
                <a:latin typeface="Aptos"/>
              </a:rPr>
              <a:t>DATAPULSE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68096" y="4261104"/>
            <a:ext cx="5029200" cy="24688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98000"/>
              </a:lnSpc>
              <a:spcBef>
                <a:spcPts val="0"/>
              </a:spcBef>
              <a:spcAft>
                <a:spcPts val="0"/>
              </a:spcAft>
            </a:pPr>
            <a:r>
              <a:rPr sz="1180" b="1" i="0">
                <a:solidFill>
                  <a:srgbClr val="9AAFC0"/>
                </a:solidFill>
                <a:latin typeface="Aptos"/>
              </a:rPr>
              <a:t>SRI SAIRAM ENGINEERING COLLEGE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68096" y="4736592"/>
            <a:ext cx="1280160" cy="20116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98000"/>
              </a:lnSpc>
              <a:spcBef>
                <a:spcPts val="0"/>
              </a:spcBef>
              <a:spcAft>
                <a:spcPts val="0"/>
              </a:spcAft>
            </a:pPr>
            <a:r>
              <a:rPr sz="980" b="1" i="0">
                <a:solidFill>
                  <a:srgbClr val="688196"/>
                </a:solidFill>
                <a:latin typeface="Aptos"/>
              </a:rPr>
              <a:t>TEAM LEAD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68096" y="4956048"/>
            <a:ext cx="1554480" cy="31089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98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 i="0">
                <a:solidFill>
                  <a:srgbClr val="F3F7F9"/>
                </a:solidFill>
                <a:latin typeface="Aptos"/>
              </a:rPr>
              <a:t>N.Sachin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514600" y="4736592"/>
            <a:ext cx="1645920" cy="20116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98000"/>
              </a:lnSpc>
              <a:spcBef>
                <a:spcPts val="0"/>
              </a:spcBef>
              <a:spcAft>
                <a:spcPts val="0"/>
              </a:spcAft>
            </a:pPr>
            <a:r>
              <a:rPr sz="980" b="1" i="0">
                <a:solidFill>
                  <a:srgbClr val="688196"/>
                </a:solidFill>
                <a:latin typeface="Aptos"/>
              </a:rPr>
              <a:t>TEAM MEMBERS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514600" y="4956048"/>
            <a:ext cx="3547872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98000"/>
              </a:lnSpc>
              <a:spcBef>
                <a:spcPts val="0"/>
              </a:spcBef>
              <a:spcAft>
                <a:spcPts val="0"/>
              </a:spcAft>
            </a:pPr>
            <a:r>
              <a:rPr sz="1450" b="1">
                <a:solidFill>
                  <a:srgbClr val="F3F7F9"/>
                </a:solidFill>
                <a:latin typeface="Aptos"/>
              </a:rPr>
              <a:t>N.Sachin · NithyaSri S · Preethika 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7152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658368" y="457200"/>
            <a:ext cx="50292" cy="329184"/>
          </a:xfrm>
          <a:prstGeom prst="rect">
            <a:avLst/>
          </a:prstGeom>
          <a:solidFill>
            <a:srgbClr val="B9F36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59536" y="384048"/>
            <a:ext cx="9555480" cy="53035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98000"/>
              </a:lnSpc>
              <a:spcBef>
                <a:spcPts val="0"/>
              </a:spcBef>
              <a:spcAft>
                <a:spcPts val="0"/>
              </a:spcAft>
            </a:pPr>
            <a:r>
              <a:rPr sz="3000" b="1" i="0">
                <a:solidFill>
                  <a:srgbClr val="F3F7F9"/>
                </a:solidFill>
                <a:latin typeface="Aptos"/>
              </a:rPr>
              <a:t>The Problem</a:t>
            </a:r>
          </a:p>
        </p:txBody>
      </p:sp>
      <p:sp>
        <p:nvSpPr>
          <p:cNvPr id="4" name="Oval 3"/>
          <p:cNvSpPr/>
          <p:nvPr/>
        </p:nvSpPr>
        <p:spPr>
          <a:xfrm>
            <a:off x="10817352" y="557784"/>
            <a:ext cx="68580" cy="68580"/>
          </a:xfrm>
          <a:prstGeom prst="ellipse">
            <a:avLst/>
          </a:prstGeom>
          <a:noFill/>
          <a:ln w="10795">
            <a:solidFill>
              <a:srgbClr val="6881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10963656" y="557784"/>
            <a:ext cx="68580" cy="68580"/>
          </a:xfrm>
          <a:prstGeom prst="ellipse">
            <a:avLst/>
          </a:prstGeom>
          <a:solidFill>
            <a:srgbClr val="B9F36C"/>
          </a:solidFill>
          <a:ln w="10795">
            <a:solidFill>
              <a:srgbClr val="B9F36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11109960" y="557784"/>
            <a:ext cx="68580" cy="68580"/>
          </a:xfrm>
          <a:prstGeom prst="ellipse">
            <a:avLst/>
          </a:prstGeom>
          <a:noFill/>
          <a:ln w="10795">
            <a:solidFill>
              <a:srgbClr val="6881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11256264" y="557784"/>
            <a:ext cx="68580" cy="68580"/>
          </a:xfrm>
          <a:prstGeom prst="ellipse">
            <a:avLst/>
          </a:prstGeom>
          <a:noFill/>
          <a:ln w="10795">
            <a:solidFill>
              <a:srgbClr val="6881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11402568" y="557784"/>
            <a:ext cx="68580" cy="68580"/>
          </a:xfrm>
          <a:prstGeom prst="ellipse">
            <a:avLst/>
          </a:prstGeom>
          <a:noFill/>
          <a:ln w="10795">
            <a:solidFill>
              <a:srgbClr val="6881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1548872" y="557784"/>
            <a:ext cx="68580" cy="68580"/>
          </a:xfrm>
          <a:prstGeom prst="ellipse">
            <a:avLst/>
          </a:prstGeom>
          <a:noFill/>
          <a:ln w="10795">
            <a:solidFill>
              <a:srgbClr val="6881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11695176" y="557784"/>
            <a:ext cx="68580" cy="68580"/>
          </a:xfrm>
          <a:prstGeom prst="ellipse">
            <a:avLst/>
          </a:prstGeom>
          <a:noFill/>
          <a:ln w="10795">
            <a:solidFill>
              <a:srgbClr val="6881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1" name="Connector 10"/>
          <p:cNvCxnSpPr/>
          <p:nvPr/>
        </p:nvCxnSpPr>
        <p:spPr>
          <a:xfrm>
            <a:off x="658368" y="1097280"/>
            <a:ext cx="10872216" cy="0"/>
          </a:xfrm>
          <a:prstGeom prst="line">
            <a:avLst/>
          </a:prstGeom>
          <a:ln w="10795">
            <a:solidFill>
              <a:srgbClr val="24405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Rectangle 11"/>
          <p:cNvSpPr/>
          <p:nvPr/>
        </p:nvSpPr>
        <p:spPr>
          <a:xfrm>
            <a:off x="749808" y="1591056"/>
            <a:ext cx="45720" cy="786384"/>
          </a:xfrm>
          <a:prstGeom prst="rect">
            <a:avLst/>
          </a:prstGeom>
          <a:solidFill>
            <a:srgbClr val="B9F36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749808" y="2907791"/>
            <a:ext cx="45720" cy="786384"/>
          </a:xfrm>
          <a:prstGeom prst="rect">
            <a:avLst/>
          </a:prstGeom>
          <a:solidFill>
            <a:srgbClr val="B9F36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749808" y="4251959"/>
            <a:ext cx="45720" cy="786384"/>
          </a:xfrm>
          <a:prstGeom prst="rect">
            <a:avLst/>
          </a:prstGeom>
          <a:solidFill>
            <a:srgbClr val="B9F36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042415" y="1508760"/>
            <a:ext cx="5074920" cy="34747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98000"/>
              </a:lnSpc>
              <a:spcBef>
                <a:spcPts val="0"/>
              </a:spcBef>
              <a:spcAft>
                <a:spcPts val="0"/>
              </a:spcAft>
            </a:pPr>
            <a:r>
              <a:rPr sz="2300" b="0" i="0">
                <a:solidFill>
                  <a:srgbClr val="F3F7F9"/>
                </a:solidFill>
                <a:latin typeface="Aptos"/>
              </a:rPr>
              <a:t>Storms and floods can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42415" y="1883664"/>
            <a:ext cx="5074920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98000"/>
              </a:lnSpc>
              <a:spcBef>
                <a:spcPts val="0"/>
              </a:spcBef>
              <a:spcAft>
                <a:spcPts val="0"/>
              </a:spcAft>
            </a:pPr>
            <a:r>
              <a:rPr sz="2300" b="1" i="0">
                <a:solidFill>
                  <a:srgbClr val="B9F36C"/>
                </a:solidFill>
                <a:latin typeface="Aptos"/>
              </a:rPr>
              <a:t>knock out mobile towers.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42415" y="2825496"/>
            <a:ext cx="5120640" cy="34747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98000"/>
              </a:lnSpc>
              <a:spcBef>
                <a:spcPts val="0"/>
              </a:spcBef>
              <a:spcAft>
                <a:spcPts val="0"/>
              </a:spcAft>
            </a:pPr>
            <a:r>
              <a:rPr sz="2250" b="0" i="0">
                <a:solidFill>
                  <a:srgbClr val="F3F7F9"/>
                </a:solidFill>
                <a:latin typeface="Aptos"/>
              </a:rPr>
              <a:t>Families may lose calls, help,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42415" y="3200400"/>
            <a:ext cx="5029200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98000"/>
              </a:lnSpc>
              <a:spcBef>
                <a:spcPts val="0"/>
              </a:spcBef>
              <a:spcAft>
                <a:spcPts val="0"/>
              </a:spcAft>
            </a:pPr>
            <a:r>
              <a:rPr sz="2250" b="1" i="0">
                <a:solidFill>
                  <a:srgbClr val="B9F36C"/>
                </a:solidFill>
                <a:latin typeface="Aptos"/>
              </a:rPr>
              <a:t>and warning messages.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42415" y="4160520"/>
            <a:ext cx="5166360" cy="34747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98000"/>
              </a:lnSpc>
              <a:spcBef>
                <a:spcPts val="0"/>
              </a:spcBef>
              <a:spcAft>
                <a:spcPts val="0"/>
              </a:spcAft>
            </a:pPr>
            <a:r>
              <a:rPr sz="2150" b="0" i="0">
                <a:solidFill>
                  <a:srgbClr val="F3F7F9"/>
                </a:solidFill>
                <a:latin typeface="Aptos"/>
              </a:rPr>
              <a:t>We need to know which villages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42415" y="4535424"/>
            <a:ext cx="5212080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98000"/>
              </a:lnSpc>
              <a:spcBef>
                <a:spcPts val="0"/>
              </a:spcBef>
              <a:spcAft>
                <a:spcPts val="0"/>
              </a:spcAft>
            </a:pPr>
            <a:r>
              <a:rPr sz="2020" b="1" i="0">
                <a:solidFill>
                  <a:srgbClr val="B9F36C"/>
                </a:solidFill>
                <a:latin typeface="Aptos"/>
              </a:rPr>
              <a:t>may go offline before danger arrives.</a:t>
            </a:r>
          </a:p>
        </p:txBody>
      </p:sp>
      <p:pic>
        <p:nvPicPr>
          <p:cNvPr id="21" name="Picture 20" descr="slide2_problem_crop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73952" y="1353312"/>
            <a:ext cx="5056632" cy="4864608"/>
          </a:xfrm>
          <a:prstGeom prst="rect">
            <a:avLst/>
          </a:prstGeom>
        </p:spPr>
      </p:pic>
      <p:sp>
        <p:nvSpPr>
          <p:cNvPr id="22" name="Rectangle 21"/>
          <p:cNvSpPr/>
          <p:nvPr/>
        </p:nvSpPr>
        <p:spPr>
          <a:xfrm>
            <a:off x="6473952" y="1353312"/>
            <a:ext cx="5056632" cy="4864608"/>
          </a:xfrm>
          <a:prstGeom prst="rect">
            <a:avLst/>
          </a:prstGeom>
          <a:noFill/>
          <a:ln w="11430">
            <a:solidFill>
              <a:srgbClr val="24405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ounded Rectangle 22"/>
          <p:cNvSpPr/>
          <p:nvPr/>
        </p:nvSpPr>
        <p:spPr>
          <a:xfrm>
            <a:off x="749808" y="5257800"/>
            <a:ext cx="5376672" cy="859536"/>
          </a:xfrm>
          <a:prstGeom prst="roundRect">
            <a:avLst/>
          </a:prstGeom>
          <a:solidFill>
            <a:srgbClr val="12283A"/>
          </a:solidFill>
          <a:ln w="10160">
            <a:solidFill>
              <a:srgbClr val="24405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960120" y="5504688"/>
            <a:ext cx="54864" cy="329184"/>
          </a:xfrm>
          <a:prstGeom prst="rect">
            <a:avLst/>
          </a:prstGeom>
          <a:solidFill>
            <a:srgbClr val="B9F36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170432" y="5321808"/>
            <a:ext cx="4526280" cy="19202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98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>
                <a:solidFill>
                  <a:srgbClr val="B9F36C"/>
                </a:solidFill>
                <a:latin typeface="Aptos"/>
              </a:rPr>
              <a:t>WHY IT MATTERS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170432" y="5541264"/>
            <a:ext cx="4690872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98000"/>
              </a:lnSpc>
              <a:spcBef>
                <a:spcPts val="0"/>
              </a:spcBef>
              <a:spcAft>
                <a:spcPts val="0"/>
              </a:spcAft>
            </a:pPr>
            <a:r>
              <a:rPr sz="1550" b="1">
                <a:solidFill>
                  <a:srgbClr val="F3F7F9"/>
                </a:solidFill>
                <a:latin typeface="Aptos"/>
              </a:rPr>
              <a:t>A late warning gives families less time to act.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7152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658368" y="457200"/>
            <a:ext cx="50292" cy="329184"/>
          </a:xfrm>
          <a:prstGeom prst="rect">
            <a:avLst/>
          </a:prstGeom>
          <a:solidFill>
            <a:srgbClr val="B9F36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59536" y="384048"/>
            <a:ext cx="9555480" cy="53035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98000"/>
              </a:lnSpc>
              <a:spcBef>
                <a:spcPts val="0"/>
              </a:spcBef>
              <a:spcAft>
                <a:spcPts val="0"/>
              </a:spcAft>
            </a:pPr>
            <a:r>
              <a:rPr sz="3000" b="1" i="0">
                <a:solidFill>
                  <a:srgbClr val="F3F7F9"/>
                </a:solidFill>
                <a:latin typeface="Aptos"/>
              </a:rPr>
              <a:t>Why Current Apps Fall Short</a:t>
            </a:r>
          </a:p>
        </p:txBody>
      </p:sp>
      <p:sp>
        <p:nvSpPr>
          <p:cNvPr id="4" name="Oval 3"/>
          <p:cNvSpPr/>
          <p:nvPr/>
        </p:nvSpPr>
        <p:spPr>
          <a:xfrm>
            <a:off x="10817352" y="557784"/>
            <a:ext cx="68580" cy="68580"/>
          </a:xfrm>
          <a:prstGeom prst="ellipse">
            <a:avLst/>
          </a:prstGeom>
          <a:noFill/>
          <a:ln w="10795">
            <a:solidFill>
              <a:srgbClr val="6881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10963656" y="557784"/>
            <a:ext cx="68580" cy="68580"/>
          </a:xfrm>
          <a:prstGeom prst="ellipse">
            <a:avLst/>
          </a:prstGeom>
          <a:noFill/>
          <a:ln w="10795">
            <a:solidFill>
              <a:srgbClr val="6881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11109960" y="557784"/>
            <a:ext cx="68580" cy="68580"/>
          </a:xfrm>
          <a:prstGeom prst="ellipse">
            <a:avLst/>
          </a:prstGeom>
          <a:solidFill>
            <a:srgbClr val="B9F36C"/>
          </a:solidFill>
          <a:ln w="10795">
            <a:solidFill>
              <a:srgbClr val="B9F36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11256264" y="557784"/>
            <a:ext cx="68580" cy="68580"/>
          </a:xfrm>
          <a:prstGeom prst="ellipse">
            <a:avLst/>
          </a:prstGeom>
          <a:noFill/>
          <a:ln w="10795">
            <a:solidFill>
              <a:srgbClr val="6881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11402568" y="557784"/>
            <a:ext cx="68580" cy="68580"/>
          </a:xfrm>
          <a:prstGeom prst="ellipse">
            <a:avLst/>
          </a:prstGeom>
          <a:noFill/>
          <a:ln w="10795">
            <a:solidFill>
              <a:srgbClr val="6881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1548872" y="557784"/>
            <a:ext cx="68580" cy="68580"/>
          </a:xfrm>
          <a:prstGeom prst="ellipse">
            <a:avLst/>
          </a:prstGeom>
          <a:noFill/>
          <a:ln w="10795">
            <a:solidFill>
              <a:srgbClr val="6881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11695176" y="557784"/>
            <a:ext cx="68580" cy="68580"/>
          </a:xfrm>
          <a:prstGeom prst="ellipse">
            <a:avLst/>
          </a:prstGeom>
          <a:noFill/>
          <a:ln w="10795">
            <a:solidFill>
              <a:srgbClr val="6881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1" name="Connector 10"/>
          <p:cNvCxnSpPr/>
          <p:nvPr/>
        </p:nvCxnSpPr>
        <p:spPr>
          <a:xfrm>
            <a:off x="658368" y="1097280"/>
            <a:ext cx="10872216" cy="0"/>
          </a:xfrm>
          <a:prstGeom prst="line">
            <a:avLst/>
          </a:prstGeom>
          <a:ln w="10795">
            <a:solidFill>
              <a:srgbClr val="24405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Rounded Rectangle 11"/>
          <p:cNvSpPr/>
          <p:nvPr/>
        </p:nvSpPr>
        <p:spPr>
          <a:xfrm>
            <a:off x="658368" y="1417320"/>
            <a:ext cx="6473952" cy="4800600"/>
          </a:xfrm>
          <a:prstGeom prst="roundRect">
            <a:avLst/>
          </a:prstGeom>
          <a:solidFill>
            <a:srgbClr val="0D2030"/>
          </a:solidFill>
          <a:ln w="11430">
            <a:solidFill>
              <a:srgbClr val="24405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3867912" y="1581912"/>
            <a:ext cx="3054096" cy="4462272"/>
          </a:xfrm>
          <a:prstGeom prst="roundRect">
            <a:avLst/>
          </a:prstGeom>
          <a:solidFill>
            <a:srgbClr val="112A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50976" y="1636776"/>
            <a:ext cx="2606040" cy="28346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98000"/>
              </a:lnSpc>
              <a:spcBef>
                <a:spcPts val="0"/>
              </a:spcBef>
              <a:spcAft>
                <a:spcPts val="0"/>
              </a:spcAft>
            </a:pPr>
            <a:r>
              <a:rPr sz="1750" b="1" i="0">
                <a:solidFill>
                  <a:srgbClr val="F3F7F9"/>
                </a:solidFill>
                <a:latin typeface="Aptos"/>
              </a:rPr>
              <a:t>Existing apps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50976" y="1956816"/>
            <a:ext cx="2651760" cy="2286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98000"/>
              </a:lnSpc>
              <a:spcBef>
                <a:spcPts val="0"/>
              </a:spcBef>
              <a:spcAft>
                <a:spcPts val="0"/>
              </a:spcAft>
            </a:pPr>
            <a:r>
              <a:rPr sz="1350" b="1" i="0">
                <a:solidFill>
                  <a:srgbClr val="9AAFC0"/>
                </a:solidFill>
                <a:latin typeface="Aptos"/>
              </a:rPr>
              <a:t>OpenSignal · Speedtest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224528" y="1737360"/>
            <a:ext cx="2331720" cy="34747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98000"/>
              </a:lnSpc>
              <a:spcBef>
                <a:spcPts val="0"/>
              </a:spcBef>
              <a:spcAft>
                <a:spcPts val="0"/>
              </a:spcAft>
            </a:pPr>
            <a:r>
              <a:rPr sz="1850" b="1" i="0">
                <a:solidFill>
                  <a:srgbClr val="B9F36C"/>
                </a:solidFill>
                <a:latin typeface="Aptos"/>
              </a:rPr>
              <a:t>SignalShield</a:t>
            </a:r>
          </a:p>
        </p:txBody>
      </p:sp>
      <p:cxnSp>
        <p:nvCxnSpPr>
          <p:cNvPr id="17" name="Connector 16"/>
          <p:cNvCxnSpPr/>
          <p:nvPr/>
        </p:nvCxnSpPr>
        <p:spPr>
          <a:xfrm>
            <a:off x="3767328" y="1600200"/>
            <a:ext cx="0" cy="4416552"/>
          </a:xfrm>
          <a:prstGeom prst="line">
            <a:avLst/>
          </a:prstGeom>
          <a:ln w="13970">
            <a:solidFill>
              <a:srgbClr val="24405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Oval 17"/>
          <p:cNvSpPr/>
          <p:nvPr/>
        </p:nvSpPr>
        <p:spPr>
          <a:xfrm>
            <a:off x="950976" y="2679192"/>
            <a:ext cx="310896" cy="310896"/>
          </a:xfrm>
          <a:prstGeom prst="ellipse">
            <a:avLst/>
          </a:prstGeom>
          <a:solidFill>
            <a:srgbClr val="152B3B"/>
          </a:solidFill>
          <a:ln w="12700">
            <a:solidFill>
              <a:srgbClr val="6881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9" name="Connector 18"/>
          <p:cNvCxnSpPr/>
          <p:nvPr/>
        </p:nvCxnSpPr>
        <p:spPr>
          <a:xfrm>
            <a:off x="1033271" y="2834640"/>
            <a:ext cx="146305" cy="0"/>
          </a:xfrm>
          <a:prstGeom prst="line">
            <a:avLst/>
          </a:prstGeom>
          <a:ln w="22860">
            <a:solidFill>
              <a:srgbClr val="9AAFC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TextBox 19"/>
          <p:cNvSpPr txBox="1"/>
          <p:nvPr/>
        </p:nvSpPr>
        <p:spPr>
          <a:xfrm>
            <a:off x="1426464" y="2532888"/>
            <a:ext cx="2148840" cy="6858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98000"/>
              </a:lnSpc>
              <a:spcBef>
                <a:spcPts val="0"/>
              </a:spcBef>
              <a:spcAft>
                <a:spcPts val="0"/>
              </a:spcAft>
            </a:pPr>
            <a:r>
              <a:rPr sz="1800" b="0" i="0">
                <a:solidFill>
                  <a:srgbClr val="C1CDD6"/>
                </a:solidFill>
                <a:latin typeface="Aptos"/>
              </a:rPr>
              <a:t>Measure after people</a:t>
            </a:r>
          </a:p>
          <a:p>
            <a:pPr algn="l">
              <a:lnSpc>
                <a:spcPct val="98000"/>
              </a:lnSpc>
              <a:spcBef>
                <a:spcPts val="0"/>
              </a:spcBef>
              <a:spcAft>
                <a:spcPts val="0"/>
              </a:spcAft>
            </a:pPr>
            <a:r>
              <a:rPr sz="1800" b="0" i="0">
                <a:solidFill>
                  <a:srgbClr val="C1CDD6"/>
                </a:solidFill>
                <a:latin typeface="Aptos"/>
              </a:rPr>
              <a:t>walk</a:t>
            </a:r>
          </a:p>
        </p:txBody>
      </p:sp>
      <p:sp>
        <p:nvSpPr>
          <p:cNvPr id="21" name="Oval 20"/>
          <p:cNvSpPr/>
          <p:nvPr/>
        </p:nvSpPr>
        <p:spPr>
          <a:xfrm>
            <a:off x="4151376" y="2679192"/>
            <a:ext cx="310896" cy="310896"/>
          </a:xfrm>
          <a:prstGeom prst="ellipse">
            <a:avLst/>
          </a:prstGeom>
          <a:solidFill>
            <a:srgbClr val="203A32"/>
          </a:solidFill>
          <a:ln w="12700">
            <a:solidFill>
              <a:srgbClr val="B9F36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22" name="Connector 21"/>
          <p:cNvCxnSpPr/>
          <p:nvPr/>
        </p:nvCxnSpPr>
        <p:spPr>
          <a:xfrm>
            <a:off x="4233672" y="2834640"/>
            <a:ext cx="73152" cy="73152"/>
          </a:xfrm>
          <a:prstGeom prst="line">
            <a:avLst/>
          </a:prstGeom>
          <a:ln w="22860">
            <a:solidFill>
              <a:srgbClr val="B9F36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Connector 22"/>
          <p:cNvCxnSpPr/>
          <p:nvPr/>
        </p:nvCxnSpPr>
        <p:spPr>
          <a:xfrm flipV="1">
            <a:off x="4306824" y="2752344"/>
            <a:ext cx="109728" cy="155448"/>
          </a:xfrm>
          <a:prstGeom prst="line">
            <a:avLst/>
          </a:prstGeom>
          <a:ln w="22860">
            <a:solidFill>
              <a:srgbClr val="B9F36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TextBox 23"/>
          <p:cNvSpPr txBox="1"/>
          <p:nvPr/>
        </p:nvSpPr>
        <p:spPr>
          <a:xfrm>
            <a:off x="4590288" y="2532888"/>
            <a:ext cx="2212848" cy="6858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98000"/>
              </a:lnSpc>
              <a:spcBef>
                <a:spcPts val="0"/>
              </a:spcBef>
              <a:spcAft>
                <a:spcPts val="0"/>
              </a:spcAft>
            </a:pPr>
            <a:r>
              <a:rPr sz="1720" b="1" i="0">
                <a:solidFill>
                  <a:srgbClr val="F3F7F9"/>
                </a:solidFill>
                <a:latin typeface="Aptos"/>
              </a:rPr>
              <a:t>Predict outage risk early</a:t>
            </a:r>
          </a:p>
        </p:txBody>
      </p:sp>
      <p:cxnSp>
        <p:nvCxnSpPr>
          <p:cNvPr id="25" name="Connector 24"/>
          <p:cNvCxnSpPr/>
          <p:nvPr/>
        </p:nvCxnSpPr>
        <p:spPr>
          <a:xfrm>
            <a:off x="932688" y="3465576"/>
            <a:ext cx="5916168" cy="0"/>
          </a:xfrm>
          <a:prstGeom prst="line">
            <a:avLst/>
          </a:prstGeom>
          <a:ln w="9525">
            <a:solidFill>
              <a:srgbClr val="24405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6" name="Oval 25"/>
          <p:cNvSpPr/>
          <p:nvPr/>
        </p:nvSpPr>
        <p:spPr>
          <a:xfrm>
            <a:off x="950976" y="3767328"/>
            <a:ext cx="310896" cy="310896"/>
          </a:xfrm>
          <a:prstGeom prst="ellipse">
            <a:avLst/>
          </a:prstGeom>
          <a:solidFill>
            <a:srgbClr val="152B3B"/>
          </a:solidFill>
          <a:ln w="12700">
            <a:solidFill>
              <a:srgbClr val="6881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27" name="Connector 26"/>
          <p:cNvCxnSpPr/>
          <p:nvPr/>
        </p:nvCxnSpPr>
        <p:spPr>
          <a:xfrm>
            <a:off x="1033271" y="3922776"/>
            <a:ext cx="146305" cy="0"/>
          </a:xfrm>
          <a:prstGeom prst="line">
            <a:avLst/>
          </a:prstGeom>
          <a:ln w="22860">
            <a:solidFill>
              <a:srgbClr val="9AAFC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8" name="TextBox 27"/>
          <p:cNvSpPr txBox="1"/>
          <p:nvPr/>
        </p:nvSpPr>
        <p:spPr>
          <a:xfrm>
            <a:off x="1426464" y="3621024"/>
            <a:ext cx="2148840" cy="6858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98000"/>
              </a:lnSpc>
              <a:spcBef>
                <a:spcPts val="0"/>
              </a:spcBef>
              <a:spcAft>
                <a:spcPts val="0"/>
              </a:spcAft>
            </a:pPr>
            <a:r>
              <a:rPr sz="1800" b="0" i="0">
                <a:solidFill>
                  <a:srgbClr val="C1CDD6"/>
                </a:solidFill>
                <a:latin typeface="Aptos"/>
              </a:rPr>
              <a:t>Need users in</a:t>
            </a:r>
          </a:p>
          <a:p>
            <a:pPr algn="l">
              <a:lnSpc>
                <a:spcPct val="98000"/>
              </a:lnSpc>
              <a:spcBef>
                <a:spcPts val="0"/>
              </a:spcBef>
              <a:spcAft>
                <a:spcPts val="0"/>
              </a:spcAft>
            </a:pPr>
            <a:r>
              <a:rPr sz="1800" b="0" i="0">
                <a:solidFill>
                  <a:srgbClr val="C1CDD6"/>
                </a:solidFill>
                <a:latin typeface="Aptos"/>
              </a:rPr>
              <a:t>dead zones</a:t>
            </a:r>
          </a:p>
        </p:txBody>
      </p:sp>
      <p:sp>
        <p:nvSpPr>
          <p:cNvPr id="29" name="Oval 28"/>
          <p:cNvSpPr/>
          <p:nvPr/>
        </p:nvSpPr>
        <p:spPr>
          <a:xfrm>
            <a:off x="4151376" y="3767328"/>
            <a:ext cx="310896" cy="310896"/>
          </a:xfrm>
          <a:prstGeom prst="ellipse">
            <a:avLst/>
          </a:prstGeom>
          <a:solidFill>
            <a:srgbClr val="203A32"/>
          </a:solidFill>
          <a:ln w="12700">
            <a:solidFill>
              <a:srgbClr val="B9F36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30" name="Connector 29"/>
          <p:cNvCxnSpPr/>
          <p:nvPr/>
        </p:nvCxnSpPr>
        <p:spPr>
          <a:xfrm>
            <a:off x="4233672" y="3922776"/>
            <a:ext cx="73152" cy="73152"/>
          </a:xfrm>
          <a:prstGeom prst="line">
            <a:avLst/>
          </a:prstGeom>
          <a:ln w="22860">
            <a:solidFill>
              <a:srgbClr val="B9F36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" name="Connector 30"/>
          <p:cNvCxnSpPr/>
          <p:nvPr/>
        </p:nvCxnSpPr>
        <p:spPr>
          <a:xfrm flipV="1">
            <a:off x="4306824" y="3840480"/>
            <a:ext cx="109728" cy="155448"/>
          </a:xfrm>
          <a:prstGeom prst="line">
            <a:avLst/>
          </a:prstGeom>
          <a:ln w="22860">
            <a:solidFill>
              <a:srgbClr val="B9F36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2" name="TextBox 31"/>
          <p:cNvSpPr txBox="1"/>
          <p:nvPr/>
        </p:nvSpPr>
        <p:spPr>
          <a:xfrm>
            <a:off x="4590288" y="3621024"/>
            <a:ext cx="2212848" cy="6858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98000"/>
              </a:lnSpc>
              <a:spcBef>
                <a:spcPts val="0"/>
              </a:spcBef>
              <a:spcAft>
                <a:spcPts val="0"/>
              </a:spcAft>
            </a:pPr>
            <a:r>
              <a:rPr sz="1720" b="1" i="0">
                <a:solidFill>
                  <a:srgbClr val="F3F7F9"/>
                </a:solidFill>
                <a:latin typeface="Aptos"/>
              </a:rPr>
              <a:t>Use free public data</a:t>
            </a:r>
          </a:p>
        </p:txBody>
      </p:sp>
      <p:cxnSp>
        <p:nvCxnSpPr>
          <p:cNvPr id="33" name="Connector 32"/>
          <p:cNvCxnSpPr/>
          <p:nvPr/>
        </p:nvCxnSpPr>
        <p:spPr>
          <a:xfrm>
            <a:off x="932688" y="4553712"/>
            <a:ext cx="5916168" cy="0"/>
          </a:xfrm>
          <a:prstGeom prst="line">
            <a:avLst/>
          </a:prstGeom>
          <a:ln w="9525">
            <a:solidFill>
              <a:srgbClr val="24405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4" name="Oval 33"/>
          <p:cNvSpPr/>
          <p:nvPr/>
        </p:nvSpPr>
        <p:spPr>
          <a:xfrm>
            <a:off x="950976" y="4855464"/>
            <a:ext cx="310896" cy="310896"/>
          </a:xfrm>
          <a:prstGeom prst="ellipse">
            <a:avLst/>
          </a:prstGeom>
          <a:solidFill>
            <a:srgbClr val="152B3B"/>
          </a:solidFill>
          <a:ln w="12700">
            <a:solidFill>
              <a:srgbClr val="6881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35" name="Connector 34"/>
          <p:cNvCxnSpPr/>
          <p:nvPr/>
        </p:nvCxnSpPr>
        <p:spPr>
          <a:xfrm>
            <a:off x="1033271" y="5010912"/>
            <a:ext cx="146305" cy="0"/>
          </a:xfrm>
          <a:prstGeom prst="line">
            <a:avLst/>
          </a:prstGeom>
          <a:ln w="22860">
            <a:solidFill>
              <a:srgbClr val="9AAFC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6" name="TextBox 35"/>
          <p:cNvSpPr txBox="1"/>
          <p:nvPr/>
        </p:nvSpPr>
        <p:spPr>
          <a:xfrm>
            <a:off x="1426464" y="4709160"/>
            <a:ext cx="2148840" cy="6858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98000"/>
              </a:lnSpc>
              <a:spcBef>
                <a:spcPts val="0"/>
              </a:spcBef>
              <a:spcAft>
                <a:spcPts val="0"/>
              </a:spcAft>
            </a:pPr>
            <a:r>
              <a:rPr sz="1850" b="0" i="0">
                <a:solidFill>
                  <a:srgbClr val="C1CDD6"/>
                </a:solidFill>
                <a:latin typeface="Aptos"/>
              </a:rPr>
              <a:t>No suggested fix</a:t>
            </a:r>
          </a:p>
        </p:txBody>
      </p:sp>
      <p:sp>
        <p:nvSpPr>
          <p:cNvPr id="37" name="Oval 36"/>
          <p:cNvSpPr/>
          <p:nvPr/>
        </p:nvSpPr>
        <p:spPr>
          <a:xfrm>
            <a:off x="4151376" y="4855464"/>
            <a:ext cx="310896" cy="310896"/>
          </a:xfrm>
          <a:prstGeom prst="ellipse">
            <a:avLst/>
          </a:prstGeom>
          <a:solidFill>
            <a:srgbClr val="203A32"/>
          </a:solidFill>
          <a:ln w="12700">
            <a:solidFill>
              <a:srgbClr val="B9F36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38" name="Connector 37"/>
          <p:cNvCxnSpPr/>
          <p:nvPr/>
        </p:nvCxnSpPr>
        <p:spPr>
          <a:xfrm>
            <a:off x="4233672" y="5010912"/>
            <a:ext cx="73152" cy="73152"/>
          </a:xfrm>
          <a:prstGeom prst="line">
            <a:avLst/>
          </a:prstGeom>
          <a:ln w="22860">
            <a:solidFill>
              <a:srgbClr val="B9F36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9" name="Connector 38"/>
          <p:cNvCxnSpPr/>
          <p:nvPr/>
        </p:nvCxnSpPr>
        <p:spPr>
          <a:xfrm flipV="1">
            <a:off x="4306824" y="4928616"/>
            <a:ext cx="109728" cy="155448"/>
          </a:xfrm>
          <a:prstGeom prst="line">
            <a:avLst/>
          </a:prstGeom>
          <a:ln w="22860">
            <a:solidFill>
              <a:srgbClr val="B9F36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0" name="TextBox 39"/>
          <p:cNvSpPr txBox="1"/>
          <p:nvPr/>
        </p:nvSpPr>
        <p:spPr>
          <a:xfrm>
            <a:off x="4590288" y="4709160"/>
            <a:ext cx="2212848" cy="6858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98000"/>
              </a:lnSpc>
              <a:spcBef>
                <a:spcPts val="0"/>
              </a:spcBef>
              <a:spcAft>
                <a:spcPts val="0"/>
              </a:spcAft>
            </a:pPr>
            <a:r>
              <a:rPr sz="1720" b="1" i="0">
                <a:solidFill>
                  <a:srgbClr val="F3F7F9"/>
                </a:solidFill>
                <a:latin typeface="Aptos"/>
              </a:rPr>
              <a:t>Suggest one relay site</a:t>
            </a:r>
          </a:p>
        </p:txBody>
      </p:sp>
      <p:pic>
        <p:nvPicPr>
          <p:cNvPr id="41" name="Picture 40" descr="slide3_current_apps_crop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33488" y="1417320"/>
            <a:ext cx="4197096" cy="4800600"/>
          </a:xfrm>
          <a:prstGeom prst="rect">
            <a:avLst/>
          </a:prstGeom>
        </p:spPr>
      </p:pic>
      <p:sp>
        <p:nvSpPr>
          <p:cNvPr id="42" name="Rectangle 41"/>
          <p:cNvSpPr/>
          <p:nvPr/>
        </p:nvSpPr>
        <p:spPr>
          <a:xfrm>
            <a:off x="7333488" y="1417320"/>
            <a:ext cx="4197096" cy="4800600"/>
          </a:xfrm>
          <a:prstGeom prst="rect">
            <a:avLst/>
          </a:prstGeom>
          <a:noFill/>
          <a:ln w="11430">
            <a:solidFill>
              <a:srgbClr val="24405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Rounded Rectangle 42"/>
          <p:cNvSpPr/>
          <p:nvPr/>
        </p:nvSpPr>
        <p:spPr>
          <a:xfrm>
            <a:off x="914400" y="5577840"/>
            <a:ext cx="5943600" cy="429768"/>
          </a:xfrm>
          <a:prstGeom prst="roundRect">
            <a:avLst/>
          </a:prstGeom>
          <a:solidFill>
            <a:srgbClr val="142B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Rectangle 43"/>
          <p:cNvSpPr/>
          <p:nvPr/>
        </p:nvSpPr>
        <p:spPr>
          <a:xfrm>
            <a:off x="914400" y="5577840"/>
            <a:ext cx="50292" cy="429768"/>
          </a:xfrm>
          <a:prstGeom prst="rect">
            <a:avLst/>
          </a:prstGeom>
          <a:solidFill>
            <a:srgbClr val="B9F36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1097280" y="5577840"/>
            <a:ext cx="5577840" cy="42976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98000"/>
              </a:lnSpc>
              <a:spcBef>
                <a:spcPts val="0"/>
              </a:spcBef>
              <a:spcAft>
                <a:spcPts val="0"/>
              </a:spcAft>
            </a:pPr>
            <a:r>
              <a:rPr sz="1550" b="1">
                <a:solidFill>
                  <a:srgbClr val="B9F36C"/>
                </a:solidFill>
                <a:latin typeface="Aptos"/>
              </a:rPr>
              <a:t>Signal today is not a forecast for tomorrow.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7152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658368" y="457200"/>
            <a:ext cx="50292" cy="329184"/>
          </a:xfrm>
          <a:prstGeom prst="rect">
            <a:avLst/>
          </a:prstGeom>
          <a:solidFill>
            <a:srgbClr val="B9F36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59536" y="384048"/>
            <a:ext cx="9555480" cy="53035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98000"/>
              </a:lnSpc>
              <a:spcBef>
                <a:spcPts val="0"/>
              </a:spcBef>
              <a:spcAft>
                <a:spcPts val="0"/>
              </a:spcAft>
            </a:pPr>
            <a:r>
              <a:rPr sz="3000" b="1" i="0">
                <a:solidFill>
                  <a:srgbClr val="F3F7F9"/>
                </a:solidFill>
                <a:latin typeface="Aptos"/>
              </a:rPr>
              <a:t>Our Solution</a:t>
            </a:r>
          </a:p>
        </p:txBody>
      </p:sp>
      <p:sp>
        <p:nvSpPr>
          <p:cNvPr id="4" name="Oval 3"/>
          <p:cNvSpPr/>
          <p:nvPr/>
        </p:nvSpPr>
        <p:spPr>
          <a:xfrm>
            <a:off x="10817352" y="557784"/>
            <a:ext cx="68580" cy="68580"/>
          </a:xfrm>
          <a:prstGeom prst="ellipse">
            <a:avLst/>
          </a:prstGeom>
          <a:noFill/>
          <a:ln w="10795">
            <a:solidFill>
              <a:srgbClr val="6881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10963656" y="557784"/>
            <a:ext cx="68580" cy="68580"/>
          </a:xfrm>
          <a:prstGeom prst="ellipse">
            <a:avLst/>
          </a:prstGeom>
          <a:noFill/>
          <a:ln w="10795">
            <a:solidFill>
              <a:srgbClr val="6881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11109960" y="557784"/>
            <a:ext cx="68580" cy="68580"/>
          </a:xfrm>
          <a:prstGeom prst="ellipse">
            <a:avLst/>
          </a:prstGeom>
          <a:noFill/>
          <a:ln w="10795">
            <a:solidFill>
              <a:srgbClr val="6881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11256264" y="557784"/>
            <a:ext cx="68580" cy="68580"/>
          </a:xfrm>
          <a:prstGeom prst="ellipse">
            <a:avLst/>
          </a:prstGeom>
          <a:solidFill>
            <a:srgbClr val="B9F36C"/>
          </a:solidFill>
          <a:ln w="10795">
            <a:solidFill>
              <a:srgbClr val="B9F36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11402568" y="557784"/>
            <a:ext cx="68580" cy="68580"/>
          </a:xfrm>
          <a:prstGeom prst="ellipse">
            <a:avLst/>
          </a:prstGeom>
          <a:noFill/>
          <a:ln w="10795">
            <a:solidFill>
              <a:srgbClr val="6881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1548872" y="557784"/>
            <a:ext cx="68580" cy="68580"/>
          </a:xfrm>
          <a:prstGeom prst="ellipse">
            <a:avLst/>
          </a:prstGeom>
          <a:noFill/>
          <a:ln w="10795">
            <a:solidFill>
              <a:srgbClr val="6881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11695176" y="557784"/>
            <a:ext cx="68580" cy="68580"/>
          </a:xfrm>
          <a:prstGeom prst="ellipse">
            <a:avLst/>
          </a:prstGeom>
          <a:noFill/>
          <a:ln w="10795">
            <a:solidFill>
              <a:srgbClr val="6881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1" name="Connector 10"/>
          <p:cNvCxnSpPr/>
          <p:nvPr/>
        </p:nvCxnSpPr>
        <p:spPr>
          <a:xfrm>
            <a:off x="658368" y="1097280"/>
            <a:ext cx="10872216" cy="0"/>
          </a:xfrm>
          <a:prstGeom prst="line">
            <a:avLst/>
          </a:prstGeom>
          <a:ln w="10795">
            <a:solidFill>
              <a:srgbClr val="24405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Rounded Rectangle 11"/>
          <p:cNvSpPr/>
          <p:nvPr/>
        </p:nvSpPr>
        <p:spPr>
          <a:xfrm>
            <a:off x="658368" y="1389888"/>
            <a:ext cx="3355848" cy="2103120"/>
          </a:xfrm>
          <a:prstGeom prst="roundRect">
            <a:avLst/>
          </a:prstGeom>
          <a:solidFill>
            <a:srgbClr val="0D2030"/>
          </a:solidFill>
          <a:ln w="11430">
            <a:solidFill>
              <a:srgbClr val="24405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58368" y="1389888"/>
            <a:ext cx="50292" cy="2103120"/>
          </a:xfrm>
          <a:prstGeom prst="rect">
            <a:avLst/>
          </a:prstGeom>
          <a:solidFill>
            <a:srgbClr val="B9F36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77824" y="1554480"/>
            <a:ext cx="475488" cy="2286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98000"/>
              </a:lnSpc>
              <a:spcBef>
                <a:spcPts val="0"/>
              </a:spcBef>
              <a:spcAft>
                <a:spcPts val="0"/>
              </a:spcAft>
            </a:pPr>
            <a:r>
              <a:rPr sz="1150" b="1" i="0">
                <a:solidFill>
                  <a:srgbClr val="B9F36C"/>
                </a:solidFill>
                <a:latin typeface="Aptos"/>
              </a:rPr>
              <a:t>01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416552" y="1389888"/>
            <a:ext cx="3355848" cy="2103120"/>
          </a:xfrm>
          <a:prstGeom prst="roundRect">
            <a:avLst/>
          </a:prstGeom>
          <a:solidFill>
            <a:srgbClr val="0D2030"/>
          </a:solidFill>
          <a:ln w="11430">
            <a:solidFill>
              <a:srgbClr val="24405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4416552" y="1389888"/>
            <a:ext cx="50292" cy="2103120"/>
          </a:xfrm>
          <a:prstGeom prst="rect">
            <a:avLst/>
          </a:prstGeom>
          <a:solidFill>
            <a:srgbClr val="54B7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636008" y="1554480"/>
            <a:ext cx="475488" cy="2286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98000"/>
              </a:lnSpc>
              <a:spcBef>
                <a:spcPts val="0"/>
              </a:spcBef>
              <a:spcAft>
                <a:spcPts val="0"/>
              </a:spcAft>
            </a:pPr>
            <a:r>
              <a:rPr sz="1150" b="1" i="0">
                <a:solidFill>
                  <a:srgbClr val="B9F36C"/>
                </a:solidFill>
                <a:latin typeface="Aptos"/>
              </a:rPr>
              <a:t>02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174736" y="1389888"/>
            <a:ext cx="3355848" cy="2103120"/>
          </a:xfrm>
          <a:prstGeom prst="roundRect">
            <a:avLst/>
          </a:prstGeom>
          <a:solidFill>
            <a:srgbClr val="0D2030"/>
          </a:solidFill>
          <a:ln w="11430">
            <a:solidFill>
              <a:srgbClr val="24405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8174736" y="1389888"/>
            <a:ext cx="50292" cy="2103120"/>
          </a:xfrm>
          <a:prstGeom prst="rect">
            <a:avLst/>
          </a:prstGeom>
          <a:solidFill>
            <a:srgbClr val="B9F36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394192" y="1554480"/>
            <a:ext cx="475488" cy="2286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98000"/>
              </a:lnSpc>
              <a:spcBef>
                <a:spcPts val="0"/>
              </a:spcBef>
              <a:spcAft>
                <a:spcPts val="0"/>
              </a:spcAft>
            </a:pPr>
            <a:r>
              <a:rPr sz="1150" b="1" i="0">
                <a:solidFill>
                  <a:srgbClr val="B9F36C"/>
                </a:solidFill>
                <a:latin typeface="Aptos"/>
              </a:rPr>
              <a:t>03</a:t>
            </a:r>
          </a:p>
        </p:txBody>
      </p:sp>
      <p:sp>
        <p:nvSpPr>
          <p:cNvPr id="21" name="Oval 20"/>
          <p:cNvSpPr/>
          <p:nvPr/>
        </p:nvSpPr>
        <p:spPr>
          <a:xfrm>
            <a:off x="3373404" y="1681764"/>
            <a:ext cx="257495" cy="257495"/>
          </a:xfrm>
          <a:prstGeom prst="ellipse">
            <a:avLst/>
          </a:prstGeom>
          <a:noFill/>
          <a:ln w="22860">
            <a:solidFill>
              <a:srgbClr val="B9F36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3469965" y="1778325"/>
            <a:ext cx="64373" cy="64373"/>
          </a:xfrm>
          <a:prstGeom prst="ellipse">
            <a:avLst/>
          </a:prstGeom>
          <a:solidFill>
            <a:srgbClr val="B9F36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23" name="Connector 22"/>
          <p:cNvCxnSpPr/>
          <p:nvPr/>
        </p:nvCxnSpPr>
        <p:spPr>
          <a:xfrm>
            <a:off x="3414603" y="1900635"/>
            <a:ext cx="87549" cy="167372"/>
          </a:xfrm>
          <a:prstGeom prst="line">
            <a:avLst/>
          </a:prstGeom>
          <a:ln w="22860">
            <a:solidFill>
              <a:srgbClr val="B9F36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Connector 23"/>
          <p:cNvCxnSpPr/>
          <p:nvPr/>
        </p:nvCxnSpPr>
        <p:spPr>
          <a:xfrm flipH="1">
            <a:off x="3502152" y="1900635"/>
            <a:ext cx="87548" cy="167372"/>
          </a:xfrm>
          <a:prstGeom prst="line">
            <a:avLst/>
          </a:prstGeom>
          <a:ln w="22860">
            <a:solidFill>
              <a:srgbClr val="B9F36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" name="TextBox 24"/>
          <p:cNvSpPr txBox="1"/>
          <p:nvPr/>
        </p:nvSpPr>
        <p:spPr>
          <a:xfrm>
            <a:off x="923544" y="2395728"/>
            <a:ext cx="2788920" cy="35661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98000"/>
              </a:lnSpc>
              <a:spcBef>
                <a:spcPts val="0"/>
              </a:spcBef>
              <a:spcAft>
                <a:spcPts val="0"/>
              </a:spcAft>
            </a:pPr>
            <a:r>
              <a:rPr sz="2050" b="1" i="0">
                <a:solidFill>
                  <a:srgbClr val="F3F7F9"/>
                </a:solidFill>
                <a:latin typeface="Aptos"/>
              </a:rPr>
              <a:t>Choose a village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23544" y="2807208"/>
            <a:ext cx="2788920" cy="30175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98000"/>
              </a:lnSpc>
              <a:spcBef>
                <a:spcPts val="0"/>
              </a:spcBef>
              <a:spcAft>
                <a:spcPts val="0"/>
              </a:spcAft>
            </a:pPr>
            <a:r>
              <a:rPr sz="1700" b="0" i="0">
                <a:solidFill>
                  <a:srgbClr val="9AAFC0"/>
                </a:solidFill>
                <a:latin typeface="Aptos"/>
              </a:rPr>
              <a:t>on the map</a:t>
            </a:r>
          </a:p>
        </p:txBody>
      </p:sp>
      <p:cxnSp>
        <p:nvCxnSpPr>
          <p:cNvPr id="27" name="Connector 26"/>
          <p:cNvCxnSpPr/>
          <p:nvPr/>
        </p:nvCxnSpPr>
        <p:spPr>
          <a:xfrm flipH="1">
            <a:off x="6958584" y="1709928"/>
            <a:ext cx="265176" cy="502920"/>
          </a:xfrm>
          <a:prstGeom prst="line">
            <a:avLst/>
          </a:prstGeom>
          <a:ln w="20955">
            <a:solidFill>
              <a:srgbClr val="74D7A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" name="Connector 27"/>
          <p:cNvCxnSpPr/>
          <p:nvPr/>
        </p:nvCxnSpPr>
        <p:spPr>
          <a:xfrm>
            <a:off x="7223760" y="1709928"/>
            <a:ext cx="265176" cy="502920"/>
          </a:xfrm>
          <a:prstGeom prst="line">
            <a:avLst/>
          </a:prstGeom>
          <a:ln w="20955">
            <a:solidFill>
              <a:srgbClr val="74D7A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9" name="Connector 28"/>
          <p:cNvCxnSpPr/>
          <p:nvPr/>
        </p:nvCxnSpPr>
        <p:spPr>
          <a:xfrm>
            <a:off x="7223760" y="1709928"/>
            <a:ext cx="0" cy="502920"/>
          </a:xfrm>
          <a:prstGeom prst="line">
            <a:avLst/>
          </a:prstGeom>
          <a:ln w="14668">
            <a:solidFill>
              <a:srgbClr val="74D7A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" name="Connector 29"/>
          <p:cNvCxnSpPr/>
          <p:nvPr/>
        </p:nvCxnSpPr>
        <p:spPr>
          <a:xfrm>
            <a:off x="7130948" y="1885950"/>
            <a:ext cx="185623" cy="0"/>
          </a:xfrm>
          <a:prstGeom prst="line">
            <a:avLst/>
          </a:prstGeom>
          <a:ln w="15716">
            <a:solidFill>
              <a:srgbClr val="74D7A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" name="Connector 30"/>
          <p:cNvCxnSpPr/>
          <p:nvPr/>
        </p:nvCxnSpPr>
        <p:spPr>
          <a:xfrm>
            <a:off x="7051395" y="2036826"/>
            <a:ext cx="344729" cy="0"/>
          </a:xfrm>
          <a:prstGeom prst="line">
            <a:avLst/>
          </a:prstGeom>
          <a:ln w="15716">
            <a:solidFill>
              <a:srgbClr val="74D7A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2" name="Connector 31"/>
          <p:cNvCxnSpPr/>
          <p:nvPr/>
        </p:nvCxnSpPr>
        <p:spPr>
          <a:xfrm>
            <a:off x="6995708" y="2142439"/>
            <a:ext cx="456103" cy="0"/>
          </a:xfrm>
          <a:prstGeom prst="line">
            <a:avLst/>
          </a:prstGeom>
          <a:ln w="15716">
            <a:solidFill>
              <a:srgbClr val="74D7A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3" name="Connector 32"/>
          <p:cNvCxnSpPr/>
          <p:nvPr/>
        </p:nvCxnSpPr>
        <p:spPr>
          <a:xfrm>
            <a:off x="7223760" y="1709928"/>
            <a:ext cx="92811" cy="176022"/>
          </a:xfrm>
          <a:prstGeom prst="line">
            <a:avLst/>
          </a:prstGeom>
          <a:ln w="11525">
            <a:solidFill>
              <a:srgbClr val="74D7A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4" name="Connector 33"/>
          <p:cNvCxnSpPr/>
          <p:nvPr/>
        </p:nvCxnSpPr>
        <p:spPr>
          <a:xfrm flipH="1">
            <a:off x="7130948" y="1709928"/>
            <a:ext cx="92812" cy="176022"/>
          </a:xfrm>
          <a:prstGeom prst="line">
            <a:avLst/>
          </a:prstGeom>
          <a:ln w="11525">
            <a:solidFill>
              <a:srgbClr val="74D7A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5" name="Connector 34"/>
          <p:cNvCxnSpPr/>
          <p:nvPr/>
        </p:nvCxnSpPr>
        <p:spPr>
          <a:xfrm>
            <a:off x="7130948" y="1885950"/>
            <a:ext cx="265176" cy="150876"/>
          </a:xfrm>
          <a:prstGeom prst="line">
            <a:avLst/>
          </a:prstGeom>
          <a:ln w="11525">
            <a:solidFill>
              <a:srgbClr val="74D7A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6" name="Connector 35"/>
          <p:cNvCxnSpPr/>
          <p:nvPr/>
        </p:nvCxnSpPr>
        <p:spPr>
          <a:xfrm flipH="1">
            <a:off x="7051395" y="1885950"/>
            <a:ext cx="265176" cy="150876"/>
          </a:xfrm>
          <a:prstGeom prst="line">
            <a:avLst/>
          </a:prstGeom>
          <a:ln w="11525">
            <a:solidFill>
              <a:srgbClr val="74D7A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7" name="Connector 36"/>
          <p:cNvCxnSpPr/>
          <p:nvPr/>
        </p:nvCxnSpPr>
        <p:spPr>
          <a:xfrm>
            <a:off x="7051395" y="2036826"/>
            <a:ext cx="400416" cy="105613"/>
          </a:xfrm>
          <a:prstGeom prst="line">
            <a:avLst/>
          </a:prstGeom>
          <a:ln w="11525">
            <a:solidFill>
              <a:srgbClr val="74D7A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8" name="Connector 37"/>
          <p:cNvCxnSpPr/>
          <p:nvPr/>
        </p:nvCxnSpPr>
        <p:spPr>
          <a:xfrm flipH="1">
            <a:off x="6995708" y="2036826"/>
            <a:ext cx="400416" cy="105613"/>
          </a:xfrm>
          <a:prstGeom prst="line">
            <a:avLst/>
          </a:prstGeom>
          <a:ln w="11525">
            <a:solidFill>
              <a:srgbClr val="74D7A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9" name="Connector 38"/>
          <p:cNvCxnSpPr/>
          <p:nvPr/>
        </p:nvCxnSpPr>
        <p:spPr>
          <a:xfrm>
            <a:off x="7031736" y="1847088"/>
            <a:ext cx="393191" cy="301752"/>
          </a:xfrm>
          <a:prstGeom prst="line">
            <a:avLst/>
          </a:prstGeom>
          <a:ln w="25400">
            <a:solidFill>
              <a:srgbClr val="F36E7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0" name="TextBox 39"/>
          <p:cNvSpPr txBox="1"/>
          <p:nvPr/>
        </p:nvSpPr>
        <p:spPr>
          <a:xfrm>
            <a:off x="4681728" y="2395728"/>
            <a:ext cx="2834640" cy="35661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98000"/>
              </a:lnSpc>
              <a:spcBef>
                <a:spcPts val="0"/>
              </a:spcBef>
              <a:spcAft>
                <a:spcPts val="0"/>
              </a:spcAft>
            </a:pPr>
            <a:r>
              <a:rPr sz="1910" b="1" i="0">
                <a:solidFill>
                  <a:srgbClr val="F3F7F9"/>
                </a:solidFill>
                <a:latin typeface="Aptos"/>
              </a:rPr>
              <a:t>Switch off one tower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4681728" y="2807208"/>
            <a:ext cx="2788920" cy="30175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98000"/>
              </a:lnSpc>
              <a:spcBef>
                <a:spcPts val="0"/>
              </a:spcBef>
              <a:spcAft>
                <a:spcPts val="0"/>
              </a:spcAft>
            </a:pPr>
            <a:r>
              <a:rPr sz="1700" b="1" i="0">
                <a:solidFill>
                  <a:srgbClr val="F36E75"/>
                </a:solidFill>
                <a:latin typeface="Aptos"/>
              </a:rPr>
              <a:t>See red zones</a:t>
            </a:r>
          </a:p>
        </p:txBody>
      </p:sp>
      <p:sp>
        <p:nvSpPr>
          <p:cNvPr id="42" name="Oval 41"/>
          <p:cNvSpPr/>
          <p:nvPr/>
        </p:nvSpPr>
        <p:spPr>
          <a:xfrm>
            <a:off x="10506456" y="1645920"/>
            <a:ext cx="704088" cy="704088"/>
          </a:xfrm>
          <a:prstGeom prst="ellipse">
            <a:avLst/>
          </a:prstGeom>
          <a:solidFill>
            <a:srgbClr val="1C3A32"/>
          </a:solidFill>
          <a:ln w="15240">
            <a:solidFill>
              <a:srgbClr val="B9F36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43" name="Connector 42"/>
          <p:cNvCxnSpPr/>
          <p:nvPr/>
        </p:nvCxnSpPr>
        <p:spPr>
          <a:xfrm flipH="1">
            <a:off x="10675620" y="1755648"/>
            <a:ext cx="182880" cy="493776"/>
          </a:xfrm>
          <a:prstGeom prst="line">
            <a:avLst/>
          </a:prstGeom>
          <a:ln w="16510">
            <a:solidFill>
              <a:srgbClr val="B9F36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4" name="Connector 43"/>
          <p:cNvCxnSpPr/>
          <p:nvPr/>
        </p:nvCxnSpPr>
        <p:spPr>
          <a:xfrm>
            <a:off x="10858500" y="1755648"/>
            <a:ext cx="182880" cy="493776"/>
          </a:xfrm>
          <a:prstGeom prst="line">
            <a:avLst/>
          </a:prstGeom>
          <a:ln w="16510">
            <a:solidFill>
              <a:srgbClr val="B9F36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5" name="Connector 44"/>
          <p:cNvCxnSpPr/>
          <p:nvPr/>
        </p:nvCxnSpPr>
        <p:spPr>
          <a:xfrm>
            <a:off x="10858500" y="1755648"/>
            <a:ext cx="0" cy="493776"/>
          </a:xfrm>
          <a:prstGeom prst="line">
            <a:avLst/>
          </a:prstGeom>
          <a:ln w="12700">
            <a:solidFill>
              <a:srgbClr val="B9F36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6" name="Connector 45"/>
          <p:cNvCxnSpPr/>
          <p:nvPr/>
        </p:nvCxnSpPr>
        <p:spPr>
          <a:xfrm>
            <a:off x="10794492" y="1928469"/>
            <a:ext cx="128016" cy="0"/>
          </a:xfrm>
          <a:prstGeom prst="line">
            <a:avLst/>
          </a:prstGeom>
          <a:ln w="12700">
            <a:solidFill>
              <a:srgbClr val="B9F36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7" name="Connector 46"/>
          <p:cNvCxnSpPr/>
          <p:nvPr/>
        </p:nvCxnSpPr>
        <p:spPr>
          <a:xfrm>
            <a:off x="10739628" y="2076602"/>
            <a:ext cx="237744" cy="0"/>
          </a:xfrm>
          <a:prstGeom prst="line">
            <a:avLst/>
          </a:prstGeom>
          <a:ln w="12700">
            <a:solidFill>
              <a:srgbClr val="B9F36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8" name="Connector 47"/>
          <p:cNvCxnSpPr/>
          <p:nvPr/>
        </p:nvCxnSpPr>
        <p:spPr>
          <a:xfrm>
            <a:off x="10701223" y="2180295"/>
            <a:ext cx="314553" cy="0"/>
          </a:xfrm>
          <a:prstGeom prst="line">
            <a:avLst/>
          </a:prstGeom>
          <a:ln w="12700">
            <a:solidFill>
              <a:srgbClr val="B9F36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9" name="Connector 48"/>
          <p:cNvCxnSpPr/>
          <p:nvPr/>
        </p:nvCxnSpPr>
        <p:spPr>
          <a:xfrm>
            <a:off x="10858500" y="1755648"/>
            <a:ext cx="64008" cy="172821"/>
          </a:xfrm>
          <a:prstGeom prst="line">
            <a:avLst/>
          </a:prstGeom>
          <a:ln w="10160">
            <a:solidFill>
              <a:srgbClr val="B9F36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0" name="Connector 49"/>
          <p:cNvCxnSpPr/>
          <p:nvPr/>
        </p:nvCxnSpPr>
        <p:spPr>
          <a:xfrm flipH="1">
            <a:off x="10794492" y="1755648"/>
            <a:ext cx="64008" cy="172821"/>
          </a:xfrm>
          <a:prstGeom prst="line">
            <a:avLst/>
          </a:prstGeom>
          <a:ln w="10160">
            <a:solidFill>
              <a:srgbClr val="B9F36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1" name="Connector 50"/>
          <p:cNvCxnSpPr/>
          <p:nvPr/>
        </p:nvCxnSpPr>
        <p:spPr>
          <a:xfrm>
            <a:off x="10794492" y="1928469"/>
            <a:ext cx="182880" cy="148133"/>
          </a:xfrm>
          <a:prstGeom prst="line">
            <a:avLst/>
          </a:prstGeom>
          <a:ln w="10160">
            <a:solidFill>
              <a:srgbClr val="B9F36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2" name="Connector 51"/>
          <p:cNvCxnSpPr/>
          <p:nvPr/>
        </p:nvCxnSpPr>
        <p:spPr>
          <a:xfrm flipH="1">
            <a:off x="10739628" y="1928469"/>
            <a:ext cx="182880" cy="148133"/>
          </a:xfrm>
          <a:prstGeom prst="line">
            <a:avLst/>
          </a:prstGeom>
          <a:ln w="10160">
            <a:solidFill>
              <a:srgbClr val="B9F36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3" name="Connector 52"/>
          <p:cNvCxnSpPr/>
          <p:nvPr/>
        </p:nvCxnSpPr>
        <p:spPr>
          <a:xfrm>
            <a:off x="10739628" y="2076602"/>
            <a:ext cx="276148" cy="103693"/>
          </a:xfrm>
          <a:prstGeom prst="line">
            <a:avLst/>
          </a:prstGeom>
          <a:ln w="10160">
            <a:solidFill>
              <a:srgbClr val="B9F36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4" name="Connector 53"/>
          <p:cNvCxnSpPr/>
          <p:nvPr/>
        </p:nvCxnSpPr>
        <p:spPr>
          <a:xfrm flipH="1">
            <a:off x="10701223" y="2076602"/>
            <a:ext cx="276149" cy="103693"/>
          </a:xfrm>
          <a:prstGeom prst="line">
            <a:avLst/>
          </a:prstGeom>
          <a:ln w="10160">
            <a:solidFill>
              <a:srgbClr val="B9F36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5" name="TextBox 54"/>
          <p:cNvSpPr txBox="1"/>
          <p:nvPr/>
        </p:nvSpPr>
        <p:spPr>
          <a:xfrm>
            <a:off x="8430768" y="2395728"/>
            <a:ext cx="2898648" cy="35661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98000"/>
              </a:lnSpc>
              <a:spcBef>
                <a:spcPts val="0"/>
              </a:spcBef>
              <a:spcAft>
                <a:spcPts val="0"/>
              </a:spcAft>
            </a:pPr>
            <a:r>
              <a:rPr sz="1760" b="1" i="0">
                <a:solidFill>
                  <a:srgbClr val="F3F7F9"/>
                </a:solidFill>
                <a:latin typeface="Aptos"/>
              </a:rPr>
              <a:t>Tool picks one relay spot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8430768" y="2807208"/>
            <a:ext cx="2898648" cy="30175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98000"/>
              </a:lnSpc>
              <a:spcBef>
                <a:spcPts val="0"/>
              </a:spcBef>
              <a:spcAft>
                <a:spcPts val="0"/>
              </a:spcAft>
            </a:pPr>
            <a:r>
              <a:rPr sz="1650" b="1" i="0">
                <a:solidFill>
                  <a:srgbClr val="B9F36C"/>
                </a:solidFill>
                <a:latin typeface="Aptos"/>
              </a:rPr>
              <a:t>Weak areas turn green</a:t>
            </a:r>
          </a:p>
        </p:txBody>
      </p:sp>
      <p:sp>
        <p:nvSpPr>
          <p:cNvPr id="57" name="Chevron 56"/>
          <p:cNvSpPr/>
          <p:nvPr/>
        </p:nvSpPr>
        <p:spPr>
          <a:xfrm>
            <a:off x="4096512" y="2240280"/>
            <a:ext cx="274320" cy="329184"/>
          </a:xfrm>
          <a:prstGeom prst="chevron">
            <a:avLst/>
          </a:prstGeom>
          <a:solidFill>
            <a:srgbClr val="B9F36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Chevron 57"/>
          <p:cNvSpPr/>
          <p:nvPr/>
        </p:nvSpPr>
        <p:spPr>
          <a:xfrm>
            <a:off x="7854696" y="2240280"/>
            <a:ext cx="274320" cy="329184"/>
          </a:xfrm>
          <a:prstGeom prst="chevron">
            <a:avLst/>
          </a:prstGeom>
          <a:solidFill>
            <a:srgbClr val="B9F36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6" name="Picture 65" descr="slide4_solution_crop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181344" y="3749039"/>
            <a:ext cx="5349240" cy="2395728"/>
          </a:xfrm>
          <a:prstGeom prst="rect">
            <a:avLst/>
          </a:prstGeom>
        </p:spPr>
      </p:pic>
      <p:sp>
        <p:nvSpPr>
          <p:cNvPr id="67" name="Rectangle 66"/>
          <p:cNvSpPr/>
          <p:nvPr/>
        </p:nvSpPr>
        <p:spPr>
          <a:xfrm>
            <a:off x="6181344" y="3749039"/>
            <a:ext cx="5349240" cy="2395728"/>
          </a:xfrm>
          <a:prstGeom prst="rect">
            <a:avLst/>
          </a:prstGeom>
          <a:noFill/>
          <a:ln w="11430">
            <a:solidFill>
              <a:srgbClr val="24405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Rounded Rectangle 67"/>
          <p:cNvSpPr/>
          <p:nvPr/>
        </p:nvSpPr>
        <p:spPr>
          <a:xfrm>
            <a:off x="658368" y="3749039"/>
            <a:ext cx="5230368" cy="2395728"/>
          </a:xfrm>
          <a:prstGeom prst="roundRect">
            <a:avLst/>
          </a:prstGeom>
          <a:solidFill>
            <a:srgbClr val="0D2030"/>
          </a:solidFill>
          <a:ln w="11430">
            <a:solidFill>
              <a:srgbClr val="24405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Rectangle 68"/>
          <p:cNvSpPr/>
          <p:nvPr/>
        </p:nvSpPr>
        <p:spPr>
          <a:xfrm>
            <a:off x="658368" y="3749039"/>
            <a:ext cx="50292" cy="2395728"/>
          </a:xfrm>
          <a:prstGeom prst="rect">
            <a:avLst/>
          </a:prstGeom>
          <a:solidFill>
            <a:srgbClr val="B9F36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TextBox 69"/>
          <p:cNvSpPr txBox="1"/>
          <p:nvPr/>
        </p:nvSpPr>
        <p:spPr>
          <a:xfrm>
            <a:off x="932688" y="3858768"/>
            <a:ext cx="4526280" cy="31089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98000"/>
              </a:lnSpc>
              <a:spcBef>
                <a:spcPts val="0"/>
              </a:spcBef>
              <a:spcAft>
                <a:spcPts val="0"/>
              </a:spcAft>
            </a:pPr>
            <a:r>
              <a:rPr sz="1750" b="1">
                <a:solidFill>
                  <a:srgbClr val="B9F36C"/>
                </a:solidFill>
                <a:latin typeface="Aptos"/>
              </a:rPr>
              <a:t>WHAT YOU SEE</a:t>
            </a:r>
          </a:p>
        </p:txBody>
      </p:sp>
      <p:sp>
        <p:nvSpPr>
          <p:cNvPr id="71" name="Oval 70"/>
          <p:cNvSpPr/>
          <p:nvPr/>
        </p:nvSpPr>
        <p:spPr>
          <a:xfrm>
            <a:off x="969264" y="4370832"/>
            <a:ext cx="146304" cy="146304"/>
          </a:xfrm>
          <a:prstGeom prst="ellipse">
            <a:avLst/>
          </a:prstGeom>
          <a:solidFill>
            <a:srgbClr val="B9F36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" name="TextBox 71"/>
          <p:cNvSpPr txBox="1"/>
          <p:nvPr/>
        </p:nvSpPr>
        <p:spPr>
          <a:xfrm>
            <a:off x="1261872" y="4297680"/>
            <a:ext cx="4224528" cy="31089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98000"/>
              </a:lnSpc>
              <a:spcBef>
                <a:spcPts val="0"/>
              </a:spcBef>
              <a:spcAft>
                <a:spcPts val="0"/>
              </a:spcAft>
            </a:pPr>
            <a:r>
              <a:rPr sz="1650" b="1">
                <a:solidFill>
                  <a:srgbClr val="F3F7F9"/>
                </a:solidFill>
                <a:latin typeface="Aptos"/>
              </a:rPr>
              <a:t>Villages that lose signal</a:t>
            </a:r>
          </a:p>
        </p:txBody>
      </p:sp>
      <p:sp>
        <p:nvSpPr>
          <p:cNvPr id="73" name="Oval 72"/>
          <p:cNvSpPr/>
          <p:nvPr/>
        </p:nvSpPr>
        <p:spPr>
          <a:xfrm>
            <a:off x="969264" y="4745736"/>
            <a:ext cx="146304" cy="146304"/>
          </a:xfrm>
          <a:prstGeom prst="ellipse">
            <a:avLst/>
          </a:prstGeom>
          <a:solidFill>
            <a:srgbClr val="B9F36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" name="TextBox 73"/>
          <p:cNvSpPr txBox="1"/>
          <p:nvPr/>
        </p:nvSpPr>
        <p:spPr>
          <a:xfrm>
            <a:off x="1261872" y="4672584"/>
            <a:ext cx="4224528" cy="31089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98000"/>
              </a:lnSpc>
              <a:spcBef>
                <a:spcPts val="0"/>
              </a:spcBef>
              <a:spcAft>
                <a:spcPts val="0"/>
              </a:spcAft>
            </a:pPr>
            <a:r>
              <a:rPr sz="1650" b="1">
                <a:solidFill>
                  <a:srgbClr val="F3F7F9"/>
                </a:solidFill>
                <a:latin typeface="Aptos"/>
              </a:rPr>
              <a:t>People affected by each outage</a:t>
            </a:r>
          </a:p>
        </p:txBody>
      </p:sp>
      <p:sp>
        <p:nvSpPr>
          <p:cNvPr id="75" name="Oval 74"/>
          <p:cNvSpPr/>
          <p:nvPr/>
        </p:nvSpPr>
        <p:spPr>
          <a:xfrm>
            <a:off x="969264" y="5120640"/>
            <a:ext cx="146304" cy="146304"/>
          </a:xfrm>
          <a:prstGeom prst="ellipse">
            <a:avLst/>
          </a:prstGeom>
          <a:solidFill>
            <a:srgbClr val="B9F36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6" name="TextBox 75"/>
          <p:cNvSpPr txBox="1"/>
          <p:nvPr/>
        </p:nvSpPr>
        <p:spPr>
          <a:xfrm>
            <a:off x="1261872" y="5047488"/>
            <a:ext cx="4224528" cy="31089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98000"/>
              </a:lnSpc>
              <a:spcBef>
                <a:spcPts val="0"/>
              </a:spcBef>
              <a:spcAft>
                <a:spcPts val="0"/>
              </a:spcAft>
            </a:pPr>
            <a:r>
              <a:rPr sz="1650" b="1">
                <a:solidFill>
                  <a:srgbClr val="F3F7F9"/>
                </a:solidFill>
                <a:latin typeface="Aptos"/>
              </a:rPr>
              <a:t>Best place for one relay</a:t>
            </a:r>
          </a:p>
        </p:txBody>
      </p:sp>
      <p:sp>
        <p:nvSpPr>
          <p:cNvPr id="77" name="TextBox 76"/>
          <p:cNvSpPr txBox="1"/>
          <p:nvPr/>
        </p:nvSpPr>
        <p:spPr>
          <a:xfrm>
            <a:off x="932688" y="5541264"/>
            <a:ext cx="4626864" cy="35661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98000"/>
              </a:lnSpc>
              <a:spcBef>
                <a:spcPts val="0"/>
              </a:spcBef>
              <a:spcAft>
                <a:spcPts val="0"/>
              </a:spcAft>
            </a:pPr>
            <a:r>
              <a:rPr sz="1460" b="1">
                <a:solidFill>
                  <a:srgbClr val="74D7A5"/>
                </a:solidFill>
                <a:latin typeface="Aptos"/>
              </a:rPr>
              <a:t>Compare normal and disaster coverage.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7152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658368" y="457200"/>
            <a:ext cx="50292" cy="329184"/>
          </a:xfrm>
          <a:prstGeom prst="rect">
            <a:avLst/>
          </a:prstGeom>
          <a:solidFill>
            <a:srgbClr val="B9F36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59536" y="384048"/>
            <a:ext cx="9555480" cy="53035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98000"/>
              </a:lnSpc>
              <a:spcBef>
                <a:spcPts val="0"/>
              </a:spcBef>
              <a:spcAft>
                <a:spcPts val="0"/>
              </a:spcAft>
            </a:pPr>
            <a:r>
              <a:rPr sz="3000" b="1" i="0">
                <a:solidFill>
                  <a:srgbClr val="F3F7F9"/>
                </a:solidFill>
                <a:latin typeface="Aptos"/>
              </a:rPr>
              <a:t>RF + Tech: How It Works</a:t>
            </a:r>
          </a:p>
        </p:txBody>
      </p:sp>
      <p:sp>
        <p:nvSpPr>
          <p:cNvPr id="4" name="Oval 3"/>
          <p:cNvSpPr/>
          <p:nvPr/>
        </p:nvSpPr>
        <p:spPr>
          <a:xfrm>
            <a:off x="10817352" y="557784"/>
            <a:ext cx="68580" cy="68580"/>
          </a:xfrm>
          <a:prstGeom prst="ellipse">
            <a:avLst/>
          </a:prstGeom>
          <a:noFill/>
          <a:ln w="10795">
            <a:solidFill>
              <a:srgbClr val="6881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10963656" y="557784"/>
            <a:ext cx="68580" cy="68580"/>
          </a:xfrm>
          <a:prstGeom prst="ellipse">
            <a:avLst/>
          </a:prstGeom>
          <a:noFill/>
          <a:ln w="10795">
            <a:solidFill>
              <a:srgbClr val="6881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11109960" y="557784"/>
            <a:ext cx="68580" cy="68580"/>
          </a:xfrm>
          <a:prstGeom prst="ellipse">
            <a:avLst/>
          </a:prstGeom>
          <a:noFill/>
          <a:ln w="10795">
            <a:solidFill>
              <a:srgbClr val="6881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11256264" y="557784"/>
            <a:ext cx="68580" cy="68580"/>
          </a:xfrm>
          <a:prstGeom prst="ellipse">
            <a:avLst/>
          </a:prstGeom>
          <a:noFill/>
          <a:ln w="10795">
            <a:solidFill>
              <a:srgbClr val="6881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11402568" y="557784"/>
            <a:ext cx="68580" cy="68580"/>
          </a:xfrm>
          <a:prstGeom prst="ellipse">
            <a:avLst/>
          </a:prstGeom>
          <a:solidFill>
            <a:srgbClr val="B9F36C"/>
          </a:solidFill>
          <a:ln w="10795">
            <a:solidFill>
              <a:srgbClr val="B9F36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1548872" y="557784"/>
            <a:ext cx="68580" cy="68580"/>
          </a:xfrm>
          <a:prstGeom prst="ellipse">
            <a:avLst/>
          </a:prstGeom>
          <a:noFill/>
          <a:ln w="10795">
            <a:solidFill>
              <a:srgbClr val="6881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11695176" y="557784"/>
            <a:ext cx="68580" cy="68580"/>
          </a:xfrm>
          <a:prstGeom prst="ellipse">
            <a:avLst/>
          </a:prstGeom>
          <a:noFill/>
          <a:ln w="10795">
            <a:solidFill>
              <a:srgbClr val="6881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1" name="Connector 10"/>
          <p:cNvCxnSpPr/>
          <p:nvPr/>
        </p:nvCxnSpPr>
        <p:spPr>
          <a:xfrm>
            <a:off x="658368" y="1097280"/>
            <a:ext cx="10872216" cy="0"/>
          </a:xfrm>
          <a:prstGeom prst="line">
            <a:avLst/>
          </a:prstGeom>
          <a:ln w="10795">
            <a:solidFill>
              <a:srgbClr val="24405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12" name="Picture 11" descr="slide5_rf_crop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8368" y="1389888"/>
            <a:ext cx="4818888" cy="2706624"/>
          </a:xfrm>
          <a:prstGeom prst="rect">
            <a:avLst/>
          </a:prstGeom>
        </p:spPr>
      </p:pic>
      <p:sp>
        <p:nvSpPr>
          <p:cNvPr id="13" name="Rectangle 12"/>
          <p:cNvSpPr/>
          <p:nvPr/>
        </p:nvSpPr>
        <p:spPr>
          <a:xfrm>
            <a:off x="658368" y="1389888"/>
            <a:ext cx="4818888" cy="2706624"/>
          </a:xfrm>
          <a:prstGeom prst="rect">
            <a:avLst/>
          </a:prstGeom>
          <a:noFill/>
          <a:ln w="11430">
            <a:solidFill>
              <a:srgbClr val="24405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5788152" y="1389888"/>
            <a:ext cx="5742432" cy="429768"/>
          </a:xfrm>
          <a:prstGeom prst="roundRect">
            <a:avLst/>
          </a:prstGeom>
          <a:solidFill>
            <a:srgbClr val="0D2030"/>
          </a:solidFill>
          <a:ln w="10795">
            <a:solidFill>
              <a:srgbClr val="24405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6016752" y="1504188"/>
            <a:ext cx="201168" cy="201168"/>
          </a:xfrm>
          <a:prstGeom prst="ellipse">
            <a:avLst/>
          </a:prstGeom>
          <a:solidFill>
            <a:srgbClr val="B9F36C"/>
          </a:solidFill>
          <a:ln w="12700">
            <a:solidFill>
              <a:srgbClr val="74D7A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373368" y="1403604"/>
            <a:ext cx="4901184" cy="39319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98000"/>
              </a:lnSpc>
              <a:spcBef>
                <a:spcPts val="0"/>
              </a:spcBef>
              <a:spcAft>
                <a:spcPts val="0"/>
              </a:spcAft>
            </a:pPr>
            <a:r>
              <a:rPr sz="1800" b="1" i="0">
                <a:solidFill>
                  <a:srgbClr val="F3F7F9"/>
                </a:solidFill>
                <a:latin typeface="Aptos"/>
              </a:rPr>
              <a:t>Free terrain + tower data</a:t>
            </a:r>
          </a:p>
        </p:txBody>
      </p:sp>
      <p:cxnSp>
        <p:nvCxnSpPr>
          <p:cNvPr id="17" name="Connector 16"/>
          <p:cNvCxnSpPr/>
          <p:nvPr/>
        </p:nvCxnSpPr>
        <p:spPr>
          <a:xfrm>
            <a:off x="6117336" y="1819656"/>
            <a:ext cx="0" cy="109728"/>
          </a:xfrm>
          <a:prstGeom prst="line">
            <a:avLst/>
          </a:prstGeom>
          <a:ln w="15875">
            <a:solidFill>
              <a:srgbClr val="74D7A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Rounded Rectangle 17"/>
          <p:cNvSpPr/>
          <p:nvPr/>
        </p:nvSpPr>
        <p:spPr>
          <a:xfrm>
            <a:off x="5788152" y="1929384"/>
            <a:ext cx="5742432" cy="429768"/>
          </a:xfrm>
          <a:prstGeom prst="roundRect">
            <a:avLst/>
          </a:prstGeom>
          <a:solidFill>
            <a:srgbClr val="0D2030"/>
          </a:solidFill>
          <a:ln w="10795">
            <a:solidFill>
              <a:srgbClr val="24405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6016752" y="2043684"/>
            <a:ext cx="201168" cy="201168"/>
          </a:xfrm>
          <a:prstGeom prst="ellipse">
            <a:avLst/>
          </a:prstGeom>
          <a:solidFill>
            <a:srgbClr val="12283A"/>
          </a:solidFill>
          <a:ln w="12700">
            <a:solidFill>
              <a:srgbClr val="74D7A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373368" y="1943100"/>
            <a:ext cx="4901184" cy="39319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98000"/>
              </a:lnSpc>
              <a:spcBef>
                <a:spcPts val="0"/>
              </a:spcBef>
              <a:spcAft>
                <a:spcPts val="0"/>
              </a:spcAft>
            </a:pPr>
            <a:r>
              <a:rPr sz="1800" b="1" i="0">
                <a:solidFill>
                  <a:srgbClr val="F3F7F9"/>
                </a:solidFill>
                <a:latin typeface="Aptos"/>
              </a:rPr>
              <a:t>RF calculation</a:t>
            </a:r>
          </a:p>
        </p:txBody>
      </p:sp>
      <p:cxnSp>
        <p:nvCxnSpPr>
          <p:cNvPr id="21" name="Connector 20"/>
          <p:cNvCxnSpPr/>
          <p:nvPr/>
        </p:nvCxnSpPr>
        <p:spPr>
          <a:xfrm>
            <a:off x="6117336" y="2359152"/>
            <a:ext cx="0" cy="109727"/>
          </a:xfrm>
          <a:prstGeom prst="line">
            <a:avLst/>
          </a:prstGeom>
          <a:ln w="15875">
            <a:solidFill>
              <a:srgbClr val="74D7A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Rounded Rectangle 21"/>
          <p:cNvSpPr/>
          <p:nvPr/>
        </p:nvSpPr>
        <p:spPr>
          <a:xfrm>
            <a:off x="5788152" y="2468880"/>
            <a:ext cx="5742432" cy="429768"/>
          </a:xfrm>
          <a:prstGeom prst="roundRect">
            <a:avLst/>
          </a:prstGeom>
          <a:solidFill>
            <a:srgbClr val="0D2030"/>
          </a:solidFill>
          <a:ln w="10795">
            <a:solidFill>
              <a:srgbClr val="24405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6016752" y="2583180"/>
            <a:ext cx="201168" cy="201168"/>
          </a:xfrm>
          <a:prstGeom prst="ellipse">
            <a:avLst/>
          </a:prstGeom>
          <a:solidFill>
            <a:srgbClr val="12283A"/>
          </a:solidFill>
          <a:ln w="12700">
            <a:solidFill>
              <a:srgbClr val="74D7A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373368" y="2482596"/>
            <a:ext cx="4901184" cy="39319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98000"/>
              </a:lnSpc>
              <a:spcBef>
                <a:spcPts val="0"/>
              </a:spcBef>
              <a:spcAft>
                <a:spcPts val="0"/>
              </a:spcAft>
            </a:pPr>
            <a:r>
              <a:rPr sz="1800" b="1" i="0">
                <a:solidFill>
                  <a:srgbClr val="F3F7F9"/>
                </a:solidFill>
                <a:latin typeface="Aptos"/>
              </a:rPr>
              <a:t>Coverage map</a:t>
            </a:r>
          </a:p>
        </p:txBody>
      </p:sp>
      <p:cxnSp>
        <p:nvCxnSpPr>
          <p:cNvPr id="25" name="Connector 24"/>
          <p:cNvCxnSpPr/>
          <p:nvPr/>
        </p:nvCxnSpPr>
        <p:spPr>
          <a:xfrm>
            <a:off x="6117336" y="2898648"/>
            <a:ext cx="0" cy="109728"/>
          </a:xfrm>
          <a:prstGeom prst="line">
            <a:avLst/>
          </a:prstGeom>
          <a:ln w="15875">
            <a:solidFill>
              <a:srgbClr val="74D7A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6" name="Rounded Rectangle 25"/>
          <p:cNvSpPr/>
          <p:nvPr/>
        </p:nvSpPr>
        <p:spPr>
          <a:xfrm>
            <a:off x="5788152" y="3008376"/>
            <a:ext cx="5742432" cy="429768"/>
          </a:xfrm>
          <a:prstGeom prst="roundRect">
            <a:avLst/>
          </a:prstGeom>
          <a:solidFill>
            <a:srgbClr val="0D2030"/>
          </a:solidFill>
          <a:ln w="10795">
            <a:solidFill>
              <a:srgbClr val="24405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6016752" y="3122676"/>
            <a:ext cx="201168" cy="201168"/>
          </a:xfrm>
          <a:prstGeom prst="ellipse">
            <a:avLst/>
          </a:prstGeom>
          <a:solidFill>
            <a:srgbClr val="12283A"/>
          </a:solidFill>
          <a:ln w="12700">
            <a:solidFill>
              <a:srgbClr val="74D7A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373368" y="3022092"/>
            <a:ext cx="4901184" cy="39319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98000"/>
              </a:lnSpc>
              <a:spcBef>
                <a:spcPts val="0"/>
              </a:spcBef>
              <a:spcAft>
                <a:spcPts val="0"/>
              </a:spcAft>
            </a:pPr>
            <a:r>
              <a:rPr sz="1800" b="1" i="0">
                <a:solidFill>
                  <a:srgbClr val="F3F7F9"/>
                </a:solidFill>
                <a:latin typeface="Aptos"/>
              </a:rPr>
              <a:t>Disaster Mode</a:t>
            </a:r>
          </a:p>
        </p:txBody>
      </p:sp>
      <p:cxnSp>
        <p:nvCxnSpPr>
          <p:cNvPr id="29" name="Connector 28"/>
          <p:cNvCxnSpPr/>
          <p:nvPr/>
        </p:nvCxnSpPr>
        <p:spPr>
          <a:xfrm>
            <a:off x="6117336" y="3438144"/>
            <a:ext cx="0" cy="109728"/>
          </a:xfrm>
          <a:prstGeom prst="line">
            <a:avLst/>
          </a:prstGeom>
          <a:ln w="15875">
            <a:solidFill>
              <a:srgbClr val="74D7A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0" name="Rounded Rectangle 29"/>
          <p:cNvSpPr/>
          <p:nvPr/>
        </p:nvSpPr>
        <p:spPr>
          <a:xfrm>
            <a:off x="5788152" y="3547872"/>
            <a:ext cx="5742432" cy="429768"/>
          </a:xfrm>
          <a:prstGeom prst="roundRect">
            <a:avLst/>
          </a:prstGeom>
          <a:solidFill>
            <a:srgbClr val="0D2030"/>
          </a:solidFill>
          <a:ln w="10795">
            <a:solidFill>
              <a:srgbClr val="24405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Oval 30"/>
          <p:cNvSpPr/>
          <p:nvPr/>
        </p:nvSpPr>
        <p:spPr>
          <a:xfrm>
            <a:off x="6016752" y="3662172"/>
            <a:ext cx="201168" cy="201168"/>
          </a:xfrm>
          <a:prstGeom prst="ellipse">
            <a:avLst/>
          </a:prstGeom>
          <a:solidFill>
            <a:srgbClr val="B9F36C"/>
          </a:solidFill>
          <a:ln w="12700">
            <a:solidFill>
              <a:srgbClr val="74D7A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6373368" y="3561588"/>
            <a:ext cx="4901184" cy="39319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98000"/>
              </a:lnSpc>
              <a:spcBef>
                <a:spcPts val="0"/>
              </a:spcBef>
              <a:spcAft>
                <a:spcPts val="0"/>
              </a:spcAft>
            </a:pPr>
            <a:r>
              <a:rPr sz="1800" b="1" i="0">
                <a:solidFill>
                  <a:srgbClr val="F3F7F9"/>
                </a:solidFill>
                <a:latin typeface="Aptos"/>
              </a:rPr>
              <a:t>Relay suggestion</a:t>
            </a:r>
          </a:p>
        </p:txBody>
      </p:sp>
      <p:sp>
        <p:nvSpPr>
          <p:cNvPr id="44" name="Rounded Rectangle 43"/>
          <p:cNvSpPr/>
          <p:nvPr/>
        </p:nvSpPr>
        <p:spPr>
          <a:xfrm>
            <a:off x="2017775" y="5477256"/>
            <a:ext cx="1188720" cy="484632"/>
          </a:xfrm>
          <a:prstGeom prst="roundRect">
            <a:avLst/>
          </a:prstGeom>
          <a:solidFill>
            <a:srgbClr val="12283A"/>
          </a:solidFill>
          <a:ln w="10160">
            <a:solidFill>
              <a:srgbClr val="24405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2063495" y="5486400"/>
            <a:ext cx="1097280" cy="46634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98000"/>
              </a:lnSpc>
              <a:spcBef>
                <a:spcPts val="0"/>
              </a:spcBef>
              <a:spcAft>
                <a:spcPts val="0"/>
              </a:spcAft>
            </a:pPr>
            <a:r>
              <a:rPr sz="1410" b="1" i="0">
                <a:solidFill>
                  <a:srgbClr val="B9F36C"/>
                </a:solidFill>
                <a:latin typeface="Aptos"/>
              </a:rPr>
              <a:t>Python</a:t>
            </a:r>
          </a:p>
        </p:txBody>
      </p:sp>
      <p:sp>
        <p:nvSpPr>
          <p:cNvPr id="46" name="Rounded Rectangle 45"/>
          <p:cNvSpPr/>
          <p:nvPr/>
        </p:nvSpPr>
        <p:spPr>
          <a:xfrm>
            <a:off x="3371087" y="5477256"/>
            <a:ext cx="1554480" cy="484632"/>
          </a:xfrm>
          <a:prstGeom prst="roundRect">
            <a:avLst/>
          </a:prstGeom>
          <a:solidFill>
            <a:srgbClr val="12283A"/>
          </a:solidFill>
          <a:ln w="10160">
            <a:solidFill>
              <a:srgbClr val="24405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3416807" y="5486400"/>
            <a:ext cx="1463039" cy="46634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98000"/>
              </a:lnSpc>
              <a:spcBef>
                <a:spcPts val="0"/>
              </a:spcBef>
              <a:spcAft>
                <a:spcPts val="0"/>
              </a:spcAft>
            </a:pPr>
            <a:r>
              <a:rPr sz="1410" b="1" i="0">
                <a:solidFill>
                  <a:srgbClr val="B9F36C"/>
                </a:solidFill>
                <a:latin typeface="Aptos"/>
              </a:rPr>
              <a:t>Leaflet map</a:t>
            </a:r>
          </a:p>
        </p:txBody>
      </p:sp>
      <p:sp>
        <p:nvSpPr>
          <p:cNvPr id="48" name="Rounded Rectangle 47"/>
          <p:cNvSpPr/>
          <p:nvPr/>
        </p:nvSpPr>
        <p:spPr>
          <a:xfrm>
            <a:off x="5090159" y="5477256"/>
            <a:ext cx="1828800" cy="484632"/>
          </a:xfrm>
          <a:prstGeom prst="roundRect">
            <a:avLst/>
          </a:prstGeom>
          <a:solidFill>
            <a:srgbClr val="12283A"/>
          </a:solidFill>
          <a:ln w="10160">
            <a:solidFill>
              <a:srgbClr val="24405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5135879" y="5486400"/>
            <a:ext cx="1737360" cy="46634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98000"/>
              </a:lnSpc>
              <a:spcBef>
                <a:spcPts val="0"/>
              </a:spcBef>
              <a:spcAft>
                <a:spcPts val="0"/>
              </a:spcAft>
            </a:pPr>
            <a:r>
              <a:rPr sz="1410" b="1" i="0">
                <a:solidFill>
                  <a:srgbClr val="B9F36C"/>
                </a:solidFill>
                <a:latin typeface="Aptos"/>
              </a:rPr>
              <a:t>SRTM elevation</a:t>
            </a:r>
          </a:p>
        </p:txBody>
      </p:sp>
      <p:sp>
        <p:nvSpPr>
          <p:cNvPr id="50" name="Rounded Rectangle 49"/>
          <p:cNvSpPr/>
          <p:nvPr/>
        </p:nvSpPr>
        <p:spPr>
          <a:xfrm>
            <a:off x="7083551" y="5477256"/>
            <a:ext cx="1600200" cy="484632"/>
          </a:xfrm>
          <a:prstGeom prst="roundRect">
            <a:avLst/>
          </a:prstGeom>
          <a:solidFill>
            <a:srgbClr val="12283A"/>
          </a:solidFill>
          <a:ln w="10160">
            <a:solidFill>
              <a:srgbClr val="24405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7129271" y="5486400"/>
            <a:ext cx="1508760" cy="46634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98000"/>
              </a:lnSpc>
              <a:spcBef>
                <a:spcPts val="0"/>
              </a:spcBef>
              <a:spcAft>
                <a:spcPts val="0"/>
              </a:spcAft>
            </a:pPr>
            <a:r>
              <a:rPr sz="1410" b="1" i="0">
                <a:solidFill>
                  <a:srgbClr val="B9F36C"/>
                </a:solidFill>
                <a:latin typeface="Aptos"/>
              </a:rPr>
              <a:t>OpenCellID</a:t>
            </a:r>
          </a:p>
        </p:txBody>
      </p:sp>
      <p:sp>
        <p:nvSpPr>
          <p:cNvPr id="52" name="Rounded Rectangle 51"/>
          <p:cNvSpPr/>
          <p:nvPr/>
        </p:nvSpPr>
        <p:spPr>
          <a:xfrm>
            <a:off x="8848343" y="5477256"/>
            <a:ext cx="1325880" cy="484632"/>
          </a:xfrm>
          <a:prstGeom prst="roundRect">
            <a:avLst/>
          </a:prstGeom>
          <a:solidFill>
            <a:srgbClr val="12283A"/>
          </a:solidFill>
          <a:ln w="10160">
            <a:solidFill>
              <a:srgbClr val="24405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8894063" y="5486400"/>
            <a:ext cx="1234439" cy="46634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98000"/>
              </a:lnSpc>
              <a:spcBef>
                <a:spcPts val="0"/>
              </a:spcBef>
              <a:spcAft>
                <a:spcPts val="0"/>
              </a:spcAft>
            </a:pPr>
            <a:r>
              <a:rPr sz="1410" b="1" i="0">
                <a:solidFill>
                  <a:srgbClr val="B9F36C"/>
                </a:solidFill>
                <a:latin typeface="Aptos"/>
              </a:rPr>
              <a:t>WorldPop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658368" y="4133087"/>
            <a:ext cx="4818888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98000"/>
              </a:lnSpc>
              <a:spcBef>
                <a:spcPts val="0"/>
              </a:spcBef>
              <a:spcAft>
                <a:spcPts val="0"/>
              </a:spcAft>
            </a:pPr>
            <a:r>
              <a:rPr sz="1450" b="1">
                <a:solidFill>
                  <a:srgbClr val="F3F7F9"/>
                </a:solidFill>
                <a:latin typeface="Aptos"/>
              </a:rPr>
              <a:t>Hills and distance can weaken radio signals.</a:t>
            </a:r>
          </a:p>
        </p:txBody>
      </p:sp>
      <p:sp>
        <p:nvSpPr>
          <p:cNvPr id="55" name="Rectangle 54"/>
          <p:cNvSpPr/>
          <p:nvPr/>
        </p:nvSpPr>
        <p:spPr>
          <a:xfrm>
            <a:off x="658368" y="4425696"/>
            <a:ext cx="10872216" cy="978408"/>
          </a:xfrm>
          <a:prstGeom prst="rect">
            <a:avLst/>
          </a:prstGeom>
          <a:solidFill>
            <a:srgbClr val="0715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Rounded Rectangle 55"/>
          <p:cNvSpPr/>
          <p:nvPr/>
        </p:nvSpPr>
        <p:spPr>
          <a:xfrm>
            <a:off x="676656" y="4489704"/>
            <a:ext cx="2075688" cy="832104"/>
          </a:xfrm>
          <a:prstGeom prst="roundRect">
            <a:avLst/>
          </a:prstGeom>
          <a:solidFill>
            <a:srgbClr val="12283A"/>
          </a:solidFill>
          <a:ln w="10160">
            <a:solidFill>
              <a:srgbClr val="24405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768096" y="4553712"/>
            <a:ext cx="1892807" cy="2286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98000"/>
              </a:lnSpc>
              <a:spcBef>
                <a:spcPts val="0"/>
              </a:spcBef>
              <a:spcAft>
                <a:spcPts val="0"/>
              </a:spcAft>
            </a:pPr>
            <a:r>
              <a:rPr sz="1360" b="1">
                <a:solidFill>
                  <a:srgbClr val="B9F36C"/>
                </a:solidFill>
                <a:latin typeface="Aptos"/>
              </a:rPr>
              <a:t>Path loss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768096" y="4800600"/>
            <a:ext cx="1892807" cy="43891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98000"/>
              </a:lnSpc>
              <a:spcBef>
                <a:spcPts val="0"/>
              </a:spcBef>
              <a:spcAft>
                <a:spcPts val="0"/>
              </a:spcAft>
            </a:pPr>
            <a:r>
              <a:rPr sz="1240" b="0">
                <a:solidFill>
                  <a:srgbClr val="F3F7F9"/>
                </a:solidFill>
                <a:latin typeface="Aptos"/>
              </a:rPr>
              <a:t>Signal weakens</a:t>
            </a:r>
          </a:p>
          <a:p>
            <a:pPr algn="ctr">
              <a:lnSpc>
                <a:spcPct val="98000"/>
              </a:lnSpc>
              <a:spcBef>
                <a:spcPts val="0"/>
              </a:spcBef>
              <a:spcAft>
                <a:spcPts val="0"/>
              </a:spcAft>
            </a:pPr>
            <a:r>
              <a:rPr sz="1240" b="0">
                <a:solidFill>
                  <a:srgbClr val="F3F7F9"/>
                </a:solidFill>
                <a:latin typeface="Aptos"/>
              </a:rPr>
              <a:t>over distance</a:t>
            </a:r>
          </a:p>
        </p:txBody>
      </p:sp>
      <p:sp>
        <p:nvSpPr>
          <p:cNvPr id="59" name="Rounded Rectangle 58"/>
          <p:cNvSpPr/>
          <p:nvPr/>
        </p:nvSpPr>
        <p:spPr>
          <a:xfrm>
            <a:off x="2862072" y="4489704"/>
            <a:ext cx="2075688" cy="832104"/>
          </a:xfrm>
          <a:prstGeom prst="roundRect">
            <a:avLst/>
          </a:prstGeom>
          <a:solidFill>
            <a:srgbClr val="12283A"/>
          </a:solidFill>
          <a:ln w="10160">
            <a:solidFill>
              <a:srgbClr val="24405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TextBox 59"/>
          <p:cNvSpPr txBox="1"/>
          <p:nvPr/>
        </p:nvSpPr>
        <p:spPr>
          <a:xfrm>
            <a:off x="2953512" y="4553712"/>
            <a:ext cx="1892807" cy="2286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98000"/>
              </a:lnSpc>
              <a:spcBef>
                <a:spcPts val="0"/>
              </a:spcBef>
              <a:spcAft>
                <a:spcPts val="0"/>
              </a:spcAft>
            </a:pPr>
            <a:r>
              <a:rPr sz="1360" b="1">
                <a:solidFill>
                  <a:srgbClr val="B9F36C"/>
                </a:solidFill>
                <a:latin typeface="Aptos"/>
              </a:rPr>
              <a:t>Line of sight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2953512" y="4800600"/>
            <a:ext cx="1892807" cy="43891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98000"/>
              </a:lnSpc>
              <a:spcBef>
                <a:spcPts val="0"/>
              </a:spcBef>
              <a:spcAft>
                <a:spcPts val="0"/>
              </a:spcAft>
            </a:pPr>
            <a:r>
              <a:rPr sz="1240" b="0">
                <a:solidFill>
                  <a:srgbClr val="F3F7F9"/>
                </a:solidFill>
                <a:latin typeface="Aptos"/>
              </a:rPr>
              <a:t>Clear path between</a:t>
            </a:r>
          </a:p>
          <a:p>
            <a:pPr algn="ctr">
              <a:lnSpc>
                <a:spcPct val="98000"/>
              </a:lnSpc>
              <a:spcBef>
                <a:spcPts val="0"/>
              </a:spcBef>
              <a:spcAft>
                <a:spcPts val="0"/>
              </a:spcAft>
            </a:pPr>
            <a:r>
              <a:rPr sz="1240" b="0">
                <a:solidFill>
                  <a:srgbClr val="F3F7F9"/>
                </a:solidFill>
                <a:latin typeface="Aptos"/>
              </a:rPr>
              <a:t>antennas</a:t>
            </a:r>
          </a:p>
        </p:txBody>
      </p:sp>
      <p:sp>
        <p:nvSpPr>
          <p:cNvPr id="62" name="Rounded Rectangle 61"/>
          <p:cNvSpPr/>
          <p:nvPr/>
        </p:nvSpPr>
        <p:spPr>
          <a:xfrm>
            <a:off x="5047488" y="4489704"/>
            <a:ext cx="2075688" cy="832104"/>
          </a:xfrm>
          <a:prstGeom prst="roundRect">
            <a:avLst/>
          </a:prstGeom>
          <a:solidFill>
            <a:srgbClr val="12283A"/>
          </a:solidFill>
          <a:ln w="10160">
            <a:solidFill>
              <a:srgbClr val="24405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TextBox 62"/>
          <p:cNvSpPr txBox="1"/>
          <p:nvPr/>
        </p:nvSpPr>
        <p:spPr>
          <a:xfrm>
            <a:off x="5138928" y="4553712"/>
            <a:ext cx="1892807" cy="2286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98000"/>
              </a:lnSpc>
              <a:spcBef>
                <a:spcPts val="0"/>
              </a:spcBef>
              <a:spcAft>
                <a:spcPts val="0"/>
              </a:spcAft>
            </a:pPr>
            <a:r>
              <a:rPr sz="1360" b="1">
                <a:solidFill>
                  <a:srgbClr val="B9F36C"/>
                </a:solidFill>
                <a:latin typeface="Aptos"/>
              </a:rPr>
              <a:t>Fresnel zone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5138928" y="4800600"/>
            <a:ext cx="1892807" cy="43891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98000"/>
              </a:lnSpc>
              <a:spcBef>
                <a:spcPts val="0"/>
              </a:spcBef>
              <a:spcAft>
                <a:spcPts val="0"/>
              </a:spcAft>
            </a:pPr>
            <a:r>
              <a:rPr sz="1240" b="0">
                <a:solidFill>
                  <a:srgbClr val="F3F7F9"/>
                </a:solidFill>
                <a:latin typeface="Aptos"/>
              </a:rPr>
              <a:t>Keep space clear</a:t>
            </a:r>
          </a:p>
          <a:p>
            <a:pPr algn="ctr">
              <a:lnSpc>
                <a:spcPct val="98000"/>
              </a:lnSpc>
              <a:spcBef>
                <a:spcPts val="0"/>
              </a:spcBef>
              <a:spcAft>
                <a:spcPts val="0"/>
              </a:spcAft>
            </a:pPr>
            <a:r>
              <a:rPr sz="1240" b="0">
                <a:solidFill>
                  <a:srgbClr val="F3F7F9"/>
                </a:solidFill>
                <a:latin typeface="Aptos"/>
              </a:rPr>
              <a:t>around the path</a:t>
            </a:r>
          </a:p>
        </p:txBody>
      </p:sp>
      <p:sp>
        <p:nvSpPr>
          <p:cNvPr id="65" name="Rounded Rectangle 64"/>
          <p:cNvSpPr/>
          <p:nvPr/>
        </p:nvSpPr>
        <p:spPr>
          <a:xfrm>
            <a:off x="7232904" y="4489704"/>
            <a:ext cx="2075688" cy="832104"/>
          </a:xfrm>
          <a:prstGeom prst="roundRect">
            <a:avLst/>
          </a:prstGeom>
          <a:solidFill>
            <a:srgbClr val="12283A"/>
          </a:solidFill>
          <a:ln w="10160">
            <a:solidFill>
              <a:srgbClr val="24405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TextBox 65"/>
          <p:cNvSpPr txBox="1"/>
          <p:nvPr/>
        </p:nvSpPr>
        <p:spPr>
          <a:xfrm>
            <a:off x="7324344" y="4553712"/>
            <a:ext cx="1892807" cy="2286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98000"/>
              </a:lnSpc>
              <a:spcBef>
                <a:spcPts val="0"/>
              </a:spcBef>
              <a:spcAft>
                <a:spcPts val="0"/>
              </a:spcAft>
            </a:pPr>
            <a:r>
              <a:rPr sz="1360" b="1">
                <a:solidFill>
                  <a:srgbClr val="B9F36C"/>
                </a:solidFill>
                <a:latin typeface="Aptos"/>
              </a:rPr>
              <a:t>Antenna height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7324344" y="4800600"/>
            <a:ext cx="1892807" cy="43891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98000"/>
              </a:lnSpc>
              <a:spcBef>
                <a:spcPts val="0"/>
              </a:spcBef>
              <a:spcAft>
                <a:spcPts val="0"/>
              </a:spcAft>
            </a:pPr>
            <a:r>
              <a:rPr sz="1240" b="0">
                <a:solidFill>
                  <a:srgbClr val="F3F7F9"/>
                </a:solidFill>
                <a:latin typeface="Aptos"/>
              </a:rPr>
              <a:t>Higher antennas clear</a:t>
            </a:r>
          </a:p>
          <a:p>
            <a:pPr algn="ctr">
              <a:lnSpc>
                <a:spcPct val="98000"/>
              </a:lnSpc>
              <a:spcBef>
                <a:spcPts val="0"/>
              </a:spcBef>
              <a:spcAft>
                <a:spcPts val="0"/>
              </a:spcAft>
            </a:pPr>
            <a:r>
              <a:rPr sz="1240" b="0">
                <a:solidFill>
                  <a:srgbClr val="F3F7F9"/>
                </a:solidFill>
                <a:latin typeface="Aptos"/>
              </a:rPr>
              <a:t>more obstacles</a:t>
            </a:r>
          </a:p>
        </p:txBody>
      </p:sp>
      <p:sp>
        <p:nvSpPr>
          <p:cNvPr id="68" name="Rounded Rectangle 67"/>
          <p:cNvSpPr/>
          <p:nvPr/>
        </p:nvSpPr>
        <p:spPr>
          <a:xfrm>
            <a:off x="9418320" y="4489704"/>
            <a:ext cx="2075688" cy="832104"/>
          </a:xfrm>
          <a:prstGeom prst="roundRect">
            <a:avLst/>
          </a:prstGeom>
          <a:solidFill>
            <a:srgbClr val="12283A"/>
          </a:solidFill>
          <a:ln w="10160">
            <a:solidFill>
              <a:srgbClr val="24405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TextBox 68"/>
          <p:cNvSpPr txBox="1"/>
          <p:nvPr/>
        </p:nvSpPr>
        <p:spPr>
          <a:xfrm>
            <a:off x="9509760" y="4553712"/>
            <a:ext cx="1892807" cy="2286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98000"/>
              </a:lnSpc>
              <a:spcBef>
                <a:spcPts val="0"/>
              </a:spcBef>
              <a:spcAft>
                <a:spcPts val="0"/>
              </a:spcAft>
            </a:pPr>
            <a:r>
              <a:rPr sz="1360" b="1">
                <a:solidFill>
                  <a:srgbClr val="B9F36C"/>
                </a:solidFill>
                <a:latin typeface="Aptos"/>
              </a:rPr>
              <a:t>Gain</a:t>
            </a:r>
          </a:p>
        </p:txBody>
      </p:sp>
      <p:sp>
        <p:nvSpPr>
          <p:cNvPr id="70" name="TextBox 69"/>
          <p:cNvSpPr txBox="1"/>
          <p:nvPr/>
        </p:nvSpPr>
        <p:spPr>
          <a:xfrm>
            <a:off x="9509760" y="4800600"/>
            <a:ext cx="1892807" cy="43891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98000"/>
              </a:lnSpc>
              <a:spcBef>
                <a:spcPts val="0"/>
              </a:spcBef>
              <a:spcAft>
                <a:spcPts val="0"/>
              </a:spcAft>
            </a:pPr>
            <a:r>
              <a:rPr sz="1240" b="0">
                <a:solidFill>
                  <a:srgbClr val="F3F7F9"/>
                </a:solidFill>
                <a:latin typeface="Aptos"/>
              </a:rPr>
              <a:t>Focus signal</a:t>
            </a:r>
          </a:p>
          <a:p>
            <a:pPr algn="ctr">
              <a:lnSpc>
                <a:spcPct val="98000"/>
              </a:lnSpc>
              <a:spcBef>
                <a:spcPts val="0"/>
              </a:spcBef>
              <a:spcAft>
                <a:spcPts val="0"/>
              </a:spcAft>
            </a:pPr>
            <a:r>
              <a:rPr sz="1240" b="0">
                <a:solidFill>
                  <a:srgbClr val="F3F7F9"/>
                </a:solidFill>
                <a:latin typeface="Aptos"/>
              </a:rPr>
              <a:t>toward the village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7152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658368" y="457200"/>
            <a:ext cx="50292" cy="329184"/>
          </a:xfrm>
          <a:prstGeom prst="rect">
            <a:avLst/>
          </a:prstGeom>
          <a:solidFill>
            <a:srgbClr val="B9F36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59536" y="384048"/>
            <a:ext cx="9555480" cy="53035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98000"/>
              </a:lnSpc>
              <a:spcBef>
                <a:spcPts val="0"/>
              </a:spcBef>
              <a:spcAft>
                <a:spcPts val="0"/>
              </a:spcAft>
            </a:pPr>
            <a:r>
              <a:rPr sz="3000" b="1" i="0">
                <a:solidFill>
                  <a:srgbClr val="F3F7F9"/>
                </a:solidFill>
                <a:latin typeface="Aptos"/>
              </a:rPr>
              <a:t>Impact for People and Places</a:t>
            </a:r>
          </a:p>
        </p:txBody>
      </p:sp>
      <p:sp>
        <p:nvSpPr>
          <p:cNvPr id="4" name="Oval 3"/>
          <p:cNvSpPr/>
          <p:nvPr/>
        </p:nvSpPr>
        <p:spPr>
          <a:xfrm>
            <a:off x="10817352" y="557784"/>
            <a:ext cx="68580" cy="68580"/>
          </a:xfrm>
          <a:prstGeom prst="ellipse">
            <a:avLst/>
          </a:prstGeom>
          <a:noFill/>
          <a:ln w="10795">
            <a:solidFill>
              <a:srgbClr val="6881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10963656" y="557784"/>
            <a:ext cx="68580" cy="68580"/>
          </a:xfrm>
          <a:prstGeom prst="ellipse">
            <a:avLst/>
          </a:prstGeom>
          <a:noFill/>
          <a:ln w="10795">
            <a:solidFill>
              <a:srgbClr val="6881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11109960" y="557784"/>
            <a:ext cx="68580" cy="68580"/>
          </a:xfrm>
          <a:prstGeom prst="ellipse">
            <a:avLst/>
          </a:prstGeom>
          <a:noFill/>
          <a:ln w="10795">
            <a:solidFill>
              <a:srgbClr val="6881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11256264" y="557784"/>
            <a:ext cx="68580" cy="68580"/>
          </a:xfrm>
          <a:prstGeom prst="ellipse">
            <a:avLst/>
          </a:prstGeom>
          <a:noFill/>
          <a:ln w="10795">
            <a:solidFill>
              <a:srgbClr val="6881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11402568" y="557784"/>
            <a:ext cx="68580" cy="68580"/>
          </a:xfrm>
          <a:prstGeom prst="ellipse">
            <a:avLst/>
          </a:prstGeom>
          <a:noFill/>
          <a:ln w="10795">
            <a:solidFill>
              <a:srgbClr val="6881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1548872" y="557784"/>
            <a:ext cx="68580" cy="68580"/>
          </a:xfrm>
          <a:prstGeom prst="ellipse">
            <a:avLst/>
          </a:prstGeom>
          <a:solidFill>
            <a:srgbClr val="B9F36C"/>
          </a:solidFill>
          <a:ln w="10795">
            <a:solidFill>
              <a:srgbClr val="B9F36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11695176" y="557784"/>
            <a:ext cx="68580" cy="68580"/>
          </a:xfrm>
          <a:prstGeom prst="ellipse">
            <a:avLst/>
          </a:prstGeom>
          <a:noFill/>
          <a:ln w="10795">
            <a:solidFill>
              <a:srgbClr val="6881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1" name="Connector 10"/>
          <p:cNvCxnSpPr/>
          <p:nvPr/>
        </p:nvCxnSpPr>
        <p:spPr>
          <a:xfrm>
            <a:off x="658368" y="1097280"/>
            <a:ext cx="10872216" cy="0"/>
          </a:xfrm>
          <a:prstGeom prst="line">
            <a:avLst/>
          </a:prstGeom>
          <a:ln w="10795">
            <a:solidFill>
              <a:srgbClr val="24405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Rounded Rectangle 11"/>
          <p:cNvSpPr/>
          <p:nvPr/>
        </p:nvSpPr>
        <p:spPr>
          <a:xfrm>
            <a:off x="658368" y="1399032"/>
            <a:ext cx="2633472" cy="1417320"/>
          </a:xfrm>
          <a:prstGeom prst="roundRect">
            <a:avLst/>
          </a:prstGeom>
          <a:solidFill>
            <a:srgbClr val="0D2030"/>
          </a:solidFill>
          <a:ln w="10795">
            <a:solidFill>
              <a:srgbClr val="24405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22959" y="1508760"/>
            <a:ext cx="1097280" cy="2286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98000"/>
              </a:lnSpc>
              <a:spcBef>
                <a:spcPts val="0"/>
              </a:spcBef>
              <a:spcAft>
                <a:spcPts val="0"/>
              </a:spcAft>
            </a:pPr>
            <a:r>
              <a:rPr sz="1150" b="1" i="0">
                <a:solidFill>
                  <a:srgbClr val="9AAFC0"/>
                </a:solidFill>
                <a:latin typeface="Aptos"/>
              </a:rPr>
              <a:t>SDG 9</a:t>
            </a:r>
          </a:p>
        </p:txBody>
      </p:sp>
      <p:cxnSp>
        <p:nvCxnSpPr>
          <p:cNvPr id="14" name="Connector 13"/>
          <p:cNvCxnSpPr/>
          <p:nvPr/>
        </p:nvCxnSpPr>
        <p:spPr>
          <a:xfrm flipH="1">
            <a:off x="922995" y="2074224"/>
            <a:ext cx="192573" cy="285293"/>
          </a:xfrm>
          <a:prstGeom prst="line">
            <a:avLst/>
          </a:prstGeom>
          <a:ln w="20320">
            <a:solidFill>
              <a:srgbClr val="B9F36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Connector 14"/>
          <p:cNvCxnSpPr/>
          <p:nvPr/>
        </p:nvCxnSpPr>
        <p:spPr>
          <a:xfrm>
            <a:off x="1115568" y="2074224"/>
            <a:ext cx="192572" cy="285293"/>
          </a:xfrm>
          <a:prstGeom prst="line">
            <a:avLst/>
          </a:prstGeom>
          <a:ln w="20320">
            <a:solidFill>
              <a:srgbClr val="B9F36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Connector 15"/>
          <p:cNvCxnSpPr/>
          <p:nvPr/>
        </p:nvCxnSpPr>
        <p:spPr>
          <a:xfrm>
            <a:off x="922995" y="2359517"/>
            <a:ext cx="385145" cy="0"/>
          </a:xfrm>
          <a:prstGeom prst="line">
            <a:avLst/>
          </a:prstGeom>
          <a:ln w="20320">
            <a:solidFill>
              <a:srgbClr val="B9F36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Oval 16"/>
          <p:cNvSpPr/>
          <p:nvPr/>
        </p:nvSpPr>
        <p:spPr>
          <a:xfrm>
            <a:off x="1062075" y="2020732"/>
            <a:ext cx="106984" cy="106984"/>
          </a:xfrm>
          <a:prstGeom prst="ellipse">
            <a:avLst/>
          </a:prstGeom>
          <a:solidFill>
            <a:srgbClr val="12283A"/>
          </a:solidFill>
          <a:ln w="19050">
            <a:solidFill>
              <a:srgbClr val="B9F36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869502" y="2306025"/>
            <a:ext cx="106984" cy="106984"/>
          </a:xfrm>
          <a:prstGeom prst="ellipse">
            <a:avLst/>
          </a:prstGeom>
          <a:solidFill>
            <a:srgbClr val="12283A"/>
          </a:solidFill>
          <a:ln w="19050">
            <a:solidFill>
              <a:srgbClr val="B9F36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1254648" y="2306025"/>
            <a:ext cx="106984" cy="106984"/>
          </a:xfrm>
          <a:prstGeom prst="ellipse">
            <a:avLst/>
          </a:prstGeom>
          <a:solidFill>
            <a:srgbClr val="12283A"/>
          </a:solidFill>
          <a:ln w="19050">
            <a:solidFill>
              <a:srgbClr val="B9F36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527048" y="1865376"/>
            <a:ext cx="1609344" cy="74980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98000"/>
              </a:lnSpc>
              <a:spcBef>
                <a:spcPts val="0"/>
              </a:spcBef>
              <a:spcAft>
                <a:spcPts val="0"/>
              </a:spcAft>
            </a:pPr>
            <a:r>
              <a:rPr sz="1630" b="1" i="0">
                <a:solidFill>
                  <a:srgbClr val="F3F7F9"/>
                </a:solidFill>
                <a:latin typeface="Aptos"/>
              </a:rPr>
              <a:t>Strong network</a:t>
            </a:r>
          </a:p>
          <a:p>
            <a:pPr algn="l">
              <a:lnSpc>
                <a:spcPct val="98000"/>
              </a:lnSpc>
              <a:spcBef>
                <a:spcPts val="0"/>
              </a:spcBef>
              <a:spcAft>
                <a:spcPts val="0"/>
              </a:spcAft>
            </a:pPr>
            <a:r>
              <a:rPr sz="1630" b="1" i="0">
                <a:solidFill>
                  <a:srgbClr val="F3F7F9"/>
                </a:solidFill>
                <a:latin typeface="Aptos"/>
              </a:rPr>
              <a:t>links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3474720" y="1399032"/>
            <a:ext cx="2633472" cy="1417320"/>
          </a:xfrm>
          <a:prstGeom prst="roundRect">
            <a:avLst/>
          </a:prstGeom>
          <a:solidFill>
            <a:srgbClr val="0D2030"/>
          </a:solidFill>
          <a:ln w="10795">
            <a:solidFill>
              <a:srgbClr val="24405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3639312" y="1508760"/>
            <a:ext cx="1097280" cy="2286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98000"/>
              </a:lnSpc>
              <a:spcBef>
                <a:spcPts val="0"/>
              </a:spcBef>
              <a:spcAft>
                <a:spcPts val="0"/>
              </a:spcAft>
            </a:pPr>
            <a:r>
              <a:rPr sz="1150" b="1" i="0">
                <a:solidFill>
                  <a:srgbClr val="9AAFC0"/>
                </a:solidFill>
                <a:latin typeface="Aptos"/>
              </a:rPr>
              <a:t>SDG 11</a:t>
            </a:r>
          </a:p>
        </p:txBody>
      </p:sp>
      <p:cxnSp>
        <p:nvCxnSpPr>
          <p:cNvPr id="23" name="Connector 22"/>
          <p:cNvCxnSpPr/>
          <p:nvPr/>
        </p:nvCxnSpPr>
        <p:spPr>
          <a:xfrm flipV="1">
            <a:off x="3685032" y="2071481"/>
            <a:ext cx="265176" cy="183429"/>
          </a:xfrm>
          <a:prstGeom prst="line">
            <a:avLst/>
          </a:prstGeom>
          <a:ln w="21590">
            <a:solidFill>
              <a:srgbClr val="B9F36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Connector 23"/>
          <p:cNvCxnSpPr/>
          <p:nvPr/>
        </p:nvCxnSpPr>
        <p:spPr>
          <a:xfrm>
            <a:off x="3950208" y="2071481"/>
            <a:ext cx="265176" cy="183429"/>
          </a:xfrm>
          <a:prstGeom prst="line">
            <a:avLst/>
          </a:prstGeom>
          <a:ln w="21590">
            <a:solidFill>
              <a:srgbClr val="B9F36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" name="Rectangle 24"/>
          <p:cNvSpPr/>
          <p:nvPr/>
        </p:nvSpPr>
        <p:spPr>
          <a:xfrm>
            <a:off x="3753977" y="2254910"/>
            <a:ext cx="392460" cy="296722"/>
          </a:xfrm>
          <a:prstGeom prst="rect">
            <a:avLst/>
          </a:prstGeom>
          <a:noFill/>
          <a:ln w="17780">
            <a:solidFill>
              <a:srgbClr val="B9F36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3918386" y="2400574"/>
            <a:ext cx="74249" cy="151058"/>
          </a:xfrm>
          <a:prstGeom prst="rect">
            <a:avLst/>
          </a:prstGeom>
          <a:noFill/>
          <a:ln w="13970">
            <a:solidFill>
              <a:srgbClr val="B9F36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4343400" y="1865376"/>
            <a:ext cx="1609344" cy="74980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98000"/>
              </a:lnSpc>
              <a:spcBef>
                <a:spcPts val="0"/>
              </a:spcBef>
              <a:spcAft>
                <a:spcPts val="0"/>
              </a:spcAft>
            </a:pPr>
            <a:r>
              <a:rPr sz="1630" b="1" i="0">
                <a:solidFill>
                  <a:srgbClr val="F3F7F9"/>
                </a:solidFill>
                <a:latin typeface="Aptos"/>
              </a:rPr>
              <a:t>Safer villages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658368" y="2999232"/>
            <a:ext cx="2633472" cy="1417320"/>
          </a:xfrm>
          <a:prstGeom prst="roundRect">
            <a:avLst/>
          </a:prstGeom>
          <a:solidFill>
            <a:srgbClr val="0D2030"/>
          </a:solidFill>
          <a:ln w="10795">
            <a:solidFill>
              <a:srgbClr val="24405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822959" y="3108960"/>
            <a:ext cx="1097280" cy="2286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98000"/>
              </a:lnSpc>
              <a:spcBef>
                <a:spcPts val="0"/>
              </a:spcBef>
              <a:spcAft>
                <a:spcPts val="0"/>
              </a:spcAft>
            </a:pPr>
            <a:r>
              <a:rPr sz="1150" b="1" i="0">
                <a:solidFill>
                  <a:srgbClr val="9AAFC0"/>
                </a:solidFill>
                <a:latin typeface="Aptos"/>
              </a:rPr>
              <a:t>SDG 13</a:t>
            </a:r>
          </a:p>
        </p:txBody>
      </p:sp>
      <p:sp>
        <p:nvSpPr>
          <p:cNvPr id="30" name="Oval 29"/>
          <p:cNvSpPr/>
          <p:nvPr/>
        </p:nvSpPr>
        <p:spPr>
          <a:xfrm>
            <a:off x="1018275" y="3734043"/>
            <a:ext cx="194584" cy="194584"/>
          </a:xfrm>
          <a:prstGeom prst="ellipse">
            <a:avLst/>
          </a:prstGeom>
          <a:noFill/>
          <a:ln w="20320">
            <a:solidFill>
              <a:srgbClr val="B9F36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31" name="Connector 30"/>
          <p:cNvCxnSpPr/>
          <p:nvPr/>
        </p:nvCxnSpPr>
        <p:spPr>
          <a:xfrm flipV="1">
            <a:off x="1115568" y="3553358"/>
            <a:ext cx="0" cy="83393"/>
          </a:xfrm>
          <a:prstGeom prst="line">
            <a:avLst/>
          </a:prstGeom>
          <a:ln w="19050">
            <a:solidFill>
              <a:srgbClr val="B9F36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2" name="Connector 31"/>
          <p:cNvCxnSpPr/>
          <p:nvPr/>
        </p:nvCxnSpPr>
        <p:spPr>
          <a:xfrm>
            <a:off x="1115568" y="4025920"/>
            <a:ext cx="0" cy="83393"/>
          </a:xfrm>
          <a:prstGeom prst="line">
            <a:avLst/>
          </a:prstGeom>
          <a:ln w="19050">
            <a:solidFill>
              <a:srgbClr val="B9F36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3" name="Connector 32"/>
          <p:cNvCxnSpPr/>
          <p:nvPr/>
        </p:nvCxnSpPr>
        <p:spPr>
          <a:xfrm flipH="1">
            <a:off x="837590" y="3831335"/>
            <a:ext cx="83393" cy="0"/>
          </a:xfrm>
          <a:prstGeom prst="line">
            <a:avLst/>
          </a:prstGeom>
          <a:ln w="19050">
            <a:solidFill>
              <a:srgbClr val="B9F36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4" name="Connector 33"/>
          <p:cNvCxnSpPr/>
          <p:nvPr/>
        </p:nvCxnSpPr>
        <p:spPr>
          <a:xfrm>
            <a:off x="1310152" y="3831335"/>
            <a:ext cx="83393" cy="0"/>
          </a:xfrm>
          <a:prstGeom prst="line">
            <a:avLst/>
          </a:prstGeom>
          <a:ln w="19050">
            <a:solidFill>
              <a:srgbClr val="B9F36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5" name="Connector 34"/>
          <p:cNvCxnSpPr/>
          <p:nvPr/>
        </p:nvCxnSpPr>
        <p:spPr>
          <a:xfrm flipH="1" flipV="1">
            <a:off x="914034" y="3629802"/>
            <a:ext cx="62545" cy="62545"/>
          </a:xfrm>
          <a:prstGeom prst="line">
            <a:avLst/>
          </a:prstGeom>
          <a:ln w="19050">
            <a:solidFill>
              <a:srgbClr val="B9F36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6" name="Connector 35"/>
          <p:cNvCxnSpPr/>
          <p:nvPr/>
        </p:nvCxnSpPr>
        <p:spPr>
          <a:xfrm flipV="1">
            <a:off x="1254556" y="3629802"/>
            <a:ext cx="62545" cy="62545"/>
          </a:xfrm>
          <a:prstGeom prst="line">
            <a:avLst/>
          </a:prstGeom>
          <a:ln w="19050">
            <a:solidFill>
              <a:srgbClr val="B9F36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7" name="Connector 36"/>
          <p:cNvCxnSpPr/>
          <p:nvPr/>
        </p:nvCxnSpPr>
        <p:spPr>
          <a:xfrm flipH="1">
            <a:off x="914034" y="3970324"/>
            <a:ext cx="62545" cy="62545"/>
          </a:xfrm>
          <a:prstGeom prst="line">
            <a:avLst/>
          </a:prstGeom>
          <a:ln w="19050">
            <a:solidFill>
              <a:srgbClr val="B9F36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8" name="Connector 37"/>
          <p:cNvCxnSpPr/>
          <p:nvPr/>
        </p:nvCxnSpPr>
        <p:spPr>
          <a:xfrm>
            <a:off x="1254556" y="3970324"/>
            <a:ext cx="62545" cy="62545"/>
          </a:xfrm>
          <a:prstGeom prst="line">
            <a:avLst/>
          </a:prstGeom>
          <a:ln w="19050">
            <a:solidFill>
              <a:srgbClr val="B9F36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9" name="TextBox 38"/>
          <p:cNvSpPr txBox="1"/>
          <p:nvPr/>
        </p:nvSpPr>
        <p:spPr>
          <a:xfrm>
            <a:off x="1527048" y="3465576"/>
            <a:ext cx="1609344" cy="74980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98000"/>
              </a:lnSpc>
              <a:spcBef>
                <a:spcPts val="0"/>
              </a:spcBef>
              <a:spcAft>
                <a:spcPts val="0"/>
              </a:spcAft>
            </a:pPr>
            <a:r>
              <a:rPr sz="1630" b="1" i="0">
                <a:solidFill>
                  <a:srgbClr val="F3F7F9"/>
                </a:solidFill>
                <a:latin typeface="Aptos"/>
              </a:rPr>
              <a:t>Ready for extreme</a:t>
            </a:r>
          </a:p>
          <a:p>
            <a:pPr algn="l">
              <a:lnSpc>
                <a:spcPct val="98000"/>
              </a:lnSpc>
              <a:spcBef>
                <a:spcPts val="0"/>
              </a:spcBef>
              <a:spcAft>
                <a:spcPts val="0"/>
              </a:spcAft>
            </a:pPr>
            <a:r>
              <a:rPr sz="1630" b="1" i="0">
                <a:solidFill>
                  <a:srgbClr val="F3F7F9"/>
                </a:solidFill>
                <a:latin typeface="Aptos"/>
              </a:rPr>
              <a:t>weather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3474720" y="2999232"/>
            <a:ext cx="2633472" cy="1417320"/>
          </a:xfrm>
          <a:prstGeom prst="roundRect">
            <a:avLst/>
          </a:prstGeom>
          <a:solidFill>
            <a:srgbClr val="0D2030"/>
          </a:solidFill>
          <a:ln w="10795">
            <a:solidFill>
              <a:srgbClr val="24405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3639312" y="3108960"/>
            <a:ext cx="1097280" cy="2286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98000"/>
              </a:lnSpc>
              <a:spcBef>
                <a:spcPts val="0"/>
              </a:spcBef>
              <a:spcAft>
                <a:spcPts val="0"/>
              </a:spcAft>
            </a:pPr>
            <a:r>
              <a:rPr sz="1150" b="1" i="0">
                <a:solidFill>
                  <a:srgbClr val="9AAFC0"/>
                </a:solidFill>
                <a:latin typeface="Aptos"/>
              </a:rPr>
              <a:t>SDG 4</a:t>
            </a:r>
          </a:p>
        </p:txBody>
      </p:sp>
      <p:cxnSp>
        <p:nvCxnSpPr>
          <p:cNvPr id="42" name="Connector 41"/>
          <p:cNvCxnSpPr/>
          <p:nvPr/>
        </p:nvCxnSpPr>
        <p:spPr>
          <a:xfrm>
            <a:off x="3931920" y="3655771"/>
            <a:ext cx="0" cy="351129"/>
          </a:xfrm>
          <a:prstGeom prst="line">
            <a:avLst/>
          </a:prstGeom>
          <a:ln w="19050">
            <a:solidFill>
              <a:srgbClr val="B9F36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3" name="Connector 42"/>
          <p:cNvCxnSpPr/>
          <p:nvPr/>
        </p:nvCxnSpPr>
        <p:spPr>
          <a:xfrm flipH="1" flipV="1">
            <a:off x="3727094" y="3648455"/>
            <a:ext cx="204826" cy="65837"/>
          </a:xfrm>
          <a:prstGeom prst="line">
            <a:avLst/>
          </a:prstGeom>
          <a:ln w="20320">
            <a:solidFill>
              <a:srgbClr val="B9F36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4" name="Connector 43"/>
          <p:cNvCxnSpPr/>
          <p:nvPr/>
        </p:nvCxnSpPr>
        <p:spPr>
          <a:xfrm>
            <a:off x="3727094" y="3648455"/>
            <a:ext cx="0" cy="314554"/>
          </a:xfrm>
          <a:prstGeom prst="line">
            <a:avLst/>
          </a:prstGeom>
          <a:ln w="20320">
            <a:solidFill>
              <a:srgbClr val="B9F36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5" name="Connector 44"/>
          <p:cNvCxnSpPr/>
          <p:nvPr/>
        </p:nvCxnSpPr>
        <p:spPr>
          <a:xfrm>
            <a:off x="3727094" y="3963009"/>
            <a:ext cx="204826" cy="58522"/>
          </a:xfrm>
          <a:prstGeom prst="line">
            <a:avLst/>
          </a:prstGeom>
          <a:ln w="20320">
            <a:solidFill>
              <a:srgbClr val="B9F36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6" name="Connector 45"/>
          <p:cNvCxnSpPr/>
          <p:nvPr/>
        </p:nvCxnSpPr>
        <p:spPr>
          <a:xfrm flipV="1">
            <a:off x="3931920" y="3648455"/>
            <a:ext cx="204825" cy="65837"/>
          </a:xfrm>
          <a:prstGeom prst="line">
            <a:avLst/>
          </a:prstGeom>
          <a:ln w="20320">
            <a:solidFill>
              <a:srgbClr val="B9F36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7" name="Connector 46"/>
          <p:cNvCxnSpPr/>
          <p:nvPr/>
        </p:nvCxnSpPr>
        <p:spPr>
          <a:xfrm>
            <a:off x="4136745" y="3648455"/>
            <a:ext cx="0" cy="314554"/>
          </a:xfrm>
          <a:prstGeom prst="line">
            <a:avLst/>
          </a:prstGeom>
          <a:ln w="20320">
            <a:solidFill>
              <a:srgbClr val="B9F36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8" name="Connector 47"/>
          <p:cNvCxnSpPr/>
          <p:nvPr/>
        </p:nvCxnSpPr>
        <p:spPr>
          <a:xfrm flipH="1">
            <a:off x="3931920" y="3963009"/>
            <a:ext cx="204825" cy="58522"/>
          </a:xfrm>
          <a:prstGeom prst="line">
            <a:avLst/>
          </a:prstGeom>
          <a:ln w="20320">
            <a:solidFill>
              <a:srgbClr val="B9F36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9" name="TextBox 48"/>
          <p:cNvSpPr txBox="1"/>
          <p:nvPr/>
        </p:nvSpPr>
        <p:spPr>
          <a:xfrm>
            <a:off x="4343400" y="3465576"/>
            <a:ext cx="1609344" cy="74980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98000"/>
              </a:lnSpc>
              <a:spcBef>
                <a:spcPts val="0"/>
              </a:spcBef>
              <a:spcAft>
                <a:spcPts val="0"/>
              </a:spcAft>
            </a:pPr>
            <a:r>
              <a:rPr sz="1630" b="1" i="0">
                <a:solidFill>
                  <a:srgbClr val="F3F7F9"/>
                </a:solidFill>
                <a:latin typeface="Aptos"/>
              </a:rPr>
              <a:t>Learning stays</a:t>
            </a:r>
          </a:p>
          <a:p>
            <a:pPr algn="l">
              <a:lnSpc>
                <a:spcPct val="98000"/>
              </a:lnSpc>
              <a:spcBef>
                <a:spcPts val="0"/>
              </a:spcBef>
              <a:spcAft>
                <a:spcPts val="0"/>
              </a:spcAft>
            </a:pPr>
            <a:r>
              <a:rPr sz="1630" b="1" i="0">
                <a:solidFill>
                  <a:srgbClr val="F3F7F9"/>
                </a:solidFill>
                <a:latin typeface="Aptos"/>
              </a:rPr>
              <a:t>connected</a:t>
            </a:r>
          </a:p>
        </p:txBody>
      </p:sp>
      <p:pic>
        <p:nvPicPr>
          <p:cNvPr id="50" name="Picture 49" descr="slide6_impact_crop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45936" y="1399032"/>
            <a:ext cx="5184648" cy="3017520"/>
          </a:xfrm>
          <a:prstGeom prst="rect">
            <a:avLst/>
          </a:prstGeom>
        </p:spPr>
      </p:pic>
      <p:sp>
        <p:nvSpPr>
          <p:cNvPr id="51" name="Rectangle 50"/>
          <p:cNvSpPr/>
          <p:nvPr/>
        </p:nvSpPr>
        <p:spPr>
          <a:xfrm>
            <a:off x="6345936" y="1399032"/>
            <a:ext cx="5184648" cy="3017520"/>
          </a:xfrm>
          <a:prstGeom prst="rect">
            <a:avLst/>
          </a:prstGeom>
          <a:noFill/>
          <a:ln w="11430">
            <a:solidFill>
              <a:srgbClr val="24405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Rounded Rectangle 51"/>
          <p:cNvSpPr/>
          <p:nvPr/>
        </p:nvSpPr>
        <p:spPr>
          <a:xfrm>
            <a:off x="658368" y="4736592"/>
            <a:ext cx="10872216" cy="1353312"/>
          </a:xfrm>
          <a:prstGeom prst="roundRect">
            <a:avLst/>
          </a:prstGeom>
          <a:solidFill>
            <a:srgbClr val="B9F36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53" name="Connector 52"/>
          <p:cNvCxnSpPr/>
          <p:nvPr/>
        </p:nvCxnSpPr>
        <p:spPr>
          <a:xfrm>
            <a:off x="4297680" y="4965192"/>
            <a:ext cx="0" cy="905256"/>
          </a:xfrm>
          <a:prstGeom prst="line">
            <a:avLst/>
          </a:prstGeom>
          <a:ln w="13970">
            <a:solidFill>
              <a:srgbClr val="6D984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4" name="Connector 53"/>
          <p:cNvCxnSpPr/>
          <p:nvPr/>
        </p:nvCxnSpPr>
        <p:spPr>
          <a:xfrm>
            <a:off x="7918704" y="4965192"/>
            <a:ext cx="0" cy="905256"/>
          </a:xfrm>
          <a:prstGeom prst="line">
            <a:avLst/>
          </a:prstGeom>
          <a:ln w="13970">
            <a:solidFill>
              <a:srgbClr val="6D984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5" name="TextBox 54"/>
          <p:cNvSpPr txBox="1"/>
          <p:nvPr/>
        </p:nvSpPr>
        <p:spPr>
          <a:xfrm>
            <a:off x="859536" y="4882896"/>
            <a:ext cx="3200400" cy="24688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98000"/>
              </a:lnSpc>
              <a:spcBef>
                <a:spcPts val="0"/>
              </a:spcBef>
              <a:spcAft>
                <a:spcPts val="0"/>
              </a:spcAft>
            </a:pPr>
            <a:r>
              <a:rPr sz="1150" b="1" i="0">
                <a:solidFill>
                  <a:srgbClr val="274233"/>
                </a:solidFill>
                <a:latin typeface="Aptos"/>
              </a:rPr>
              <a:t>PILOT VILLAGE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859536" y="5193792"/>
            <a:ext cx="3200400" cy="55778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98000"/>
              </a:lnSpc>
              <a:spcBef>
                <a:spcPts val="0"/>
              </a:spcBef>
              <a:spcAft>
                <a:spcPts val="0"/>
              </a:spcAft>
            </a:pPr>
            <a:r>
              <a:rPr sz="2300" b="1" i="0">
                <a:solidFill>
                  <a:srgbClr val="10202C"/>
                </a:solidFill>
                <a:latin typeface="Aptos"/>
              </a:rPr>
              <a:t>[name]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4526280" y="4882896"/>
            <a:ext cx="3145536" cy="24688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98000"/>
              </a:lnSpc>
              <a:spcBef>
                <a:spcPts val="0"/>
              </a:spcBef>
              <a:spcAft>
                <a:spcPts val="0"/>
              </a:spcAft>
            </a:pPr>
            <a:r>
              <a:rPr sz="1150" b="1" i="0">
                <a:solidFill>
                  <a:srgbClr val="274233"/>
                </a:solidFill>
                <a:latin typeface="Aptos"/>
              </a:rPr>
              <a:t>PEOPLE COVERED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4526280" y="5193792"/>
            <a:ext cx="3145536" cy="55778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98000"/>
              </a:lnSpc>
              <a:spcBef>
                <a:spcPts val="0"/>
              </a:spcBef>
              <a:spcAft>
                <a:spcPts val="0"/>
              </a:spcAft>
            </a:pPr>
            <a:r>
              <a:rPr sz="2300" b="1" i="0">
                <a:solidFill>
                  <a:srgbClr val="10202C"/>
                </a:solidFill>
                <a:latin typeface="Aptos"/>
              </a:rPr>
              <a:t>[number]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8165592" y="4882896"/>
            <a:ext cx="3182112" cy="24688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98000"/>
              </a:lnSpc>
              <a:spcBef>
                <a:spcPts val="0"/>
              </a:spcBef>
              <a:spcAft>
                <a:spcPts val="0"/>
              </a:spcAft>
            </a:pPr>
            <a:r>
              <a:rPr sz="1150" b="1" i="0">
                <a:solidFill>
                  <a:srgbClr val="274233"/>
                </a:solidFill>
                <a:latin typeface="Aptos"/>
              </a:rPr>
              <a:t>RELAY COST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8165592" y="5193792"/>
            <a:ext cx="3182112" cy="55778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98000"/>
              </a:lnSpc>
              <a:spcBef>
                <a:spcPts val="0"/>
              </a:spcBef>
              <a:spcAft>
                <a:spcPts val="0"/>
              </a:spcAft>
            </a:pPr>
            <a:r>
              <a:rPr sz="2300" b="1" i="0">
                <a:solidFill>
                  <a:srgbClr val="10202C"/>
                </a:solidFill>
                <a:latin typeface="Aptos"/>
              </a:rPr>
              <a:t>Rs [amount]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658368" y="4453128"/>
            <a:ext cx="10872216" cy="2286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98000"/>
              </a:lnSpc>
              <a:spcBef>
                <a:spcPts val="0"/>
              </a:spcBef>
              <a:spcAft>
                <a:spcPts val="0"/>
              </a:spcAft>
            </a:pPr>
            <a:r>
              <a:rPr sz="1420" b="1">
                <a:solidFill>
                  <a:srgbClr val="9AAFC0"/>
                </a:solidFill>
                <a:latin typeface="Aptos"/>
              </a:rPr>
              <a:t>Better coverage planning supports warnings and learning.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7152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658368" y="457200"/>
            <a:ext cx="50292" cy="329184"/>
          </a:xfrm>
          <a:prstGeom prst="rect">
            <a:avLst/>
          </a:prstGeom>
          <a:solidFill>
            <a:srgbClr val="B9F36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59536" y="384048"/>
            <a:ext cx="9555480" cy="53035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98000"/>
              </a:lnSpc>
              <a:spcBef>
                <a:spcPts val="0"/>
              </a:spcBef>
              <a:spcAft>
                <a:spcPts val="0"/>
              </a:spcAft>
            </a:pPr>
            <a:r>
              <a:rPr sz="3000" b="1" i="0">
                <a:solidFill>
                  <a:srgbClr val="F3F7F9"/>
                </a:solidFill>
                <a:latin typeface="Aptos"/>
              </a:rPr>
              <a:t>Roadmap and Ask</a:t>
            </a:r>
          </a:p>
        </p:txBody>
      </p:sp>
      <p:sp>
        <p:nvSpPr>
          <p:cNvPr id="4" name="Oval 3"/>
          <p:cNvSpPr/>
          <p:nvPr/>
        </p:nvSpPr>
        <p:spPr>
          <a:xfrm>
            <a:off x="10817352" y="557784"/>
            <a:ext cx="68580" cy="68580"/>
          </a:xfrm>
          <a:prstGeom prst="ellipse">
            <a:avLst/>
          </a:prstGeom>
          <a:noFill/>
          <a:ln w="10795">
            <a:solidFill>
              <a:srgbClr val="6881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10963656" y="557784"/>
            <a:ext cx="68580" cy="68580"/>
          </a:xfrm>
          <a:prstGeom prst="ellipse">
            <a:avLst/>
          </a:prstGeom>
          <a:noFill/>
          <a:ln w="10795">
            <a:solidFill>
              <a:srgbClr val="6881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11109960" y="557784"/>
            <a:ext cx="68580" cy="68580"/>
          </a:xfrm>
          <a:prstGeom prst="ellipse">
            <a:avLst/>
          </a:prstGeom>
          <a:noFill/>
          <a:ln w="10795">
            <a:solidFill>
              <a:srgbClr val="6881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11256264" y="557784"/>
            <a:ext cx="68580" cy="68580"/>
          </a:xfrm>
          <a:prstGeom prst="ellipse">
            <a:avLst/>
          </a:prstGeom>
          <a:noFill/>
          <a:ln w="10795">
            <a:solidFill>
              <a:srgbClr val="6881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11402568" y="557784"/>
            <a:ext cx="68580" cy="68580"/>
          </a:xfrm>
          <a:prstGeom prst="ellipse">
            <a:avLst/>
          </a:prstGeom>
          <a:noFill/>
          <a:ln w="10795">
            <a:solidFill>
              <a:srgbClr val="6881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1548872" y="557784"/>
            <a:ext cx="68580" cy="68580"/>
          </a:xfrm>
          <a:prstGeom prst="ellipse">
            <a:avLst/>
          </a:prstGeom>
          <a:noFill/>
          <a:ln w="10795">
            <a:solidFill>
              <a:srgbClr val="6881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11695176" y="557784"/>
            <a:ext cx="68580" cy="68580"/>
          </a:xfrm>
          <a:prstGeom prst="ellipse">
            <a:avLst/>
          </a:prstGeom>
          <a:solidFill>
            <a:srgbClr val="B9F36C"/>
          </a:solidFill>
          <a:ln w="10795">
            <a:solidFill>
              <a:srgbClr val="B9F36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1" name="Connector 10"/>
          <p:cNvCxnSpPr/>
          <p:nvPr/>
        </p:nvCxnSpPr>
        <p:spPr>
          <a:xfrm>
            <a:off x="658368" y="1097280"/>
            <a:ext cx="10872216" cy="0"/>
          </a:xfrm>
          <a:prstGeom prst="line">
            <a:avLst/>
          </a:prstGeom>
          <a:ln w="10795">
            <a:solidFill>
              <a:srgbClr val="24405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Connector 11"/>
          <p:cNvCxnSpPr/>
          <p:nvPr/>
        </p:nvCxnSpPr>
        <p:spPr>
          <a:xfrm>
            <a:off x="1005840" y="1536192"/>
            <a:ext cx="0" cy="2944368"/>
          </a:xfrm>
          <a:prstGeom prst="line">
            <a:avLst/>
          </a:prstGeom>
          <a:ln w="25400">
            <a:solidFill>
              <a:srgbClr val="24405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Oval 12"/>
          <p:cNvSpPr/>
          <p:nvPr/>
        </p:nvSpPr>
        <p:spPr>
          <a:xfrm>
            <a:off x="749808" y="1536192"/>
            <a:ext cx="512064" cy="512064"/>
          </a:xfrm>
          <a:prstGeom prst="ellipse">
            <a:avLst/>
          </a:prstGeom>
          <a:solidFill>
            <a:srgbClr val="12283A"/>
          </a:solidFill>
          <a:ln w="19050">
            <a:solidFill>
              <a:srgbClr val="B9F36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932688" y="1719072"/>
            <a:ext cx="146304" cy="146304"/>
          </a:xfrm>
          <a:prstGeom prst="ellipse">
            <a:avLst/>
          </a:prstGeom>
          <a:solidFill>
            <a:srgbClr val="B9F36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554480" y="1463040"/>
            <a:ext cx="1234440" cy="2286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98000"/>
              </a:lnSpc>
              <a:spcBef>
                <a:spcPts val="0"/>
              </a:spcBef>
              <a:spcAft>
                <a:spcPts val="0"/>
              </a:spcAft>
            </a:pPr>
            <a:r>
              <a:rPr sz="1150" b="1" i="0">
                <a:solidFill>
                  <a:srgbClr val="B9F36C"/>
                </a:solidFill>
                <a:latin typeface="Aptos"/>
              </a:rPr>
              <a:t>PHASE 1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554480" y="1719072"/>
            <a:ext cx="4828032" cy="6400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98000"/>
              </a:lnSpc>
              <a:spcBef>
                <a:spcPts val="0"/>
              </a:spcBef>
              <a:spcAft>
                <a:spcPts val="0"/>
              </a:spcAft>
            </a:pPr>
            <a:r>
              <a:rPr sz="1900" b="1" i="0">
                <a:solidFill>
                  <a:srgbClr val="F3F7F9"/>
                </a:solidFill>
                <a:latin typeface="Aptos"/>
              </a:rPr>
              <a:t>Prototype in one village</a:t>
            </a:r>
          </a:p>
        </p:txBody>
      </p:sp>
      <p:sp>
        <p:nvSpPr>
          <p:cNvPr id="17" name="Oval 16"/>
          <p:cNvSpPr/>
          <p:nvPr/>
        </p:nvSpPr>
        <p:spPr>
          <a:xfrm>
            <a:off x="749808" y="2606040"/>
            <a:ext cx="512064" cy="512064"/>
          </a:xfrm>
          <a:prstGeom prst="ellipse">
            <a:avLst/>
          </a:prstGeom>
          <a:solidFill>
            <a:srgbClr val="12283A"/>
          </a:solidFill>
          <a:ln w="19050">
            <a:solidFill>
              <a:srgbClr val="74D7A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932688" y="2788920"/>
            <a:ext cx="146304" cy="146304"/>
          </a:xfrm>
          <a:prstGeom prst="ellipse">
            <a:avLst/>
          </a:prstGeom>
          <a:solidFill>
            <a:srgbClr val="B9F36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554480" y="2532888"/>
            <a:ext cx="1234440" cy="2286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98000"/>
              </a:lnSpc>
              <a:spcBef>
                <a:spcPts val="0"/>
              </a:spcBef>
              <a:spcAft>
                <a:spcPts val="0"/>
              </a:spcAft>
            </a:pPr>
            <a:r>
              <a:rPr sz="1150" b="1" i="0">
                <a:solidFill>
                  <a:srgbClr val="B9F36C"/>
                </a:solidFill>
                <a:latin typeface="Aptos"/>
              </a:rPr>
              <a:t>PHASE 2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554480" y="2788920"/>
            <a:ext cx="4828032" cy="6400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98000"/>
              </a:lnSpc>
              <a:spcBef>
                <a:spcPts val="0"/>
              </a:spcBef>
              <a:spcAft>
                <a:spcPts val="0"/>
              </a:spcAft>
            </a:pPr>
            <a:r>
              <a:rPr sz="1830" b="1" i="0">
                <a:solidFill>
                  <a:srgbClr val="F3F7F9"/>
                </a:solidFill>
                <a:latin typeface="Aptos"/>
              </a:rPr>
              <a:t>Pilot with a district disaster</a:t>
            </a:r>
          </a:p>
          <a:p>
            <a:pPr algn="l">
              <a:lnSpc>
                <a:spcPct val="98000"/>
              </a:lnSpc>
              <a:spcBef>
                <a:spcPts val="0"/>
              </a:spcBef>
              <a:spcAft>
                <a:spcPts val="0"/>
              </a:spcAft>
            </a:pPr>
            <a:r>
              <a:rPr sz="1830" b="1" i="0">
                <a:solidFill>
                  <a:srgbClr val="F3F7F9"/>
                </a:solidFill>
                <a:latin typeface="Aptos"/>
              </a:rPr>
              <a:t>management authority</a:t>
            </a:r>
          </a:p>
        </p:txBody>
      </p:sp>
      <p:sp>
        <p:nvSpPr>
          <p:cNvPr id="21" name="Oval 20"/>
          <p:cNvSpPr/>
          <p:nvPr/>
        </p:nvSpPr>
        <p:spPr>
          <a:xfrm>
            <a:off x="749808" y="3758184"/>
            <a:ext cx="512064" cy="512064"/>
          </a:xfrm>
          <a:prstGeom prst="ellipse">
            <a:avLst/>
          </a:prstGeom>
          <a:solidFill>
            <a:srgbClr val="12283A"/>
          </a:solidFill>
          <a:ln w="19050">
            <a:solidFill>
              <a:srgbClr val="74D7A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932688" y="3941064"/>
            <a:ext cx="146304" cy="146304"/>
          </a:xfrm>
          <a:prstGeom prst="ellipse">
            <a:avLst/>
          </a:prstGeom>
          <a:solidFill>
            <a:srgbClr val="B9F36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1554480" y="3685032"/>
            <a:ext cx="1234440" cy="2286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98000"/>
              </a:lnSpc>
              <a:spcBef>
                <a:spcPts val="0"/>
              </a:spcBef>
              <a:spcAft>
                <a:spcPts val="0"/>
              </a:spcAft>
            </a:pPr>
            <a:r>
              <a:rPr sz="1150" b="1" i="0">
                <a:solidFill>
                  <a:srgbClr val="B9F36C"/>
                </a:solidFill>
                <a:latin typeface="Aptos"/>
              </a:rPr>
              <a:t>PHASE 3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554480" y="3941064"/>
            <a:ext cx="4828032" cy="6400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98000"/>
              </a:lnSpc>
              <a:spcBef>
                <a:spcPts val="0"/>
              </a:spcBef>
              <a:spcAft>
                <a:spcPts val="0"/>
              </a:spcAft>
            </a:pPr>
            <a:r>
              <a:rPr sz="1830" b="1" i="0">
                <a:solidFill>
                  <a:srgbClr val="F3F7F9"/>
                </a:solidFill>
                <a:latin typeface="Aptos"/>
              </a:rPr>
              <a:t>Scale to flood-prone districts</a:t>
            </a:r>
          </a:p>
          <a:p>
            <a:pPr algn="l">
              <a:lnSpc>
                <a:spcPct val="98000"/>
              </a:lnSpc>
              <a:spcBef>
                <a:spcPts val="0"/>
              </a:spcBef>
              <a:spcAft>
                <a:spcPts val="0"/>
              </a:spcAft>
            </a:pPr>
            <a:r>
              <a:rPr sz="1830" b="1" i="0">
                <a:solidFill>
                  <a:srgbClr val="F3F7F9"/>
                </a:solidFill>
                <a:latin typeface="Aptos"/>
              </a:rPr>
              <a:t>across India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58368" y="4846320"/>
            <a:ext cx="5577840" cy="1188720"/>
          </a:xfrm>
          <a:prstGeom prst="roundRect">
            <a:avLst/>
          </a:prstGeom>
          <a:solidFill>
            <a:srgbClr val="B9F36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896112" y="5001768"/>
            <a:ext cx="685800" cy="25603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98000"/>
              </a:lnSpc>
              <a:spcBef>
                <a:spcPts val="0"/>
              </a:spcBef>
              <a:spcAft>
                <a:spcPts val="0"/>
              </a:spcAft>
            </a:pPr>
            <a:r>
              <a:rPr sz="1150" b="1" i="0">
                <a:solidFill>
                  <a:srgbClr val="32503A"/>
                </a:solidFill>
                <a:latin typeface="Aptos"/>
              </a:rPr>
              <a:t>ASK</a:t>
            </a:r>
          </a:p>
        </p:txBody>
      </p:sp>
      <p:sp>
        <p:nvSpPr>
          <p:cNvPr id="27" name="Oval 26"/>
          <p:cNvSpPr/>
          <p:nvPr/>
        </p:nvSpPr>
        <p:spPr>
          <a:xfrm>
            <a:off x="923544" y="5404104"/>
            <a:ext cx="310896" cy="310896"/>
          </a:xfrm>
          <a:prstGeom prst="ellipse">
            <a:avLst/>
          </a:prstGeom>
          <a:solidFill>
            <a:srgbClr val="3250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28" name="Connector 27"/>
          <p:cNvCxnSpPr/>
          <p:nvPr/>
        </p:nvCxnSpPr>
        <p:spPr>
          <a:xfrm>
            <a:off x="1005840" y="5559552"/>
            <a:ext cx="146304" cy="0"/>
          </a:xfrm>
          <a:prstGeom prst="line">
            <a:avLst/>
          </a:prstGeom>
          <a:ln w="21590">
            <a:solidFill>
              <a:srgbClr val="B9F36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9" name="Connector 28"/>
          <p:cNvCxnSpPr/>
          <p:nvPr/>
        </p:nvCxnSpPr>
        <p:spPr>
          <a:xfrm>
            <a:off x="1078992" y="5486400"/>
            <a:ext cx="0" cy="146304"/>
          </a:xfrm>
          <a:prstGeom prst="line">
            <a:avLst/>
          </a:prstGeom>
          <a:ln w="21590">
            <a:solidFill>
              <a:srgbClr val="B9F36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0" name="TextBox 29"/>
          <p:cNvSpPr txBox="1"/>
          <p:nvPr/>
        </p:nvSpPr>
        <p:spPr>
          <a:xfrm>
            <a:off x="1426464" y="5230368"/>
            <a:ext cx="4498848" cy="56692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98000"/>
              </a:lnSpc>
              <a:spcBef>
                <a:spcPts val="0"/>
              </a:spcBef>
              <a:spcAft>
                <a:spcPts val="0"/>
              </a:spcAft>
            </a:pPr>
            <a:r>
              <a:rPr sz="1880" b="1" i="0">
                <a:solidFill>
                  <a:srgbClr val="10202C"/>
                </a:solidFill>
                <a:latin typeface="Aptos"/>
              </a:rPr>
              <a:t>Pilot partner + data access</a:t>
            </a:r>
          </a:p>
        </p:txBody>
      </p:sp>
      <p:pic>
        <p:nvPicPr>
          <p:cNvPr id="31" name="Picture 30" descr="slide7_roadmap_crop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65392" y="1399032"/>
            <a:ext cx="4965192" cy="2962656"/>
          </a:xfrm>
          <a:prstGeom prst="rect">
            <a:avLst/>
          </a:prstGeom>
        </p:spPr>
      </p:pic>
      <p:sp>
        <p:nvSpPr>
          <p:cNvPr id="32" name="Rectangle 31"/>
          <p:cNvSpPr/>
          <p:nvPr/>
        </p:nvSpPr>
        <p:spPr>
          <a:xfrm>
            <a:off x="6565392" y="1399032"/>
            <a:ext cx="4965192" cy="2962656"/>
          </a:xfrm>
          <a:prstGeom prst="rect">
            <a:avLst/>
          </a:prstGeom>
          <a:noFill/>
          <a:ln w="11430">
            <a:solidFill>
              <a:srgbClr val="24405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ounded Rectangle 32"/>
          <p:cNvSpPr/>
          <p:nvPr/>
        </p:nvSpPr>
        <p:spPr>
          <a:xfrm>
            <a:off x="6565392" y="4553712"/>
            <a:ext cx="4965192" cy="1527048"/>
          </a:xfrm>
          <a:prstGeom prst="roundRect">
            <a:avLst/>
          </a:prstGeom>
          <a:solidFill>
            <a:srgbClr val="0D2030"/>
          </a:solidFill>
          <a:ln w="11430">
            <a:solidFill>
              <a:srgbClr val="24405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6858000" y="4736592"/>
            <a:ext cx="4389120" cy="55778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98000"/>
              </a:lnSpc>
              <a:spcBef>
                <a:spcPts val="0"/>
              </a:spcBef>
              <a:spcAft>
                <a:spcPts val="0"/>
              </a:spcAft>
            </a:pPr>
            <a:r>
              <a:rPr sz="2900" b="1" i="0">
                <a:solidFill>
                  <a:srgbClr val="F3F7F9"/>
                </a:solidFill>
                <a:latin typeface="Aptos"/>
              </a:rPr>
              <a:t>Thank you</a:t>
            </a:r>
          </a:p>
        </p:txBody>
      </p:sp>
      <p:cxnSp>
        <p:nvCxnSpPr>
          <p:cNvPr id="35" name="Connector 34"/>
          <p:cNvCxnSpPr/>
          <p:nvPr/>
        </p:nvCxnSpPr>
        <p:spPr>
          <a:xfrm>
            <a:off x="7571231" y="5404104"/>
            <a:ext cx="2944369" cy="0"/>
          </a:xfrm>
          <a:prstGeom prst="line">
            <a:avLst/>
          </a:prstGeom>
          <a:ln w="11430">
            <a:solidFill>
              <a:srgbClr val="24405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7" name="TextBox 36"/>
          <p:cNvSpPr txBox="1"/>
          <p:nvPr/>
        </p:nvSpPr>
        <p:spPr>
          <a:xfrm>
            <a:off x="1554480" y="4590288"/>
            <a:ext cx="4828032" cy="21945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98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>
                <a:solidFill>
                  <a:srgbClr val="74D7A5"/>
                </a:solidFill>
                <a:latin typeface="Aptos"/>
              </a:rPr>
              <a:t>Start small. Measure results. Then expand.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858000" y="5596128"/>
            <a:ext cx="4389120" cy="26517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98000"/>
              </a:lnSpc>
              <a:spcBef>
                <a:spcPts val="0"/>
              </a:spcBef>
              <a:spcAft>
                <a:spcPts val="0"/>
              </a:spcAft>
            </a:pPr>
            <a:r>
              <a:rPr sz="1350" b="1">
                <a:solidFill>
                  <a:srgbClr val="B9F36C"/>
                </a:solidFill>
                <a:latin typeface="Aptos"/>
                <a:hlinkClick r:id="rId4"/>
              </a:rPr>
              <a:t>itxsachin6729@gmail.com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6858000" y="5458968"/>
            <a:ext cx="4389120" cy="14630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sz="950" b="1">
                <a:solidFill>
                  <a:srgbClr val="9AAFC0"/>
                </a:solidFill>
                <a:latin typeface="Aptos"/>
              </a:rPr>
              <a:t>EMAIL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SignalShield — IEEE AP-S Ideathon 2026</dc:title>
  <dc:subject>Track 2: UN SDGs | Predict network blackouts before disasters strike</dc:subject>
  <dc:creator>DATAPULSE — SRI SAIRAM ENGINEERING COLLEGE</dc:creator>
  <cp:keywords>SignalShield, RF, antenna, disaster resilience, SDGs</cp:keywords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