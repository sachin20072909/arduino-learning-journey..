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SignalShield is a free tool for finding network risks before a disaster. We help teams see where one low-cost relay can keep a village 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Floods and storms can stop mobile towers. Families may lose calls and warnings. We need to know the weak places before the storm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Current apps report signal after people test it. They need users in weak areas. SignalShield predicts risk, uses public data, and suggests a practical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a village on the map. Turn off one tower in disaster mode. Then use the suggested relay place to see coverage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check path loss, clear line of sight, the Fresnel zone, antenna height, and gain. Terrain and tower data help us estimate coverage and compare relay 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project supports stronger networks, safer villages, climate readiness, and learning. In a pilot, we will report the village, people reached, and relay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want to test one village first, then work with a district disaster authority. We are looking for a pilot partner and access to data.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484632"/>
            <a:ext cx="338328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9F36C"/>
                </a:solidFill>
                <a:latin typeface="Aptos"/>
              </a:rPr>
              <a:t>IEEE AP-S IDEATHON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87368" y="484632"/>
            <a:ext cx="201168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AFC0"/>
                </a:solidFill>
                <a:latin typeface="Aptos"/>
              </a:rPr>
              <a:t>TRACK 2 · UN SDGs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15568"/>
            <a:ext cx="617220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00" b="1" i="0">
                <a:solidFill>
                  <a:srgbClr val="F3F7F9"/>
                </a:solidFill>
                <a:latin typeface="Aptos"/>
              </a:rPr>
              <a:t>SignalShield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029968"/>
            <a:ext cx="57150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3F7F9"/>
                </a:solidFill>
                <a:latin typeface="Aptos"/>
              </a:rPr>
              <a:t>Predict network blackouts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3F7F9"/>
                </a:solidFill>
                <a:latin typeface="Aptos"/>
              </a:rPr>
              <a:t>before disasters strike.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3346704"/>
            <a:ext cx="1517904" cy="301752"/>
          </a:xfrm>
          <a:prstGeom prst="roundRect">
            <a:avLst/>
          </a:prstGeom>
          <a:solidFill>
            <a:srgbClr val="12302E"/>
          </a:solidFill>
          <a:ln w="101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46704"/>
            <a:ext cx="13716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B9F36C"/>
                </a:solidFill>
                <a:latin typeface="Aptos"/>
              </a:rPr>
              <a:t>FREE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49039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F36C"/>
                </a:solidFill>
                <a:latin typeface="Aptos"/>
              </a:rPr>
              <a:t>DATAPULSE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11480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SRI SAIRAM ENGINEERING COLLEGE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645152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88196"/>
                </a:solidFill>
                <a:latin typeface="Aptos"/>
              </a:rPr>
              <a:t>TEAM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86460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7F9"/>
                </a:solidFill>
                <a:latin typeface="Aptos"/>
              </a:rPr>
              <a:t>N. Sachin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2072" y="4645152"/>
            <a:ext cx="16459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88196"/>
                </a:solidFill>
                <a:latin typeface="Aptos"/>
              </a:rPr>
              <a:t>TEAM MEMBERS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4864608"/>
            <a:ext cx="3337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7F9"/>
                </a:solidFill>
                <a:latin typeface="Aptos"/>
              </a:rPr>
              <a:t>Preethica S · NithyaSri S</a:t>
            </a:r>
          </a:p>
        </p:txBody>
      </p:sp>
      <p:sp>
        <p:nvSpPr>
          <p:cNvPr id="14" name="Oval 13"/>
          <p:cNvSpPr/>
          <p:nvPr/>
        </p:nvSpPr>
        <p:spPr>
          <a:xfrm>
            <a:off x="6903720" y="786384"/>
            <a:ext cx="5010912" cy="5010912"/>
          </a:xfrm>
          <a:prstGeom prst="ellipse">
            <a:avLst/>
          </a:prstGeom>
          <a:solidFill>
            <a:srgbClr val="0D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05471" y="1088136"/>
            <a:ext cx="4407408" cy="4407408"/>
          </a:xfrm>
          <a:prstGeom prst="ellipse">
            <a:avLst/>
          </a:prstGeom>
          <a:noFill/>
          <a:ln w="1397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44383" y="1527048"/>
            <a:ext cx="3529584" cy="3529584"/>
          </a:xfrm>
          <a:prstGeom prst="ellipse">
            <a:avLst/>
          </a:prstGeom>
          <a:noFill/>
          <a:ln w="12700">
            <a:solidFill>
              <a:srgbClr val="1C3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60436" y="1943100"/>
            <a:ext cx="2697480" cy="2697480"/>
          </a:xfrm>
          <a:prstGeom prst="ellipse">
            <a:avLst/>
          </a:prstGeom>
          <a:noFill/>
          <a:ln w="14604">
            <a:solidFill>
              <a:srgbClr val="255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3508" y="3204972"/>
            <a:ext cx="100584" cy="100584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77956" y="2756915"/>
            <a:ext cx="100584" cy="100584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5028" y="4960620"/>
            <a:ext cx="100584" cy="100584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03052" y="4658868"/>
            <a:ext cx="100584" cy="100584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entagon 21"/>
          <p:cNvSpPr/>
          <p:nvPr/>
        </p:nvSpPr>
        <p:spPr>
          <a:xfrm rot="10800000">
            <a:off x="8339327" y="2039112"/>
            <a:ext cx="2139696" cy="2331720"/>
          </a:xfrm>
          <a:prstGeom prst="homePlate">
            <a:avLst/>
          </a:prstGeom>
          <a:solidFill>
            <a:srgbClr val="12283A"/>
          </a:solidFill>
          <a:ln w="228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03436" y="2153412"/>
            <a:ext cx="411480" cy="411480"/>
          </a:xfrm>
          <a:prstGeom prst="ellipse">
            <a:avLst/>
          </a:prstGeom>
          <a:noFill/>
          <a:ln w="1270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66276" y="2016252"/>
            <a:ext cx="685800" cy="685800"/>
          </a:xfrm>
          <a:prstGeom prst="ellipse">
            <a:avLst/>
          </a:prstGeom>
          <a:noFill/>
          <a:ln w="1270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929115" y="1879092"/>
            <a:ext cx="960120" cy="960120"/>
          </a:xfrm>
          <a:prstGeom prst="ellipse">
            <a:avLst/>
          </a:prstGeom>
          <a:noFill/>
          <a:ln w="1270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 flipH="1">
            <a:off x="8997696" y="2286000"/>
            <a:ext cx="411480" cy="1490472"/>
          </a:xfrm>
          <a:prstGeom prst="line">
            <a:avLst/>
          </a:prstGeom>
          <a:ln w="2794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09176" y="2286000"/>
            <a:ext cx="411479" cy="1490472"/>
          </a:xfrm>
          <a:prstGeom prst="line">
            <a:avLst/>
          </a:prstGeom>
          <a:ln w="2794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409176" y="2313432"/>
            <a:ext cx="0" cy="1463040"/>
          </a:xfrm>
          <a:prstGeom prst="line">
            <a:avLst/>
          </a:prstGeom>
          <a:ln w="20955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277502" y="2762951"/>
            <a:ext cx="263347" cy="0"/>
          </a:xfrm>
          <a:prstGeom prst="line">
            <a:avLst/>
          </a:prstGeom>
          <a:ln w="22352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62288" y="3180283"/>
            <a:ext cx="493775" cy="0"/>
          </a:xfrm>
          <a:prstGeom prst="line">
            <a:avLst/>
          </a:prstGeom>
          <a:ln w="22352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63532" y="3537996"/>
            <a:ext cx="691287" cy="0"/>
          </a:xfrm>
          <a:prstGeom prst="line">
            <a:avLst/>
          </a:prstGeom>
          <a:ln w="22352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997696" y="3776472"/>
            <a:ext cx="822959" cy="0"/>
          </a:xfrm>
          <a:prstGeom prst="line">
            <a:avLst/>
          </a:prstGeom>
          <a:ln w="2794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7502" y="2762951"/>
            <a:ext cx="378561" cy="417332"/>
          </a:xfrm>
          <a:prstGeom prst="line">
            <a:avLst/>
          </a:prstGeom>
          <a:ln w="15367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9162288" y="2762951"/>
            <a:ext cx="378561" cy="417332"/>
          </a:xfrm>
          <a:prstGeom prst="line">
            <a:avLst/>
          </a:prstGeom>
          <a:ln w="15367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62288" y="3180283"/>
            <a:ext cx="592531" cy="357713"/>
          </a:xfrm>
          <a:prstGeom prst="line">
            <a:avLst/>
          </a:prstGeom>
          <a:ln w="15367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063532" y="3180283"/>
            <a:ext cx="592531" cy="357713"/>
          </a:xfrm>
          <a:prstGeom prst="line">
            <a:avLst/>
          </a:prstGeom>
          <a:ln w="15367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183879" y="3739896"/>
            <a:ext cx="886969" cy="758952"/>
          </a:xfrm>
          <a:prstGeom prst="line">
            <a:avLst/>
          </a:prstGeom>
          <a:ln w="14604">
            <a:solidFill>
              <a:srgbClr val="74D7A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756648" y="3739896"/>
            <a:ext cx="868680" cy="740664"/>
          </a:xfrm>
          <a:prstGeom prst="line">
            <a:avLst/>
          </a:prstGeom>
          <a:ln w="14604">
            <a:solidFill>
              <a:srgbClr val="74D7A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7754112" y="4468672"/>
            <a:ext cx="420624" cy="250363"/>
          </a:xfrm>
          <a:prstGeom prst="line">
            <a:avLst/>
          </a:prstGeom>
          <a:ln w="1778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174736" y="4468672"/>
            <a:ext cx="420624" cy="250363"/>
          </a:xfrm>
          <a:prstGeom prst="line">
            <a:avLst/>
          </a:prstGeom>
          <a:ln w="1778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863474" y="4719035"/>
            <a:ext cx="622523" cy="372160"/>
          </a:xfrm>
          <a:prstGeom prst="rect">
            <a:avLst/>
          </a:prstGeom>
          <a:solidFill>
            <a:srgbClr val="0D2030"/>
          </a:solidFill>
          <a:ln w="17780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15848" y="4881432"/>
            <a:ext cx="151424" cy="209763"/>
          </a:xfrm>
          <a:prstGeom prst="rect">
            <a:avLst/>
          </a:prstGeom>
          <a:noFill/>
          <a:ln w="13334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39186" y="4820533"/>
            <a:ext cx="109362" cy="87965"/>
          </a:xfrm>
          <a:prstGeom prst="rect">
            <a:avLst/>
          </a:prstGeom>
          <a:noFill/>
          <a:ln w="12445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10232136" y="4450384"/>
            <a:ext cx="420624" cy="250363"/>
          </a:xfrm>
          <a:prstGeom prst="line">
            <a:avLst/>
          </a:prstGeom>
          <a:ln w="17780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652760" y="4450384"/>
            <a:ext cx="420624" cy="250363"/>
          </a:xfrm>
          <a:prstGeom prst="line">
            <a:avLst/>
          </a:prstGeom>
          <a:ln w="17780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10341498" y="4700747"/>
            <a:ext cx="622523" cy="372160"/>
          </a:xfrm>
          <a:prstGeom prst="rect">
            <a:avLst/>
          </a:prstGeom>
          <a:solidFill>
            <a:srgbClr val="0D2030"/>
          </a:solidFill>
          <a:ln w="1778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593872" y="4863144"/>
            <a:ext cx="151424" cy="209763"/>
          </a:xfrm>
          <a:prstGeom prst="rect">
            <a:avLst/>
          </a:prstGeom>
          <a:noFill/>
          <a:ln w="13334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17210" y="4802245"/>
            <a:ext cx="109362" cy="87965"/>
          </a:xfrm>
          <a:prstGeom prst="rect">
            <a:avLst/>
          </a:prstGeom>
          <a:noFill/>
          <a:ln w="12445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339327" y="4370832"/>
            <a:ext cx="109728" cy="109728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488168" y="4352544"/>
            <a:ext cx="109728" cy="109728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solidFill>
            <a:srgbClr val="B9F36C"/>
          </a:solidFill>
          <a:ln w="101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464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The Problem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solidFill>
            <a:srgbClr val="B9F36C"/>
          </a:solidFill>
          <a:ln w="101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49808" y="1719072"/>
            <a:ext cx="41148" cy="685800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80944"/>
            <a:ext cx="41148" cy="685800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4242816"/>
            <a:ext cx="41148" cy="685800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1609344"/>
            <a:ext cx="48463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3F7F9"/>
                </a:solidFill>
                <a:latin typeface="Aptos"/>
              </a:rPr>
              <a:t>Floods and storms 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198424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B9F36C"/>
                </a:solidFill>
                <a:latin typeface="Aptos"/>
              </a:rPr>
              <a:t>disable mobile towers.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871216"/>
            <a:ext cx="484632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3F7F9"/>
                </a:solidFill>
                <a:latin typeface="Aptos"/>
              </a:rPr>
              <a:t>Villagers lose calls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24612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B9F36C"/>
                </a:solidFill>
                <a:latin typeface="Aptos"/>
              </a:rPr>
              <a:t>and warnings.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133087"/>
            <a:ext cx="504748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3F7F9"/>
                </a:solidFill>
                <a:latin typeface="Aptos"/>
              </a:rPr>
              <a:t>Nobody knows in advance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507992"/>
            <a:ext cx="50109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9F36C"/>
                </a:solidFill>
                <a:latin typeface="Aptos"/>
              </a:rPr>
              <a:t>which villages will be cut off.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19088" y="1353312"/>
            <a:ext cx="5111496" cy="4919472"/>
          </a:xfrm>
          <a:prstGeom prst="roundRect">
            <a:avLst/>
          </a:prstGeom>
          <a:solidFill>
            <a:srgbClr val="0D2030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loud 21"/>
          <p:cNvSpPr/>
          <p:nvPr/>
        </p:nvSpPr>
        <p:spPr>
          <a:xfrm>
            <a:off x="7196328" y="1664208"/>
            <a:ext cx="1490472" cy="667512"/>
          </a:xfrm>
          <a:prstGeom prst="cloud">
            <a:avLst/>
          </a:prstGeom>
          <a:solidFill>
            <a:srgbClr val="203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H="1">
            <a:off x="7287768" y="2249424"/>
            <a:ext cx="118872" cy="274320"/>
          </a:xfrm>
          <a:prstGeom prst="line">
            <a:avLst/>
          </a:prstGeom>
          <a:ln w="19050">
            <a:solidFill>
              <a:srgbClr val="5EAE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7653527" y="2313432"/>
            <a:ext cx="118873" cy="274319"/>
          </a:xfrm>
          <a:prstGeom prst="line">
            <a:avLst/>
          </a:prstGeom>
          <a:ln w="19050">
            <a:solidFill>
              <a:srgbClr val="5EAE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037575" y="2249424"/>
            <a:ext cx="118873" cy="274320"/>
          </a:xfrm>
          <a:prstGeom prst="line">
            <a:avLst/>
          </a:prstGeom>
          <a:ln w="19050">
            <a:solidFill>
              <a:srgbClr val="5EAE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394192" y="2313432"/>
            <a:ext cx="118872" cy="274319"/>
          </a:xfrm>
          <a:prstGeom prst="line">
            <a:avLst/>
          </a:prstGeom>
          <a:ln w="19050">
            <a:solidFill>
              <a:srgbClr val="5EAE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074152" y="2423160"/>
            <a:ext cx="438912" cy="1984248"/>
          </a:xfrm>
          <a:prstGeom prst="line">
            <a:avLst/>
          </a:prstGeom>
          <a:ln w="27305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13064" y="2423160"/>
            <a:ext cx="438912" cy="1984248"/>
          </a:xfrm>
          <a:prstGeom prst="line">
            <a:avLst/>
          </a:prstGeom>
          <a:ln w="27305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513064" y="2450591"/>
            <a:ext cx="0" cy="1956817"/>
          </a:xfrm>
          <a:prstGeom prst="line">
            <a:avLst/>
          </a:prstGeom>
          <a:ln w="20478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72612" y="3058119"/>
            <a:ext cx="280903" cy="0"/>
          </a:xfrm>
          <a:prstGeom prst="line">
            <a:avLst/>
          </a:prstGeom>
          <a:ln w="21844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49716" y="3613708"/>
            <a:ext cx="526695" cy="0"/>
          </a:xfrm>
          <a:prstGeom prst="line">
            <a:avLst/>
          </a:prstGeom>
          <a:ln w="21844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144377" y="4089928"/>
            <a:ext cx="737373" cy="0"/>
          </a:xfrm>
          <a:prstGeom prst="line">
            <a:avLst/>
          </a:prstGeom>
          <a:ln w="21844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74152" y="4407408"/>
            <a:ext cx="877824" cy="0"/>
          </a:xfrm>
          <a:prstGeom prst="line">
            <a:avLst/>
          </a:prstGeom>
          <a:ln w="27305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72612" y="3058119"/>
            <a:ext cx="403799" cy="555589"/>
          </a:xfrm>
          <a:prstGeom prst="line">
            <a:avLst/>
          </a:prstGeom>
          <a:ln w="15017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249716" y="3058119"/>
            <a:ext cx="403799" cy="555589"/>
          </a:xfrm>
          <a:prstGeom prst="line">
            <a:avLst/>
          </a:prstGeom>
          <a:ln w="15017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249716" y="3613708"/>
            <a:ext cx="632034" cy="476220"/>
          </a:xfrm>
          <a:prstGeom prst="line">
            <a:avLst/>
          </a:prstGeom>
          <a:ln w="15017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144377" y="3613708"/>
            <a:ext cx="632034" cy="476220"/>
          </a:xfrm>
          <a:prstGeom prst="line">
            <a:avLst/>
          </a:prstGeom>
          <a:ln w="15017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562807" y="2642616"/>
            <a:ext cx="105339" cy="184343"/>
          </a:xfrm>
          <a:prstGeom prst="line">
            <a:avLst/>
          </a:prstGeom>
          <a:ln w="30480">
            <a:solidFill>
              <a:srgbClr val="F36E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562807" y="2826959"/>
            <a:ext cx="98755" cy="0"/>
          </a:xfrm>
          <a:prstGeom prst="line">
            <a:avLst/>
          </a:prstGeom>
          <a:ln w="30480">
            <a:solidFill>
              <a:srgbClr val="F36E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549640" y="2826959"/>
            <a:ext cx="111922" cy="197510"/>
          </a:xfrm>
          <a:prstGeom prst="line">
            <a:avLst/>
          </a:prstGeom>
          <a:ln w="30480">
            <a:solidFill>
              <a:srgbClr val="F36E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9509760" y="2029968"/>
            <a:ext cx="1060704" cy="1060704"/>
          </a:xfrm>
          <a:prstGeom prst="ellipse">
            <a:avLst/>
          </a:prstGeom>
          <a:solidFill>
            <a:srgbClr val="3A202C"/>
          </a:solidFill>
          <a:ln w="22860">
            <a:solidFill>
              <a:srgbClr val="F3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56648" y="2542032"/>
            <a:ext cx="68580" cy="228600"/>
          </a:xfrm>
          <a:prstGeom prst="rect">
            <a:avLst/>
          </a:prstGeom>
          <a:solidFill>
            <a:srgbClr val="F36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93808" y="2404872"/>
            <a:ext cx="68580" cy="365760"/>
          </a:xfrm>
          <a:prstGeom prst="rect">
            <a:avLst/>
          </a:prstGeom>
          <a:solidFill>
            <a:srgbClr val="F36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030968" y="2267711"/>
            <a:ext cx="68580" cy="502920"/>
          </a:xfrm>
          <a:prstGeom prst="rect">
            <a:avLst/>
          </a:prstGeom>
          <a:solidFill>
            <a:srgbClr val="F36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9674352" y="2240280"/>
            <a:ext cx="694944" cy="676656"/>
          </a:xfrm>
          <a:prstGeom prst="line">
            <a:avLst/>
          </a:prstGeom>
          <a:ln w="35560">
            <a:solidFill>
              <a:srgbClr val="F36E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253728" y="3182112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6E75"/>
                </a:solidFill>
                <a:latin typeface="Aptos"/>
              </a:rPr>
              <a:t>NO SIGNAL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986016" y="4331512"/>
            <a:ext cx="416051" cy="250363"/>
          </a:xfrm>
          <a:prstGeom prst="line">
            <a:avLst/>
          </a:prstGeom>
          <a:ln w="17145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02067" y="4331512"/>
            <a:ext cx="416052" cy="250363"/>
          </a:xfrm>
          <a:prstGeom prst="line">
            <a:avLst/>
          </a:prstGeom>
          <a:ln w="17145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094189" y="4581875"/>
            <a:ext cx="615756" cy="372160"/>
          </a:xfrm>
          <a:prstGeom prst="rect">
            <a:avLst/>
          </a:prstGeom>
          <a:solidFill>
            <a:srgbClr val="12283A"/>
          </a:solidFill>
          <a:ln w="17145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43820" y="4744272"/>
            <a:ext cx="149778" cy="209763"/>
          </a:xfrm>
          <a:prstGeom prst="rect">
            <a:avLst/>
          </a:prstGeom>
          <a:noFill/>
          <a:ln w="12858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169078" y="4683373"/>
            <a:ext cx="108173" cy="87965"/>
          </a:xfrm>
          <a:prstGeom prst="rect">
            <a:avLst/>
          </a:prstGeom>
          <a:noFill/>
          <a:ln w="12001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9125712" y="4409236"/>
            <a:ext cx="356616" cy="216530"/>
          </a:xfrm>
          <a:prstGeom prst="line">
            <a:avLst/>
          </a:prstGeom>
          <a:ln w="15875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482328" y="4409236"/>
            <a:ext cx="356616" cy="216530"/>
          </a:xfrm>
          <a:prstGeom prst="line">
            <a:avLst/>
          </a:prstGeom>
          <a:ln w="15875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218432" y="4625766"/>
            <a:ext cx="527791" cy="321868"/>
          </a:xfrm>
          <a:prstGeom prst="rect">
            <a:avLst/>
          </a:prstGeom>
          <a:solidFill>
            <a:srgbClr val="12283A"/>
          </a:solidFill>
          <a:ln w="15875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32401" y="4766218"/>
            <a:ext cx="128381" cy="181416"/>
          </a:xfrm>
          <a:prstGeom prst="rect">
            <a:avLst/>
          </a:prstGeom>
          <a:noFill/>
          <a:ln w="11906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82623" y="4713549"/>
            <a:ext cx="92720" cy="76078"/>
          </a:xfrm>
          <a:prstGeom prst="rect">
            <a:avLst/>
          </a:prstGeom>
          <a:noFill/>
          <a:ln w="11112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10341864" y="4295394"/>
            <a:ext cx="411480" cy="253746"/>
          </a:xfrm>
          <a:prstGeom prst="line">
            <a:avLst/>
          </a:prstGeom>
          <a:ln w="17145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753344" y="4295394"/>
            <a:ext cx="411480" cy="253746"/>
          </a:xfrm>
          <a:prstGeom prst="line">
            <a:avLst/>
          </a:prstGeom>
          <a:ln w="17145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10448848" y="4549140"/>
            <a:ext cx="608990" cy="377190"/>
          </a:xfrm>
          <a:prstGeom prst="rect">
            <a:avLst/>
          </a:prstGeom>
          <a:solidFill>
            <a:srgbClr val="12283A"/>
          </a:solidFill>
          <a:ln w="17145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95736" y="4713732"/>
            <a:ext cx="148132" cy="212598"/>
          </a:xfrm>
          <a:prstGeom prst="rect">
            <a:avLst/>
          </a:prstGeom>
          <a:noFill/>
          <a:ln w="12858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522915" y="4652010"/>
            <a:ext cx="106984" cy="89154"/>
          </a:xfrm>
          <a:prstGeom prst="rect">
            <a:avLst/>
          </a:prstGeom>
          <a:noFill/>
          <a:ln w="12001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6720840" y="5084064"/>
            <a:ext cx="4498848" cy="0"/>
          </a:xfrm>
          <a:prstGeom prst="line">
            <a:avLst/>
          </a:prstGeom>
          <a:ln w="15240">
            <a:solidFill>
              <a:srgbClr val="5EAE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995160" y="5358384"/>
            <a:ext cx="4352544" cy="0"/>
          </a:xfrm>
          <a:prstGeom prst="line">
            <a:avLst/>
          </a:prstGeom>
          <a:ln w="12700">
            <a:solidFill>
              <a:srgbClr val="397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675120" y="5623560"/>
            <a:ext cx="4480560" cy="0"/>
          </a:xfrm>
          <a:prstGeom prst="line">
            <a:avLst/>
          </a:prstGeom>
          <a:ln w="12700">
            <a:solidFill>
              <a:srgbClr val="2D67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931152" y="5870448"/>
            <a:ext cx="4370832" cy="0"/>
          </a:xfrm>
          <a:prstGeom prst="line">
            <a:avLst/>
          </a:prstGeom>
          <a:ln w="11430">
            <a:solidFill>
              <a:srgbClr val="275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464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Why Current Solutions Fail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solidFill>
            <a:srgbClr val="B9F36C"/>
          </a:solidFill>
          <a:ln w="101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8368" y="1417320"/>
            <a:ext cx="10881360" cy="4800600"/>
          </a:xfrm>
          <a:prstGeom prst="roundRect">
            <a:avLst/>
          </a:prstGeom>
          <a:solidFill>
            <a:srgbClr val="0D2030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08192" y="1581912"/>
            <a:ext cx="5175504" cy="749808"/>
          </a:xfrm>
          <a:prstGeom prst="roundRect">
            <a:avLst/>
          </a:prstGeom>
          <a:solidFill>
            <a:srgbClr val="183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5" y="1618488"/>
            <a:ext cx="4526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3F7F9"/>
                </a:solidFill>
                <a:latin typeface="Aptos"/>
              </a:rPr>
              <a:t>Existing apps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" y="1938528"/>
            <a:ext cx="45262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OpenSignal  ·  Speedtest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1673352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9F36C"/>
                </a:solidFill>
                <a:latin typeface="Aptos"/>
              </a:rPr>
              <a:t>SignalShield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25896" y="1572768"/>
            <a:ext cx="0" cy="4416552"/>
          </a:xfrm>
          <a:prstGeom prst="line">
            <a:avLst/>
          </a:prstGeom>
          <a:ln w="13970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097280" y="2706624"/>
            <a:ext cx="365760" cy="365760"/>
          </a:xfrm>
          <a:prstGeom prst="ellipse">
            <a:avLst/>
          </a:prstGeom>
          <a:solidFill>
            <a:srgbClr val="152B3B"/>
          </a:solidFill>
          <a:ln w="1397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97864" y="2889504"/>
            <a:ext cx="164592" cy="0"/>
          </a:xfrm>
          <a:prstGeom prst="line">
            <a:avLst/>
          </a:prstGeom>
          <a:ln w="2286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673352" y="2578608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C1CDD6"/>
                </a:solidFill>
                <a:latin typeface="Aptos"/>
              </a:rPr>
              <a:t>Measures only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706624"/>
            <a:ext cx="365760" cy="365760"/>
          </a:xfrm>
          <a:prstGeom prst="ellipse">
            <a:avLst/>
          </a:prstGeom>
          <a:solidFill>
            <a:srgbClr val="203A32"/>
          </a:solidFill>
          <a:ln w="1524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583680" y="2898648"/>
            <a:ext cx="82296" cy="82296"/>
          </a:xfrm>
          <a:prstGeom prst="line">
            <a:avLst/>
          </a:prstGeom>
          <a:ln w="254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665976" y="2798064"/>
            <a:ext cx="128016" cy="182880"/>
          </a:xfrm>
          <a:prstGeom prst="line">
            <a:avLst/>
          </a:prstGeom>
          <a:ln w="254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068312" y="2578608"/>
            <a:ext cx="391363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3F7F9"/>
                </a:solidFill>
                <a:latin typeface="Aptos"/>
              </a:rPr>
              <a:t>Predicts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5840" y="3438144"/>
            <a:ext cx="10149840" cy="0"/>
          </a:xfrm>
          <a:prstGeom prst="line">
            <a:avLst/>
          </a:prstGeom>
          <a:ln w="10160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097280" y="3767328"/>
            <a:ext cx="365760" cy="365760"/>
          </a:xfrm>
          <a:prstGeom prst="ellipse">
            <a:avLst/>
          </a:prstGeom>
          <a:solidFill>
            <a:srgbClr val="152B3B"/>
          </a:solidFill>
          <a:ln w="1397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197864" y="3950208"/>
            <a:ext cx="164592" cy="0"/>
          </a:xfrm>
          <a:prstGeom prst="line">
            <a:avLst/>
          </a:prstGeom>
          <a:ln w="2286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673352" y="3639312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C1CDD6"/>
                </a:solidFill>
                <a:latin typeface="Aptos"/>
              </a:rPr>
              <a:t>No fix</a:t>
            </a:r>
          </a:p>
        </p:txBody>
      </p:sp>
      <p:sp>
        <p:nvSpPr>
          <p:cNvPr id="29" name="Oval 28"/>
          <p:cNvSpPr/>
          <p:nvPr/>
        </p:nvSpPr>
        <p:spPr>
          <a:xfrm>
            <a:off x="6492240" y="3767328"/>
            <a:ext cx="365760" cy="365760"/>
          </a:xfrm>
          <a:prstGeom prst="ellipse">
            <a:avLst/>
          </a:prstGeom>
          <a:solidFill>
            <a:srgbClr val="203A32"/>
          </a:solidFill>
          <a:ln w="1524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583680" y="3959352"/>
            <a:ext cx="82296" cy="82296"/>
          </a:xfrm>
          <a:prstGeom prst="line">
            <a:avLst/>
          </a:prstGeom>
          <a:ln w="254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665976" y="3858768"/>
            <a:ext cx="128016" cy="182880"/>
          </a:xfrm>
          <a:prstGeom prst="line">
            <a:avLst/>
          </a:prstGeom>
          <a:ln w="254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68312" y="3639312"/>
            <a:ext cx="391363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3F7F9"/>
                </a:solidFill>
                <a:latin typeface="Aptos"/>
              </a:rPr>
              <a:t>Suggests fix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5840" y="4498848"/>
            <a:ext cx="10149840" cy="0"/>
          </a:xfrm>
          <a:prstGeom prst="line">
            <a:avLst/>
          </a:prstGeom>
          <a:ln w="10160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97280" y="4828032"/>
            <a:ext cx="365760" cy="365760"/>
          </a:xfrm>
          <a:prstGeom prst="ellipse">
            <a:avLst/>
          </a:prstGeom>
          <a:solidFill>
            <a:srgbClr val="152B3B"/>
          </a:solidFill>
          <a:ln w="1397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197864" y="5010912"/>
            <a:ext cx="164592" cy="0"/>
          </a:xfrm>
          <a:prstGeom prst="line">
            <a:avLst/>
          </a:prstGeom>
          <a:ln w="2286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673352" y="4700016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C1CDD6"/>
                </a:solidFill>
                <a:latin typeface="Aptos"/>
              </a:rPr>
              <a:t>Needs users</a:t>
            </a:r>
          </a:p>
        </p:txBody>
      </p:sp>
      <p:sp>
        <p:nvSpPr>
          <p:cNvPr id="37" name="Oval 36"/>
          <p:cNvSpPr/>
          <p:nvPr/>
        </p:nvSpPr>
        <p:spPr>
          <a:xfrm>
            <a:off x="6492240" y="4828032"/>
            <a:ext cx="365760" cy="365760"/>
          </a:xfrm>
          <a:prstGeom prst="ellipse">
            <a:avLst/>
          </a:prstGeom>
          <a:solidFill>
            <a:srgbClr val="203A32"/>
          </a:solidFill>
          <a:ln w="1524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583680" y="5020056"/>
            <a:ext cx="82296" cy="82296"/>
          </a:xfrm>
          <a:prstGeom prst="line">
            <a:avLst/>
          </a:prstGeom>
          <a:ln w="254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665976" y="4919472"/>
            <a:ext cx="128016" cy="182880"/>
          </a:xfrm>
          <a:prstGeom prst="line">
            <a:avLst/>
          </a:prstGeom>
          <a:ln w="2540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068312" y="4700016"/>
            <a:ext cx="391363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3F7F9"/>
                </a:solidFill>
                <a:latin typeface="Aptos"/>
              </a:rPr>
              <a:t>Uses free public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464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Our Solution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solidFill>
            <a:srgbClr val="B9F36C"/>
          </a:solidFill>
          <a:ln w="101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8368" y="1417320"/>
            <a:ext cx="3355848" cy="2258568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1417320"/>
            <a:ext cx="50292" cy="2258568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16552" y="1417320"/>
            <a:ext cx="3355848" cy="2258568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16552" y="1417320"/>
            <a:ext cx="50292" cy="2258568"/>
          </a:xfrm>
          <a:prstGeom prst="rect">
            <a:avLst/>
          </a:prstGeom>
          <a:solidFill>
            <a:srgbClr val="54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74736" y="1417320"/>
            <a:ext cx="3355848" cy="2258568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417320"/>
            <a:ext cx="50292" cy="2258568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1627632"/>
            <a:ext cx="4572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F36C"/>
                </a:solidFill>
                <a:latin typeface="Aptos"/>
              </a:rPr>
              <a:t>01</a:t>
            </a:r>
          </a:p>
        </p:txBody>
      </p:sp>
      <p:sp>
        <p:nvSpPr>
          <p:cNvPr id="19" name="Oval 18"/>
          <p:cNvSpPr/>
          <p:nvPr/>
        </p:nvSpPr>
        <p:spPr>
          <a:xfrm>
            <a:off x="3383828" y="1774484"/>
            <a:ext cx="254934" cy="254934"/>
          </a:xfrm>
          <a:prstGeom prst="ellipse">
            <a:avLst/>
          </a:prstGeom>
          <a:noFill/>
          <a:ln w="228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7554" y="1868210"/>
            <a:ext cx="67482" cy="67482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424618" y="1995003"/>
            <a:ext cx="86678" cy="168257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511296" y="1995003"/>
            <a:ext cx="86677" cy="168257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2459736"/>
            <a:ext cx="2761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3F7F9"/>
                </a:solidFill>
                <a:latin typeface="Aptos"/>
              </a:rPr>
              <a:t>Pick a village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2898648"/>
            <a:ext cx="27614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AFC0"/>
                </a:solidFill>
                <a:latin typeface="Aptos"/>
              </a:rPr>
              <a:t>on the 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2584" y="1627632"/>
            <a:ext cx="4572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4D7A5"/>
                </a:solidFill>
                <a:latin typeface="Aptos"/>
              </a:rPr>
              <a:t>02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903720" y="1764792"/>
            <a:ext cx="292608" cy="566928"/>
          </a:xfrm>
          <a:prstGeom prst="line">
            <a:avLst/>
          </a:prstGeom>
          <a:ln w="2095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96328" y="1764792"/>
            <a:ext cx="292608" cy="566928"/>
          </a:xfrm>
          <a:prstGeom prst="line">
            <a:avLst/>
          </a:prstGeom>
          <a:ln w="2095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96328" y="1792224"/>
            <a:ext cx="0" cy="539496"/>
          </a:xfrm>
          <a:prstGeom prst="line">
            <a:avLst/>
          </a:prstGeom>
          <a:ln w="15716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02693" y="1946208"/>
            <a:ext cx="187269" cy="0"/>
          </a:xfrm>
          <a:prstGeom prst="line">
            <a:avLst/>
          </a:prstGeom>
          <a:ln w="16764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020763" y="2104948"/>
            <a:ext cx="351129" cy="0"/>
          </a:xfrm>
          <a:prstGeom prst="line">
            <a:avLst/>
          </a:prstGeom>
          <a:ln w="16764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950537" y="2241011"/>
            <a:ext cx="491581" cy="0"/>
          </a:xfrm>
          <a:prstGeom prst="line">
            <a:avLst/>
          </a:prstGeom>
          <a:ln w="16764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903720" y="2331720"/>
            <a:ext cx="585216" cy="0"/>
          </a:xfrm>
          <a:prstGeom prst="line">
            <a:avLst/>
          </a:prstGeom>
          <a:ln w="2095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02693" y="1946208"/>
            <a:ext cx="269199" cy="158740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020763" y="1946208"/>
            <a:ext cx="269199" cy="158740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020763" y="2104948"/>
            <a:ext cx="421355" cy="136063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6950537" y="2104948"/>
            <a:ext cx="421355" cy="136063"/>
          </a:xfrm>
          <a:prstGeom prst="line">
            <a:avLst/>
          </a:prstGeom>
          <a:ln w="11525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86016" y="1956816"/>
            <a:ext cx="402336" cy="265176"/>
          </a:xfrm>
          <a:prstGeom prst="line">
            <a:avLst/>
          </a:prstGeom>
          <a:ln w="25400">
            <a:solidFill>
              <a:srgbClr val="F36E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672584" y="2459736"/>
            <a:ext cx="2761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3F7F9"/>
                </a:solidFill>
                <a:latin typeface="Aptos"/>
              </a:rPr>
              <a:t>Disaster Mode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72584" y="286207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9AAFC0"/>
                </a:solidFill>
                <a:latin typeface="Aptos"/>
              </a:rPr>
              <a:t>Switch off one tower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72584" y="3154680"/>
            <a:ext cx="2761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36E75"/>
                </a:solidFill>
                <a:latin typeface="Aptos"/>
              </a:rPr>
              <a:t>See red zones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1627632"/>
            <a:ext cx="4572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F36C"/>
                </a:solidFill>
                <a:latin typeface="Aptos"/>
              </a:rPr>
              <a:t>03</a:t>
            </a:r>
          </a:p>
        </p:txBody>
      </p:sp>
      <p:sp>
        <p:nvSpPr>
          <p:cNvPr id="42" name="Oval 41"/>
          <p:cNvSpPr/>
          <p:nvPr/>
        </p:nvSpPr>
        <p:spPr>
          <a:xfrm>
            <a:off x="10543032" y="1682496"/>
            <a:ext cx="658368" cy="658368"/>
          </a:xfrm>
          <a:prstGeom prst="ellipse">
            <a:avLst/>
          </a:prstGeom>
          <a:solidFill>
            <a:srgbClr val="1C3A32"/>
          </a:solidFill>
          <a:ln w="1778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>
            <a:off x="10680192" y="1828800"/>
            <a:ext cx="192024" cy="438912"/>
          </a:xfrm>
          <a:prstGeom prst="line">
            <a:avLst/>
          </a:prstGeom>
          <a:ln w="17145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72216" y="1828800"/>
            <a:ext cx="192024" cy="438912"/>
          </a:xfrm>
          <a:prstGeom prst="line">
            <a:avLst/>
          </a:prstGeom>
          <a:ln w="17145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72216" y="1856231"/>
            <a:ext cx="0" cy="411481"/>
          </a:xfrm>
          <a:prstGeom prst="line">
            <a:avLst/>
          </a:prstGeom>
          <a:ln w="12858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810768" y="1969251"/>
            <a:ext cx="122895" cy="0"/>
          </a:xfrm>
          <a:prstGeom prst="line">
            <a:avLst/>
          </a:prstGeom>
          <a:ln w="13716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757001" y="2092147"/>
            <a:ext cx="230429" cy="0"/>
          </a:xfrm>
          <a:prstGeom prst="line">
            <a:avLst/>
          </a:prstGeom>
          <a:ln w="13716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710915" y="2197486"/>
            <a:ext cx="322601" cy="0"/>
          </a:xfrm>
          <a:prstGeom prst="line">
            <a:avLst/>
          </a:prstGeom>
          <a:ln w="13716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680192" y="2267712"/>
            <a:ext cx="384048" cy="0"/>
          </a:xfrm>
          <a:prstGeom prst="line">
            <a:avLst/>
          </a:prstGeom>
          <a:ln w="17145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810768" y="1969251"/>
            <a:ext cx="176662" cy="122896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0757001" y="1969251"/>
            <a:ext cx="176662" cy="122896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757001" y="2092147"/>
            <a:ext cx="276515" cy="105339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0710915" y="2092147"/>
            <a:ext cx="276515" cy="105339"/>
          </a:xfrm>
          <a:prstGeom prst="line">
            <a:avLst/>
          </a:prstGeom>
          <a:ln w="101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30768" y="2459736"/>
            <a:ext cx="2761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3F7F9"/>
                </a:solidFill>
                <a:latin typeface="Aptos"/>
              </a:rPr>
              <a:t>Fix 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30768" y="2862072"/>
            <a:ext cx="29626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9AAFC0"/>
                </a:solidFill>
                <a:latin typeface="Aptos"/>
              </a:rPr>
              <a:t>Suggests best relay spot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0768" y="3154680"/>
            <a:ext cx="2761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9F36C"/>
                </a:solidFill>
                <a:latin typeface="Aptos"/>
              </a:rPr>
              <a:t>Red turns green</a:t>
            </a:r>
          </a:p>
        </p:txBody>
      </p:sp>
      <p:sp>
        <p:nvSpPr>
          <p:cNvPr id="57" name="Chevron 56"/>
          <p:cNvSpPr/>
          <p:nvPr/>
        </p:nvSpPr>
        <p:spPr>
          <a:xfrm>
            <a:off x="4096512" y="2404872"/>
            <a:ext cx="274320" cy="329184"/>
          </a:xfrm>
          <a:prstGeom prst="chevron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hevron 57"/>
          <p:cNvSpPr/>
          <p:nvPr/>
        </p:nvSpPr>
        <p:spPr>
          <a:xfrm>
            <a:off x="7854696" y="2404872"/>
            <a:ext cx="274320" cy="329184"/>
          </a:xfrm>
          <a:prstGeom prst="chevron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58368" y="4050791"/>
            <a:ext cx="10881360" cy="2176272"/>
          </a:xfrm>
          <a:prstGeom prst="roundRect">
            <a:avLst/>
          </a:prstGeom>
          <a:solidFill>
            <a:srgbClr val="0A1B2A"/>
          </a:solidFill>
          <a:ln w="15875">
            <a:solidFill>
              <a:srgbClr val="74D7A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51560" y="4572000"/>
            <a:ext cx="1298448" cy="1005840"/>
          </a:xfrm>
          <a:prstGeom prst="roundRect">
            <a:avLst/>
          </a:prstGeom>
          <a:noFill/>
          <a:ln w="17780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170432" y="4919472"/>
            <a:ext cx="411480" cy="402336"/>
          </a:xfrm>
          <a:prstGeom prst="line">
            <a:avLst/>
          </a:prstGeom>
          <a:ln w="15240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81912" y="4919472"/>
            <a:ext cx="301752" cy="292608"/>
          </a:xfrm>
          <a:prstGeom prst="line">
            <a:avLst/>
          </a:prstGeom>
          <a:ln w="15240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298448" y="4736592"/>
            <a:ext cx="91440" cy="91440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70048" y="4553712"/>
            <a:ext cx="42062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3F7F9"/>
                </a:solidFill>
                <a:latin typeface="Aptos"/>
              </a:rPr>
              <a:t>DEMO SCREENSHOT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70048" y="4956048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AFC0"/>
                </a:solidFill>
                <a:latin typeface="Aptos"/>
              </a:rPr>
              <a:t>Replace with app capture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464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How It Works: RF + Tech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solidFill>
            <a:srgbClr val="B9F36C"/>
          </a:solidFill>
          <a:ln w="101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48640" y="1353312"/>
            <a:ext cx="1956816" cy="1033271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722375" y="1796795"/>
            <a:ext cx="265176" cy="182881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2375" y="1979676"/>
            <a:ext cx="310896" cy="0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32103" y="1714500"/>
            <a:ext cx="0" cy="210312"/>
          </a:xfrm>
          <a:prstGeom prst="line">
            <a:avLst/>
          </a:prstGeom>
          <a:ln w="1905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32688" y="1714500"/>
            <a:ext cx="0" cy="173736"/>
          </a:xfrm>
          <a:prstGeom prst="line">
            <a:avLst/>
          </a:prstGeom>
          <a:ln w="17780">
            <a:solidFill>
              <a:srgbClr val="74D7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4" y="1472184"/>
            <a:ext cx="1316736" cy="8138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3F7F9"/>
                </a:solidFill>
                <a:latin typeface="Aptos"/>
              </a:rPr>
              <a:t>Free terrain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3F7F9"/>
                </a:solidFill>
                <a:latin typeface="Aptos"/>
              </a:rPr>
              <a:t>+ tower data</a:t>
            </a:r>
          </a:p>
        </p:txBody>
      </p:sp>
      <p:sp>
        <p:nvSpPr>
          <p:cNvPr id="18" name="Chevron 17"/>
          <p:cNvSpPr/>
          <p:nvPr/>
        </p:nvSpPr>
        <p:spPr>
          <a:xfrm>
            <a:off x="2587752" y="1709928"/>
            <a:ext cx="164592" cy="292608"/>
          </a:xfrm>
          <a:prstGeom prst="chevron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34640" y="1353312"/>
            <a:ext cx="1956816" cy="1033271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990088" y="1723644"/>
            <a:ext cx="292608" cy="292608"/>
          </a:xfrm>
          <a:prstGeom prst="ellipse">
            <a:avLst/>
          </a:prstGeom>
          <a:noFill/>
          <a:ln w="1778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3136392" y="1796795"/>
            <a:ext cx="91440" cy="73153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3113532" y="1847088"/>
            <a:ext cx="45720" cy="45720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92424" y="1472184"/>
            <a:ext cx="1316736" cy="8138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7F9"/>
                </a:solidFill>
                <a:latin typeface="Aptos"/>
              </a:rPr>
              <a:t>RF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7F9"/>
                </a:solidFill>
                <a:latin typeface="Aptos"/>
              </a:rPr>
              <a:t>calculation</a:t>
            </a:r>
          </a:p>
        </p:txBody>
      </p:sp>
      <p:sp>
        <p:nvSpPr>
          <p:cNvPr id="24" name="Chevron 23"/>
          <p:cNvSpPr/>
          <p:nvPr/>
        </p:nvSpPr>
        <p:spPr>
          <a:xfrm>
            <a:off x="4873752" y="1709928"/>
            <a:ext cx="164592" cy="292608"/>
          </a:xfrm>
          <a:prstGeom prst="chevron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20640" y="1353312"/>
            <a:ext cx="1956816" cy="1033271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3520" y="1760219"/>
            <a:ext cx="109728" cy="109728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40679" y="1760219"/>
            <a:ext cx="109728" cy="109728"/>
          </a:xfrm>
          <a:prstGeom prst="rect">
            <a:avLst/>
          </a:prstGeom>
          <a:solidFill>
            <a:srgbClr val="74D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03520" y="1897379"/>
            <a:ext cx="109728" cy="109728"/>
          </a:xfrm>
          <a:prstGeom prst="rect">
            <a:avLst/>
          </a:prstGeom>
          <a:solidFill>
            <a:srgbClr val="F36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40679" y="1897379"/>
            <a:ext cx="109728" cy="109728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78424" y="1472184"/>
            <a:ext cx="1316736" cy="8138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7F9"/>
                </a:solidFill>
                <a:latin typeface="Aptos"/>
              </a:rPr>
              <a:t>Coverage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7F9"/>
                </a:solidFill>
                <a:latin typeface="Aptos"/>
              </a:rPr>
              <a:t>map</a:t>
            </a:r>
          </a:p>
        </p:txBody>
      </p:sp>
      <p:sp>
        <p:nvSpPr>
          <p:cNvPr id="31" name="Chevron 30"/>
          <p:cNvSpPr/>
          <p:nvPr/>
        </p:nvSpPr>
        <p:spPr>
          <a:xfrm>
            <a:off x="7159752" y="1709928"/>
            <a:ext cx="164592" cy="292608"/>
          </a:xfrm>
          <a:prstGeom prst="chevron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06640" y="1353312"/>
            <a:ext cx="1956816" cy="1033271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552944" y="1714500"/>
            <a:ext cx="310896" cy="310896"/>
          </a:xfrm>
          <a:prstGeom prst="ellipse">
            <a:avLst/>
          </a:prstGeom>
          <a:noFill/>
          <a:ln w="17780">
            <a:solidFill>
              <a:srgbClr val="F3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7660843" y="1751076"/>
            <a:ext cx="58521" cy="102412"/>
          </a:xfrm>
          <a:prstGeom prst="line">
            <a:avLst/>
          </a:prstGeom>
          <a:ln w="30480">
            <a:solidFill>
              <a:srgbClr val="F36E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660843" y="1853488"/>
            <a:ext cx="54864" cy="0"/>
          </a:xfrm>
          <a:prstGeom prst="line">
            <a:avLst/>
          </a:prstGeom>
          <a:ln w="30480">
            <a:solidFill>
              <a:srgbClr val="F36E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653527" y="1853488"/>
            <a:ext cx="62180" cy="109728"/>
          </a:xfrm>
          <a:prstGeom prst="line">
            <a:avLst/>
          </a:prstGeom>
          <a:ln w="30480">
            <a:solidFill>
              <a:srgbClr val="F36E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64423" y="1472184"/>
            <a:ext cx="1316736" cy="8138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7F9"/>
                </a:solidFill>
                <a:latin typeface="Aptos"/>
              </a:rPr>
              <a:t>Disaster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7F9"/>
                </a:solidFill>
                <a:latin typeface="Aptos"/>
              </a:rPr>
              <a:t>Mode</a:t>
            </a:r>
          </a:p>
        </p:txBody>
      </p:sp>
      <p:sp>
        <p:nvSpPr>
          <p:cNvPr id="38" name="Chevron 37"/>
          <p:cNvSpPr/>
          <p:nvPr/>
        </p:nvSpPr>
        <p:spPr>
          <a:xfrm>
            <a:off x="9445752" y="1709928"/>
            <a:ext cx="164592" cy="292608"/>
          </a:xfrm>
          <a:prstGeom prst="chevron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692640" y="1353312"/>
            <a:ext cx="1956816" cy="1033271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896459" y="1753727"/>
            <a:ext cx="195864" cy="195864"/>
          </a:xfrm>
          <a:prstGeom prst="ellipse">
            <a:avLst/>
          </a:prstGeom>
          <a:noFill/>
          <a:ln w="228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68468" y="1825736"/>
            <a:ext cx="51846" cy="51846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9927798" y="1923150"/>
            <a:ext cx="66594" cy="129271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9994392" y="1923150"/>
            <a:ext cx="66593" cy="129271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50424" y="1472184"/>
            <a:ext cx="1316736" cy="8138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7F9"/>
                </a:solidFill>
                <a:latin typeface="Aptos"/>
              </a:rPr>
              <a:t>Relay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7F9"/>
                </a:solidFill>
                <a:latin typeface="Aptos"/>
              </a:rPr>
              <a:t>suggestion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8368" y="2615184"/>
            <a:ext cx="10881360" cy="1965960"/>
          </a:xfrm>
          <a:prstGeom prst="roundRect">
            <a:avLst/>
          </a:prstGeom>
          <a:solidFill>
            <a:srgbClr val="0D2030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048256" y="2971800"/>
            <a:ext cx="7040880" cy="859536"/>
          </a:xfrm>
          <a:prstGeom prst="ellipse">
            <a:avLst/>
          </a:prstGeom>
          <a:noFill/>
          <a:ln w="15240">
            <a:solidFill>
              <a:srgbClr val="74D7A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682496" y="3401568"/>
            <a:ext cx="8677656" cy="0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618488" y="3337560"/>
            <a:ext cx="128016" cy="128016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96144" y="3337560"/>
            <a:ext cx="128016" cy="128016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877824" y="4178808"/>
            <a:ext cx="2139696" cy="0"/>
          </a:xfrm>
          <a:prstGeom prst="line">
            <a:avLst/>
          </a:prstGeom>
          <a:ln w="17780">
            <a:solidFill>
              <a:srgbClr val="688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17520" y="4050791"/>
            <a:ext cx="822960" cy="128017"/>
          </a:xfrm>
          <a:prstGeom prst="line">
            <a:avLst/>
          </a:prstGeom>
          <a:ln w="17780">
            <a:solidFill>
              <a:srgbClr val="688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40480" y="3730752"/>
            <a:ext cx="658368" cy="320039"/>
          </a:xfrm>
          <a:prstGeom prst="line">
            <a:avLst/>
          </a:prstGeom>
          <a:ln w="17780">
            <a:solidFill>
              <a:srgbClr val="688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498848" y="3730752"/>
            <a:ext cx="566928" cy="100584"/>
          </a:xfrm>
          <a:prstGeom prst="line">
            <a:avLst/>
          </a:prstGeom>
          <a:ln w="17780">
            <a:solidFill>
              <a:srgbClr val="688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065776" y="3648456"/>
            <a:ext cx="603504" cy="182880"/>
          </a:xfrm>
          <a:prstGeom prst="line">
            <a:avLst/>
          </a:prstGeom>
          <a:ln w="17780">
            <a:solidFill>
              <a:srgbClr val="688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669280" y="3648456"/>
            <a:ext cx="649224" cy="301752"/>
          </a:xfrm>
          <a:prstGeom prst="line">
            <a:avLst/>
          </a:prstGeom>
          <a:ln w="17780">
            <a:solidFill>
              <a:srgbClr val="688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318504" y="3950208"/>
            <a:ext cx="722376" cy="182879"/>
          </a:xfrm>
          <a:prstGeom prst="line">
            <a:avLst/>
          </a:prstGeom>
          <a:ln w="17780">
            <a:solidFill>
              <a:srgbClr val="688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040880" y="4133087"/>
            <a:ext cx="1508760" cy="45721"/>
          </a:xfrm>
          <a:prstGeom prst="line">
            <a:avLst/>
          </a:prstGeom>
          <a:ln w="17780">
            <a:solidFill>
              <a:srgbClr val="688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549640" y="4178808"/>
            <a:ext cx="2770632" cy="0"/>
          </a:xfrm>
          <a:prstGeom prst="line">
            <a:avLst/>
          </a:prstGeom>
          <a:ln w="17780">
            <a:solidFill>
              <a:srgbClr val="688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1399032" y="2944368"/>
            <a:ext cx="283464" cy="1207008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682496" y="2944368"/>
            <a:ext cx="283464" cy="1207008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82496" y="2971800"/>
            <a:ext cx="0" cy="1179576"/>
          </a:xfrm>
          <a:prstGeom prst="line">
            <a:avLst/>
          </a:prstGeom>
          <a:ln w="16192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91787" y="3330610"/>
            <a:ext cx="181417" cy="0"/>
          </a:xfrm>
          <a:prstGeom prst="line">
            <a:avLst/>
          </a:prstGeom>
          <a:ln w="17272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12417" y="3668572"/>
            <a:ext cx="340157" cy="0"/>
          </a:xfrm>
          <a:prstGeom prst="line">
            <a:avLst/>
          </a:prstGeom>
          <a:ln w="17272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444386" y="3958254"/>
            <a:ext cx="476219" cy="0"/>
          </a:xfrm>
          <a:prstGeom prst="line">
            <a:avLst/>
          </a:prstGeom>
          <a:ln w="17272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399032" y="4151376"/>
            <a:ext cx="566928" cy="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591787" y="3330610"/>
            <a:ext cx="260787" cy="337962"/>
          </a:xfrm>
          <a:prstGeom prst="line">
            <a:avLst/>
          </a:prstGeom>
          <a:ln w="11874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512417" y="3330610"/>
            <a:ext cx="260787" cy="337962"/>
          </a:xfrm>
          <a:prstGeom prst="line">
            <a:avLst/>
          </a:prstGeom>
          <a:ln w="11874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512417" y="3668572"/>
            <a:ext cx="408188" cy="289682"/>
          </a:xfrm>
          <a:prstGeom prst="line">
            <a:avLst/>
          </a:prstGeom>
          <a:ln w="11874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444386" y="3668572"/>
            <a:ext cx="408188" cy="289682"/>
          </a:xfrm>
          <a:prstGeom prst="line">
            <a:avLst/>
          </a:prstGeom>
          <a:ln w="11874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012680" y="3682746"/>
            <a:ext cx="356616" cy="186080"/>
          </a:xfrm>
          <a:prstGeom prst="line">
            <a:avLst/>
          </a:prstGeom>
          <a:ln w="1524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369296" y="3682746"/>
            <a:ext cx="356615" cy="186080"/>
          </a:xfrm>
          <a:prstGeom prst="line">
            <a:avLst/>
          </a:prstGeom>
          <a:ln w="15240">
            <a:solidFill>
              <a:srgbClr val="9AA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0105400" y="3868826"/>
            <a:ext cx="527791" cy="276606"/>
          </a:xfrm>
          <a:prstGeom prst="rect">
            <a:avLst/>
          </a:prstGeom>
          <a:solidFill>
            <a:srgbClr val="12283A"/>
          </a:solidFill>
          <a:ln w="15240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19369" y="3989527"/>
            <a:ext cx="128381" cy="155905"/>
          </a:xfrm>
          <a:prstGeom prst="rect">
            <a:avLst/>
          </a:prstGeom>
          <a:noFill/>
          <a:ln w="11430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169591" y="3944264"/>
            <a:ext cx="92720" cy="65379"/>
          </a:xfrm>
          <a:prstGeom prst="rect">
            <a:avLst/>
          </a:prstGeom>
          <a:noFill/>
          <a:ln w="10668">
            <a:solidFill>
              <a:srgbClr val="9AA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369296" y="3401568"/>
            <a:ext cx="0" cy="246888"/>
          </a:xfrm>
          <a:prstGeom prst="line">
            <a:avLst/>
          </a:prstGeom>
          <a:ln w="1778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277856" y="3493008"/>
            <a:ext cx="182880" cy="0"/>
          </a:xfrm>
          <a:prstGeom prst="line">
            <a:avLst/>
          </a:prstGeom>
          <a:ln w="1397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077211" y="4837176"/>
            <a:ext cx="1353312" cy="420624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132075" y="48463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3F7F9"/>
                </a:solidFill>
                <a:latin typeface="Aptos"/>
              </a:rPr>
              <a:t>Path loss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595115" y="4837176"/>
            <a:ext cx="1591056" cy="420624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49979" y="4846320"/>
            <a:ext cx="148132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3F7F9"/>
                </a:solidFill>
                <a:latin typeface="Aptos"/>
              </a:rPr>
              <a:t>Line of sight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350763" y="4837176"/>
            <a:ext cx="1554480" cy="420624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05627" y="4846320"/>
            <a:ext cx="144475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3F7F9"/>
                </a:solidFill>
                <a:latin typeface="Aptos"/>
              </a:rPr>
              <a:t>Fresnel zone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069835" y="4837176"/>
            <a:ext cx="1874519" cy="420624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124699" y="4846320"/>
            <a:ext cx="176479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3F7F9"/>
                </a:solidFill>
                <a:latin typeface="Aptos"/>
              </a:rPr>
              <a:t>Antenna height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08947" y="4837176"/>
            <a:ext cx="1005840" cy="420624"/>
          </a:xfrm>
          <a:prstGeom prst="roundRect">
            <a:avLst/>
          </a:prstGeom>
          <a:solidFill>
            <a:srgbClr val="102738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63811" y="4846320"/>
            <a:ext cx="8961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3F7F9"/>
                </a:solidFill>
                <a:latin typeface="Aptos"/>
              </a:rPr>
              <a:t>Gain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41219" y="5632704"/>
            <a:ext cx="1051560" cy="43891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196083" y="5641848"/>
            <a:ext cx="94183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B9F36C"/>
                </a:solidFill>
                <a:latin typeface="Aptos"/>
              </a:rPr>
              <a:t>Python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357371" y="5632704"/>
            <a:ext cx="1508760" cy="43891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12235" y="5641848"/>
            <a:ext cx="139903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B9F36C"/>
                </a:solidFill>
                <a:latin typeface="Aptos"/>
              </a:rPr>
              <a:t>Leaflet map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30723" y="5632704"/>
            <a:ext cx="1764792" cy="43891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85587" y="5641848"/>
            <a:ext cx="1655064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B9F36C"/>
                </a:solidFill>
                <a:latin typeface="Aptos"/>
              </a:rPr>
              <a:t>SRTM elevation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960107" y="5632704"/>
            <a:ext cx="1572768" cy="43891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14971" y="5641848"/>
            <a:ext cx="1463040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B9F36C"/>
                </a:solidFill>
                <a:latin typeface="Aptos"/>
              </a:rPr>
              <a:t>OpenCellID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697467" y="5632704"/>
            <a:ext cx="1353312" cy="438912"/>
          </a:xfrm>
          <a:prstGeom prst="roundRect">
            <a:avLst/>
          </a:prstGeom>
          <a:solidFill>
            <a:srgbClr val="12283A"/>
          </a:solidFill>
          <a:ln w="1016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752331" y="5641848"/>
            <a:ext cx="1243584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B9F36C"/>
                </a:solidFill>
                <a:latin typeface="Aptos"/>
              </a:rPr>
              <a:t>WorldPop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464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Impact and SDGs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solidFill>
            <a:srgbClr val="B9F36C"/>
          </a:solidFill>
          <a:ln w="101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8368" y="1435608"/>
            <a:ext cx="2542032" cy="2331720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161848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SDG 9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623242" y="2192365"/>
            <a:ext cx="306142" cy="454274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29384" y="2192365"/>
            <a:ext cx="306141" cy="454274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623242" y="2646639"/>
            <a:ext cx="612283" cy="0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845442" y="2108423"/>
            <a:ext cx="167883" cy="167883"/>
          </a:xfrm>
          <a:prstGeom prst="ellipse">
            <a:avLst/>
          </a:prstGeom>
          <a:solidFill>
            <a:srgbClr val="12283A"/>
          </a:solidFill>
          <a:ln w="2032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539300" y="2562697"/>
            <a:ext cx="167883" cy="167883"/>
          </a:xfrm>
          <a:prstGeom prst="ellipse">
            <a:avLst/>
          </a:prstGeom>
          <a:solidFill>
            <a:srgbClr val="12283A"/>
          </a:solidFill>
          <a:ln w="2032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51583" y="2562697"/>
            <a:ext cx="167883" cy="167883"/>
          </a:xfrm>
          <a:prstGeom prst="ellipse">
            <a:avLst/>
          </a:prstGeom>
          <a:solidFill>
            <a:srgbClr val="12283A"/>
          </a:solidFill>
          <a:ln w="2032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072384"/>
            <a:ext cx="2249424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3F7F9"/>
                </a:solidFill>
                <a:latin typeface="Aptos"/>
              </a:rPr>
              <a:t>Resilient networks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38144" y="1435608"/>
            <a:ext cx="2542032" cy="2331720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61848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SDG 11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4334256" y="2147011"/>
            <a:ext cx="374904" cy="257129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709160" y="2147011"/>
            <a:ext cx="374904" cy="257129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431731" y="2404140"/>
            <a:ext cx="554857" cy="382219"/>
          </a:xfrm>
          <a:prstGeom prst="rect">
            <a:avLst/>
          </a:prstGeom>
          <a:solidFill>
            <a:srgbClr val="0D2030"/>
          </a:solidFill>
          <a:ln w="228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56673" y="2570927"/>
            <a:ext cx="134965" cy="215432"/>
          </a:xfrm>
          <a:prstGeom prst="rect">
            <a:avLst/>
          </a:prstGeom>
          <a:noFill/>
          <a:ln w="17145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99213" y="2508382"/>
            <a:ext cx="97475" cy="90342"/>
          </a:xfrm>
          <a:prstGeom prst="rect">
            <a:avLst/>
          </a:prstGeom>
          <a:noFill/>
          <a:ln w="16002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84448" y="3072384"/>
            <a:ext cx="2249424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3F7F9"/>
                </a:solidFill>
                <a:latin typeface="Aptos"/>
              </a:rPr>
              <a:t>Safer villages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435608"/>
            <a:ext cx="2542032" cy="2331720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61848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SDG 13</a:t>
            </a:r>
          </a:p>
        </p:txBody>
      </p:sp>
      <p:sp>
        <p:nvSpPr>
          <p:cNvPr id="31" name="Oval 30"/>
          <p:cNvSpPr/>
          <p:nvPr/>
        </p:nvSpPr>
        <p:spPr>
          <a:xfrm>
            <a:off x="7337511" y="2317455"/>
            <a:ext cx="302849" cy="302849"/>
          </a:xfrm>
          <a:prstGeom prst="ellipse">
            <a:avLst/>
          </a:prstGeom>
          <a:noFill/>
          <a:ln w="228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7488936" y="2031431"/>
            <a:ext cx="0" cy="134599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488936" y="2771729"/>
            <a:ext cx="0" cy="134599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051487" y="2468880"/>
            <a:ext cx="134599" cy="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1785" y="2468880"/>
            <a:ext cx="134599" cy="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7169261" y="2149205"/>
            <a:ext cx="100950" cy="10095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707660" y="2149205"/>
            <a:ext cx="100950" cy="10095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7169261" y="2687604"/>
            <a:ext cx="100950" cy="10095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707660" y="2687604"/>
            <a:ext cx="100950" cy="10095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364224" y="3072384"/>
            <a:ext cx="2249424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3F7F9"/>
                </a:solidFill>
                <a:latin typeface="Aptos"/>
              </a:rPr>
              <a:t>Climate readiness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97696" y="1435608"/>
            <a:ext cx="2542032" cy="2331720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0576" y="161848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AAFC0"/>
                </a:solidFill>
                <a:latin typeface="Aptos"/>
              </a:rPr>
              <a:t>SDG 4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268712" y="2226381"/>
            <a:ext cx="0" cy="503651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9951598" y="2198400"/>
            <a:ext cx="317114" cy="102596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951598" y="2198400"/>
            <a:ext cx="0" cy="457017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951598" y="2655417"/>
            <a:ext cx="317114" cy="83942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0268712" y="2198400"/>
            <a:ext cx="317113" cy="102596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585825" y="2198400"/>
            <a:ext cx="0" cy="457017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0268712" y="2655417"/>
            <a:ext cx="317113" cy="83942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144000" y="3072384"/>
            <a:ext cx="2249424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3F7F9"/>
                </a:solidFill>
                <a:latin typeface="Aptos"/>
              </a:rPr>
              <a:t>Learning stays connected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8368" y="4187952"/>
            <a:ext cx="10881360" cy="1682496"/>
          </a:xfrm>
          <a:prstGeom prst="round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288536" y="4462272"/>
            <a:ext cx="0" cy="1143000"/>
          </a:xfrm>
          <a:prstGeom prst="line">
            <a:avLst/>
          </a:prstGeom>
          <a:ln w="14604">
            <a:solidFill>
              <a:srgbClr val="6796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918704" y="4462272"/>
            <a:ext cx="0" cy="1143000"/>
          </a:xfrm>
          <a:prstGeom prst="line">
            <a:avLst/>
          </a:prstGeom>
          <a:ln w="14604">
            <a:solidFill>
              <a:srgbClr val="6796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96112" y="4434840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74233"/>
                </a:solidFill>
                <a:latin typeface="Aptos"/>
              </a:rPr>
              <a:t>PILOT VILLAGE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" y="4782312"/>
            <a:ext cx="318211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0202C"/>
                </a:solidFill>
                <a:latin typeface="Aptos"/>
              </a:rPr>
              <a:t>[name]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44568" y="4434840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74233"/>
                </a:solidFill>
                <a:latin typeface="Aptos"/>
              </a:rPr>
              <a:t>PEOPLE COVERED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44568" y="478231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0202C"/>
                </a:solidFill>
                <a:latin typeface="Aptos"/>
              </a:rPr>
              <a:t>[number]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4434840"/>
            <a:ext cx="31272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74233"/>
                </a:solidFill>
                <a:latin typeface="Aptos"/>
              </a:rPr>
              <a:t>RELAY COST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74736" y="4782312"/>
            <a:ext cx="312724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0202C"/>
                </a:solidFill>
                <a:latin typeface="Aptos"/>
              </a:rPr>
              <a:t>Rs [amount]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57200"/>
            <a:ext cx="50292" cy="329184"/>
          </a:xfrm>
          <a:prstGeom prst="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84048"/>
            <a:ext cx="9464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Roadmap &amp; Ask</a:t>
            </a:r>
          </a:p>
        </p:txBody>
      </p:sp>
      <p:sp>
        <p:nvSpPr>
          <p:cNvPr id="4" name="Oval 3"/>
          <p:cNvSpPr/>
          <p:nvPr/>
        </p:nvSpPr>
        <p:spPr>
          <a:xfrm>
            <a:off x="1081735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3656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9960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56264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02568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48872" y="557784"/>
            <a:ext cx="68580" cy="68580"/>
          </a:xfrm>
          <a:prstGeom prst="ellipse">
            <a:avLst/>
          </a:prstGeom>
          <a:noFill/>
          <a:ln w="10160">
            <a:solidFill>
              <a:srgbClr val="688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95176" y="557784"/>
            <a:ext cx="68580" cy="68580"/>
          </a:xfrm>
          <a:prstGeom prst="ellipse">
            <a:avLst/>
          </a:prstGeom>
          <a:solidFill>
            <a:srgbClr val="B9F36C"/>
          </a:solidFill>
          <a:ln w="1016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58368" y="1097280"/>
            <a:ext cx="10872216" cy="0"/>
          </a:xfrm>
          <a:prstGeom prst="line">
            <a:avLst/>
          </a:prstGeom>
          <a:ln w="10795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" y="1664208"/>
            <a:ext cx="0" cy="2871216"/>
          </a:xfrm>
          <a:prstGeom prst="line">
            <a:avLst/>
          </a:prstGeom>
          <a:ln w="25400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49808" y="1627632"/>
            <a:ext cx="512064" cy="512064"/>
          </a:xfrm>
          <a:prstGeom prst="ellipse">
            <a:avLst/>
          </a:prstGeom>
          <a:solidFill>
            <a:srgbClr val="12283A"/>
          </a:solidFill>
          <a:ln w="1905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1627632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F36C"/>
                </a:solidFill>
                <a:latin typeface="Apto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55448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9F36C"/>
                </a:solidFill>
                <a:latin typeface="Aptos"/>
              </a:rP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1810512"/>
            <a:ext cx="5989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3F7F9"/>
                </a:solidFill>
                <a:latin typeface="Aptos"/>
              </a:rPr>
              <a:t>Prototype: one village</a:t>
            </a:r>
          </a:p>
        </p:txBody>
      </p:sp>
      <p:sp>
        <p:nvSpPr>
          <p:cNvPr id="17" name="Oval 16"/>
          <p:cNvSpPr/>
          <p:nvPr/>
        </p:nvSpPr>
        <p:spPr>
          <a:xfrm>
            <a:off x="749808" y="2734056"/>
            <a:ext cx="512064" cy="512064"/>
          </a:xfrm>
          <a:prstGeom prst="ellipse">
            <a:avLst/>
          </a:prstGeom>
          <a:solidFill>
            <a:srgbClr val="12283A"/>
          </a:solidFill>
          <a:ln w="1905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734056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F36C"/>
                </a:solidFill>
                <a:latin typeface="Apto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266090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9F36C"/>
                </a:solidFill>
                <a:latin typeface="Aptos"/>
              </a:rPr>
              <a:t>PHASE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2916936"/>
            <a:ext cx="5989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3F7F9"/>
                </a:solidFill>
                <a:latin typeface="Aptos"/>
              </a:rPr>
              <a:t>Pilot with a district disaster management authority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" y="3840480"/>
            <a:ext cx="512064" cy="512064"/>
          </a:xfrm>
          <a:prstGeom prst="ellipse">
            <a:avLst/>
          </a:prstGeom>
          <a:solidFill>
            <a:srgbClr val="12283A"/>
          </a:solidFill>
          <a:ln w="19050">
            <a:solidFill>
              <a:srgbClr val="74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84048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F36C"/>
                </a:solidFill>
                <a:latin typeface="Apto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7673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9F36C"/>
                </a:solidFill>
                <a:latin typeface="Aptos"/>
              </a:rPr>
              <a:t>PHASE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72768" y="4023360"/>
            <a:ext cx="5989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3F7F9"/>
                </a:solidFill>
                <a:latin typeface="Aptos"/>
              </a:rPr>
              <a:t>Scale to flood-prone districts across India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074920"/>
            <a:ext cx="7114032" cy="932688"/>
          </a:xfrm>
          <a:prstGeom prst="roundRect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5367528"/>
            <a:ext cx="329184" cy="329184"/>
          </a:xfrm>
          <a:prstGeom prst="ellipse">
            <a:avLst/>
          </a:prstGeom>
          <a:solidFill>
            <a:srgbClr val="325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996696" y="5532120"/>
            <a:ext cx="164592" cy="0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78992" y="5449824"/>
            <a:ext cx="0" cy="164592"/>
          </a:xfrm>
          <a:prstGeom prst="line">
            <a:avLst/>
          </a:prstGeom>
          <a:ln w="2286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444752" y="5212080"/>
            <a:ext cx="56692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0202C"/>
                </a:solidFill>
                <a:latin typeface="Aptos"/>
              </a:rPr>
              <a:t>Pilot partner + data access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9872" y="1426464"/>
            <a:ext cx="3419856" cy="4828032"/>
          </a:xfrm>
          <a:prstGeom prst="roundRect">
            <a:avLst/>
          </a:prstGeom>
          <a:solidFill>
            <a:srgbClr val="0D2030"/>
          </a:solidFill>
          <a:ln w="11430">
            <a:solidFill>
              <a:srgbClr val="2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326880" y="1938528"/>
            <a:ext cx="1005840" cy="1005840"/>
          </a:xfrm>
          <a:prstGeom prst="ellipse">
            <a:avLst/>
          </a:prstGeom>
          <a:solidFill>
            <a:srgbClr val="18342F"/>
          </a:solidFill>
          <a:ln w="16510">
            <a:solidFill>
              <a:srgbClr val="B9F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9555480" y="2212848"/>
            <a:ext cx="274320" cy="45720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29800" y="2212848"/>
            <a:ext cx="274320" cy="45720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555480" y="2670048"/>
            <a:ext cx="548640" cy="0"/>
          </a:xfrm>
          <a:prstGeom prst="line">
            <a:avLst/>
          </a:prstGeom>
          <a:ln w="21590">
            <a:solidFill>
              <a:srgbClr val="B9F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9747504" y="2121408"/>
            <a:ext cx="164592" cy="164592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473184" y="2596896"/>
            <a:ext cx="164592" cy="164592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21824" y="2596896"/>
            <a:ext cx="164592" cy="164592"/>
          </a:xfrm>
          <a:prstGeom prst="ellipse">
            <a:avLst/>
          </a:prstGeom>
          <a:solidFill>
            <a:srgbClr val="B9F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3310128"/>
            <a:ext cx="285292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F7F9"/>
                </a:solidFill>
                <a:latin typeface="Aptos"/>
              </a:rPr>
              <a:t>Thank you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50808" y="4160520"/>
            <a:ext cx="2167128" cy="0"/>
          </a:xfrm>
          <a:prstGeom prst="line">
            <a:avLst/>
          </a:prstGeom>
          <a:ln w="12700">
            <a:solidFill>
              <a:srgbClr val="244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485632" y="4818888"/>
            <a:ext cx="26883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F36C"/>
                </a:solidFill>
                <a:latin typeface="Aptos"/>
              </a:rPr>
              <a:t>[email]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85632" y="5212080"/>
            <a:ext cx="26883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F36C"/>
                </a:solidFill>
                <a:latin typeface="Aptos"/>
              </a:rPr>
              <a:t>[phone]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SignalShield — IEEE AP-S Ideathon 2026</dc:title>
  <dc:subject>Track 2: UN SDGs | Predict network blackouts before disasters strike</dc:subject>
  <dc:creator>DATAPULSE — SRI SAIRAM ENGINEERING COLLEGE</dc:creator>
  <cp:keywords>SignalShield, RF, antenna, disaster resilience, SDGs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