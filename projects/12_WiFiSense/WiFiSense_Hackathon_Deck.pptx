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6858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22D3EE"/>
                </a:solidFill>
                <a:latin typeface="Segoe UI"/>
              </a:rPr>
              <a:t>HACKATHON PROJECT  ·  ESP32  ·  WIFI CSI SENSING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86384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600" b="1" i="0" spc="-120">
                <a:solidFill>
                  <a:srgbClr val="EAF2FF"/>
                </a:solidFill>
                <a:latin typeface="Segoe UI"/>
              </a:rPr>
              <a:t>WiFiSense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61488"/>
            <a:ext cx="9052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 spc="20">
                <a:solidFill>
                  <a:srgbClr val="22D3EE"/>
                </a:solidFill>
                <a:latin typeface="Segoe UI"/>
              </a:rPr>
              <a:t>Privacy-Preserving Human Activity Detection Using WiFi CSI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401568"/>
            <a:ext cx="3931920" cy="47548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397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3401568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 spc="100">
                <a:solidFill>
                  <a:srgbClr val="22D3EE"/>
                </a:solidFill>
                <a:latin typeface="Segoe UI"/>
              </a:rPr>
              <a:t>Sense movement.  Not identities.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33087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9AAECB"/>
                </a:solidFill>
                <a:latin typeface="Segoe UI"/>
              </a:rPr>
              <a:t>Two or three ESP32 boards read the WiFi channel instead of a camera.
A lightweight model learns what human motion looks like — and what it does not.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956048"/>
            <a:ext cx="2368296" cy="36576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4956048"/>
            <a:ext cx="21854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 spc="50">
                <a:solidFill>
                  <a:srgbClr val="22D3EE"/>
                </a:solidFill>
                <a:latin typeface="Segoe UI"/>
              </a:rPr>
              <a:t>2–3 × ESP32 boards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4956048"/>
            <a:ext cx="3945636" cy="36576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28416" y="4956048"/>
            <a:ext cx="37627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 spc="50">
                <a:solidFill>
                  <a:srgbClr val="22D3EE"/>
                </a:solidFill>
                <a:latin typeface="Segoe UI"/>
              </a:rPr>
              <a:t>No camera · No mic · No wearables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5492" y="4956048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56932" y="495604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 spc="50">
                <a:solidFill>
                  <a:srgbClr val="22D3EE"/>
                </a:solidFill>
                <a:latin typeface="Segoe UI"/>
              </a:rPr>
              <a:t>On-device ML inference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870448"/>
            <a:ext cx="10820095" cy="10972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" y="6016752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AF2FF"/>
                </a:solidFill>
                <a:latin typeface="Segoe UI"/>
              </a:rPr>
              <a:t>Team WiFiSense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603504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60">
                <a:solidFill>
                  <a:srgbClr val="647890"/>
                </a:solidFill>
                <a:latin typeface="Segoe UI"/>
              </a:rPr>
              <a:t>ESP-IDF  ·  Python  ·  NumPy / Pandas  ·  scikit-learn  ·  FastAPI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9815" y="6016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 spc="100">
                <a:solidFill>
                  <a:srgbClr val="22D3EE"/>
                </a:solidFill>
                <a:latin typeface="Segoe UI"/>
              </a:rPr>
              <a:t>Live demo · 90 seconds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20">
                <a:solidFill>
                  <a:srgbClr val="22D3EE"/>
                </a:solidFill>
                <a:latin typeface="Segoe UI"/>
              </a:rPr>
              <a:t>01  — 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84632" y="416052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2FF"/>
                </a:solidFill>
                <a:latin typeface="Segoe UI"/>
              </a:rPr>
              <a:t>Cameras are not always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8442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9AAECB"/>
                </a:solidFill>
                <a:latin typeface="Segoe UI"/>
              </a:rPr>
              <a:t>Vision-based monitoring breaks down exactly where people care most about privacy.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99616"/>
            <a:ext cx="10820095" cy="10972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s02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46504"/>
            <a:ext cx="5577840" cy="2788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1746504"/>
            <a:ext cx="5577840" cy="2788920"/>
          </a:xfrm>
          <a:prstGeom prst="roundRect">
            <a:avLst>
              <a:gd name="adj" fmla="val 9180"/>
            </a:avLst>
          </a:prstGeom>
          <a:noFill/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468172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40">
                <a:solidFill>
                  <a:srgbClr val="9AAECB"/>
                </a:solidFill>
                <a:latin typeface="Segoe UI"/>
              </a:rPr>
              <a:t>Cameras watch people.  WiFi sensing watches the air.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773936"/>
            <a:ext cx="4830775" cy="786384"/>
          </a:xfrm>
          <a:prstGeom prst="roundRect">
            <a:avLst>
              <a:gd name="adj" fmla="val 27906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675120" y="1839772"/>
            <a:ext cx="41148" cy="65471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949440" y="2048255"/>
            <a:ext cx="237744" cy="237744"/>
          </a:xfrm>
          <a:prstGeom prst="rect">
            <a:avLst/>
          </a:prstGeom>
          <a:solidFill>
            <a:srgbClr val="FB7185"/>
          </a:solidFill>
          <a:ln w="1143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0" y="2048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B7185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1920240"/>
            <a:ext cx="3962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F"/>
                </a:solidFill>
                <a:latin typeface="Segoe UI"/>
              </a:rPr>
              <a:t>Privacy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2176272"/>
            <a:ext cx="39620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9AAECB"/>
                </a:solidFill>
                <a:latin typeface="Segoe UI"/>
              </a:rPr>
              <a:t>Continuous video of people is intrusive — and hard to justify at home.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697480"/>
            <a:ext cx="4830775" cy="786384"/>
          </a:xfrm>
          <a:prstGeom prst="roundRect">
            <a:avLst>
              <a:gd name="adj" fmla="val 27906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675120" y="2763316"/>
            <a:ext cx="41148" cy="65471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949440" y="2971800"/>
            <a:ext cx="237744" cy="237744"/>
          </a:xfrm>
          <a:prstGeom prst="rect">
            <a:avLst/>
          </a:prstGeom>
          <a:solidFill>
            <a:srgbClr val="FBBF24"/>
          </a:solidFill>
          <a:ln w="1143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949440" y="2971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BBF24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2843784"/>
            <a:ext cx="3962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F"/>
                </a:solidFill>
                <a:latin typeface="Segoe UI"/>
              </a:rPr>
              <a:t>Blind spots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3099816"/>
            <a:ext cx="39620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9AAECB"/>
                </a:solidFill>
                <a:latin typeface="Segoe UI"/>
              </a:rPr>
              <a:t>A camera only sees where it points. Corners, shelves and furniture hide movement.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3621024"/>
            <a:ext cx="4830775" cy="786384"/>
          </a:xfrm>
          <a:prstGeom prst="roundRect">
            <a:avLst>
              <a:gd name="adj" fmla="val 27906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675120" y="3686860"/>
            <a:ext cx="41148" cy="65471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949440" y="3895344"/>
            <a:ext cx="237744" cy="237744"/>
          </a:xfrm>
          <a:prstGeom prst="rect">
            <a:avLst/>
          </a:prstGeom>
          <a:solidFill>
            <a:srgbClr val="22D3EE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49440" y="389534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2D3EE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767328"/>
            <a:ext cx="3962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F"/>
                </a:solidFill>
                <a:latin typeface="Segoe UI"/>
              </a:rPr>
              <a:t>Darkness &amp; glare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4023360"/>
            <a:ext cx="39620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9AAECB"/>
                </a:solidFill>
                <a:latin typeface="Segoe UI"/>
              </a:rPr>
              <a:t>Night, smoke, backlight and occlusion all degrade vision-based sensing.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4544568"/>
            <a:ext cx="4830775" cy="786384"/>
          </a:xfrm>
          <a:prstGeom prst="roundRect">
            <a:avLst>
              <a:gd name="adj" fmla="val 27906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675120" y="4610404"/>
            <a:ext cx="41148" cy="65471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949440" y="4818888"/>
            <a:ext cx="237744" cy="237744"/>
          </a:xfrm>
          <a:prstGeom prst="rect">
            <a:avLst/>
          </a:prstGeom>
          <a:solidFill>
            <a:srgbClr val="8B5CF6"/>
          </a:solidFill>
          <a:ln w="1143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949440" y="4818888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8B5CF6"/>
                </a:solidFill>
                <a:latin typeface="Segoe U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3488" y="4690872"/>
            <a:ext cx="3962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F"/>
                </a:solidFill>
                <a:latin typeface="Segoe UI"/>
              </a:rPr>
              <a:t>Wearables don't stick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3488" y="4946904"/>
            <a:ext cx="39620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9AAECB"/>
                </a:solidFill>
                <a:latin typeface="Segoe UI"/>
              </a:rPr>
              <a:t>Bands get forgotten, go uncharged, or are simply refused.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5760720"/>
            <a:ext cx="10820095" cy="566928"/>
          </a:xfrm>
          <a:prstGeom prst="roundRect">
            <a:avLst>
              <a:gd name="adj" fmla="val 32258"/>
            </a:avLst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85800" y="5760720"/>
            <a:ext cx="45720" cy="5669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96696" y="5760720"/>
            <a:ext cx="102714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 spc="30">
                <a:solidFill>
                  <a:srgbClr val="EAF2FF"/>
                </a:solidFill>
                <a:latin typeface="Segoe UI"/>
              </a:rPr>
              <a:t>We still need to know whether a space is occupied — without recording who is in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3737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60">
                <a:solidFill>
                  <a:srgbClr val="647890"/>
                </a:solidFill>
                <a:latin typeface="Segoe UI"/>
              </a:rPr>
              <a:t>WiFiSense  ·  Privacy-Preserving Human Activity Detection Using WiFi CSI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8615" y="643737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 spc="120">
                <a:solidFill>
                  <a:srgbClr val="22D3EE"/>
                </a:solidFill>
                <a:latin typeface="Segoe U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20">
                <a:solidFill>
                  <a:srgbClr val="22D3EE"/>
                </a:solidFill>
                <a:latin typeface="Segoe UI"/>
              </a:rPr>
              <a:t>02  —  OUR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84632" y="416052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2FF"/>
                </a:solidFill>
                <a:latin typeface="Segoe UI"/>
              </a:rPr>
              <a:t>Don't watch the room.  Read the WiFi.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8442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9AAECB"/>
                </a:solidFill>
                <a:latin typeface="Segoe UI"/>
              </a:rPr>
              <a:t>Instead of watching people with cameras, we observe how human movement changes WiFi signals.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99616"/>
            <a:ext cx="10820095" cy="10972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92224"/>
            <a:ext cx="1310596" cy="731520"/>
          </a:xfrm>
          <a:prstGeom prst="roundRect">
            <a:avLst>
              <a:gd name="adj" fmla="val 25000"/>
            </a:avLst>
          </a:prstGeom>
          <a:solidFill>
            <a:srgbClr val="0EA5E9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194794" y="1883664"/>
            <a:ext cx="292608" cy="12801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0664" y="1792224"/>
            <a:ext cx="120086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 i="0" spc="30">
                <a:solidFill>
                  <a:srgbClr val="EAF2FF"/>
                </a:solidFill>
                <a:latin typeface="Segoe UI"/>
              </a:rPr>
              <a:t>ESP32 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46688" y="2107691"/>
            <a:ext cx="173736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270716" y="1792224"/>
            <a:ext cx="1310596" cy="731520"/>
          </a:xfrm>
          <a:prstGeom prst="roundRect">
            <a:avLst>
              <a:gd name="adj" fmla="val 25000"/>
            </a:avLst>
          </a:prstGeom>
          <a:solidFill>
            <a:srgbClr val="0EA5E9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325580" y="1792224"/>
            <a:ext cx="120086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 i="0" spc="30">
                <a:solidFill>
                  <a:srgbClr val="EAF2FF"/>
                </a:solidFill>
                <a:latin typeface="Segoe UI"/>
              </a:rPr>
              <a:t>WiFi Signal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31604" y="2107691"/>
            <a:ext cx="173736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855632" y="1792224"/>
            <a:ext cx="1310596" cy="731520"/>
          </a:xfrm>
          <a:prstGeom prst="roundRect">
            <a:avLst>
              <a:gd name="adj" fmla="val 25000"/>
            </a:avLst>
          </a:prstGeom>
          <a:solidFill>
            <a:srgbClr val="0EA5E9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910496" y="1792224"/>
            <a:ext cx="120086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 i="0" spc="30">
                <a:solidFill>
                  <a:srgbClr val="EAF2FF"/>
                </a:solidFill>
                <a:latin typeface="Segoe UI"/>
              </a:rPr>
              <a:t>Human Body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6521" y="2107691"/>
            <a:ext cx="173736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5440549" y="1792224"/>
            <a:ext cx="1310596" cy="731520"/>
          </a:xfrm>
          <a:prstGeom prst="roundRect">
            <a:avLst>
              <a:gd name="adj" fmla="val 25000"/>
            </a:avLst>
          </a:prstGeom>
          <a:solidFill>
            <a:srgbClr val="0EA5E9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9543" y="1883664"/>
            <a:ext cx="292608" cy="12801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95413" y="1792224"/>
            <a:ext cx="120086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 i="0" spc="30">
                <a:solidFill>
                  <a:srgbClr val="EAF2FF"/>
                </a:solidFill>
                <a:latin typeface="Segoe UI"/>
              </a:rPr>
              <a:t>ESP32 RX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01437" y="2107691"/>
            <a:ext cx="173736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025465" y="1792224"/>
            <a:ext cx="1310596" cy="731520"/>
          </a:xfrm>
          <a:prstGeom prst="roundRect">
            <a:avLst>
              <a:gd name="adj" fmla="val 25000"/>
            </a:avLst>
          </a:prstGeom>
          <a:solidFill>
            <a:srgbClr val="0EA5E9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80329" y="1792224"/>
            <a:ext cx="120086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 i="0" spc="30">
                <a:solidFill>
                  <a:srgbClr val="EAF2FF"/>
                </a:solidFill>
                <a:latin typeface="Segoe UI"/>
              </a:rPr>
              <a:t>CSI Stream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86354" y="2107691"/>
            <a:ext cx="173736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610382" y="1792224"/>
            <a:ext cx="1310596" cy="731520"/>
          </a:xfrm>
          <a:prstGeom prst="roundRect">
            <a:avLst>
              <a:gd name="adj" fmla="val 25000"/>
            </a:avLst>
          </a:prstGeom>
          <a:solidFill>
            <a:srgbClr val="8B5CF6"/>
          </a:solidFill>
          <a:ln w="1397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665246" y="1792224"/>
            <a:ext cx="120086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 i="0" spc="30">
                <a:solidFill>
                  <a:srgbClr val="EAF2FF"/>
                </a:solidFill>
                <a:latin typeface="Segoe UI"/>
              </a:rPr>
              <a:t>ML Model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71270" y="2107691"/>
            <a:ext cx="173736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10195298" y="1792224"/>
            <a:ext cx="1310596" cy="731520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397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250162" y="1792224"/>
            <a:ext cx="120086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 spc="30">
                <a:solidFill>
                  <a:srgbClr val="EAF2FF"/>
                </a:solidFill>
                <a:latin typeface="Segoe UI"/>
              </a:rPr>
              <a:t>Activity State</a:t>
            </a:r>
          </a:p>
        </p:txBody>
      </p:sp>
      <p:pic>
        <p:nvPicPr>
          <p:cNvPr id="29" name="Picture 28" descr="s03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34639"/>
            <a:ext cx="10820095" cy="2212848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685800" y="2834639"/>
            <a:ext cx="10820095" cy="2212848"/>
          </a:xfrm>
          <a:prstGeom prst="roundRect">
            <a:avLst>
              <a:gd name="adj" fmla="val 11570"/>
            </a:avLst>
          </a:prstGeom>
          <a:noFill/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012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22D3EE"/>
                </a:solidFill>
                <a:latin typeface="Segoe UI"/>
              </a:rPr>
              <a:t>THE ROOM IS THE SENSOR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346703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AAECB"/>
                </a:solidFill>
                <a:latin typeface="Segoe UI"/>
              </a:rPr>
              <a:t>A body moving through the link absorbs and scatters
radio energy — the receiver sees it as CSI.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285231"/>
            <a:ext cx="3448202" cy="786384"/>
          </a:xfrm>
          <a:prstGeom prst="roundRect">
            <a:avLst>
              <a:gd name="adj" fmla="val 23255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85800" y="5340095"/>
            <a:ext cx="41148" cy="67665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41832" y="5394959"/>
            <a:ext cx="299100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  <a:latin typeface="Segoe UI"/>
              </a:rPr>
              <a:t>Low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" y="5632703"/>
            <a:ext cx="299100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Two ESP32 boards, USB cables and a laptop.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71746" y="5285231"/>
            <a:ext cx="3448202" cy="786384"/>
          </a:xfrm>
          <a:prstGeom prst="roundRect">
            <a:avLst>
              <a:gd name="adj" fmla="val 23255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371746" y="5340095"/>
            <a:ext cx="41148" cy="67665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627778" y="5394959"/>
            <a:ext cx="299100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Segoe UI"/>
              </a:rPr>
              <a:t>Privacy by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7778" y="5632703"/>
            <a:ext cx="299100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No images, no audio, no identity — only numbers.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57692" y="5285231"/>
            <a:ext cx="3448202" cy="786384"/>
          </a:xfrm>
          <a:prstGeom prst="roundRect">
            <a:avLst>
              <a:gd name="adj" fmla="val 23255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8057692" y="5340095"/>
            <a:ext cx="41148" cy="67665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313724" y="5394959"/>
            <a:ext cx="299100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Segoe UI"/>
              </a:rPr>
              <a:t>Beyond line of sight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3724" y="5632703"/>
            <a:ext cx="299100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Radio waves bend around furniture and work in the dark.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43737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60">
                <a:solidFill>
                  <a:srgbClr val="647890"/>
                </a:solidFill>
                <a:latin typeface="Segoe UI"/>
              </a:rPr>
              <a:t>WiFiSense  ·  Privacy-Preserving Human Activity Detection Using WiFi CSI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08615" y="643737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 spc="120">
                <a:solidFill>
                  <a:srgbClr val="22D3EE"/>
                </a:solidFill>
                <a:latin typeface="Segoe U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20">
                <a:solidFill>
                  <a:srgbClr val="22D3EE"/>
                </a:solidFill>
                <a:latin typeface="Segoe UI"/>
              </a:rPr>
              <a:t>03  —  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84632" y="416052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2FF"/>
                </a:solidFill>
                <a:latin typeface="Segoe UI"/>
              </a:rPr>
              <a:t>WiFi CSI, 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8442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9AAECB"/>
                </a:solidFill>
                <a:latin typeface="Segoe UI"/>
              </a:rPr>
              <a:t>CSI = Channel State Information — how the signal arrives, not the data it carries.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99616"/>
            <a:ext cx="10820095" cy="10972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s04_c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55648"/>
            <a:ext cx="4846320" cy="33101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1755648"/>
            <a:ext cx="4846320" cy="3310128"/>
          </a:xfrm>
          <a:prstGeom prst="roundRect">
            <a:avLst>
              <a:gd name="adj" fmla="val 7734"/>
            </a:avLst>
          </a:prstGeom>
          <a:noFill/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5212080"/>
            <a:ext cx="48463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AAECB"/>
                </a:solidFill>
                <a:latin typeface="Segoe UI"/>
              </a:rPr>
              <a:t>Each line is one subcarrier.  Human motion leaves a time-structured
fingerprint; a quiet room leaves a flat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755648"/>
            <a:ext cx="5470855" cy="640080"/>
          </a:xfrm>
          <a:prstGeom prst="roundRect">
            <a:avLst>
              <a:gd name="adj" fmla="val 28571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72783" y="1929384"/>
            <a:ext cx="292608" cy="29260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72783" y="192938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22D3E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1856231"/>
            <a:ext cx="4556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Packets on air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1696" y="2093976"/>
            <a:ext cx="45564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An ESP32 transmits ordinary WiFi frames across the room.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79" y="2432304"/>
            <a:ext cx="12801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035040" y="2514600"/>
            <a:ext cx="5470855" cy="640080"/>
          </a:xfrm>
          <a:prstGeom prst="roundRect">
            <a:avLst>
              <a:gd name="adj" fmla="val 28571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272783" y="2688336"/>
            <a:ext cx="292608" cy="29260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72783" y="268833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22D3EE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615184"/>
            <a:ext cx="4556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Signal travels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2852928"/>
            <a:ext cx="45564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Energy reaches the receiver directly and via reflections off walls and objects.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79" y="3191256"/>
            <a:ext cx="12801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035040" y="3273552"/>
            <a:ext cx="5470855" cy="640080"/>
          </a:xfrm>
          <a:prstGeom prst="roundRect">
            <a:avLst>
              <a:gd name="adj" fmla="val 28571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272783" y="3447288"/>
            <a:ext cx="292608" cy="29260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72783" y="344728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22D3EE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3374136"/>
            <a:ext cx="4556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A body disturbs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1696" y="3611880"/>
            <a:ext cx="45564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A moving person absorbs, reflects and scatters part of that energy.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79" y="3950208"/>
            <a:ext cx="12801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035040" y="4032504"/>
            <a:ext cx="5470855" cy="640080"/>
          </a:xfrm>
          <a:prstGeom prst="roundRect">
            <a:avLst>
              <a:gd name="adj" fmla="val 28571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272783" y="4206240"/>
            <a:ext cx="292608" cy="29260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72783" y="42062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22D3EE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11696" y="4133088"/>
            <a:ext cx="4556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Receiver logs CSI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11696" y="4370832"/>
            <a:ext cx="45564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Per packet: amplitude and phase for each OFDM subcarrier — ~50 numbers.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79" y="4709160"/>
            <a:ext cx="12801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6035040" y="4791456"/>
            <a:ext cx="5470855" cy="640080"/>
          </a:xfrm>
          <a:prstGeom prst="roundRect">
            <a:avLst>
              <a:gd name="adj" fmla="val 28571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272783" y="4965192"/>
            <a:ext cx="292608" cy="29260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72783" y="49651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22D3EE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11696" y="4892040"/>
            <a:ext cx="4556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ML reads the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11696" y="5129784"/>
            <a:ext cx="45564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Models look at how those numbers evolve over seconds, not at one reading.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43737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60">
                <a:solidFill>
                  <a:srgbClr val="647890"/>
                </a:solidFill>
                <a:latin typeface="Segoe UI"/>
              </a:rPr>
              <a:t>WiFiSense  ·  Privacy-Preserving Human Activity Detection Using WiFi CSI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8615" y="643737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 spc="120">
                <a:solidFill>
                  <a:srgbClr val="22D3EE"/>
                </a:solidFill>
                <a:latin typeface="Segoe U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20">
                <a:solidFill>
                  <a:srgbClr val="22D3EE"/>
                </a:solidFill>
                <a:latin typeface="Segoe UI"/>
              </a:rPr>
              <a:t>04  —  THE HARD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84632" y="416052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2FF"/>
                </a:solidFill>
                <a:latin typeface="Segoe UI"/>
              </a:rPr>
              <a:t>A changed signal is not always a human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8442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9AAECB"/>
                </a:solidFill>
                <a:latin typeface="Segoe UI"/>
              </a:rPr>
              <a:t>Bags, chairs, doors and fans also disturb the channel. Treating 'signal moved' as 'person' is the classic mistake.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99616"/>
            <a:ext cx="10820095" cy="10972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73936"/>
            <a:ext cx="2003084" cy="2304288"/>
          </a:xfrm>
          <a:prstGeom prst="roundRect">
            <a:avLst>
              <a:gd name="adj" fmla="val 10955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1839772"/>
            <a:ext cx="41148" cy="217261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con_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90" y="1956816"/>
            <a:ext cx="1060704" cy="10607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8" y="3108960"/>
            <a:ext cx="17836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EAF2FF"/>
                </a:solidFill>
                <a:latin typeface="Segoe UI"/>
              </a:rPr>
              <a:t>Person walking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401568"/>
            <a:ext cx="17836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647890"/>
                </a:solidFill>
                <a:latin typeface="Segoe UI"/>
              </a:rPr>
              <a:t>=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" y="3639312"/>
            <a:ext cx="1491020" cy="2926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33272" y="3639312"/>
            <a:ext cx="13081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40">
                <a:solidFill>
                  <a:srgbClr val="22D3EE"/>
                </a:solidFill>
                <a:latin typeface="Segoe UI"/>
              </a:rPr>
              <a:t>CSI changes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0052" y="1773936"/>
            <a:ext cx="2003084" cy="2304288"/>
          </a:xfrm>
          <a:prstGeom prst="roundRect">
            <a:avLst>
              <a:gd name="adj" fmla="val 10955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on_b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1242" y="1956816"/>
            <a:ext cx="1060704" cy="10607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99780" y="3108960"/>
            <a:ext cx="17836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9AAECB"/>
                </a:solidFill>
                <a:latin typeface="Segoe UI"/>
              </a:rPr>
              <a:t>Bag placed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780" y="3401568"/>
            <a:ext cx="17836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647890"/>
                </a:solidFill>
                <a:latin typeface="Segoe UI"/>
              </a:rPr>
              <a:t>=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46084" y="3639312"/>
            <a:ext cx="149102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143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237524" y="3639312"/>
            <a:ext cx="13081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40">
                <a:solidFill>
                  <a:srgbClr val="FBBF24"/>
                </a:solidFill>
                <a:latin typeface="Segoe UI"/>
              </a:rPr>
              <a:t>CSI changes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4305" y="1773936"/>
            <a:ext cx="2003084" cy="2304288"/>
          </a:xfrm>
          <a:prstGeom prst="roundRect">
            <a:avLst>
              <a:gd name="adj" fmla="val 10955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con_cha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495" y="1956816"/>
            <a:ext cx="1060704" cy="106070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04033" y="3108960"/>
            <a:ext cx="17836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9AAECB"/>
                </a:solidFill>
                <a:latin typeface="Segoe UI"/>
              </a:rPr>
              <a:t>Chair moved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4033" y="3401568"/>
            <a:ext cx="17836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647890"/>
                </a:solidFill>
                <a:latin typeface="Segoe UI"/>
              </a:rPr>
              <a:t>=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50337" y="3639312"/>
            <a:ext cx="149102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143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41777" y="3639312"/>
            <a:ext cx="13081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40">
                <a:solidFill>
                  <a:srgbClr val="FBBF24"/>
                </a:solidFill>
                <a:latin typeface="Segoe UI"/>
              </a:rPr>
              <a:t>CSI changes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8557" y="1773936"/>
            <a:ext cx="2003084" cy="2304288"/>
          </a:xfrm>
          <a:prstGeom prst="roundRect">
            <a:avLst>
              <a:gd name="adj" fmla="val 10955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icon_f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9748" y="1956816"/>
            <a:ext cx="1060704" cy="106070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08285" y="3108960"/>
            <a:ext cx="17836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9AAECB"/>
                </a:solidFill>
                <a:latin typeface="Segoe UI"/>
              </a:rPr>
              <a:t>Fan spinning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8285" y="3401568"/>
            <a:ext cx="17836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647890"/>
                </a:solidFill>
                <a:latin typeface="Segoe UI"/>
              </a:rPr>
              <a:t>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54589" y="3639312"/>
            <a:ext cx="149102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143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46029" y="3639312"/>
            <a:ext cx="13081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40">
                <a:solidFill>
                  <a:srgbClr val="FBBF24"/>
                </a:solidFill>
                <a:latin typeface="Segoe UI"/>
              </a:rPr>
              <a:t>CSI changes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2810" y="1773936"/>
            <a:ext cx="2003084" cy="2304288"/>
          </a:xfrm>
          <a:prstGeom prst="roundRect">
            <a:avLst>
              <a:gd name="adj" fmla="val 10955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icon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74000" y="1956816"/>
            <a:ext cx="1060704" cy="10607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612538" y="3108960"/>
            <a:ext cx="17836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9AAECB"/>
                </a:solidFill>
                <a:latin typeface="Segoe UI"/>
              </a:rPr>
              <a:t>Door opened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2538" y="3401568"/>
            <a:ext cx="17836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647890"/>
                </a:solidFill>
                <a:latin typeface="Segoe UI"/>
              </a:rPr>
              <a:t>=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58842" y="3639312"/>
            <a:ext cx="149102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143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850282" y="3639312"/>
            <a:ext cx="13081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40">
                <a:solidFill>
                  <a:srgbClr val="FBBF24"/>
                </a:solidFill>
                <a:latin typeface="Segoe UI"/>
              </a:rPr>
              <a:t>CSI changes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4297680"/>
            <a:ext cx="10820095" cy="658368"/>
          </a:xfrm>
          <a:prstGeom prst="roundRect">
            <a:avLst>
              <a:gd name="adj" fmla="val 33333"/>
            </a:avLst>
          </a:prstGeom>
          <a:solidFill>
            <a:srgbClr val="22D3EE"/>
          </a:solidFill>
          <a:ln w="1397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85800" y="4297680"/>
            <a:ext cx="50292" cy="65836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033271" y="4297680"/>
            <a:ext cx="1018001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i="0" spc="20">
                <a:solidFill>
                  <a:srgbClr val="EAF2FF"/>
                </a:solidFill>
                <a:latin typeface="Segoe UI"/>
              </a:rPr>
              <a:t>CSI detects changes in the radio environment — not humans directly.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120640"/>
            <a:ext cx="3460394" cy="731520"/>
          </a:xfrm>
          <a:prstGeom prst="roundRect">
            <a:avLst>
              <a:gd name="adj" fmla="val 25000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85800" y="5175504"/>
            <a:ext cx="41148" cy="6217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23544" y="5212080"/>
            <a:ext cx="303977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  <a:latin typeface="Segoe UI"/>
              </a:rPr>
              <a:t>Temporal patterns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" y="5440680"/>
            <a:ext cx="303977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Seconds of behaviour, never a single reading.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65650" y="5120640"/>
            <a:ext cx="3460394" cy="731520"/>
          </a:xfrm>
          <a:prstGeom prst="roundRect">
            <a:avLst>
              <a:gd name="adj" fmla="val 25000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4365650" y="5175504"/>
            <a:ext cx="41148" cy="6217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603394" y="5212080"/>
            <a:ext cx="303977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Segoe UI"/>
              </a:rPr>
              <a:t>Balanced training data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3394" y="5440680"/>
            <a:ext cx="303977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Human events AND non-human events in the same dataset.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5500" y="5120640"/>
            <a:ext cx="3460394" cy="731520"/>
          </a:xfrm>
          <a:prstGeom prst="roundRect">
            <a:avLst>
              <a:gd name="adj" fmla="val 25000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8045500" y="5175504"/>
            <a:ext cx="41148" cy="6217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283244" y="5212080"/>
            <a:ext cx="303977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Segoe UI"/>
              </a:rPr>
              <a:t>Multiple links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3244" y="5440680"/>
            <a:ext cx="303977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2–3 ESP32 links cross-check a change from different angles.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43737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60">
                <a:solidFill>
                  <a:srgbClr val="647890"/>
                </a:solidFill>
                <a:latin typeface="Segoe UI"/>
              </a:rPr>
              <a:t>WiFiSense  ·  Privacy-Preserving Human Activity Detection Using WiFi CSI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8615" y="643737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 spc="120">
                <a:solidFill>
                  <a:srgbClr val="22D3EE"/>
                </a:solidFill>
                <a:latin typeface="Segoe U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20">
                <a:solidFill>
                  <a:srgbClr val="22D3EE"/>
                </a:solidFill>
                <a:latin typeface="Segoe UI"/>
              </a:rPr>
              <a:t>05  —  AI / ML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84632" y="416052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2FF"/>
                </a:solidFill>
                <a:latin typeface="Segoe UI"/>
              </a:rPr>
              <a:t>From raw signal to a confidence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8442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9AAECB"/>
                </a:solidFill>
                <a:latin typeface="Segoe UI"/>
              </a:rPr>
              <a:t>A small, explainable pipeline that runs on a laptop today and on the board tomorrow.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99616"/>
            <a:ext cx="10820095" cy="10972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46504"/>
            <a:ext cx="3931920" cy="420624"/>
          </a:xfrm>
          <a:prstGeom prst="roundRect">
            <a:avLst>
              <a:gd name="adj" fmla="val 34782"/>
            </a:avLst>
          </a:prstGeom>
          <a:solidFill>
            <a:srgbClr val="0B1220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1790395"/>
            <a:ext cx="41148" cy="332841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1746504"/>
            <a:ext cx="3520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spc="30">
                <a:solidFill>
                  <a:srgbClr val="EAF2FF"/>
                </a:solidFill>
                <a:latin typeface="Segoe UI"/>
              </a:rPr>
              <a:t>Raw CSI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1728216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647890"/>
                </a:solidFill>
                <a:latin typeface="Segoe UI"/>
              </a:rPr>
              <a:t>Amplitude + phase, per subcarrier, per packet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3179" y="2194560"/>
            <a:ext cx="137160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85800" y="2386584"/>
            <a:ext cx="3931920" cy="420624"/>
          </a:xfrm>
          <a:prstGeom prst="roundRect">
            <a:avLst>
              <a:gd name="adj" fmla="val 34782"/>
            </a:avLst>
          </a:prstGeom>
          <a:solidFill>
            <a:srgbClr val="0B1220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85800" y="2430475"/>
            <a:ext cx="41148" cy="332841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0120" y="2386584"/>
            <a:ext cx="3520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spc="30">
                <a:solidFill>
                  <a:srgbClr val="EAF2FF"/>
                </a:solidFill>
                <a:latin typeface="Segoe UI"/>
              </a:rPr>
              <a:t>Noise filtering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368296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647890"/>
                </a:solidFill>
                <a:latin typeface="Segoe UI"/>
              </a:rPr>
              <a:t>Drop empty packets, spikes and idle bursts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83179" y="2834639"/>
            <a:ext cx="137160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85800" y="3026663"/>
            <a:ext cx="3931920" cy="420624"/>
          </a:xfrm>
          <a:prstGeom prst="roundRect">
            <a:avLst>
              <a:gd name="adj" fmla="val 34782"/>
            </a:avLst>
          </a:prstGeom>
          <a:solidFill>
            <a:srgbClr val="0B1220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85800" y="3070555"/>
            <a:ext cx="41148" cy="332841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0120" y="3026663"/>
            <a:ext cx="3520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spc="30">
                <a:solidFill>
                  <a:srgbClr val="EAF2FF"/>
                </a:solidFill>
                <a:latin typeface="Segoe UI"/>
              </a:rPr>
              <a:t>Preprocessing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7448" y="3008375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647890"/>
                </a:solidFill>
                <a:latin typeface="Segoe UI"/>
              </a:rPr>
              <a:t>Phase sanitised, normalised, windowed into segments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3179" y="3474719"/>
            <a:ext cx="137160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85800" y="3666744"/>
            <a:ext cx="3931920" cy="420624"/>
          </a:xfrm>
          <a:prstGeom prst="roundRect">
            <a:avLst>
              <a:gd name="adj" fmla="val 34782"/>
            </a:avLst>
          </a:prstGeom>
          <a:solidFill>
            <a:srgbClr val="0B1220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85800" y="3710635"/>
            <a:ext cx="41148" cy="332841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3666744"/>
            <a:ext cx="3520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spc="30">
                <a:solidFill>
                  <a:srgbClr val="EAF2FF"/>
                </a:solidFill>
                <a:latin typeface="Segoe UI"/>
              </a:rPr>
              <a:t>Feature extraction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3648456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647890"/>
                </a:solidFill>
                <a:latin typeface="Segoe UI"/>
              </a:rPr>
              <a:t>Variance, Doppler energy, cross-link correlation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83179" y="4114800"/>
            <a:ext cx="137160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85800" y="4306824"/>
            <a:ext cx="3931920" cy="420624"/>
          </a:xfrm>
          <a:prstGeom prst="roundRect">
            <a:avLst>
              <a:gd name="adj" fmla="val 34782"/>
            </a:avLst>
          </a:prstGeom>
          <a:solidFill>
            <a:srgbClr val="0B1220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85800" y="4350715"/>
            <a:ext cx="41148" cy="332841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60120" y="4306824"/>
            <a:ext cx="3520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spc="30">
                <a:solidFill>
                  <a:srgbClr val="EAF2FF"/>
                </a:solidFill>
                <a:latin typeface="Segoe UI"/>
              </a:rPr>
              <a:t>ML classification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4288536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647890"/>
                </a:solidFill>
                <a:latin typeface="Segoe UI"/>
              </a:rPr>
              <a:t>Random Forest / SVM / tiny CNN — lightweight on purpose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83179" y="4754880"/>
            <a:ext cx="137160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85800" y="4946904"/>
            <a:ext cx="3931920" cy="420624"/>
          </a:xfrm>
          <a:prstGeom prst="roundRect">
            <a:avLst>
              <a:gd name="adj" fmla="val 34782"/>
            </a:avLst>
          </a:prstGeom>
          <a:solidFill>
            <a:srgbClr val="0B1220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685800" y="4990795"/>
            <a:ext cx="41148" cy="332841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60120" y="4946904"/>
            <a:ext cx="3520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spc="30">
                <a:solidFill>
                  <a:srgbClr val="EAF2FF"/>
                </a:solidFill>
                <a:latin typeface="Segoe UI"/>
              </a:rPr>
              <a:t>Human · Object · Stable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7448" y="4928616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647890"/>
                </a:solidFill>
                <a:latin typeface="Segoe UI"/>
              </a:rPr>
              <a:t>A three-way decision, never a hard yes / no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83179" y="5394960"/>
            <a:ext cx="137160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85800" y="5586984"/>
            <a:ext cx="3931920" cy="420624"/>
          </a:xfrm>
          <a:prstGeom prst="roundRect">
            <a:avLst>
              <a:gd name="adj" fmla="val 34782"/>
            </a:avLst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85800" y="5630875"/>
            <a:ext cx="41148" cy="332841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60120" y="5586984"/>
            <a:ext cx="3520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 spc="30">
                <a:solidFill>
                  <a:srgbClr val="22D3EE"/>
                </a:solidFill>
                <a:latin typeface="Segoe UI"/>
              </a:rPr>
              <a:t>Live dashboard + alert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27448" y="5568696"/>
            <a:ext cx="142646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647890"/>
                </a:solidFill>
                <a:latin typeface="Segoe UI"/>
              </a:rPr>
              <a:t>Status, activity and a confidence score</a:t>
            </a:r>
          </a:p>
        </p:txBody>
      </p:sp>
      <p:pic>
        <p:nvPicPr>
          <p:cNvPr id="41" name="Picture 40" descr="s06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46504"/>
            <a:ext cx="5242255" cy="2834640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6263640" y="1746504"/>
            <a:ext cx="5242255" cy="2834640"/>
          </a:xfrm>
          <a:prstGeom prst="roundRect">
            <a:avLst>
              <a:gd name="adj" fmla="val 9032"/>
            </a:avLst>
          </a:prstGeom>
          <a:noFill/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537959" y="1956815"/>
            <a:ext cx="46936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 spc="220">
                <a:solidFill>
                  <a:srgbClr val="22D3EE"/>
                </a:solidFill>
                <a:latin typeface="Segoe UI"/>
              </a:rPr>
              <a:t>PATTERN, NOT PIXELS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4754879"/>
            <a:ext cx="5242255" cy="1463040"/>
          </a:xfrm>
          <a:prstGeom prst="roundRect">
            <a:avLst>
              <a:gd name="adj" fmla="val 15000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263640" y="4820716"/>
            <a:ext cx="41148" cy="133136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556248" y="4882895"/>
            <a:ext cx="46936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Output is a probability, not a verdict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6248" y="519379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ECB"/>
                </a:solidFill>
                <a:latin typeface="Segoe UI"/>
              </a:rPr>
              <a:t>Human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34071" y="5234940"/>
            <a:ext cx="3093415" cy="100584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434071" y="5234940"/>
            <a:ext cx="2691271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0847527" y="519379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22D3EE"/>
                </a:solidFill>
                <a:latin typeface="Segoe UI"/>
              </a:rPr>
              <a:t>0.87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56248" y="54589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ECB"/>
                </a:solidFill>
                <a:latin typeface="Segoe UI"/>
              </a:rPr>
              <a:t>Object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34071" y="5500116"/>
            <a:ext cx="3093415" cy="100584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7434071" y="5500116"/>
            <a:ext cx="340275" cy="1005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0847527" y="545896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BBF24"/>
                </a:solidFill>
                <a:latin typeface="Segoe UI"/>
              </a:rPr>
              <a:t>0.11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56248" y="57241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ECB"/>
                </a:solidFill>
                <a:latin typeface="Segoe UI"/>
              </a:rPr>
              <a:t>Stable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34071" y="5765292"/>
            <a:ext cx="3093415" cy="100584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7434071" y="5765292"/>
            <a:ext cx="61868" cy="10058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0847527" y="5724144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4D399"/>
                </a:solidFill>
                <a:latin typeface="Segoe UI"/>
              </a:rPr>
              <a:t>0.02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56248" y="5943599"/>
            <a:ext cx="46936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47890"/>
                </a:solidFill>
                <a:latin typeface="Segoe UI"/>
              </a:rPr>
              <a:t>Below threshold the system says “uncertain” — it never guesses.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643737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60">
                <a:solidFill>
                  <a:srgbClr val="647890"/>
                </a:solidFill>
                <a:latin typeface="Segoe UI"/>
              </a:rPr>
              <a:t>WiFiSense  ·  Privacy-Preserving Human Activity Detection Using WiFi CSI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08615" y="643737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 spc="120">
                <a:solidFill>
                  <a:srgbClr val="22D3EE"/>
                </a:solidFill>
                <a:latin typeface="Segoe U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7_ar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20">
                <a:solidFill>
                  <a:srgbClr val="22D3EE"/>
                </a:solidFill>
                <a:latin typeface="Segoe UI"/>
              </a:rPr>
              <a:t>06  — 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4632" y="416052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2FF"/>
                </a:solidFill>
                <a:latin typeface="Segoe UI"/>
              </a:rPr>
              <a:t>From radio hardware to a live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442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9AAECB"/>
                </a:solidFill>
                <a:latin typeface="Segoe UI"/>
              </a:rPr>
              <a:t>Two to three ESP32 links feed one laptop; raw CSI never leaves the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99616"/>
            <a:ext cx="10820095" cy="10972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85800" y="1755648"/>
            <a:ext cx="3749039" cy="841248"/>
          </a:xfrm>
          <a:prstGeom prst="roundRect">
            <a:avLst>
              <a:gd name="adj" fmla="val 21739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85800" y="1810512"/>
            <a:ext cx="41148" cy="731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box_esp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2" y="1766620"/>
            <a:ext cx="3727094" cy="81930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6772" y="1766620"/>
            <a:ext cx="3727094" cy="819302"/>
          </a:xfrm>
          <a:prstGeom prst="rect">
            <a:avLst/>
          </a:prstGeom>
          <a:solidFill>
            <a:srgbClr val="050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78408" y="1901952"/>
            <a:ext cx="32003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ESP32  Transmitter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176272"/>
            <a:ext cx="32003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Broadcasts standard WiFi frames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87168" y="2642615"/>
            <a:ext cx="146304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85800" y="2871215"/>
            <a:ext cx="3749039" cy="841248"/>
          </a:xfrm>
          <a:prstGeom prst="roundRect">
            <a:avLst>
              <a:gd name="adj" fmla="val 21739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85800" y="2926079"/>
            <a:ext cx="41148" cy="7315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78408" y="3017520"/>
            <a:ext cx="32003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WiFi Signal  ·  2.4 GHz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3291839"/>
            <a:ext cx="32003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Travels through walls, air and people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87168" y="3758183"/>
            <a:ext cx="146304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85800" y="3986783"/>
            <a:ext cx="3749039" cy="841248"/>
          </a:xfrm>
          <a:prstGeom prst="roundRect">
            <a:avLst>
              <a:gd name="adj" fmla="val 21739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85800" y="4041647"/>
            <a:ext cx="41148" cy="7315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box_r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2" y="3997756"/>
            <a:ext cx="3727094" cy="81930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96772" y="3997756"/>
            <a:ext cx="3727094" cy="819302"/>
          </a:xfrm>
          <a:prstGeom prst="rect">
            <a:avLst/>
          </a:prstGeom>
          <a:solidFill>
            <a:srgbClr val="050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8408" y="4133087"/>
            <a:ext cx="32003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Human  /  Environment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4407407"/>
            <a:ext cx="32003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Absorbs, reflects, scatters the energy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87168" y="4873751"/>
            <a:ext cx="146304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85800" y="5102351"/>
            <a:ext cx="3749039" cy="841248"/>
          </a:xfrm>
          <a:prstGeom prst="roundRect">
            <a:avLst>
              <a:gd name="adj" fmla="val 21739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85800" y="5157215"/>
            <a:ext cx="41148" cy="731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box_esp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2" y="5113324"/>
            <a:ext cx="3727094" cy="819302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96772" y="5113324"/>
            <a:ext cx="3727094" cy="819302"/>
          </a:xfrm>
          <a:prstGeom prst="rect">
            <a:avLst/>
          </a:prstGeom>
          <a:solidFill>
            <a:srgbClr val="050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78408" y="5248655"/>
            <a:ext cx="32003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ESP32  Receiver(s)  × 2–3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" y="5522975"/>
            <a:ext cx="32003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Reports CSI per packet, per subcarrier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199" y="1755648"/>
            <a:ext cx="5333695" cy="841248"/>
          </a:xfrm>
          <a:prstGeom prst="roundRect">
            <a:avLst>
              <a:gd name="adj" fmla="val 21739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172199" y="1810512"/>
            <a:ext cx="41148" cy="7315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64807" y="1901952"/>
            <a:ext cx="47850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Laptop  ·  Edge Processing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4807" y="2176272"/>
            <a:ext cx="47850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Parses, filters and windows the CSI stream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65895" y="2642615"/>
            <a:ext cx="146304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6172199" y="2871215"/>
            <a:ext cx="5333695" cy="841248"/>
          </a:xfrm>
          <a:prstGeom prst="roundRect">
            <a:avLst>
              <a:gd name="adj" fmla="val 21739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172199" y="2926079"/>
            <a:ext cx="41148" cy="7315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box_m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3172" y="2882188"/>
            <a:ext cx="5311749" cy="819302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6183172" y="2882188"/>
            <a:ext cx="5311749" cy="819302"/>
          </a:xfrm>
          <a:prstGeom prst="rect">
            <a:avLst/>
          </a:prstGeom>
          <a:solidFill>
            <a:srgbClr val="050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64807" y="3017520"/>
            <a:ext cx="47850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ML 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4807" y="3291839"/>
            <a:ext cx="47850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Random Forest / SVM / TinyML — scores each window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65895" y="3758183"/>
            <a:ext cx="146304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6172199" y="3986783"/>
            <a:ext cx="5333695" cy="841248"/>
          </a:xfrm>
          <a:prstGeom prst="roundRect">
            <a:avLst>
              <a:gd name="adj" fmla="val 21739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172199" y="4041647"/>
            <a:ext cx="41148" cy="731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464807" y="4133087"/>
            <a:ext cx="47850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Web Dashboard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64807" y="4407407"/>
            <a:ext cx="47850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FastAPI backend + lightweight web UI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65895" y="4873751"/>
            <a:ext cx="146304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6172199" y="5102351"/>
            <a:ext cx="5333695" cy="841248"/>
          </a:xfrm>
          <a:prstGeom prst="roundRect">
            <a:avLst>
              <a:gd name="adj" fmla="val 21739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199" y="5157215"/>
            <a:ext cx="41148" cy="7315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464807" y="5248655"/>
            <a:ext cx="47850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Alerts  ·  Status  ·  Logs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4807" y="5522975"/>
            <a:ext cx="47850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Room state, activity and confidence, live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09159" y="3593591"/>
            <a:ext cx="1188720" cy="512064"/>
          </a:xfrm>
          <a:prstGeom prst="roundRect">
            <a:avLst>
              <a:gd name="adj" fmla="val 28571"/>
            </a:avLst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4800599" y="3666744"/>
            <a:ext cx="1005840" cy="3657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690872" y="4197096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 i="0">
                <a:solidFill>
                  <a:srgbClr val="9AAECB"/>
                </a:solidFill>
                <a:latin typeface="Segoe UI"/>
              </a:rPr>
              <a:t>CSI stream → laptop:  USB / UART / Wi-Fi.  Numbers only, never images.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" y="5797296"/>
            <a:ext cx="10820095" cy="493776"/>
          </a:xfrm>
          <a:prstGeom prst="roundRect">
            <a:avLst>
              <a:gd name="adj" fmla="val 37037"/>
            </a:avLst>
          </a:prstGeom>
          <a:solidFill>
            <a:srgbClr val="34D399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96696" y="5797296"/>
            <a:ext cx="101800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 spc="30">
                <a:solidFill>
                  <a:srgbClr val="34D399"/>
                </a:solidFill>
                <a:latin typeface="Segoe UI"/>
              </a:rPr>
              <a:t>No camera  ·  No microphone  ·  No video or audio is ever captured, stored or transmitted — only numbers.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43737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60">
                <a:solidFill>
                  <a:srgbClr val="647890"/>
                </a:solidFill>
                <a:latin typeface="Segoe UI"/>
              </a:rPr>
              <a:t>WiFiSense  ·  Privacy-Preserving Human Activity Detection Using WiFi CSI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08615" y="643737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 spc="120">
                <a:solidFill>
                  <a:srgbClr val="22D3EE"/>
                </a:solidFill>
                <a:latin typeface="Segoe U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20">
                <a:solidFill>
                  <a:srgbClr val="22D3EE"/>
                </a:solidFill>
                <a:latin typeface="Segoe UI"/>
              </a:rPr>
              <a:t>07  —  WHERE IT 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84632" y="416052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2FF"/>
                </a:solidFill>
                <a:latin typeface="Segoe UI"/>
              </a:rPr>
              <a:t>Real-world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8442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9AAECB"/>
                </a:solidFill>
                <a:latin typeface="Segoe UI"/>
              </a:rPr>
              <a:t>Places where a camera is unwanted, inappropriate, or simply not enough.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99616"/>
            <a:ext cx="10820095" cy="10972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3448202" cy="1792224"/>
          </a:xfrm>
          <a:prstGeom prst="roundRect">
            <a:avLst>
              <a:gd name="adj" fmla="val 12244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1821484"/>
            <a:ext cx="41148" cy="166055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ile_priv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" y="1766620"/>
            <a:ext cx="3426256" cy="1005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96772" y="1766620"/>
            <a:ext cx="3426256" cy="1005840"/>
          </a:xfrm>
          <a:prstGeom prst="rect">
            <a:avLst/>
          </a:prstGeom>
          <a:solidFill>
            <a:srgbClr val="050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3544" y="2889504"/>
            <a:ext cx="299100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Privacy-sensitive rooms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3127248"/>
            <a:ext cx="299100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Bedrooms, bathrooms, clinics — presence without pictures.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1746" y="1755648"/>
            <a:ext cx="3448202" cy="1792224"/>
          </a:xfrm>
          <a:prstGeom prst="roundRect">
            <a:avLst>
              <a:gd name="adj" fmla="val 12244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71746" y="1821484"/>
            <a:ext cx="41148" cy="166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tile_elder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2719" y="1766620"/>
            <a:ext cx="3426256" cy="10058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382719" y="1766620"/>
            <a:ext cx="3426256" cy="1005840"/>
          </a:xfrm>
          <a:prstGeom prst="rect">
            <a:avLst/>
          </a:prstGeom>
          <a:solidFill>
            <a:srgbClr val="050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09490" y="2889504"/>
            <a:ext cx="299100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Elderly &amp; fall-risk care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9490" y="3127248"/>
            <a:ext cx="299100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Flag long stillness or a sudden drop. No cameras in the home.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7692" y="1755648"/>
            <a:ext cx="3448202" cy="1792224"/>
          </a:xfrm>
          <a:prstGeom prst="roundRect">
            <a:avLst>
              <a:gd name="adj" fmla="val 12244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57692" y="1821484"/>
            <a:ext cx="41148" cy="166055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ile_buil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665" y="1766620"/>
            <a:ext cx="3426256" cy="10058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68665" y="1766620"/>
            <a:ext cx="3426256" cy="1005840"/>
          </a:xfrm>
          <a:prstGeom prst="rect">
            <a:avLst/>
          </a:prstGeom>
          <a:solidFill>
            <a:srgbClr val="050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95436" y="2889504"/>
            <a:ext cx="299100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Smart buildings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5436" y="3127248"/>
            <a:ext cx="299100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Occupancy-aware lighting, HVAC and real energy savings.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712464"/>
            <a:ext cx="3448202" cy="1792224"/>
          </a:xfrm>
          <a:prstGeom prst="roundRect">
            <a:avLst>
              <a:gd name="adj" fmla="val 12244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85800" y="3778300"/>
            <a:ext cx="41148" cy="166055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tile_restri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72" y="3723436"/>
            <a:ext cx="3426256" cy="100584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696772" y="3723436"/>
            <a:ext cx="3426256" cy="1005840"/>
          </a:xfrm>
          <a:prstGeom prst="rect">
            <a:avLst/>
          </a:prstGeom>
          <a:solidFill>
            <a:srgbClr val="050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23544" y="4846320"/>
            <a:ext cx="299100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Restricted areas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" y="5084064"/>
            <a:ext cx="299100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After-hours movement in labs, stores or stock rooms.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1746" y="3712464"/>
            <a:ext cx="3448202" cy="1792224"/>
          </a:xfrm>
          <a:prstGeom prst="roundRect">
            <a:avLst>
              <a:gd name="adj" fmla="val 12244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371746" y="3778300"/>
            <a:ext cx="41148" cy="166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tile_n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2719" y="3723436"/>
            <a:ext cx="3426256" cy="100584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382719" y="3723436"/>
            <a:ext cx="3426256" cy="1005840"/>
          </a:xfrm>
          <a:prstGeom prst="rect">
            <a:avLst/>
          </a:prstGeom>
          <a:solidFill>
            <a:srgbClr val="050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609490" y="4846320"/>
            <a:ext cx="299100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Night-time detection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9490" y="5084064"/>
            <a:ext cx="299100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Works in complete darkness — no light, no infrared.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57692" y="3712464"/>
            <a:ext cx="3448202" cy="1792224"/>
          </a:xfrm>
          <a:prstGeom prst="roundRect">
            <a:avLst>
              <a:gd name="adj" fmla="val 12244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8057692" y="3778300"/>
            <a:ext cx="41148" cy="166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tile_occupanc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8665" y="3723436"/>
            <a:ext cx="3426256" cy="100584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8068665" y="3723436"/>
            <a:ext cx="3426256" cy="1005840"/>
          </a:xfrm>
          <a:prstGeom prst="rect">
            <a:avLst/>
          </a:prstGeom>
          <a:solidFill>
            <a:srgbClr val="050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295436" y="4846320"/>
            <a:ext cx="299100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F"/>
                </a:solidFill>
                <a:latin typeface="Segoe UI"/>
              </a:rPr>
              <a:t>Occupancy monitoring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5436" y="5084064"/>
            <a:ext cx="299100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9AAECB"/>
                </a:solidFill>
                <a:latin typeface="Segoe UI"/>
              </a:rPr>
              <a:t>Desks and meeting rooms, counted in real time.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5760720"/>
            <a:ext cx="10820095" cy="512064"/>
          </a:xfrm>
          <a:prstGeom prst="roundRect">
            <a:avLst>
              <a:gd name="adj" fmla="val 35714"/>
            </a:avLst>
          </a:prstGeom>
          <a:solidFill>
            <a:srgbClr val="FBBF24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96696" y="5760720"/>
            <a:ext cx="1018001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 spc="20">
                <a:solidFill>
                  <a:srgbClr val="FBBF24"/>
                </a:solidFill>
                <a:latin typeface="Segoe UI"/>
              </a:rPr>
              <a:t>Honest scope: results depend on walls, layout and furniture — we do not claim reliable sensing in every environment.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43737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60">
                <a:solidFill>
                  <a:srgbClr val="647890"/>
                </a:solidFill>
                <a:latin typeface="Segoe UI"/>
              </a:rPr>
              <a:t>WiFiSense  ·  Privacy-Preserving Human Activity Detection Using WiFi CSI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08615" y="643737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 spc="120">
                <a:solidFill>
                  <a:srgbClr val="22D3EE"/>
                </a:solidFill>
                <a:latin typeface="Segoe U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20">
                <a:solidFill>
                  <a:srgbClr val="22D3EE"/>
                </a:solidFill>
                <a:latin typeface="Segoe UI"/>
              </a:rPr>
              <a:t>08  —  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84632" y="416052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2FF"/>
                </a:solidFill>
                <a:latin typeface="Segoe UI"/>
              </a:rPr>
              <a:t>Five steps, ninety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8442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9AAECB"/>
                </a:solidFill>
                <a:latin typeface="Segoe UI"/>
              </a:rPr>
              <a:t>Two ESP32 boards on a table, a laptop, and one honest failure test.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99616"/>
            <a:ext cx="10820095" cy="10972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5870448" cy="658368"/>
          </a:xfrm>
          <a:prstGeom prst="roundRect">
            <a:avLst>
              <a:gd name="adj" fmla="val 27777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1810512"/>
            <a:ext cx="41148" cy="5486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923544" y="1929384"/>
            <a:ext cx="274320" cy="2743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93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34D399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1874519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EAF2FF"/>
                </a:solidFill>
                <a:latin typeface="Segoe UI"/>
              </a:rPr>
              <a:t>Empty room, boards running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130552"/>
            <a:ext cx="3127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647890"/>
                </a:solidFill>
                <a:latin typeface="Segoe UI"/>
              </a:rPr>
              <a:t>expected output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1929384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63440" y="1929384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30">
                <a:solidFill>
                  <a:srgbClr val="34D399"/>
                </a:solidFill>
                <a:latin typeface="Segoe UI"/>
              </a:rPr>
              <a:t>No human activity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542032"/>
            <a:ext cx="5870448" cy="658368"/>
          </a:xfrm>
          <a:prstGeom prst="roundRect">
            <a:avLst>
              <a:gd name="adj" fmla="val 27777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85800" y="2596896"/>
            <a:ext cx="41148" cy="5486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923544" y="2715768"/>
            <a:ext cx="274320" cy="2743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3544" y="2715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22D3EE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2660903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EAF2FF"/>
                </a:solidFill>
                <a:latin typeface="Segoe UI"/>
              </a:rPr>
              <a:t>A person walks in and stands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4168" y="2916936"/>
            <a:ext cx="3127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647890"/>
                </a:solidFill>
                <a:latin typeface="Segoe UI"/>
              </a:rPr>
              <a:t>expected output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2715768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63440" y="2715768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30">
                <a:solidFill>
                  <a:srgbClr val="22D3EE"/>
                </a:solidFill>
                <a:latin typeface="Segoe UI"/>
              </a:rPr>
              <a:t>Human detected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328415"/>
            <a:ext cx="5870448" cy="658368"/>
          </a:xfrm>
          <a:prstGeom prst="roundRect">
            <a:avLst>
              <a:gd name="adj" fmla="val 27777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85800" y="3383279"/>
            <a:ext cx="41148" cy="5486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23544" y="3502151"/>
            <a:ext cx="274320" cy="2743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3544" y="35021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22D3EE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447287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EAF2FF"/>
                </a:solidFill>
                <a:latin typeface="Segoe UI"/>
              </a:rPr>
              <a:t>The person walks across the link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4168" y="3703320"/>
            <a:ext cx="3127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647890"/>
                </a:solidFill>
                <a:latin typeface="Segoe UI"/>
              </a:rPr>
              <a:t>expected output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3502151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663440" y="3502151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30">
                <a:solidFill>
                  <a:srgbClr val="22D3EE"/>
                </a:solidFill>
                <a:latin typeface="Segoe UI"/>
              </a:rPr>
              <a:t>Walking detected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114800"/>
            <a:ext cx="5870448" cy="658368"/>
          </a:xfrm>
          <a:prstGeom prst="roundRect">
            <a:avLst>
              <a:gd name="adj" fmla="val 27777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85800" y="4169663"/>
            <a:ext cx="41148" cy="5486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23544" y="4288536"/>
            <a:ext cx="274320" cy="2743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23544" y="42885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34D399"/>
                </a:solidFill>
                <a:latin typeface="Segoe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233672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EAF2FF"/>
                </a:solidFill>
                <a:latin typeface="Segoe UI"/>
              </a:rPr>
              <a:t>The person leaves the room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44168" y="4489704"/>
            <a:ext cx="3127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647890"/>
                </a:solidFill>
                <a:latin typeface="Segoe UI"/>
              </a:rPr>
              <a:t>expected output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0" y="4288536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663440" y="4288536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30">
                <a:solidFill>
                  <a:srgbClr val="34D399"/>
                </a:solidFill>
                <a:latin typeface="Segoe UI"/>
              </a:rPr>
              <a:t>Room stable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4901184"/>
            <a:ext cx="5870448" cy="658368"/>
          </a:xfrm>
          <a:prstGeom prst="roundRect">
            <a:avLst>
              <a:gd name="adj" fmla="val 27777"/>
            </a:avLst>
          </a:prstGeom>
          <a:solidFill>
            <a:srgbClr val="0B1220"/>
          </a:solidFill>
          <a:ln w="1270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85800" y="4956048"/>
            <a:ext cx="41148" cy="5486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923544" y="5074920"/>
            <a:ext cx="274320" cy="2743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" y="50749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BBF24"/>
                </a:solidFill>
                <a:latin typeface="Segoe UI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4168" y="502005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EAF2FF"/>
                </a:solidFill>
                <a:latin typeface="Segoe UI"/>
              </a:rPr>
              <a:t>A bag / chair is moved instead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44168" y="5276088"/>
            <a:ext cx="3127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647890"/>
                </a:solidFill>
                <a:latin typeface="Segoe UI"/>
              </a:rPr>
              <a:t>expected output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0" y="507492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143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663440" y="5074920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 spc="30">
                <a:solidFill>
                  <a:srgbClr val="FBBF24"/>
                </a:solidFill>
                <a:latin typeface="Segoe UI"/>
              </a:rPr>
              <a:t>Not classified as human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85432" y="1755648"/>
            <a:ext cx="4620463" cy="4389120"/>
          </a:xfrm>
          <a:prstGeom prst="roundRect">
            <a:avLst>
              <a:gd name="adj" fmla="val 5833"/>
            </a:avLst>
          </a:prstGeom>
          <a:solidFill>
            <a:srgbClr val="0B1220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6896404" y="1766620"/>
            <a:ext cx="4598517" cy="4572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123176" y="1938528"/>
            <a:ext cx="100584" cy="10058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306056" y="1874519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 spc="40">
                <a:solidFill>
                  <a:srgbClr val="EAF2FF"/>
                </a:solidFill>
                <a:latin typeface="Segoe UI"/>
              </a:rPr>
              <a:t>WiFiSense  ·  Live Monitor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33127" y="1911095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024567" y="1911095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 spc="80">
                <a:solidFill>
                  <a:srgbClr val="34D399"/>
                </a:solidFill>
                <a:latin typeface="Segoe UI"/>
              </a:rPr>
              <a:t>●  LIVE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23176" y="2414015"/>
            <a:ext cx="4144975" cy="420624"/>
          </a:xfrm>
          <a:prstGeom prst="roundRect">
            <a:avLst>
              <a:gd name="adj" fmla="val 34782"/>
            </a:avLst>
          </a:prstGeom>
          <a:solidFill>
            <a:srgbClr val="22D3EE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306056" y="2414015"/>
            <a:ext cx="379750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 spc="160">
                <a:solidFill>
                  <a:srgbClr val="22D3EE"/>
                </a:solidFill>
                <a:latin typeface="Segoe UI"/>
              </a:rPr>
              <a:t>HUMAN DETECTED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23176" y="2980944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890"/>
                </a:solidFill>
                <a:latin typeface="Segoe UI"/>
              </a:rPr>
              <a:t>Room status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85655" y="2980944"/>
            <a:ext cx="16824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 spc="80">
                <a:solidFill>
                  <a:srgbClr val="22D3EE"/>
                </a:solidFill>
                <a:latin typeface="Segoe UI"/>
              </a:rPr>
              <a:t>OCCUPIED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23176" y="3218687"/>
            <a:ext cx="4144975" cy="7315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123176" y="3346703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890"/>
                </a:solidFill>
                <a:latin typeface="Segoe UI"/>
              </a:rPr>
              <a:t>Activity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85655" y="3346703"/>
            <a:ext cx="16824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 spc="80">
                <a:solidFill>
                  <a:srgbClr val="22D3EE"/>
                </a:solidFill>
                <a:latin typeface="Segoe UI"/>
              </a:rPr>
              <a:t>WALKING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23176" y="3584448"/>
            <a:ext cx="4144975" cy="7315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123176" y="3712463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890"/>
                </a:solidFill>
                <a:latin typeface="Segoe UI"/>
              </a:rPr>
              <a:t>Alert status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85655" y="3712463"/>
            <a:ext cx="16824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 spc="80">
                <a:solidFill>
                  <a:srgbClr val="34D399"/>
                </a:solidFill>
                <a:latin typeface="Segoe UI"/>
              </a:rPr>
              <a:t>NORMAL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23176" y="3950207"/>
            <a:ext cx="4144975" cy="7315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123176" y="4096511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890"/>
                </a:solidFill>
                <a:latin typeface="Segoe UI"/>
              </a:rPr>
              <a:t>Confidence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85655" y="4059936"/>
            <a:ext cx="16824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2D3EE"/>
                </a:solidFill>
                <a:latin typeface="Segoe UI"/>
              </a:rPr>
              <a:t>0.87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23176" y="4352544"/>
            <a:ext cx="4144975" cy="128016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7123176" y="4352544"/>
            <a:ext cx="3606128" cy="12801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10683584" y="4297680"/>
            <a:ext cx="91440" cy="237744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101600">
              <a:srgbClr val="22D3EE">
                <a:alpha val="8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ounded Rectangle 68"/>
          <p:cNvSpPr/>
          <p:nvPr/>
        </p:nvSpPr>
        <p:spPr>
          <a:xfrm>
            <a:off x="7123176" y="4645152"/>
            <a:ext cx="4144975" cy="841248"/>
          </a:xfrm>
          <a:prstGeom prst="roundRect">
            <a:avLst>
              <a:gd name="adj" fmla="val 13043"/>
            </a:avLst>
          </a:prstGeom>
          <a:solidFill>
            <a:srgbClr val="05070C"/>
          </a:solidFill>
          <a:ln w="9525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251192" y="4700016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80">
                <a:solidFill>
                  <a:srgbClr val="647890"/>
                </a:solidFill>
                <a:latin typeface="Segoe UI"/>
              </a:rPr>
              <a:t>CSI  ·  last 6 s</a:t>
            </a:r>
          </a:p>
        </p:txBody>
      </p:sp>
      <p:sp>
        <p:nvSpPr>
          <p:cNvPr id="71" name="Freeform 70"/>
          <p:cNvSpPr/>
          <p:nvPr/>
        </p:nvSpPr>
        <p:spPr>
          <a:xfrm>
            <a:off x="7251192" y="5058074"/>
            <a:ext cx="3779215" cy="123140"/>
          </a:xfrm>
          <a:custGeom>
            <a:avLst/>
            <a:gdLst/>
            <a:ahLst/>
            <a:cxnLst/>
            <a:rect l="l" t="t" r="r" b="b"/>
            <a:pathLst>
              <a:path w="3779215" h="123140">
                <a:moveTo>
                  <a:pt x="0" y="91556"/>
                </a:moveTo>
                <a:lnTo>
                  <a:pt x="19995" y="91565"/>
                </a:lnTo>
                <a:lnTo>
                  <a:pt x="39991" y="85720"/>
                </a:lnTo>
                <a:lnTo>
                  <a:pt x="59987" y="89606"/>
                </a:lnTo>
                <a:lnTo>
                  <a:pt x="79983" y="84539"/>
                </a:lnTo>
                <a:lnTo>
                  <a:pt x="99979" y="85389"/>
                </a:lnTo>
                <a:lnTo>
                  <a:pt x="119975" y="87789"/>
                </a:lnTo>
                <a:lnTo>
                  <a:pt x="139970" y="83815"/>
                </a:lnTo>
                <a:lnTo>
                  <a:pt x="159966" y="88264"/>
                </a:lnTo>
                <a:lnTo>
                  <a:pt x="179962" y="85279"/>
                </a:lnTo>
                <a:lnTo>
                  <a:pt x="199958" y="89170"/>
                </a:lnTo>
                <a:lnTo>
                  <a:pt x="219954" y="89727"/>
                </a:lnTo>
                <a:lnTo>
                  <a:pt x="239950" y="87499"/>
                </a:lnTo>
                <a:lnTo>
                  <a:pt x="259946" y="84575"/>
                </a:lnTo>
                <a:lnTo>
                  <a:pt x="279941" y="91285"/>
                </a:lnTo>
                <a:lnTo>
                  <a:pt x="299937" y="90713"/>
                </a:lnTo>
                <a:lnTo>
                  <a:pt x="319933" y="87254"/>
                </a:lnTo>
                <a:lnTo>
                  <a:pt x="339929" y="84366"/>
                </a:lnTo>
                <a:lnTo>
                  <a:pt x="359925" y="87464"/>
                </a:lnTo>
                <a:lnTo>
                  <a:pt x="379921" y="88811"/>
                </a:lnTo>
                <a:lnTo>
                  <a:pt x="399916" y="83432"/>
                </a:lnTo>
                <a:lnTo>
                  <a:pt x="419912" y="91506"/>
                </a:lnTo>
                <a:lnTo>
                  <a:pt x="439908" y="84295"/>
                </a:lnTo>
                <a:lnTo>
                  <a:pt x="459904" y="89543"/>
                </a:lnTo>
                <a:lnTo>
                  <a:pt x="479900" y="91287"/>
                </a:lnTo>
                <a:lnTo>
                  <a:pt x="499896" y="92240"/>
                </a:lnTo>
                <a:lnTo>
                  <a:pt x="519892" y="91508"/>
                </a:lnTo>
                <a:lnTo>
                  <a:pt x="539887" y="88142"/>
                </a:lnTo>
                <a:lnTo>
                  <a:pt x="559883" y="95178"/>
                </a:lnTo>
                <a:lnTo>
                  <a:pt x="579879" y="92980"/>
                </a:lnTo>
                <a:lnTo>
                  <a:pt x="599875" y="93856"/>
                </a:lnTo>
                <a:lnTo>
                  <a:pt x="619871" y="97593"/>
                </a:lnTo>
                <a:lnTo>
                  <a:pt x="639867" y="97100"/>
                </a:lnTo>
                <a:lnTo>
                  <a:pt x="659862" y="102482"/>
                </a:lnTo>
                <a:lnTo>
                  <a:pt x="679858" y="103088"/>
                </a:lnTo>
                <a:lnTo>
                  <a:pt x="699854" y="101888"/>
                </a:lnTo>
                <a:lnTo>
                  <a:pt x="719850" y="97035"/>
                </a:lnTo>
                <a:lnTo>
                  <a:pt x="739846" y="98849"/>
                </a:lnTo>
                <a:lnTo>
                  <a:pt x="759842" y="98954"/>
                </a:lnTo>
                <a:lnTo>
                  <a:pt x="779838" y="94749"/>
                </a:lnTo>
                <a:lnTo>
                  <a:pt x="799833" y="94452"/>
                </a:lnTo>
                <a:lnTo>
                  <a:pt x="819829" y="94285"/>
                </a:lnTo>
                <a:lnTo>
                  <a:pt x="839825" y="86794"/>
                </a:lnTo>
                <a:lnTo>
                  <a:pt x="859821" y="85951"/>
                </a:lnTo>
                <a:lnTo>
                  <a:pt x="879817" y="89747"/>
                </a:lnTo>
                <a:lnTo>
                  <a:pt x="899813" y="84429"/>
                </a:lnTo>
                <a:lnTo>
                  <a:pt x="919808" y="84190"/>
                </a:lnTo>
                <a:lnTo>
                  <a:pt x="939804" y="79156"/>
                </a:lnTo>
                <a:lnTo>
                  <a:pt x="959800" y="81094"/>
                </a:lnTo>
                <a:lnTo>
                  <a:pt x="979796" y="87670"/>
                </a:lnTo>
                <a:lnTo>
                  <a:pt x="999792" y="78276"/>
                </a:lnTo>
                <a:lnTo>
                  <a:pt x="1019788" y="91394"/>
                </a:lnTo>
                <a:lnTo>
                  <a:pt x="1039784" y="87064"/>
                </a:lnTo>
                <a:lnTo>
                  <a:pt x="1059779" y="81350"/>
                </a:lnTo>
                <a:lnTo>
                  <a:pt x="1079775" y="89546"/>
                </a:lnTo>
                <a:lnTo>
                  <a:pt x="1099771" y="82226"/>
                </a:lnTo>
                <a:lnTo>
                  <a:pt x="1119767" y="86723"/>
                </a:lnTo>
                <a:lnTo>
                  <a:pt x="1139763" y="73494"/>
                </a:lnTo>
                <a:lnTo>
                  <a:pt x="1159759" y="68708"/>
                </a:lnTo>
                <a:lnTo>
                  <a:pt x="1179755" y="68880"/>
                </a:lnTo>
                <a:lnTo>
                  <a:pt x="1199750" y="61818"/>
                </a:lnTo>
                <a:lnTo>
                  <a:pt x="1219746" y="69602"/>
                </a:lnTo>
                <a:lnTo>
                  <a:pt x="1239742" y="63571"/>
                </a:lnTo>
                <a:lnTo>
                  <a:pt x="1259738" y="66490"/>
                </a:lnTo>
                <a:lnTo>
                  <a:pt x="1279734" y="69265"/>
                </a:lnTo>
                <a:lnTo>
                  <a:pt x="1299730" y="74760"/>
                </a:lnTo>
                <a:lnTo>
                  <a:pt x="1319725" y="73317"/>
                </a:lnTo>
                <a:lnTo>
                  <a:pt x="1339721" y="76680"/>
                </a:lnTo>
                <a:lnTo>
                  <a:pt x="1359717" y="88873"/>
                </a:lnTo>
                <a:lnTo>
                  <a:pt x="1379713" y="91099"/>
                </a:lnTo>
                <a:lnTo>
                  <a:pt x="1399709" y="104866"/>
                </a:lnTo>
                <a:lnTo>
                  <a:pt x="1419705" y="99592"/>
                </a:lnTo>
                <a:lnTo>
                  <a:pt x="1439701" y="104033"/>
                </a:lnTo>
                <a:lnTo>
                  <a:pt x="1459696" y="101601"/>
                </a:lnTo>
                <a:lnTo>
                  <a:pt x="1479692" y="106147"/>
                </a:lnTo>
                <a:lnTo>
                  <a:pt x="1499688" y="115647"/>
                </a:lnTo>
                <a:lnTo>
                  <a:pt x="1519684" y="114236"/>
                </a:lnTo>
                <a:lnTo>
                  <a:pt x="1539680" y="108810"/>
                </a:lnTo>
                <a:lnTo>
                  <a:pt x="1559676" y="118286"/>
                </a:lnTo>
                <a:lnTo>
                  <a:pt x="1579671" y="108598"/>
                </a:lnTo>
                <a:lnTo>
                  <a:pt x="1599667" y="111558"/>
                </a:lnTo>
                <a:lnTo>
                  <a:pt x="1619663" y="110333"/>
                </a:lnTo>
                <a:lnTo>
                  <a:pt x="1639659" y="109798"/>
                </a:lnTo>
                <a:lnTo>
                  <a:pt x="1659655" y="94483"/>
                </a:lnTo>
                <a:lnTo>
                  <a:pt x="1679651" y="108005"/>
                </a:lnTo>
                <a:lnTo>
                  <a:pt x="1699647" y="107212"/>
                </a:lnTo>
                <a:lnTo>
                  <a:pt x="1719642" y="107036"/>
                </a:lnTo>
                <a:lnTo>
                  <a:pt x="1739638" y="99766"/>
                </a:lnTo>
                <a:lnTo>
                  <a:pt x="1759634" y="123140"/>
                </a:lnTo>
                <a:lnTo>
                  <a:pt x="1779630" y="118309"/>
                </a:lnTo>
                <a:lnTo>
                  <a:pt x="1799626" y="118507"/>
                </a:lnTo>
                <a:lnTo>
                  <a:pt x="1819622" y="110083"/>
                </a:lnTo>
                <a:lnTo>
                  <a:pt x="1839617" y="108725"/>
                </a:lnTo>
                <a:lnTo>
                  <a:pt x="1859613" y="100679"/>
                </a:lnTo>
                <a:lnTo>
                  <a:pt x="1879609" y="106143"/>
                </a:lnTo>
                <a:lnTo>
                  <a:pt x="1899605" y="88235"/>
                </a:lnTo>
                <a:lnTo>
                  <a:pt x="1919601" y="73081"/>
                </a:lnTo>
                <a:lnTo>
                  <a:pt x="1939597" y="40113"/>
                </a:lnTo>
                <a:lnTo>
                  <a:pt x="1959593" y="20290"/>
                </a:lnTo>
                <a:lnTo>
                  <a:pt x="1979588" y="27625"/>
                </a:lnTo>
                <a:lnTo>
                  <a:pt x="1999584" y="14785"/>
                </a:lnTo>
                <a:lnTo>
                  <a:pt x="2019580" y="5791"/>
                </a:lnTo>
                <a:lnTo>
                  <a:pt x="2039576" y="3665"/>
                </a:lnTo>
                <a:lnTo>
                  <a:pt x="2059572" y="0"/>
                </a:lnTo>
                <a:lnTo>
                  <a:pt x="2079568" y="5333"/>
                </a:lnTo>
                <a:lnTo>
                  <a:pt x="2099564" y="25955"/>
                </a:lnTo>
                <a:lnTo>
                  <a:pt x="2119559" y="46831"/>
                </a:lnTo>
                <a:lnTo>
                  <a:pt x="2139555" y="51222"/>
                </a:lnTo>
                <a:lnTo>
                  <a:pt x="2159551" y="67105"/>
                </a:lnTo>
                <a:lnTo>
                  <a:pt x="2179547" y="75365"/>
                </a:lnTo>
                <a:lnTo>
                  <a:pt x="2199543" y="77082"/>
                </a:lnTo>
                <a:lnTo>
                  <a:pt x="2219539" y="91053"/>
                </a:lnTo>
                <a:lnTo>
                  <a:pt x="2239534" y="99849"/>
                </a:lnTo>
                <a:lnTo>
                  <a:pt x="2259530" y="100053"/>
                </a:lnTo>
                <a:lnTo>
                  <a:pt x="2279526" y="99243"/>
                </a:lnTo>
                <a:lnTo>
                  <a:pt x="2299522" y="110110"/>
                </a:lnTo>
                <a:lnTo>
                  <a:pt x="2319518" y="92369"/>
                </a:lnTo>
                <a:lnTo>
                  <a:pt x="2339514" y="92658"/>
                </a:lnTo>
                <a:lnTo>
                  <a:pt x="2359510" y="89412"/>
                </a:lnTo>
                <a:lnTo>
                  <a:pt x="2379505" y="89578"/>
                </a:lnTo>
                <a:lnTo>
                  <a:pt x="2399501" y="95359"/>
                </a:lnTo>
                <a:lnTo>
                  <a:pt x="2419497" y="95208"/>
                </a:lnTo>
                <a:lnTo>
                  <a:pt x="2439493" y="99921"/>
                </a:lnTo>
                <a:lnTo>
                  <a:pt x="2459489" y="93511"/>
                </a:lnTo>
                <a:lnTo>
                  <a:pt x="2479485" y="102293"/>
                </a:lnTo>
                <a:lnTo>
                  <a:pt x="2499480" y="103304"/>
                </a:lnTo>
                <a:lnTo>
                  <a:pt x="2519476" y="102550"/>
                </a:lnTo>
                <a:lnTo>
                  <a:pt x="2539472" y="103856"/>
                </a:lnTo>
                <a:lnTo>
                  <a:pt x="2559468" y="102219"/>
                </a:lnTo>
                <a:lnTo>
                  <a:pt x="2579464" y="105409"/>
                </a:lnTo>
                <a:lnTo>
                  <a:pt x="2599460" y="105464"/>
                </a:lnTo>
                <a:lnTo>
                  <a:pt x="2619456" y="102946"/>
                </a:lnTo>
                <a:lnTo>
                  <a:pt x="2639451" y="102183"/>
                </a:lnTo>
                <a:lnTo>
                  <a:pt x="2659447" y="97966"/>
                </a:lnTo>
                <a:lnTo>
                  <a:pt x="2679443" y="99537"/>
                </a:lnTo>
                <a:lnTo>
                  <a:pt x="2699439" y="89371"/>
                </a:lnTo>
                <a:lnTo>
                  <a:pt x="2719435" y="90017"/>
                </a:lnTo>
                <a:lnTo>
                  <a:pt x="2739431" y="92608"/>
                </a:lnTo>
                <a:lnTo>
                  <a:pt x="2759426" y="89952"/>
                </a:lnTo>
                <a:lnTo>
                  <a:pt x="2779422" y="87644"/>
                </a:lnTo>
                <a:lnTo>
                  <a:pt x="2799418" y="86376"/>
                </a:lnTo>
                <a:lnTo>
                  <a:pt x="2819414" y="87809"/>
                </a:lnTo>
                <a:lnTo>
                  <a:pt x="2839410" y="80791"/>
                </a:lnTo>
                <a:lnTo>
                  <a:pt x="2859406" y="79432"/>
                </a:lnTo>
                <a:lnTo>
                  <a:pt x="2879402" y="84417"/>
                </a:lnTo>
                <a:lnTo>
                  <a:pt x="2899397" y="84718"/>
                </a:lnTo>
                <a:lnTo>
                  <a:pt x="2919393" y="88900"/>
                </a:lnTo>
                <a:lnTo>
                  <a:pt x="2939389" y="89447"/>
                </a:lnTo>
                <a:lnTo>
                  <a:pt x="2959385" y="87995"/>
                </a:lnTo>
                <a:lnTo>
                  <a:pt x="2979381" y="89302"/>
                </a:lnTo>
                <a:lnTo>
                  <a:pt x="2999377" y="84764"/>
                </a:lnTo>
                <a:lnTo>
                  <a:pt x="3019372" y="90991"/>
                </a:lnTo>
                <a:lnTo>
                  <a:pt x="3039368" y="92326"/>
                </a:lnTo>
                <a:lnTo>
                  <a:pt x="3059364" y="84033"/>
                </a:lnTo>
                <a:lnTo>
                  <a:pt x="3079360" y="87579"/>
                </a:lnTo>
                <a:lnTo>
                  <a:pt x="3099356" y="90679"/>
                </a:lnTo>
                <a:lnTo>
                  <a:pt x="3119352" y="86879"/>
                </a:lnTo>
                <a:lnTo>
                  <a:pt x="3139348" y="91232"/>
                </a:lnTo>
                <a:lnTo>
                  <a:pt x="3159343" y="86723"/>
                </a:lnTo>
                <a:lnTo>
                  <a:pt x="3179339" y="82871"/>
                </a:lnTo>
                <a:lnTo>
                  <a:pt x="3199335" y="84273"/>
                </a:lnTo>
                <a:lnTo>
                  <a:pt x="3219331" y="86402"/>
                </a:lnTo>
                <a:lnTo>
                  <a:pt x="3239327" y="91159"/>
                </a:lnTo>
                <a:lnTo>
                  <a:pt x="3259323" y="91350"/>
                </a:lnTo>
                <a:lnTo>
                  <a:pt x="3279319" y="94400"/>
                </a:lnTo>
                <a:lnTo>
                  <a:pt x="3299314" y="90406"/>
                </a:lnTo>
                <a:lnTo>
                  <a:pt x="3319310" y="93863"/>
                </a:lnTo>
                <a:lnTo>
                  <a:pt x="3339306" y="92905"/>
                </a:lnTo>
                <a:lnTo>
                  <a:pt x="3359302" y="97896"/>
                </a:lnTo>
                <a:lnTo>
                  <a:pt x="3379298" y="99570"/>
                </a:lnTo>
                <a:lnTo>
                  <a:pt x="3399294" y="94758"/>
                </a:lnTo>
                <a:lnTo>
                  <a:pt x="3419289" y="93252"/>
                </a:lnTo>
                <a:lnTo>
                  <a:pt x="3439285" y="94090"/>
                </a:lnTo>
                <a:lnTo>
                  <a:pt x="3459281" y="93841"/>
                </a:lnTo>
                <a:lnTo>
                  <a:pt x="3479277" y="92801"/>
                </a:lnTo>
                <a:lnTo>
                  <a:pt x="3499273" y="92372"/>
                </a:lnTo>
                <a:lnTo>
                  <a:pt x="3519269" y="95689"/>
                </a:lnTo>
                <a:lnTo>
                  <a:pt x="3539265" y="91887"/>
                </a:lnTo>
                <a:lnTo>
                  <a:pt x="3559260" y="92177"/>
                </a:lnTo>
                <a:lnTo>
                  <a:pt x="3579256" y="94080"/>
                </a:lnTo>
                <a:lnTo>
                  <a:pt x="3599252" y="93316"/>
                </a:lnTo>
                <a:lnTo>
                  <a:pt x="3619248" y="90558"/>
                </a:lnTo>
                <a:lnTo>
                  <a:pt x="3639244" y="90443"/>
                </a:lnTo>
                <a:lnTo>
                  <a:pt x="3659240" y="86530"/>
                </a:lnTo>
                <a:lnTo>
                  <a:pt x="3679235" y="84280"/>
                </a:lnTo>
                <a:lnTo>
                  <a:pt x="3699231" y="88970"/>
                </a:lnTo>
                <a:lnTo>
                  <a:pt x="3719227" y="84845"/>
                </a:lnTo>
                <a:lnTo>
                  <a:pt x="3739223" y="84551"/>
                </a:lnTo>
                <a:lnTo>
                  <a:pt x="3759219" y="84884"/>
                </a:lnTo>
                <a:lnTo>
                  <a:pt x="3779215" y="89981"/>
                </a:lnTo>
                <a:close/>
              </a:path>
            </a:pathLst>
          </a:custGeom>
          <a:noFill/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7251192" y="5099366"/>
            <a:ext cx="3779215" cy="83129"/>
          </a:xfrm>
          <a:custGeom>
            <a:avLst/>
            <a:gdLst/>
            <a:ahLst/>
            <a:cxnLst/>
            <a:rect l="l" t="t" r="r" b="b"/>
            <a:pathLst>
              <a:path w="3779215" h="83129">
                <a:moveTo>
                  <a:pt x="0" y="49022"/>
                </a:moveTo>
                <a:lnTo>
                  <a:pt x="19995" y="49406"/>
                </a:lnTo>
                <a:lnTo>
                  <a:pt x="39991" y="49870"/>
                </a:lnTo>
                <a:lnTo>
                  <a:pt x="59987" y="49998"/>
                </a:lnTo>
                <a:lnTo>
                  <a:pt x="79983" y="47747"/>
                </a:lnTo>
                <a:lnTo>
                  <a:pt x="99979" y="46190"/>
                </a:lnTo>
                <a:lnTo>
                  <a:pt x="119975" y="46420"/>
                </a:lnTo>
                <a:lnTo>
                  <a:pt x="139970" y="48289"/>
                </a:lnTo>
                <a:lnTo>
                  <a:pt x="159966" y="47260"/>
                </a:lnTo>
                <a:lnTo>
                  <a:pt x="179962" y="46457"/>
                </a:lnTo>
                <a:lnTo>
                  <a:pt x="199958" y="50492"/>
                </a:lnTo>
                <a:lnTo>
                  <a:pt x="219954" y="47584"/>
                </a:lnTo>
                <a:lnTo>
                  <a:pt x="239950" y="46609"/>
                </a:lnTo>
                <a:lnTo>
                  <a:pt x="259946" y="47834"/>
                </a:lnTo>
                <a:lnTo>
                  <a:pt x="279941" y="48642"/>
                </a:lnTo>
                <a:lnTo>
                  <a:pt x="299937" y="50832"/>
                </a:lnTo>
                <a:lnTo>
                  <a:pt x="319933" y="53187"/>
                </a:lnTo>
                <a:lnTo>
                  <a:pt x="339929" y="50506"/>
                </a:lnTo>
                <a:lnTo>
                  <a:pt x="359925" y="53583"/>
                </a:lnTo>
                <a:lnTo>
                  <a:pt x="379921" y="51433"/>
                </a:lnTo>
                <a:lnTo>
                  <a:pt x="399916" y="50723"/>
                </a:lnTo>
                <a:lnTo>
                  <a:pt x="419912" y="53900"/>
                </a:lnTo>
                <a:lnTo>
                  <a:pt x="439908" y="53659"/>
                </a:lnTo>
                <a:lnTo>
                  <a:pt x="459904" y="50229"/>
                </a:lnTo>
                <a:lnTo>
                  <a:pt x="479900" y="50835"/>
                </a:lnTo>
                <a:lnTo>
                  <a:pt x="499896" y="53134"/>
                </a:lnTo>
                <a:lnTo>
                  <a:pt x="519892" y="52518"/>
                </a:lnTo>
                <a:lnTo>
                  <a:pt x="539887" y="51493"/>
                </a:lnTo>
                <a:lnTo>
                  <a:pt x="559883" y="46420"/>
                </a:lnTo>
                <a:lnTo>
                  <a:pt x="579879" y="46154"/>
                </a:lnTo>
                <a:lnTo>
                  <a:pt x="599875" y="49179"/>
                </a:lnTo>
                <a:lnTo>
                  <a:pt x="619871" y="44789"/>
                </a:lnTo>
                <a:lnTo>
                  <a:pt x="639867" y="43516"/>
                </a:lnTo>
                <a:lnTo>
                  <a:pt x="659862" y="45152"/>
                </a:lnTo>
                <a:lnTo>
                  <a:pt x="679858" y="46892"/>
                </a:lnTo>
                <a:lnTo>
                  <a:pt x="699854" y="45801"/>
                </a:lnTo>
                <a:lnTo>
                  <a:pt x="719850" y="48494"/>
                </a:lnTo>
                <a:lnTo>
                  <a:pt x="739846" y="49464"/>
                </a:lnTo>
                <a:lnTo>
                  <a:pt x="759842" y="43667"/>
                </a:lnTo>
                <a:lnTo>
                  <a:pt x="779838" y="45777"/>
                </a:lnTo>
                <a:lnTo>
                  <a:pt x="799833" y="46530"/>
                </a:lnTo>
                <a:lnTo>
                  <a:pt x="819829" y="43503"/>
                </a:lnTo>
                <a:lnTo>
                  <a:pt x="839825" y="46461"/>
                </a:lnTo>
                <a:lnTo>
                  <a:pt x="859821" y="42563"/>
                </a:lnTo>
                <a:lnTo>
                  <a:pt x="879817" y="41851"/>
                </a:lnTo>
                <a:lnTo>
                  <a:pt x="899813" y="45391"/>
                </a:lnTo>
                <a:lnTo>
                  <a:pt x="919808" y="43908"/>
                </a:lnTo>
                <a:lnTo>
                  <a:pt x="939804" y="42466"/>
                </a:lnTo>
                <a:lnTo>
                  <a:pt x="959800" y="42041"/>
                </a:lnTo>
                <a:lnTo>
                  <a:pt x="979796" y="38583"/>
                </a:lnTo>
                <a:lnTo>
                  <a:pt x="999792" y="41629"/>
                </a:lnTo>
                <a:lnTo>
                  <a:pt x="1019788" y="41082"/>
                </a:lnTo>
                <a:lnTo>
                  <a:pt x="1039784" y="45494"/>
                </a:lnTo>
                <a:lnTo>
                  <a:pt x="1059779" y="40554"/>
                </a:lnTo>
                <a:lnTo>
                  <a:pt x="1079775" y="49017"/>
                </a:lnTo>
                <a:lnTo>
                  <a:pt x="1099771" y="51526"/>
                </a:lnTo>
                <a:lnTo>
                  <a:pt x="1119767" y="53920"/>
                </a:lnTo>
                <a:lnTo>
                  <a:pt x="1139763" y="54135"/>
                </a:lnTo>
                <a:lnTo>
                  <a:pt x="1159759" y="61865"/>
                </a:lnTo>
                <a:lnTo>
                  <a:pt x="1179755" y="59040"/>
                </a:lnTo>
                <a:lnTo>
                  <a:pt x="1199750" y="64417"/>
                </a:lnTo>
                <a:lnTo>
                  <a:pt x="1219746" y="64392"/>
                </a:lnTo>
                <a:lnTo>
                  <a:pt x="1239742" y="63863"/>
                </a:lnTo>
                <a:lnTo>
                  <a:pt x="1259738" y="67419"/>
                </a:lnTo>
                <a:lnTo>
                  <a:pt x="1279734" y="61464"/>
                </a:lnTo>
                <a:lnTo>
                  <a:pt x="1299730" y="61752"/>
                </a:lnTo>
                <a:lnTo>
                  <a:pt x="1319725" y="61203"/>
                </a:lnTo>
                <a:lnTo>
                  <a:pt x="1339721" y="51676"/>
                </a:lnTo>
                <a:lnTo>
                  <a:pt x="1359717" y="55722"/>
                </a:lnTo>
                <a:lnTo>
                  <a:pt x="1379713" y="51534"/>
                </a:lnTo>
                <a:lnTo>
                  <a:pt x="1399709" y="48252"/>
                </a:lnTo>
                <a:lnTo>
                  <a:pt x="1419705" y="49302"/>
                </a:lnTo>
                <a:lnTo>
                  <a:pt x="1439701" y="51365"/>
                </a:lnTo>
                <a:lnTo>
                  <a:pt x="1459696" y="49834"/>
                </a:lnTo>
                <a:lnTo>
                  <a:pt x="1479692" y="50005"/>
                </a:lnTo>
                <a:lnTo>
                  <a:pt x="1499688" y="48407"/>
                </a:lnTo>
                <a:lnTo>
                  <a:pt x="1519684" y="55789"/>
                </a:lnTo>
                <a:lnTo>
                  <a:pt x="1539680" y="51594"/>
                </a:lnTo>
                <a:lnTo>
                  <a:pt x="1559676" y="54835"/>
                </a:lnTo>
                <a:lnTo>
                  <a:pt x="1579671" y="53849"/>
                </a:lnTo>
                <a:lnTo>
                  <a:pt x="1599667" y="46598"/>
                </a:lnTo>
                <a:lnTo>
                  <a:pt x="1619663" y="46828"/>
                </a:lnTo>
                <a:lnTo>
                  <a:pt x="1639659" y="42175"/>
                </a:lnTo>
                <a:lnTo>
                  <a:pt x="1659655" y="34464"/>
                </a:lnTo>
                <a:lnTo>
                  <a:pt x="1679651" y="26177"/>
                </a:lnTo>
                <a:lnTo>
                  <a:pt x="1699647" y="25597"/>
                </a:lnTo>
                <a:lnTo>
                  <a:pt x="1719642" y="16305"/>
                </a:lnTo>
                <a:lnTo>
                  <a:pt x="1739638" y="11400"/>
                </a:lnTo>
                <a:lnTo>
                  <a:pt x="1759634" y="6101"/>
                </a:lnTo>
                <a:lnTo>
                  <a:pt x="1779630" y="0"/>
                </a:lnTo>
                <a:lnTo>
                  <a:pt x="1799626" y="2901"/>
                </a:lnTo>
                <a:lnTo>
                  <a:pt x="1819622" y="3563"/>
                </a:lnTo>
                <a:lnTo>
                  <a:pt x="1839617" y="9291"/>
                </a:lnTo>
                <a:lnTo>
                  <a:pt x="1859613" y="8875"/>
                </a:lnTo>
                <a:lnTo>
                  <a:pt x="1879609" y="22360"/>
                </a:lnTo>
                <a:lnTo>
                  <a:pt x="1899605" y="29872"/>
                </a:lnTo>
                <a:lnTo>
                  <a:pt x="1919601" y="39524"/>
                </a:lnTo>
                <a:lnTo>
                  <a:pt x="1939597" y="61614"/>
                </a:lnTo>
                <a:lnTo>
                  <a:pt x="1959593" y="64795"/>
                </a:lnTo>
                <a:lnTo>
                  <a:pt x="1979588" y="64232"/>
                </a:lnTo>
                <a:lnTo>
                  <a:pt x="1999584" y="69717"/>
                </a:lnTo>
                <a:lnTo>
                  <a:pt x="2019580" y="83129"/>
                </a:lnTo>
                <a:lnTo>
                  <a:pt x="2039576" y="82227"/>
                </a:lnTo>
                <a:lnTo>
                  <a:pt x="2059572" y="73960"/>
                </a:lnTo>
                <a:lnTo>
                  <a:pt x="2079568" y="76547"/>
                </a:lnTo>
                <a:lnTo>
                  <a:pt x="2099564" y="69899"/>
                </a:lnTo>
                <a:lnTo>
                  <a:pt x="2119559" y="69251"/>
                </a:lnTo>
                <a:lnTo>
                  <a:pt x="2139555" y="57422"/>
                </a:lnTo>
                <a:lnTo>
                  <a:pt x="2159551" y="54623"/>
                </a:lnTo>
                <a:lnTo>
                  <a:pt x="2179547" y="53121"/>
                </a:lnTo>
                <a:lnTo>
                  <a:pt x="2199543" y="64955"/>
                </a:lnTo>
                <a:lnTo>
                  <a:pt x="2219539" y="58623"/>
                </a:lnTo>
                <a:lnTo>
                  <a:pt x="2239534" y="61287"/>
                </a:lnTo>
                <a:lnTo>
                  <a:pt x="2259530" y="69610"/>
                </a:lnTo>
                <a:lnTo>
                  <a:pt x="2279526" y="61362"/>
                </a:lnTo>
                <a:lnTo>
                  <a:pt x="2299522" y="60835"/>
                </a:lnTo>
                <a:lnTo>
                  <a:pt x="2319518" y="68961"/>
                </a:lnTo>
                <a:lnTo>
                  <a:pt x="2339514" y="59421"/>
                </a:lnTo>
                <a:lnTo>
                  <a:pt x="2359510" y="63226"/>
                </a:lnTo>
                <a:lnTo>
                  <a:pt x="2379505" y="59585"/>
                </a:lnTo>
                <a:lnTo>
                  <a:pt x="2399501" y="51768"/>
                </a:lnTo>
                <a:lnTo>
                  <a:pt x="2419497" y="50308"/>
                </a:lnTo>
                <a:lnTo>
                  <a:pt x="2439493" y="53355"/>
                </a:lnTo>
                <a:lnTo>
                  <a:pt x="2459489" y="48310"/>
                </a:lnTo>
                <a:lnTo>
                  <a:pt x="2479485" y="45380"/>
                </a:lnTo>
                <a:lnTo>
                  <a:pt x="2499480" y="45030"/>
                </a:lnTo>
                <a:lnTo>
                  <a:pt x="2519476" y="44857"/>
                </a:lnTo>
                <a:lnTo>
                  <a:pt x="2539472" y="43189"/>
                </a:lnTo>
                <a:lnTo>
                  <a:pt x="2559468" y="40067"/>
                </a:lnTo>
                <a:lnTo>
                  <a:pt x="2579464" y="45066"/>
                </a:lnTo>
                <a:lnTo>
                  <a:pt x="2599460" y="41884"/>
                </a:lnTo>
                <a:lnTo>
                  <a:pt x="2619456" y="43316"/>
                </a:lnTo>
                <a:lnTo>
                  <a:pt x="2639451" y="46810"/>
                </a:lnTo>
                <a:lnTo>
                  <a:pt x="2659447" y="45680"/>
                </a:lnTo>
                <a:lnTo>
                  <a:pt x="2679443" y="44740"/>
                </a:lnTo>
                <a:lnTo>
                  <a:pt x="2699439" y="46215"/>
                </a:lnTo>
                <a:lnTo>
                  <a:pt x="2719435" y="49543"/>
                </a:lnTo>
                <a:lnTo>
                  <a:pt x="2739431" y="44645"/>
                </a:lnTo>
                <a:lnTo>
                  <a:pt x="2759426" y="46178"/>
                </a:lnTo>
                <a:lnTo>
                  <a:pt x="2779422" y="45347"/>
                </a:lnTo>
                <a:lnTo>
                  <a:pt x="2799418" y="50373"/>
                </a:lnTo>
                <a:lnTo>
                  <a:pt x="2819414" y="49408"/>
                </a:lnTo>
                <a:lnTo>
                  <a:pt x="2839410" y="50567"/>
                </a:lnTo>
                <a:lnTo>
                  <a:pt x="2859406" y="46291"/>
                </a:lnTo>
                <a:lnTo>
                  <a:pt x="2879402" y="49041"/>
                </a:lnTo>
                <a:lnTo>
                  <a:pt x="2899397" y="49803"/>
                </a:lnTo>
                <a:lnTo>
                  <a:pt x="2919393" y="48270"/>
                </a:lnTo>
                <a:lnTo>
                  <a:pt x="2939389" y="45797"/>
                </a:lnTo>
                <a:lnTo>
                  <a:pt x="2959385" y="46693"/>
                </a:lnTo>
                <a:lnTo>
                  <a:pt x="2979381" y="50309"/>
                </a:lnTo>
                <a:lnTo>
                  <a:pt x="2999377" y="51551"/>
                </a:lnTo>
                <a:lnTo>
                  <a:pt x="3019372" y="48033"/>
                </a:lnTo>
                <a:lnTo>
                  <a:pt x="3039368" y="50703"/>
                </a:lnTo>
                <a:lnTo>
                  <a:pt x="3059364" y="50715"/>
                </a:lnTo>
                <a:lnTo>
                  <a:pt x="3079360" y="54714"/>
                </a:lnTo>
                <a:lnTo>
                  <a:pt x="3099356" y="55392"/>
                </a:lnTo>
                <a:lnTo>
                  <a:pt x="3119352" y="52251"/>
                </a:lnTo>
                <a:lnTo>
                  <a:pt x="3139348" y="53803"/>
                </a:lnTo>
                <a:lnTo>
                  <a:pt x="3159343" y="55622"/>
                </a:lnTo>
                <a:lnTo>
                  <a:pt x="3179339" y="50532"/>
                </a:lnTo>
                <a:lnTo>
                  <a:pt x="3199335" y="51662"/>
                </a:lnTo>
                <a:lnTo>
                  <a:pt x="3219331" y="50048"/>
                </a:lnTo>
                <a:lnTo>
                  <a:pt x="3239327" y="53180"/>
                </a:lnTo>
                <a:lnTo>
                  <a:pt x="3259323" y="48087"/>
                </a:lnTo>
                <a:lnTo>
                  <a:pt x="3279319" y="51574"/>
                </a:lnTo>
                <a:lnTo>
                  <a:pt x="3299314" y="46429"/>
                </a:lnTo>
                <a:lnTo>
                  <a:pt x="3319310" y="48010"/>
                </a:lnTo>
                <a:lnTo>
                  <a:pt x="3339306" y="48124"/>
                </a:lnTo>
                <a:lnTo>
                  <a:pt x="3359302" y="46603"/>
                </a:lnTo>
                <a:lnTo>
                  <a:pt x="3379298" y="44373"/>
                </a:lnTo>
                <a:lnTo>
                  <a:pt x="3399294" y="47956"/>
                </a:lnTo>
                <a:lnTo>
                  <a:pt x="3419289" y="48805"/>
                </a:lnTo>
                <a:lnTo>
                  <a:pt x="3439285" y="46789"/>
                </a:lnTo>
                <a:lnTo>
                  <a:pt x="3459281" y="48568"/>
                </a:lnTo>
                <a:lnTo>
                  <a:pt x="3479277" y="49454"/>
                </a:lnTo>
                <a:lnTo>
                  <a:pt x="3499273" y="49288"/>
                </a:lnTo>
                <a:lnTo>
                  <a:pt x="3519269" y="49924"/>
                </a:lnTo>
                <a:lnTo>
                  <a:pt x="3539265" y="49010"/>
                </a:lnTo>
                <a:lnTo>
                  <a:pt x="3559260" y="48209"/>
                </a:lnTo>
                <a:lnTo>
                  <a:pt x="3579256" y="47950"/>
                </a:lnTo>
                <a:lnTo>
                  <a:pt x="3599252" y="45090"/>
                </a:lnTo>
                <a:lnTo>
                  <a:pt x="3619248" y="47269"/>
                </a:lnTo>
                <a:lnTo>
                  <a:pt x="3639244" y="45739"/>
                </a:lnTo>
                <a:lnTo>
                  <a:pt x="3659240" y="47200"/>
                </a:lnTo>
                <a:lnTo>
                  <a:pt x="3679235" y="46086"/>
                </a:lnTo>
                <a:lnTo>
                  <a:pt x="3699231" y="47863"/>
                </a:lnTo>
                <a:lnTo>
                  <a:pt x="3719227" y="46751"/>
                </a:lnTo>
                <a:lnTo>
                  <a:pt x="3739223" y="48403"/>
                </a:lnTo>
                <a:lnTo>
                  <a:pt x="3759219" y="45021"/>
                </a:lnTo>
                <a:lnTo>
                  <a:pt x="3779215" y="46743"/>
                </a:lnTo>
                <a:close/>
              </a:path>
            </a:pathLst>
          </a:custGeom>
          <a:noFill/>
          <a:ln w="1397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216383" y="4956048"/>
            <a:ext cx="7315" cy="3840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667743" y="521208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D3EE"/>
                </a:solidFill>
                <a:latin typeface="Segoe UI"/>
              </a:rPr>
              <a:t>human event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23176" y="5650992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20">
                <a:solidFill>
                  <a:srgbClr val="647890"/>
                </a:solidFill>
                <a:latin typeface="Segoe UI"/>
              </a:rPr>
              <a:t>LINKS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23176" y="58338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AECB"/>
                </a:solidFill>
                <a:latin typeface="Segoe UI"/>
              </a:rPr>
              <a:t>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24344" y="5888736"/>
            <a:ext cx="822960" cy="6400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7324344" y="5888736"/>
            <a:ext cx="674827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8311896" y="58338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AECB"/>
                </a:solidFill>
                <a:latin typeface="Segoe UI"/>
              </a:rPr>
              <a:t>B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513064" y="5888736"/>
            <a:ext cx="822960" cy="6400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8513064" y="5888736"/>
            <a:ext cx="526694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9500616" y="58338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AECB"/>
                </a:solidFill>
                <a:latin typeface="Segoe UI"/>
              </a:rPr>
              <a:t>C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701784" y="5888736"/>
            <a:ext cx="822960" cy="6400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9701784" y="5888736"/>
            <a:ext cx="255117" cy="640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585655" y="5833872"/>
            <a:ext cx="16824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647890"/>
                </a:solidFill>
                <a:latin typeface="Segoe UI"/>
              </a:rPr>
              <a:t>No camera feed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85800" y="5705856"/>
            <a:ext cx="5870448" cy="804672"/>
          </a:xfrm>
          <a:prstGeom prst="roundRect">
            <a:avLst>
              <a:gd name="adj" fmla="val 22727"/>
            </a:avLst>
          </a:prstGeom>
          <a:solidFill>
            <a:srgbClr val="FBBF24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7" name="Picture 86" descr="s09_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5733288"/>
            <a:ext cx="2377440" cy="749808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3300984" y="5705856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BBF24"/>
                </a:solidFill>
                <a:latin typeface="Segoe UI"/>
              </a:rPr>
              <a:t>Step 5 is the one that matters: the bag changes the signal, and the system must still say “not human”.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643737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60">
                <a:solidFill>
                  <a:srgbClr val="647890"/>
                </a:solidFill>
                <a:latin typeface="Segoe UI"/>
              </a:rPr>
              <a:t>WiFiSense  ·  Privacy-Preserving Human Activity Detection Using WiFi CSI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08615" y="643737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 spc="120">
                <a:solidFill>
                  <a:srgbClr val="22D3EE"/>
                </a:solidFill>
                <a:latin typeface="Segoe U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0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5669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20">
                <a:solidFill>
                  <a:srgbClr val="22D3EE"/>
                </a:solidFill>
                <a:latin typeface="Segoe UI"/>
              </a:rPr>
              <a:t>09  —  IMPACT  &amp;  FUTURE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4632" y="617220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841248"/>
            <a:ext cx="1082009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2FF"/>
                </a:solidFill>
                <a:latin typeface="Segoe UI"/>
              </a:rPr>
              <a:t>Why this matters — and what comes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00784"/>
            <a:ext cx="5254599" cy="2761488"/>
          </a:xfrm>
          <a:prstGeom prst="roundRect">
            <a:avLst>
              <a:gd name="adj" fmla="val 9271"/>
            </a:avLst>
          </a:prstGeom>
          <a:solidFill>
            <a:srgbClr val="0B1220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1700784"/>
            <a:ext cx="5254599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96696" y="1938528"/>
            <a:ext cx="4705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40">
                <a:solidFill>
                  <a:srgbClr val="22D3EE"/>
                </a:solidFill>
                <a:latin typeface="Segoe UI"/>
              </a:rPr>
              <a:t>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4983" y="2372868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34440" y="2286000"/>
            <a:ext cx="43401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EAF2FF"/>
                </a:solidFill>
                <a:latin typeface="Segoe UI"/>
              </a:rPr>
              <a:t>Camera-free sensing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43401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ECB"/>
                </a:solidFill>
                <a:latin typeface="Segoe UI"/>
              </a:rPr>
              <a:t>Works where cameras are unwanted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4983" y="2720340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4440" y="2633472"/>
            <a:ext cx="43401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EAF2FF"/>
                </a:solidFill>
                <a:latin typeface="Segoe UI"/>
              </a:rPr>
              <a:t>Privacy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834640"/>
            <a:ext cx="43401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ECB"/>
                </a:solidFill>
                <a:latin typeface="Segoe UI"/>
              </a:rPr>
              <a:t>No images, no audio, no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4983" y="3067812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43401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EAF2FF"/>
                </a:solidFill>
                <a:latin typeface="Segoe UI"/>
              </a:rPr>
              <a:t>Low-cost 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82112"/>
            <a:ext cx="43401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ECB"/>
                </a:solidFill>
                <a:latin typeface="Segoe UI"/>
              </a:rPr>
              <a:t>ESP32 boards — no specialist RF gear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4983" y="3415284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34440" y="3328415"/>
            <a:ext cx="43401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EAF2FF"/>
                </a:solidFill>
                <a:latin typeface="Segoe UI"/>
              </a:rPr>
              <a:t>No wearables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529584"/>
            <a:ext cx="43401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ECB"/>
                </a:solidFill>
                <a:latin typeface="Segoe UI"/>
              </a:rPr>
              <a:t>Nothing to wear, charge or remember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3" y="3762756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34440" y="3675888"/>
            <a:ext cx="43401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EAF2FF"/>
                </a:solidFill>
                <a:latin typeface="Segoe UI"/>
              </a:rPr>
              <a:t>Edge / near-device processing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877056"/>
            <a:ext cx="43401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ECB"/>
                </a:solidFill>
                <a:latin typeface="Segoe UI"/>
              </a:rPr>
              <a:t>Raw CSI is processed locally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3" y="4110228"/>
            <a:ext cx="9144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4440" y="4023360"/>
            <a:ext cx="43401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EAF2FF"/>
                </a:solidFill>
                <a:latin typeface="Segoe UI"/>
              </a:rPr>
              <a:t>Scales room by room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224528"/>
            <a:ext cx="43401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ECB"/>
                </a:solidFill>
                <a:latin typeface="Segoe UI"/>
              </a:rPr>
              <a:t>Add links, reuse the same pipeline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1295" y="1700784"/>
            <a:ext cx="5254599" cy="2761488"/>
          </a:xfrm>
          <a:prstGeom prst="roundRect">
            <a:avLst>
              <a:gd name="adj" fmla="val 9271"/>
            </a:avLst>
          </a:prstGeom>
          <a:solidFill>
            <a:srgbClr val="0B1220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51295" y="1700784"/>
            <a:ext cx="5254599" cy="4114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62191" y="1938528"/>
            <a:ext cx="4705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40">
                <a:solidFill>
                  <a:srgbClr val="8B5CF6"/>
                </a:solidFill>
                <a:latin typeface="Segoe UI"/>
              </a:rPr>
              <a:t>FUTURE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0479" y="2372868"/>
            <a:ext cx="91440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799935" y="2286000"/>
            <a:ext cx="43401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EAF2FF"/>
                </a:solidFill>
                <a:latin typeface="Segoe UI"/>
              </a:rPr>
              <a:t>Reliable fall detection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9935" y="2487168"/>
            <a:ext cx="43401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ECB"/>
                </a:solidFill>
                <a:latin typeface="Segoe UI"/>
              </a:rPr>
              <a:t>Sudden-drop + long-stillness events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0479" y="2720340"/>
            <a:ext cx="91440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799935" y="2633472"/>
            <a:ext cx="43401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EAF2FF"/>
                </a:solidFill>
                <a:latin typeface="Segoe UI"/>
              </a:rPr>
              <a:t>Multi-room sensing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99935" y="2834640"/>
            <a:ext cx="43401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ECB"/>
                </a:solidFill>
                <a:latin typeface="Segoe UI"/>
              </a:rPr>
              <a:t>Several links, one coordinated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0479" y="3067812"/>
            <a:ext cx="91440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799935" y="2980944"/>
            <a:ext cx="43401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EAF2FF"/>
                </a:solidFill>
                <a:latin typeface="Segoe UI"/>
              </a:rPr>
              <a:t>Stronger rejection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99935" y="3182112"/>
            <a:ext cx="43401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ECB"/>
                </a:solidFill>
                <a:latin typeface="Segoe UI"/>
              </a:rPr>
              <a:t>Fans, doors, pets, moving furniture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0479" y="3415284"/>
            <a:ext cx="91440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99935" y="3328415"/>
            <a:ext cx="43401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EAF2FF"/>
                </a:solidFill>
                <a:latin typeface="Segoe UI"/>
              </a:rPr>
              <a:t>TinyML on the ESP32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99935" y="3529584"/>
            <a:ext cx="43401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ECB"/>
                </a:solidFill>
                <a:latin typeface="Segoe UI"/>
              </a:rPr>
              <a:t>Inference on the board, not the laptop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0479" y="3762756"/>
            <a:ext cx="91440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799935" y="3675888"/>
            <a:ext cx="43401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EAF2FF"/>
                </a:solidFill>
                <a:latin typeface="Segoe UI"/>
              </a:rPr>
              <a:t>Adaptive calibration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99935" y="3877056"/>
            <a:ext cx="43401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ECB"/>
                </a:solidFill>
                <a:latin typeface="Segoe UI"/>
              </a:rPr>
              <a:t>Self-tuning to each new environment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62191" y="4096512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47890"/>
                </a:solidFill>
                <a:latin typeface="Segoe UI"/>
              </a:rPr>
              <a:t>CSI sensing is established research. Our contribution is a practical, low-cost implementation with explicit non-human rejection.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791456"/>
            <a:ext cx="10820095" cy="10972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85800" y="5010912"/>
            <a:ext cx="95399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20">
                <a:solidFill>
                  <a:srgbClr val="22D3EE"/>
                </a:solidFill>
                <a:latin typeface="Segoe UI"/>
              </a:rPr>
              <a:t>WiFi is everywhere.  Why not use it to sense the environment — without seeing it?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6692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 spc="120">
                <a:solidFill>
                  <a:srgbClr val="9AAECB"/>
                </a:solidFill>
                <a:latin typeface="Segoe UI"/>
              </a:rPr>
              <a:t>WiFiSense  ·  Sense movement.  Not identities.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643737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60">
                <a:solidFill>
                  <a:srgbClr val="647890"/>
                </a:solidFill>
                <a:latin typeface="Segoe UI"/>
              </a:rPr>
              <a:t>WiFiSense  ·  Privacy-Preserving Human Activity Detection Using WiFi CSI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08615" y="643737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 spc="120">
                <a:solidFill>
                  <a:srgbClr val="22D3EE"/>
                </a:solidFill>
                <a:latin typeface="Segoe U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