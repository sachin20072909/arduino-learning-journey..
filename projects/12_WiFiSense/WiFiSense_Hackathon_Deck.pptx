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line: “We can tell someone is in this room without ever taking a picture of them.”</a:t>
            </a:r>
          </a:p>
          <a:p/>
          <a:p>
            <a:r>
              <a:t>WiFiSense reads WiFi Channel State Information from two or three ESP32 boards. No camera, no microphone, nothing to wear. Total hardware cost is a couple of dev boards and USB cables.</a:t>
            </a:r>
          </a:p>
          <a:p/>
          <a:p>
            <a:r>
              <a:t>Say the tagline out loud: Sense movement. Not identities.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reasons cameras fall short, in order of how much people care: privacy, blind spots, darkness and glare, and the fact that wearables get forgotten or refused.</a:t>
            </a:r>
          </a:p>
          <a:p/>
          <a:p>
            <a:r>
              <a:t>Land the strip at the bottom: we still need to know whether a space is occupied — we just should not have to record who is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chain left to right: an ESP32 transmits, the signal crosses the room, a body disturbs it, a second ESP32 records the change as CSI, and the model reads the pattern.</a:t>
            </a:r>
          </a:p>
          <a:p/>
          <a:p>
            <a:r>
              <a:t>Emphasise “ordinary WiFi frames” — we are not adding any new transmitting hardware to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CSI in one sentence: it is how the signal arrives, not the data it carries — amplitude and phase per subcarrier, per packet.</a:t>
            </a:r>
          </a:p>
          <a:p/>
          <a:p>
            <a:r>
              <a:t>The key idea is step 5: the model reads how those numbers evolve over seconds, never a single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separates us from a naive demo. A bag, a chair, a fan and a door all change the channel too.</a:t>
            </a:r>
          </a:p>
          <a:p/>
          <a:p>
            <a:r>
              <a:t>Call out the line: CSI detects changes in the radio environment, not humans directly.</a:t>
            </a:r>
          </a:p>
          <a:p/>
          <a:p>
            <a:r>
              <a:t>Our three defences: temporal patterns, balanced training data that includes non-human events, and cross-checking across 2–3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small stages — nothing exotic. Keep the vocabulary light: filter, normalise, window, extract a handful of features, classify.</a:t>
            </a:r>
          </a:p>
          <a:p/>
          <a:p>
            <a:r>
              <a:t>Point at the probability bars: the output is a distribution, not a verdict. Below threshold we say “uncertain”.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column is radio hardware, right column is software, the arrow is just numbers moving over a cable.</a:t>
            </a:r>
          </a:p>
          <a:p/>
          <a:p>
            <a:r>
              <a:t>Do not skip the green badge: no camera, no microphone, no video or audio is ever captured or stored. Raw CSI is processed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places this fits. Keep it to one sentence each — the pictures carry the slide.</a:t>
            </a:r>
          </a:p>
          <a:p/>
          <a:p>
            <a:r>
              <a:t>Read the amber strip honestly. Judges reward teams that know their limits: results depend on walls, layout and furniture.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seconds, five steps. Steps 1–4 are the happy path; step 5 is the one to watch: move a bag or chair and the signal still changes, but the system must not call it a human.</a:t>
            </a:r>
          </a:p>
          <a:p/>
          <a:p>
            <a:r>
              <a:t>Dashboard shows room status, activity, confidence score and alert state — plus per-link signal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on the left, roadmap on the right. Say plainly that WiFi sensing itself is established research — our contribution is a low-cost implementation with explicit non-human rejection.</a:t>
            </a:r>
          </a:p>
          <a:p/>
          <a:p>
            <a:r>
              <a:t>Close on the quote: WiFi is everywhere. Why not use it to sense the environment — without seeing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Segoe UI"/>
              </a:rPr>
              <a:t>HACKATHON PROJECT  ·  ESP32  ·  WIFI CSI SENSING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86384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0" b="1" i="0" spc="-120">
                <a:solidFill>
                  <a:srgbClr val="EAF2FF"/>
                </a:solidFill>
                <a:latin typeface="Segoe UI"/>
              </a:rPr>
              <a:t>WiFiSense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61488"/>
            <a:ext cx="9052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 spc="20">
                <a:solidFill>
                  <a:srgbClr val="22D3EE"/>
                </a:solidFill>
                <a:latin typeface="Segoe UI"/>
              </a:rPr>
              <a:t>Privacy-Preserving Human Activity Detection Using WiFi CSI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01568"/>
            <a:ext cx="3931920" cy="47548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340156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spc="100">
                <a:solidFill>
                  <a:srgbClr val="22D3EE"/>
                </a:solidFill>
                <a:latin typeface="Segoe UI"/>
              </a:rPr>
              <a:t>Sense movement.  Not identities.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33087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AAECB"/>
                </a:solidFill>
                <a:latin typeface="Segoe UI"/>
              </a:rPr>
              <a:t>Two or three ESP32 boards read the WiFi channel instead of a camera.
A lightweight model learns what human motion looks like — and what it does not.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56048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4956048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 spc="50">
                <a:solidFill>
                  <a:srgbClr val="22D3EE"/>
                </a:solidFill>
                <a:latin typeface="Segoe UI"/>
              </a:rPr>
              <a:t>2–3 × ESP32 boards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4956048"/>
            <a:ext cx="3945636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28416" y="4956048"/>
            <a:ext cx="37627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 spc="50">
                <a:solidFill>
                  <a:srgbClr val="22D3EE"/>
                </a:solidFill>
                <a:latin typeface="Segoe UI"/>
              </a:rPr>
              <a:t>No camera · No mic · No wearables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5492" y="495604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56932" y="49560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 spc="50">
                <a:solidFill>
                  <a:srgbClr val="22D3EE"/>
                </a:solidFill>
                <a:latin typeface="Segoe UI"/>
              </a:rPr>
              <a:t>On-device ML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70448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60167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AF2FF"/>
                </a:solidFill>
                <a:latin typeface="Segoe UI"/>
              </a:rPr>
              <a:t>Team WiFiSense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60350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60">
                <a:solidFill>
                  <a:srgbClr val="647890"/>
                </a:solidFill>
                <a:latin typeface="Segoe UI"/>
              </a:rPr>
              <a:t>ESP-IDF  ·  Python  ·  NumPy / Pandas  ·  scikit-learn  · 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9815" y="601675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 spc="100">
                <a:solidFill>
                  <a:srgbClr val="22D3EE"/>
                </a:solidFill>
                <a:latin typeface="Segoe UI"/>
              </a:rPr>
              <a:t>Live demo · 90 seconds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01  —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Cameras are not always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Vision-based monitoring breaks down exactly where people care most about privacy.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46504"/>
            <a:ext cx="5577840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746504"/>
            <a:ext cx="5577840" cy="2788920"/>
          </a:xfrm>
          <a:prstGeom prst="roundRect">
            <a:avLst>
              <a:gd name="adj" fmla="val 9180"/>
            </a:avLst>
          </a:prstGeom>
          <a:noFill/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468172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40">
                <a:solidFill>
                  <a:srgbClr val="9AAECB"/>
                </a:solidFill>
                <a:latin typeface="Segoe UI"/>
              </a:rPr>
              <a:t>Cameras watch people.  WiFi sensing watches the 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73936"/>
            <a:ext cx="4830775" cy="786384"/>
          </a:xfrm>
          <a:prstGeom prst="roundRect">
            <a:avLst>
              <a:gd name="adj" fmla="val 27906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675120" y="1839772"/>
            <a:ext cx="41148" cy="65471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949440" y="2048255"/>
            <a:ext cx="237744" cy="237744"/>
          </a:xfrm>
          <a:prstGeom prst="rect">
            <a:avLst/>
          </a:prstGeom>
          <a:solidFill>
            <a:srgbClr val="FB7185"/>
          </a:solidFill>
          <a:ln w="1143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49440" y="2048255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7185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920240"/>
            <a:ext cx="3962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F"/>
                </a:solidFill>
                <a:latin typeface="Segoe UI"/>
              </a:rP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176272"/>
            <a:ext cx="39620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ECB"/>
                </a:solidFill>
                <a:latin typeface="Segoe UI"/>
              </a:rPr>
              <a:t>Continuous video of people is intrusive — and hard to justify at home.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697480"/>
            <a:ext cx="4830775" cy="786384"/>
          </a:xfrm>
          <a:prstGeom prst="roundRect">
            <a:avLst>
              <a:gd name="adj" fmla="val 27906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75120" y="2763316"/>
            <a:ext cx="41148" cy="65471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949440" y="2971800"/>
            <a:ext cx="237744" cy="237744"/>
          </a:xfrm>
          <a:prstGeom prst="rect">
            <a:avLst/>
          </a:prstGeom>
          <a:solidFill>
            <a:srgbClr val="FBBF24"/>
          </a:solidFill>
          <a:ln w="1143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49440" y="29718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843784"/>
            <a:ext cx="3962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F"/>
                </a:solidFill>
                <a:latin typeface="Segoe UI"/>
              </a:rPr>
              <a:t>Blind spots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099816"/>
            <a:ext cx="39620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ECB"/>
                </a:solidFill>
                <a:latin typeface="Segoe UI"/>
              </a:rPr>
              <a:t>A camera only sees where it points. Corners, shelves and furniture hide movement.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621024"/>
            <a:ext cx="4830775" cy="786384"/>
          </a:xfrm>
          <a:prstGeom prst="roundRect">
            <a:avLst>
              <a:gd name="adj" fmla="val 27906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75120" y="3686860"/>
            <a:ext cx="41148" cy="65471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949440" y="3895344"/>
            <a:ext cx="237744" cy="23774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49440" y="38953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767328"/>
            <a:ext cx="3962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F"/>
                </a:solidFill>
                <a:latin typeface="Segoe UI"/>
              </a:rPr>
              <a:t>Darkness &amp; glare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4023360"/>
            <a:ext cx="39620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ECB"/>
                </a:solidFill>
                <a:latin typeface="Segoe UI"/>
              </a:rPr>
              <a:t>Night, smoke, backlight and occlusion all degrade vision-based sensing.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544568"/>
            <a:ext cx="4830775" cy="786384"/>
          </a:xfrm>
          <a:prstGeom prst="roundRect">
            <a:avLst>
              <a:gd name="adj" fmla="val 27906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75120" y="4610404"/>
            <a:ext cx="41148" cy="65471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949440" y="4818888"/>
            <a:ext cx="237744" cy="237744"/>
          </a:xfrm>
          <a:prstGeom prst="rect">
            <a:avLst/>
          </a:prstGeom>
          <a:solidFill>
            <a:srgbClr val="8B5CF6"/>
          </a:solidFill>
          <a:ln w="1143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949440" y="481888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4690872"/>
            <a:ext cx="3962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EAF2FF"/>
                </a:solidFill>
                <a:latin typeface="Segoe UI"/>
              </a:rPr>
              <a:t>Wearables don't stick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4946904"/>
            <a:ext cx="39620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ECB"/>
                </a:solidFill>
                <a:latin typeface="Segoe UI"/>
              </a:rPr>
              <a:t>Bands get forgotten, go uncharged, or are simply refused.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760720"/>
            <a:ext cx="10820095" cy="566928"/>
          </a:xfrm>
          <a:prstGeom prst="roundRect">
            <a:avLst>
              <a:gd name="adj" fmla="val 32258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85800" y="5760720"/>
            <a:ext cx="4572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6696" y="5760720"/>
            <a:ext cx="102714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 spc="30">
                <a:solidFill>
                  <a:srgbClr val="EAF2FF"/>
                </a:solidFill>
                <a:latin typeface="Segoe UI"/>
              </a:rPr>
              <a:t>We still need to know whether a space is occupied — without recording who is in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02  — 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Don't watch the room.  Read the WiFi.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Instead of watching people with cameras, we observe how human movement changes WiFi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92224"/>
            <a:ext cx="1310596" cy="73152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194794" y="1883664"/>
            <a:ext cx="292608" cy="128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0664" y="1792224"/>
            <a:ext cx="12008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 spc="30">
                <a:solidFill>
                  <a:srgbClr val="EAF2FF"/>
                </a:solidFill>
                <a:latin typeface="Segoe UI"/>
              </a:rPr>
              <a:t>ESP32 TX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6688" y="2107691"/>
            <a:ext cx="173736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270716" y="1792224"/>
            <a:ext cx="1310596" cy="73152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325580" y="1792224"/>
            <a:ext cx="12008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 spc="30">
                <a:solidFill>
                  <a:srgbClr val="EAF2FF"/>
                </a:solidFill>
                <a:latin typeface="Segoe UI"/>
              </a:rPr>
              <a:t>WiFi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1604" y="2107691"/>
            <a:ext cx="173736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855632" y="1792224"/>
            <a:ext cx="1310596" cy="73152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10496" y="1792224"/>
            <a:ext cx="12008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 spc="30">
                <a:solidFill>
                  <a:srgbClr val="EAF2FF"/>
                </a:solidFill>
                <a:latin typeface="Segoe UI"/>
              </a:rPr>
              <a:t>Human Body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6521" y="2107691"/>
            <a:ext cx="173736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440549" y="1792224"/>
            <a:ext cx="1310596" cy="73152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9543" y="1883664"/>
            <a:ext cx="292608" cy="128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95413" y="1792224"/>
            <a:ext cx="12008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 spc="30">
                <a:solidFill>
                  <a:srgbClr val="EAF2FF"/>
                </a:solidFill>
                <a:latin typeface="Segoe UI"/>
              </a:rPr>
              <a:t>ESP32 RX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01437" y="2107691"/>
            <a:ext cx="173736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25465" y="1792224"/>
            <a:ext cx="1310596" cy="73152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80329" y="1792224"/>
            <a:ext cx="12008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 spc="30">
                <a:solidFill>
                  <a:srgbClr val="EAF2FF"/>
                </a:solidFill>
                <a:latin typeface="Segoe UI"/>
              </a:rPr>
              <a:t>CSI Stream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6354" y="2107691"/>
            <a:ext cx="173736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610382" y="1792224"/>
            <a:ext cx="1310596" cy="73152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397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65246" y="1792224"/>
            <a:ext cx="12008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 spc="30">
                <a:solidFill>
                  <a:srgbClr val="EAF2FF"/>
                </a:solidFill>
                <a:latin typeface="Segoe UI"/>
              </a:rPr>
              <a:t>ML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71270" y="2107691"/>
            <a:ext cx="173736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195298" y="1792224"/>
            <a:ext cx="1310596" cy="73152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250162" y="1792224"/>
            <a:ext cx="120086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 spc="30">
                <a:solidFill>
                  <a:srgbClr val="EAF2FF"/>
                </a:solidFill>
                <a:latin typeface="Segoe UI"/>
              </a:rPr>
              <a:t>Activity State</a:t>
            </a:r>
          </a:p>
        </p:txBody>
      </p:sp>
      <p:pic>
        <p:nvPicPr>
          <p:cNvPr id="29" name="Picture 28" descr="s03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4639"/>
            <a:ext cx="10820095" cy="221284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85800" y="2834639"/>
            <a:ext cx="10820095" cy="2212848"/>
          </a:xfrm>
          <a:prstGeom prst="roundRect">
            <a:avLst>
              <a:gd name="adj" fmla="val 11570"/>
            </a:avLst>
          </a:prstGeom>
          <a:noFill/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0120" y="303580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22D3EE"/>
                </a:solidFill>
                <a:latin typeface="Segoe UI"/>
              </a:rPr>
              <a:t>THE ROOM IS THE SENSOR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346703"/>
            <a:ext cx="60350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AECB"/>
                </a:solidFill>
                <a:latin typeface="Segoe UI"/>
              </a:rPr>
              <a:t>A body moving through the link absorbs and scatters
radio energy — the receiver sees it as CSI.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85231"/>
            <a:ext cx="3448202" cy="786384"/>
          </a:xfrm>
          <a:prstGeom prst="roundRect">
            <a:avLst>
              <a:gd name="adj" fmla="val 232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85800" y="5340095"/>
            <a:ext cx="41148" cy="67665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1832" y="5394959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Low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5632703"/>
            <a:ext cx="299100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Two ESP32 boards, USB cables and a laptop.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1746" y="5285231"/>
            <a:ext cx="3448202" cy="786384"/>
          </a:xfrm>
          <a:prstGeom prst="roundRect">
            <a:avLst>
              <a:gd name="adj" fmla="val 232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71746" y="5340095"/>
            <a:ext cx="41148" cy="67665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627778" y="5394959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Privacy by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7778" y="5632703"/>
            <a:ext cx="299100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No images, no audio, no identity — only numbers.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7692" y="5285231"/>
            <a:ext cx="3448202" cy="786384"/>
          </a:xfrm>
          <a:prstGeom prst="roundRect">
            <a:avLst>
              <a:gd name="adj" fmla="val 232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57692" y="5340095"/>
            <a:ext cx="41148" cy="67665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13724" y="5394959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Segoe UI"/>
              </a:rPr>
              <a:t>Beyond line of 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3724" y="5632703"/>
            <a:ext cx="299100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Radio waves bend around furniture and work in the dark.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03  —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WiFi CSI,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CSI = Channel State Information — how the signal arrives, not the data it carries.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04_c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5648"/>
            <a:ext cx="4846320" cy="33101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755648"/>
            <a:ext cx="4846320" cy="3310128"/>
          </a:xfrm>
          <a:prstGeom prst="roundRect">
            <a:avLst>
              <a:gd name="adj" fmla="val 7734"/>
            </a:avLst>
          </a:prstGeom>
          <a:noFill/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ECB"/>
                </a:solidFill>
                <a:latin typeface="Segoe UI"/>
              </a:rPr>
              <a:t>Each line is one subcarrier.  Human motion leaves a time-structured
fingerprint; a quiet room leaves a flat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55648"/>
            <a:ext cx="5470855" cy="640080"/>
          </a:xfrm>
          <a:prstGeom prst="roundRect">
            <a:avLst>
              <a:gd name="adj" fmla="val 28571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72783" y="1929384"/>
            <a:ext cx="292608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72783" y="1929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1856231"/>
            <a:ext cx="4556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Packets on 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093976"/>
            <a:ext cx="4556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An ESP32 transmits ordinary WiFi frames across the room.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79" y="2432304"/>
            <a:ext cx="12801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035040" y="2514600"/>
            <a:ext cx="5470855" cy="640080"/>
          </a:xfrm>
          <a:prstGeom prst="roundRect">
            <a:avLst>
              <a:gd name="adj" fmla="val 28571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72783" y="2688336"/>
            <a:ext cx="292608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72783" y="26883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615184"/>
            <a:ext cx="4556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Signal travels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2852928"/>
            <a:ext cx="4556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Energy reaches the receiver directly and via reflections off walls and objects.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79" y="3191256"/>
            <a:ext cx="12801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35040" y="3273552"/>
            <a:ext cx="5470855" cy="640080"/>
          </a:xfrm>
          <a:prstGeom prst="roundRect">
            <a:avLst>
              <a:gd name="adj" fmla="val 28571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72783" y="3447288"/>
            <a:ext cx="292608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72783" y="34472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3374136"/>
            <a:ext cx="4556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A body disturbs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611880"/>
            <a:ext cx="4556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A moving person absorbs, reflects and scatters part of that energy.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79" y="3950208"/>
            <a:ext cx="12801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035040" y="4032504"/>
            <a:ext cx="5470855" cy="640080"/>
          </a:xfrm>
          <a:prstGeom prst="roundRect">
            <a:avLst>
              <a:gd name="adj" fmla="val 28571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72783" y="4206240"/>
            <a:ext cx="292608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72783" y="42062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4133088"/>
            <a:ext cx="4556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Receiver logs CSI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4370832"/>
            <a:ext cx="4556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Per packet: amplitude and phase for each OFDM subcarrier — ~50 numbers.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79" y="4709160"/>
            <a:ext cx="12801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035040" y="4791456"/>
            <a:ext cx="5470855" cy="640080"/>
          </a:xfrm>
          <a:prstGeom prst="roundRect">
            <a:avLst>
              <a:gd name="adj" fmla="val 28571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72783" y="4965192"/>
            <a:ext cx="292608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72783" y="49651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6" y="4892040"/>
            <a:ext cx="4556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ML reads the pattern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1696" y="5129784"/>
            <a:ext cx="45564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Models look at how those numbers evolve over seconds, not at one reading.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04  —  THE HARD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A changed signal is not always a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Bags, chairs, doors and fans also disturb the channel. Treating 'signal moved' as 'person' is the classic mistake.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73936"/>
            <a:ext cx="2003084" cy="2304288"/>
          </a:xfrm>
          <a:prstGeom prst="roundRect">
            <a:avLst>
              <a:gd name="adj" fmla="val 109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839772"/>
            <a:ext cx="41148" cy="217261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con_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90" y="1956816"/>
            <a:ext cx="1060704" cy="10607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3108960"/>
            <a:ext cx="17836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AF2FF"/>
                </a:solidFill>
                <a:latin typeface="Segoe UI"/>
              </a:rPr>
              <a:t>Person walking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015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47890"/>
                </a:solidFill>
                <a:latin typeface="Segoe UI"/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3639312"/>
            <a:ext cx="149102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33272" y="3639312"/>
            <a:ext cx="13081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40">
                <a:solidFill>
                  <a:srgbClr val="22D3EE"/>
                </a:solidFill>
                <a:latin typeface="Segoe UI"/>
              </a:rPr>
              <a:t>CSI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0052" y="1773936"/>
            <a:ext cx="2003084" cy="2304288"/>
          </a:xfrm>
          <a:prstGeom prst="roundRect">
            <a:avLst>
              <a:gd name="adj" fmla="val 109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icon_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242" y="1956816"/>
            <a:ext cx="1060704" cy="10607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99780" y="3108960"/>
            <a:ext cx="17836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9AAECB"/>
                </a:solidFill>
                <a:latin typeface="Segoe UI"/>
              </a:rPr>
              <a:t>Bag placed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780" y="34015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47890"/>
                </a:solidFill>
                <a:latin typeface="Segoe UI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6084" y="3639312"/>
            <a:ext cx="149102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143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237524" y="3639312"/>
            <a:ext cx="13081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40">
                <a:solidFill>
                  <a:srgbClr val="FBBF24"/>
                </a:solidFill>
                <a:latin typeface="Segoe UI"/>
              </a:rPr>
              <a:t>CSI 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4305" y="1773936"/>
            <a:ext cx="2003084" cy="2304288"/>
          </a:xfrm>
          <a:prstGeom prst="roundRect">
            <a:avLst>
              <a:gd name="adj" fmla="val 109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con_ch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495" y="1956816"/>
            <a:ext cx="1060704" cy="10607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04033" y="3108960"/>
            <a:ext cx="17836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9AAECB"/>
                </a:solidFill>
                <a:latin typeface="Segoe UI"/>
              </a:rPr>
              <a:t>Chair 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4033" y="34015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47890"/>
                </a:solidFill>
                <a:latin typeface="Segoe UI"/>
              </a:rPr>
              <a:t>=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0337" y="3639312"/>
            <a:ext cx="149102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143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41777" y="3639312"/>
            <a:ext cx="13081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40">
                <a:solidFill>
                  <a:srgbClr val="FBBF24"/>
                </a:solidFill>
                <a:latin typeface="Segoe UI"/>
              </a:rPr>
              <a:t>CSI changes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8557" y="1773936"/>
            <a:ext cx="2003084" cy="2304288"/>
          </a:xfrm>
          <a:prstGeom prst="roundRect">
            <a:avLst>
              <a:gd name="adj" fmla="val 109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icon_f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748" y="1956816"/>
            <a:ext cx="1060704" cy="10607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08285" y="3108960"/>
            <a:ext cx="17836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9AAECB"/>
                </a:solidFill>
                <a:latin typeface="Segoe UI"/>
              </a:rPr>
              <a:t>Fan spinning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8285" y="34015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47890"/>
                </a:solidFill>
                <a:latin typeface="Segoe UI"/>
              </a:rPr>
              <a:t>=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54589" y="3639312"/>
            <a:ext cx="149102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143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46029" y="3639312"/>
            <a:ext cx="13081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40">
                <a:solidFill>
                  <a:srgbClr val="FBBF24"/>
                </a:solidFill>
                <a:latin typeface="Segoe UI"/>
              </a:rPr>
              <a:t>CSI changes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2810" y="1773936"/>
            <a:ext cx="2003084" cy="2304288"/>
          </a:xfrm>
          <a:prstGeom prst="roundRect">
            <a:avLst>
              <a:gd name="adj" fmla="val 10955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icon_do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000" y="1956816"/>
            <a:ext cx="1060704" cy="10607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612538" y="3108960"/>
            <a:ext cx="17836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9AAECB"/>
                </a:solidFill>
                <a:latin typeface="Segoe UI"/>
              </a:rPr>
              <a:t>Door opened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2538" y="34015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47890"/>
                </a:solidFill>
                <a:latin typeface="Segoe UI"/>
              </a:rPr>
              <a:t>=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58842" y="3639312"/>
            <a:ext cx="149102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143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850282" y="3639312"/>
            <a:ext cx="13081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40">
                <a:solidFill>
                  <a:srgbClr val="FBBF24"/>
                </a:solidFill>
                <a:latin typeface="Segoe UI"/>
              </a:rPr>
              <a:t>CSI changes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297680"/>
            <a:ext cx="10820095" cy="658368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85800" y="4297680"/>
            <a:ext cx="50292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33271" y="4297680"/>
            <a:ext cx="1018001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 spc="20">
                <a:solidFill>
                  <a:srgbClr val="EAF2FF"/>
                </a:solidFill>
                <a:latin typeface="Segoe UI"/>
              </a:rPr>
              <a:t>CSI detects changes in the radio environment — not humans directly.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120640"/>
            <a:ext cx="3460394" cy="731520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85800" y="5175504"/>
            <a:ext cx="41148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3544" y="5212080"/>
            <a:ext cx="30397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Temporal patterns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" y="5440680"/>
            <a:ext cx="303977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Seconds of behaviour, never a single reading.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65650" y="5120640"/>
            <a:ext cx="3460394" cy="731520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365650" y="5175504"/>
            <a:ext cx="41148" cy="6217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603394" y="5212080"/>
            <a:ext cx="30397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Segoe UI"/>
              </a:rPr>
              <a:t>Balanced training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3394" y="5440680"/>
            <a:ext cx="303977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Human events AND non-human events in the same dataset.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5500" y="5120640"/>
            <a:ext cx="3460394" cy="731520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8045500" y="5175504"/>
            <a:ext cx="41148" cy="6217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83244" y="5212080"/>
            <a:ext cx="30397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Multiple links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3244" y="5440680"/>
            <a:ext cx="303977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2–3 ESP32 links cross-check a change from different angles.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05  —  AI / ML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From raw signal to a confidence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A small, explainable pipeline that runs on a laptop today and on the board tomorrow.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46504"/>
            <a:ext cx="3931920" cy="420624"/>
          </a:xfrm>
          <a:prstGeom prst="roundRect">
            <a:avLst>
              <a:gd name="adj" fmla="val 34782"/>
            </a:avLst>
          </a:prstGeom>
          <a:solidFill>
            <a:srgbClr val="0B1220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790395"/>
            <a:ext cx="41148" cy="332841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746504"/>
            <a:ext cx="3520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spc="30">
                <a:solidFill>
                  <a:srgbClr val="EAF2FF"/>
                </a:solidFill>
                <a:latin typeface="Segoe UI"/>
              </a:rPr>
              <a:t>Raw CSI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72821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890"/>
                </a:solidFill>
                <a:latin typeface="Segoe UI"/>
              </a:rPr>
              <a:t>Amplitude + phase, per subcarrier, per packet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3179" y="2194560"/>
            <a:ext cx="137160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85800" y="2386584"/>
            <a:ext cx="3931920" cy="420624"/>
          </a:xfrm>
          <a:prstGeom prst="roundRect">
            <a:avLst>
              <a:gd name="adj" fmla="val 34782"/>
            </a:avLst>
          </a:prstGeom>
          <a:solidFill>
            <a:srgbClr val="0B1220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" y="2430475"/>
            <a:ext cx="41148" cy="332841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2386584"/>
            <a:ext cx="3520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spc="30">
                <a:solidFill>
                  <a:srgbClr val="EAF2FF"/>
                </a:solidFill>
                <a:latin typeface="Segoe UI"/>
              </a:rPr>
              <a:t>Noise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6829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890"/>
                </a:solidFill>
                <a:latin typeface="Segoe UI"/>
              </a:rPr>
              <a:t>Drop empty packets, spikes and idle bursts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83179" y="2834639"/>
            <a:ext cx="137160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85800" y="3026663"/>
            <a:ext cx="3931920" cy="420624"/>
          </a:xfrm>
          <a:prstGeom prst="roundRect">
            <a:avLst>
              <a:gd name="adj" fmla="val 34782"/>
            </a:avLst>
          </a:prstGeom>
          <a:solidFill>
            <a:srgbClr val="0B1220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3070555"/>
            <a:ext cx="41148" cy="332841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026663"/>
            <a:ext cx="3520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spc="30">
                <a:solidFill>
                  <a:srgbClr val="EAF2FF"/>
                </a:solidFill>
                <a:latin typeface="Segoe UI"/>
              </a:rPr>
              <a:t>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008375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890"/>
                </a:solidFill>
                <a:latin typeface="Segoe UI"/>
              </a:rPr>
              <a:t>Phase sanitised, normalised, windowed into segments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3179" y="3474719"/>
            <a:ext cx="137160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85800" y="3666744"/>
            <a:ext cx="3931920" cy="420624"/>
          </a:xfrm>
          <a:prstGeom prst="roundRect">
            <a:avLst>
              <a:gd name="adj" fmla="val 34782"/>
            </a:avLst>
          </a:prstGeom>
          <a:solidFill>
            <a:srgbClr val="0B1220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3710635"/>
            <a:ext cx="41148" cy="332841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3666744"/>
            <a:ext cx="3520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spc="30">
                <a:solidFill>
                  <a:srgbClr val="EAF2FF"/>
                </a:solidFill>
                <a:latin typeface="Segoe UI"/>
              </a:rPr>
              <a:t>Feature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64845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890"/>
                </a:solidFill>
                <a:latin typeface="Segoe UI"/>
              </a:rPr>
              <a:t>Variance, Doppler energy, cross-link correlation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83179" y="4114800"/>
            <a:ext cx="137160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85800" y="4306824"/>
            <a:ext cx="3931920" cy="420624"/>
          </a:xfrm>
          <a:prstGeom prst="roundRect">
            <a:avLst>
              <a:gd name="adj" fmla="val 34782"/>
            </a:avLst>
          </a:prstGeom>
          <a:solidFill>
            <a:srgbClr val="0B1220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85800" y="4350715"/>
            <a:ext cx="41148" cy="332841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4306824"/>
            <a:ext cx="3520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spc="30">
                <a:solidFill>
                  <a:srgbClr val="EAF2FF"/>
                </a:solidFill>
                <a:latin typeface="Segoe UI"/>
              </a:rPr>
              <a:t>ML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428853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890"/>
                </a:solidFill>
                <a:latin typeface="Segoe UI"/>
              </a:rPr>
              <a:t>Random Forest / SVM / tiny CNN — lightweight on purpose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83179" y="4754880"/>
            <a:ext cx="137160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85800" y="4946904"/>
            <a:ext cx="3931920" cy="420624"/>
          </a:xfrm>
          <a:prstGeom prst="roundRect">
            <a:avLst>
              <a:gd name="adj" fmla="val 34782"/>
            </a:avLst>
          </a:prstGeom>
          <a:solidFill>
            <a:srgbClr val="0B1220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85800" y="4990795"/>
            <a:ext cx="41148" cy="332841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60120" y="4946904"/>
            <a:ext cx="3520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 spc="30">
                <a:solidFill>
                  <a:srgbClr val="EAF2FF"/>
                </a:solidFill>
                <a:latin typeface="Segoe UI"/>
              </a:rPr>
              <a:t>Human · Object · Stable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492861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890"/>
                </a:solidFill>
                <a:latin typeface="Segoe UI"/>
              </a:rPr>
              <a:t>A three-way decision, never a hard yes / 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83179" y="5394960"/>
            <a:ext cx="137160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85800" y="5586984"/>
            <a:ext cx="3931920" cy="420624"/>
          </a:xfrm>
          <a:prstGeom prst="roundRect">
            <a:avLst>
              <a:gd name="adj" fmla="val 34782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85800" y="5630875"/>
            <a:ext cx="41148" cy="332841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0120" y="5586984"/>
            <a:ext cx="3520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30">
                <a:solidFill>
                  <a:srgbClr val="22D3EE"/>
                </a:solidFill>
                <a:latin typeface="Segoe UI"/>
              </a:rPr>
              <a:t>Live dashboard + alert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7448" y="556869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890"/>
                </a:solidFill>
                <a:latin typeface="Segoe UI"/>
              </a:rPr>
              <a:t>Status, activity and a confidence score</a:t>
            </a:r>
          </a:p>
        </p:txBody>
      </p:sp>
      <p:pic>
        <p:nvPicPr>
          <p:cNvPr id="41" name="Picture 40" descr="s06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46504"/>
            <a:ext cx="5242255" cy="283464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263640" y="1746504"/>
            <a:ext cx="5242255" cy="2834640"/>
          </a:xfrm>
          <a:prstGeom prst="roundRect">
            <a:avLst>
              <a:gd name="adj" fmla="val 9032"/>
            </a:avLst>
          </a:prstGeom>
          <a:noFill/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37959" y="1956815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220">
                <a:solidFill>
                  <a:srgbClr val="22D3EE"/>
                </a:solidFill>
                <a:latin typeface="Segoe UI"/>
              </a:rPr>
              <a:t>PATTERN, NOT PIXELS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754879"/>
            <a:ext cx="5242255" cy="1463040"/>
          </a:xfrm>
          <a:prstGeom prst="roundRect">
            <a:avLst>
              <a:gd name="adj" fmla="val 15000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263640" y="4820716"/>
            <a:ext cx="41148" cy="133136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56248" y="4882895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Output is a probability, not a verdict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51937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AAECB"/>
                </a:solidFill>
                <a:latin typeface="Segoe UI"/>
              </a:rPr>
              <a:t>Human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34071" y="5234940"/>
            <a:ext cx="3093415" cy="1005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434071" y="5234940"/>
            <a:ext cx="2691271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847527" y="51937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22D3EE"/>
                </a:solidFill>
                <a:latin typeface="Segoe UI"/>
              </a:rPr>
              <a:t>0.87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6248" y="54589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AAECB"/>
                </a:solidFill>
                <a:latin typeface="Segoe UI"/>
              </a:rPr>
              <a:t>Object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34071" y="5500116"/>
            <a:ext cx="3093415" cy="1005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434071" y="5500116"/>
            <a:ext cx="340275" cy="1005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0847527" y="54589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BBF24"/>
                </a:solidFill>
                <a:latin typeface="Segoe UI"/>
              </a:rPr>
              <a:t>0.11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6248" y="57241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AAECB"/>
                </a:solidFill>
                <a:latin typeface="Segoe UI"/>
              </a:rPr>
              <a:t>Stable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34071" y="5765292"/>
            <a:ext cx="3093415" cy="1005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434071" y="5765292"/>
            <a:ext cx="61868" cy="10058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847527" y="57241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34D399"/>
                </a:solidFill>
                <a:latin typeface="Segoe UI"/>
              </a:rPr>
              <a:t>0.02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56248" y="5943599"/>
            <a:ext cx="4693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890"/>
                </a:solidFill>
                <a:latin typeface="Segoe UI"/>
              </a:rPr>
              <a:t>Below threshold the system says “uncertain” — it never guesses.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7_ar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06  —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From radio hardware to a 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Two to three ESP32 links feed one laptop; raw CSI never leaves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3749039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5800" y="1810512"/>
            <a:ext cx="41148" cy="731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ox_esp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" y="1766620"/>
            <a:ext cx="3727094" cy="81930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6772" y="1766620"/>
            <a:ext cx="3727094" cy="819302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1901952"/>
            <a:ext cx="3200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ESP32  Transmitter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176272"/>
            <a:ext cx="32003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Broadcasts standard WiFi frames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2642615"/>
            <a:ext cx="146304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85800" y="2871215"/>
            <a:ext cx="3749039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2926079"/>
            <a:ext cx="41148" cy="7315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8408" y="3017520"/>
            <a:ext cx="3200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WiFi Signal  ·  2.4 GHz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291839"/>
            <a:ext cx="32003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Travels through walls, air and people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7168" y="3758183"/>
            <a:ext cx="146304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85800" y="3986783"/>
            <a:ext cx="3749039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85800" y="4041647"/>
            <a:ext cx="41148" cy="7315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box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" y="3997756"/>
            <a:ext cx="3727094" cy="81930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96772" y="3997756"/>
            <a:ext cx="3727094" cy="819302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8408" y="4133087"/>
            <a:ext cx="3200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Human  / 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407407"/>
            <a:ext cx="32003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Absorbs, reflects, scatters the energy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4873751"/>
            <a:ext cx="146304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85800" y="5102351"/>
            <a:ext cx="3749039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85800" y="5157215"/>
            <a:ext cx="41148" cy="731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box_esp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" y="5113324"/>
            <a:ext cx="3727094" cy="81930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96772" y="5113324"/>
            <a:ext cx="3727094" cy="819302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78408" y="5248655"/>
            <a:ext cx="3200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ESP32  Receiver(s)  × 2–3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522975"/>
            <a:ext cx="32003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Reports CSI per packet, per subcarrier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199" y="1755648"/>
            <a:ext cx="5333695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199" y="1810512"/>
            <a:ext cx="41148" cy="7315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64807" y="1901952"/>
            <a:ext cx="4785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Laptop  ·  Edge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2176272"/>
            <a:ext cx="47850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Parses, filters and windows the CSI stream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65895" y="2642615"/>
            <a:ext cx="146304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172199" y="2871215"/>
            <a:ext cx="5333695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172199" y="2926079"/>
            <a:ext cx="41148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box_m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172" y="2882188"/>
            <a:ext cx="5311749" cy="81930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6183172" y="2882188"/>
            <a:ext cx="5311749" cy="819302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64807" y="3017520"/>
            <a:ext cx="4785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ML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7" y="3291839"/>
            <a:ext cx="47850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Random Forest / SVM / TinyML — scores each window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65895" y="3758183"/>
            <a:ext cx="146304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6172199" y="3986783"/>
            <a:ext cx="5333695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172199" y="4041647"/>
            <a:ext cx="41148" cy="731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64807" y="4133087"/>
            <a:ext cx="4785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Web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7" y="4407407"/>
            <a:ext cx="47850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FastAPI backend + lightweight web UI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65895" y="4873751"/>
            <a:ext cx="146304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6172199" y="5102351"/>
            <a:ext cx="5333695" cy="841248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199" y="5157215"/>
            <a:ext cx="41148" cy="7315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64807" y="5248655"/>
            <a:ext cx="4785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Alerts  ·  Status  ·  Logs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7" y="5522975"/>
            <a:ext cx="47850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Room state, activity and confidence, live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09159" y="3593591"/>
            <a:ext cx="1188720" cy="512064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800599" y="3666744"/>
            <a:ext cx="1005840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690872" y="4197096"/>
            <a:ext cx="12252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9AAECB"/>
                </a:solidFill>
                <a:latin typeface="Segoe UI"/>
              </a:rPr>
              <a:t>CSI stream → laptop:  USB / UART / Wi-Fi.  Numbers only, never images.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797296"/>
            <a:ext cx="10820095" cy="493776"/>
          </a:xfrm>
          <a:prstGeom prst="roundRect">
            <a:avLst>
              <a:gd name="adj" fmla="val 37037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96696" y="5797296"/>
            <a:ext cx="1018001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30">
                <a:solidFill>
                  <a:srgbClr val="34D399"/>
                </a:solidFill>
                <a:latin typeface="Segoe UI"/>
              </a:rPr>
              <a:t>No camera  ·  No microphone  ·  No video or audio is ever captured, stored or transmitted — only numbers.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07  —  WHERE IT 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Places where a camera is unwanted, inappropriate, or simply not enough.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3448202" cy="1792224"/>
          </a:xfrm>
          <a:prstGeom prst="roundRect">
            <a:avLst>
              <a:gd name="adj" fmla="val 12244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821484"/>
            <a:ext cx="41148" cy="16605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le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" y="1766620"/>
            <a:ext cx="3426256" cy="1005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6772" y="1766620"/>
            <a:ext cx="3426256" cy="100584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3544" y="2889504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Privacy-sensitive 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127248"/>
            <a:ext cx="29910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Bedrooms, bathrooms, clinics — presence without pictures.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1746" y="1755648"/>
            <a:ext cx="3448202" cy="1792224"/>
          </a:xfrm>
          <a:prstGeom prst="roundRect">
            <a:avLst>
              <a:gd name="adj" fmla="val 12244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71746" y="1821484"/>
            <a:ext cx="41148" cy="166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tile_elder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719" y="1766620"/>
            <a:ext cx="3426256" cy="10058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382719" y="1766620"/>
            <a:ext cx="3426256" cy="100584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9490" y="2889504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Elderly &amp; fall-risk 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9490" y="3127248"/>
            <a:ext cx="29910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Flag long stillness or a sudden drop. No cameras in the home.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692" y="1755648"/>
            <a:ext cx="3448202" cy="1792224"/>
          </a:xfrm>
          <a:prstGeom prst="roundRect">
            <a:avLst>
              <a:gd name="adj" fmla="val 12244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57692" y="1821484"/>
            <a:ext cx="41148" cy="16605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tile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665" y="1766620"/>
            <a:ext cx="3426256" cy="10058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68665" y="1766620"/>
            <a:ext cx="3426256" cy="100584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95436" y="2889504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Smart buildings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5436" y="3127248"/>
            <a:ext cx="29910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Occupancy-aware lighting, HVAC and real energy savings.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12464"/>
            <a:ext cx="3448202" cy="1792224"/>
          </a:xfrm>
          <a:prstGeom prst="roundRect">
            <a:avLst>
              <a:gd name="adj" fmla="val 12244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85800" y="3778300"/>
            <a:ext cx="41148" cy="16605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tile_restri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" y="3723436"/>
            <a:ext cx="3426256" cy="100584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96772" y="3723436"/>
            <a:ext cx="3426256" cy="100584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3544" y="4846320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Restricted areas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5084064"/>
            <a:ext cx="29910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After-hours movement in labs, stores or stock rooms.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1746" y="3712464"/>
            <a:ext cx="3448202" cy="1792224"/>
          </a:xfrm>
          <a:prstGeom prst="roundRect">
            <a:avLst>
              <a:gd name="adj" fmla="val 12244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371746" y="3778300"/>
            <a:ext cx="41148" cy="166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tile_n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719" y="3723436"/>
            <a:ext cx="3426256" cy="10058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382719" y="3723436"/>
            <a:ext cx="3426256" cy="100584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609490" y="4846320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Night-time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9490" y="5084064"/>
            <a:ext cx="29910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Works in complete darkness — no light, no infrared.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7692" y="3712464"/>
            <a:ext cx="3448202" cy="1792224"/>
          </a:xfrm>
          <a:prstGeom prst="roundRect">
            <a:avLst>
              <a:gd name="adj" fmla="val 12244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057692" y="3778300"/>
            <a:ext cx="41148" cy="166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tile_occupan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8665" y="3723436"/>
            <a:ext cx="3426256" cy="100584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68665" y="3723436"/>
            <a:ext cx="3426256" cy="100584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95436" y="4846320"/>
            <a:ext cx="29910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2FF"/>
                </a:solidFill>
                <a:latin typeface="Segoe UI"/>
              </a:rPr>
              <a:t>Occupancy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5436" y="5084064"/>
            <a:ext cx="299100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ECB"/>
                </a:solidFill>
                <a:latin typeface="Segoe UI"/>
              </a:rPr>
              <a:t>Desks and meeting rooms, counted in real time.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760720"/>
            <a:ext cx="10820095" cy="512064"/>
          </a:xfrm>
          <a:prstGeom prst="roundRect">
            <a:avLst>
              <a:gd name="adj" fmla="val 35714"/>
            </a:avLst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96696" y="5760720"/>
            <a:ext cx="1018001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 spc="20">
                <a:solidFill>
                  <a:srgbClr val="FBBF24"/>
                </a:solidFill>
                <a:latin typeface="Segoe UI"/>
              </a:rPr>
              <a:t>Honest scope: results depend on walls, layout and furniture — we do not claim reliable sensing in every environment.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08  — 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41605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Five steps, ninety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AAECB"/>
                </a:solidFill>
                <a:latin typeface="Segoe UI"/>
              </a:rPr>
              <a:t>Two ESP32 boards on a table, a laptop, and one honest failure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9961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5870448" cy="658368"/>
          </a:xfrm>
          <a:prstGeom prst="roundRect">
            <a:avLst>
              <a:gd name="adj" fmla="val 27777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810512"/>
            <a:ext cx="41148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23544" y="1929384"/>
            <a:ext cx="27432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23544" y="1929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874519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AF2FF"/>
                </a:solidFill>
                <a:latin typeface="Segoe UI"/>
              </a:rPr>
              <a:t>Empty room, boards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130552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890"/>
                </a:solidFill>
                <a:latin typeface="Segoe UI"/>
              </a:rPr>
              <a:t>expected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2938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63440" y="192938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">
                <a:solidFill>
                  <a:srgbClr val="34D399"/>
                </a:solidFill>
                <a:latin typeface="Segoe UI"/>
              </a:rPr>
              <a:t>No human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542032"/>
            <a:ext cx="5870448" cy="658368"/>
          </a:xfrm>
          <a:prstGeom prst="roundRect">
            <a:avLst>
              <a:gd name="adj" fmla="val 27777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2596896"/>
            <a:ext cx="41148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23544" y="2715768"/>
            <a:ext cx="274320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3544" y="2715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2660903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AF2FF"/>
                </a:solidFill>
                <a:latin typeface="Segoe UI"/>
              </a:rPr>
              <a:t>A person walks in and stands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916936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890"/>
                </a:solidFill>
                <a:latin typeface="Segoe UI"/>
              </a:rPr>
              <a:t>expected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715768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63440" y="271576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">
                <a:solidFill>
                  <a:srgbClr val="22D3EE"/>
                </a:solidFill>
                <a:latin typeface="Segoe UI"/>
              </a:rPr>
              <a:t>Human detected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28415"/>
            <a:ext cx="5870448" cy="658368"/>
          </a:xfrm>
          <a:prstGeom prst="roundRect">
            <a:avLst>
              <a:gd name="adj" fmla="val 27777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85800" y="3383279"/>
            <a:ext cx="41148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23544" y="3502151"/>
            <a:ext cx="274320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544" y="35021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447287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AF2FF"/>
                </a:solidFill>
                <a:latin typeface="Segoe UI"/>
              </a:rPr>
              <a:t>The person walks across the 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70332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890"/>
                </a:solidFill>
                <a:latin typeface="Segoe UI"/>
              </a:rPr>
              <a:t>expected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3502151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663440" y="3502151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">
                <a:solidFill>
                  <a:srgbClr val="22D3EE"/>
                </a:solidFill>
                <a:latin typeface="Segoe UI"/>
              </a:rPr>
              <a:t>Walking detected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114800"/>
            <a:ext cx="5870448" cy="658368"/>
          </a:xfrm>
          <a:prstGeom prst="roundRect">
            <a:avLst>
              <a:gd name="adj" fmla="val 27777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85800" y="4169663"/>
            <a:ext cx="41148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23544" y="4288536"/>
            <a:ext cx="27432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3544" y="4288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34D399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233672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AF2FF"/>
                </a:solidFill>
                <a:latin typeface="Segoe UI"/>
              </a:rPr>
              <a:t>The person leaves the room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4168" y="4489704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890"/>
                </a:solidFill>
                <a:latin typeface="Segoe UI"/>
              </a:rPr>
              <a:t>expected output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4288536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63440" y="4288536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">
                <a:solidFill>
                  <a:srgbClr val="34D399"/>
                </a:solidFill>
                <a:latin typeface="Segoe UI"/>
              </a:rPr>
              <a:t>Room stable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901184"/>
            <a:ext cx="5870448" cy="658368"/>
          </a:xfrm>
          <a:prstGeom prst="roundRect">
            <a:avLst>
              <a:gd name="adj" fmla="val 27777"/>
            </a:avLst>
          </a:prstGeom>
          <a:solidFill>
            <a:srgbClr val="0B1220"/>
          </a:solidFill>
          <a:ln w="1270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85800" y="4956048"/>
            <a:ext cx="41148" cy="548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23544" y="5074920"/>
            <a:ext cx="274320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3544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BBF24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502005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AF2FF"/>
                </a:solidFill>
                <a:latin typeface="Segoe UI"/>
              </a:rPr>
              <a:t>A bag / chair is moved instead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44168" y="527608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890"/>
                </a:solidFill>
                <a:latin typeface="Segoe UI"/>
              </a:rPr>
              <a:t>expected output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507492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143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63440" y="507492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">
                <a:solidFill>
                  <a:srgbClr val="FBBF24"/>
                </a:solidFill>
                <a:latin typeface="Segoe UI"/>
              </a:rPr>
              <a:t>Not classified as human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85432" y="1755648"/>
            <a:ext cx="4620463" cy="4389120"/>
          </a:xfrm>
          <a:prstGeom prst="roundRect">
            <a:avLst>
              <a:gd name="adj" fmla="val 5833"/>
            </a:avLst>
          </a:prstGeom>
          <a:solidFill>
            <a:srgbClr val="0B122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896404" y="1766620"/>
            <a:ext cx="4598517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123176" y="1938528"/>
            <a:ext cx="100584" cy="100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306056" y="187451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spc="40">
                <a:solidFill>
                  <a:srgbClr val="EAF2FF"/>
                </a:solidFill>
                <a:latin typeface="Segoe UI"/>
              </a:rPr>
              <a:t>WiFiSense  ·  Live Monitor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3127" y="1911095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024567" y="1911095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spc="80">
                <a:solidFill>
                  <a:srgbClr val="34D399"/>
                </a:solidFill>
                <a:latin typeface="Segoe UI"/>
              </a:rPr>
              <a:t>●  LIVE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23176" y="2414015"/>
            <a:ext cx="4144975" cy="420624"/>
          </a:xfrm>
          <a:prstGeom prst="roundRect">
            <a:avLst>
              <a:gd name="adj" fmla="val 34782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306056" y="2414015"/>
            <a:ext cx="379750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160">
                <a:solidFill>
                  <a:srgbClr val="22D3EE"/>
                </a:solidFill>
                <a:latin typeface="Segoe UI"/>
              </a:rPr>
              <a:t>HUMAN DETECTED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23176" y="298094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890"/>
                </a:solidFill>
                <a:latin typeface="Segoe UI"/>
              </a:rPr>
              <a:t>Room status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5655" y="2980944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 spc="80">
                <a:solidFill>
                  <a:srgbClr val="22D3EE"/>
                </a:solidFill>
                <a:latin typeface="Segoe UI"/>
              </a:rPr>
              <a:t>OCCUPIED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23176" y="3218687"/>
            <a:ext cx="4144975" cy="731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123176" y="3346703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890"/>
                </a:solidFill>
                <a:latin typeface="Segoe UI"/>
              </a:rPr>
              <a:t>Activity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85655" y="3346703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 spc="80">
                <a:solidFill>
                  <a:srgbClr val="22D3EE"/>
                </a:solidFill>
                <a:latin typeface="Segoe UI"/>
              </a:rPr>
              <a:t>WALKING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23176" y="3584448"/>
            <a:ext cx="4144975" cy="731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123176" y="3712463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890"/>
                </a:solidFill>
                <a:latin typeface="Segoe UI"/>
              </a:rPr>
              <a:t>Alert status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85655" y="3712463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 spc="80">
                <a:solidFill>
                  <a:srgbClr val="34D399"/>
                </a:solidFill>
                <a:latin typeface="Segoe UI"/>
              </a:rPr>
              <a:t>NORMAL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23176" y="3950207"/>
            <a:ext cx="4144975" cy="7315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123176" y="4096511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890"/>
                </a:solidFill>
                <a:latin typeface="Segoe UI"/>
              </a:rPr>
              <a:t>Confidence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85655" y="4059936"/>
            <a:ext cx="16824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2D3EE"/>
                </a:solidFill>
                <a:latin typeface="Segoe UI"/>
              </a:rPr>
              <a:t>0.87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23176" y="4352544"/>
            <a:ext cx="4144975" cy="128016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123176" y="4352544"/>
            <a:ext cx="3606128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0683584" y="4297680"/>
            <a:ext cx="91440" cy="237744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101600">
              <a:srgbClr val="22D3EE">
                <a:alpha val="8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7123176" y="4645152"/>
            <a:ext cx="4144975" cy="841248"/>
          </a:xfrm>
          <a:prstGeom prst="roundRect">
            <a:avLst>
              <a:gd name="adj" fmla="val 13043"/>
            </a:avLst>
          </a:prstGeom>
          <a:solidFill>
            <a:srgbClr val="05070C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251192" y="47000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80">
                <a:solidFill>
                  <a:srgbClr val="647890"/>
                </a:solidFill>
                <a:latin typeface="Segoe UI"/>
              </a:rPr>
              <a:t>CSI  ·  last 6 s</a:t>
            </a:r>
          </a:p>
        </p:txBody>
      </p:sp>
      <p:sp>
        <p:nvSpPr>
          <p:cNvPr id="71" name="Freeform 70"/>
          <p:cNvSpPr/>
          <p:nvPr/>
        </p:nvSpPr>
        <p:spPr>
          <a:xfrm>
            <a:off x="7251192" y="5058074"/>
            <a:ext cx="3779215" cy="123140"/>
          </a:xfrm>
          <a:custGeom>
            <a:avLst/>
            <a:gdLst/>
            <a:ahLst/>
            <a:cxnLst/>
            <a:rect l="l" t="t" r="r" b="b"/>
            <a:pathLst>
              <a:path w="3779215" h="123140">
                <a:moveTo>
                  <a:pt x="0" y="91556"/>
                </a:moveTo>
                <a:lnTo>
                  <a:pt x="19995" y="91565"/>
                </a:lnTo>
                <a:lnTo>
                  <a:pt x="39991" y="85720"/>
                </a:lnTo>
                <a:lnTo>
                  <a:pt x="59987" y="89606"/>
                </a:lnTo>
                <a:lnTo>
                  <a:pt x="79983" y="84539"/>
                </a:lnTo>
                <a:lnTo>
                  <a:pt x="99979" y="85389"/>
                </a:lnTo>
                <a:lnTo>
                  <a:pt x="119975" y="87789"/>
                </a:lnTo>
                <a:lnTo>
                  <a:pt x="139970" y="83815"/>
                </a:lnTo>
                <a:lnTo>
                  <a:pt x="159966" y="88264"/>
                </a:lnTo>
                <a:lnTo>
                  <a:pt x="179962" y="85279"/>
                </a:lnTo>
                <a:lnTo>
                  <a:pt x="199958" y="89170"/>
                </a:lnTo>
                <a:lnTo>
                  <a:pt x="219954" y="89727"/>
                </a:lnTo>
                <a:lnTo>
                  <a:pt x="239950" y="87499"/>
                </a:lnTo>
                <a:lnTo>
                  <a:pt x="259946" y="84575"/>
                </a:lnTo>
                <a:lnTo>
                  <a:pt x="279941" y="91285"/>
                </a:lnTo>
                <a:lnTo>
                  <a:pt x="299937" y="90713"/>
                </a:lnTo>
                <a:lnTo>
                  <a:pt x="319933" y="87254"/>
                </a:lnTo>
                <a:lnTo>
                  <a:pt x="339929" y="84366"/>
                </a:lnTo>
                <a:lnTo>
                  <a:pt x="359925" y="87464"/>
                </a:lnTo>
                <a:lnTo>
                  <a:pt x="379921" y="88811"/>
                </a:lnTo>
                <a:lnTo>
                  <a:pt x="399916" y="83432"/>
                </a:lnTo>
                <a:lnTo>
                  <a:pt x="419912" y="91506"/>
                </a:lnTo>
                <a:lnTo>
                  <a:pt x="439908" y="84295"/>
                </a:lnTo>
                <a:lnTo>
                  <a:pt x="459904" y="89543"/>
                </a:lnTo>
                <a:lnTo>
                  <a:pt x="479900" y="91287"/>
                </a:lnTo>
                <a:lnTo>
                  <a:pt x="499896" y="92240"/>
                </a:lnTo>
                <a:lnTo>
                  <a:pt x="519892" y="91508"/>
                </a:lnTo>
                <a:lnTo>
                  <a:pt x="539887" y="88142"/>
                </a:lnTo>
                <a:lnTo>
                  <a:pt x="559883" y="95178"/>
                </a:lnTo>
                <a:lnTo>
                  <a:pt x="579879" y="92980"/>
                </a:lnTo>
                <a:lnTo>
                  <a:pt x="599875" y="93856"/>
                </a:lnTo>
                <a:lnTo>
                  <a:pt x="619871" y="97593"/>
                </a:lnTo>
                <a:lnTo>
                  <a:pt x="639867" y="97100"/>
                </a:lnTo>
                <a:lnTo>
                  <a:pt x="659862" y="102482"/>
                </a:lnTo>
                <a:lnTo>
                  <a:pt x="679858" y="103088"/>
                </a:lnTo>
                <a:lnTo>
                  <a:pt x="699854" y="101888"/>
                </a:lnTo>
                <a:lnTo>
                  <a:pt x="719850" y="97035"/>
                </a:lnTo>
                <a:lnTo>
                  <a:pt x="739846" y="98849"/>
                </a:lnTo>
                <a:lnTo>
                  <a:pt x="759842" y="98954"/>
                </a:lnTo>
                <a:lnTo>
                  <a:pt x="779838" y="94749"/>
                </a:lnTo>
                <a:lnTo>
                  <a:pt x="799833" y="94452"/>
                </a:lnTo>
                <a:lnTo>
                  <a:pt x="819829" y="94285"/>
                </a:lnTo>
                <a:lnTo>
                  <a:pt x="839825" y="86794"/>
                </a:lnTo>
                <a:lnTo>
                  <a:pt x="859821" y="85951"/>
                </a:lnTo>
                <a:lnTo>
                  <a:pt x="879817" y="89747"/>
                </a:lnTo>
                <a:lnTo>
                  <a:pt x="899813" y="84429"/>
                </a:lnTo>
                <a:lnTo>
                  <a:pt x="919808" y="84190"/>
                </a:lnTo>
                <a:lnTo>
                  <a:pt x="939804" y="79156"/>
                </a:lnTo>
                <a:lnTo>
                  <a:pt x="959800" y="81094"/>
                </a:lnTo>
                <a:lnTo>
                  <a:pt x="979796" y="87670"/>
                </a:lnTo>
                <a:lnTo>
                  <a:pt x="999792" y="78276"/>
                </a:lnTo>
                <a:lnTo>
                  <a:pt x="1019788" y="91394"/>
                </a:lnTo>
                <a:lnTo>
                  <a:pt x="1039784" y="87064"/>
                </a:lnTo>
                <a:lnTo>
                  <a:pt x="1059779" y="81350"/>
                </a:lnTo>
                <a:lnTo>
                  <a:pt x="1079775" y="89546"/>
                </a:lnTo>
                <a:lnTo>
                  <a:pt x="1099771" y="82226"/>
                </a:lnTo>
                <a:lnTo>
                  <a:pt x="1119767" y="86723"/>
                </a:lnTo>
                <a:lnTo>
                  <a:pt x="1139763" y="73494"/>
                </a:lnTo>
                <a:lnTo>
                  <a:pt x="1159759" y="68708"/>
                </a:lnTo>
                <a:lnTo>
                  <a:pt x="1179755" y="68880"/>
                </a:lnTo>
                <a:lnTo>
                  <a:pt x="1199750" y="61818"/>
                </a:lnTo>
                <a:lnTo>
                  <a:pt x="1219746" y="69602"/>
                </a:lnTo>
                <a:lnTo>
                  <a:pt x="1239742" y="63571"/>
                </a:lnTo>
                <a:lnTo>
                  <a:pt x="1259738" y="66490"/>
                </a:lnTo>
                <a:lnTo>
                  <a:pt x="1279734" y="69265"/>
                </a:lnTo>
                <a:lnTo>
                  <a:pt x="1299730" y="74760"/>
                </a:lnTo>
                <a:lnTo>
                  <a:pt x="1319725" y="73317"/>
                </a:lnTo>
                <a:lnTo>
                  <a:pt x="1339721" y="76680"/>
                </a:lnTo>
                <a:lnTo>
                  <a:pt x="1359717" y="88873"/>
                </a:lnTo>
                <a:lnTo>
                  <a:pt x="1379713" y="91099"/>
                </a:lnTo>
                <a:lnTo>
                  <a:pt x="1399709" y="104866"/>
                </a:lnTo>
                <a:lnTo>
                  <a:pt x="1419705" y="99592"/>
                </a:lnTo>
                <a:lnTo>
                  <a:pt x="1439701" y="104033"/>
                </a:lnTo>
                <a:lnTo>
                  <a:pt x="1459696" y="101601"/>
                </a:lnTo>
                <a:lnTo>
                  <a:pt x="1479692" y="106147"/>
                </a:lnTo>
                <a:lnTo>
                  <a:pt x="1499688" y="115647"/>
                </a:lnTo>
                <a:lnTo>
                  <a:pt x="1519684" y="114236"/>
                </a:lnTo>
                <a:lnTo>
                  <a:pt x="1539680" y="108810"/>
                </a:lnTo>
                <a:lnTo>
                  <a:pt x="1559676" y="118286"/>
                </a:lnTo>
                <a:lnTo>
                  <a:pt x="1579671" y="108598"/>
                </a:lnTo>
                <a:lnTo>
                  <a:pt x="1599667" y="111558"/>
                </a:lnTo>
                <a:lnTo>
                  <a:pt x="1619663" y="110333"/>
                </a:lnTo>
                <a:lnTo>
                  <a:pt x="1639659" y="109798"/>
                </a:lnTo>
                <a:lnTo>
                  <a:pt x="1659655" y="94483"/>
                </a:lnTo>
                <a:lnTo>
                  <a:pt x="1679651" y="108005"/>
                </a:lnTo>
                <a:lnTo>
                  <a:pt x="1699647" y="107212"/>
                </a:lnTo>
                <a:lnTo>
                  <a:pt x="1719642" y="107036"/>
                </a:lnTo>
                <a:lnTo>
                  <a:pt x="1739638" y="99766"/>
                </a:lnTo>
                <a:lnTo>
                  <a:pt x="1759634" y="123140"/>
                </a:lnTo>
                <a:lnTo>
                  <a:pt x="1779630" y="118309"/>
                </a:lnTo>
                <a:lnTo>
                  <a:pt x="1799626" y="118507"/>
                </a:lnTo>
                <a:lnTo>
                  <a:pt x="1819622" y="110083"/>
                </a:lnTo>
                <a:lnTo>
                  <a:pt x="1839617" y="108725"/>
                </a:lnTo>
                <a:lnTo>
                  <a:pt x="1859613" y="100679"/>
                </a:lnTo>
                <a:lnTo>
                  <a:pt x="1879609" y="106143"/>
                </a:lnTo>
                <a:lnTo>
                  <a:pt x="1899605" y="88235"/>
                </a:lnTo>
                <a:lnTo>
                  <a:pt x="1919601" y="73081"/>
                </a:lnTo>
                <a:lnTo>
                  <a:pt x="1939597" y="40113"/>
                </a:lnTo>
                <a:lnTo>
                  <a:pt x="1959593" y="20290"/>
                </a:lnTo>
                <a:lnTo>
                  <a:pt x="1979588" y="27625"/>
                </a:lnTo>
                <a:lnTo>
                  <a:pt x="1999584" y="14785"/>
                </a:lnTo>
                <a:lnTo>
                  <a:pt x="2019580" y="5791"/>
                </a:lnTo>
                <a:lnTo>
                  <a:pt x="2039576" y="3665"/>
                </a:lnTo>
                <a:lnTo>
                  <a:pt x="2059572" y="0"/>
                </a:lnTo>
                <a:lnTo>
                  <a:pt x="2079568" y="5333"/>
                </a:lnTo>
                <a:lnTo>
                  <a:pt x="2099564" y="25955"/>
                </a:lnTo>
                <a:lnTo>
                  <a:pt x="2119559" y="46831"/>
                </a:lnTo>
                <a:lnTo>
                  <a:pt x="2139555" y="51222"/>
                </a:lnTo>
                <a:lnTo>
                  <a:pt x="2159551" y="67105"/>
                </a:lnTo>
                <a:lnTo>
                  <a:pt x="2179547" y="75365"/>
                </a:lnTo>
                <a:lnTo>
                  <a:pt x="2199543" y="77082"/>
                </a:lnTo>
                <a:lnTo>
                  <a:pt x="2219539" y="91053"/>
                </a:lnTo>
                <a:lnTo>
                  <a:pt x="2239534" y="99849"/>
                </a:lnTo>
                <a:lnTo>
                  <a:pt x="2259530" y="100053"/>
                </a:lnTo>
                <a:lnTo>
                  <a:pt x="2279526" y="99243"/>
                </a:lnTo>
                <a:lnTo>
                  <a:pt x="2299522" y="110110"/>
                </a:lnTo>
                <a:lnTo>
                  <a:pt x="2319518" y="92369"/>
                </a:lnTo>
                <a:lnTo>
                  <a:pt x="2339514" y="92658"/>
                </a:lnTo>
                <a:lnTo>
                  <a:pt x="2359510" y="89412"/>
                </a:lnTo>
                <a:lnTo>
                  <a:pt x="2379505" y="89578"/>
                </a:lnTo>
                <a:lnTo>
                  <a:pt x="2399501" y="95359"/>
                </a:lnTo>
                <a:lnTo>
                  <a:pt x="2419497" y="95208"/>
                </a:lnTo>
                <a:lnTo>
                  <a:pt x="2439493" y="99921"/>
                </a:lnTo>
                <a:lnTo>
                  <a:pt x="2459489" y="93511"/>
                </a:lnTo>
                <a:lnTo>
                  <a:pt x="2479485" y="102293"/>
                </a:lnTo>
                <a:lnTo>
                  <a:pt x="2499480" y="103304"/>
                </a:lnTo>
                <a:lnTo>
                  <a:pt x="2519476" y="102550"/>
                </a:lnTo>
                <a:lnTo>
                  <a:pt x="2539472" y="103856"/>
                </a:lnTo>
                <a:lnTo>
                  <a:pt x="2559468" y="102219"/>
                </a:lnTo>
                <a:lnTo>
                  <a:pt x="2579464" y="105409"/>
                </a:lnTo>
                <a:lnTo>
                  <a:pt x="2599460" y="105464"/>
                </a:lnTo>
                <a:lnTo>
                  <a:pt x="2619456" y="102946"/>
                </a:lnTo>
                <a:lnTo>
                  <a:pt x="2639451" y="102183"/>
                </a:lnTo>
                <a:lnTo>
                  <a:pt x="2659447" y="97966"/>
                </a:lnTo>
                <a:lnTo>
                  <a:pt x="2679443" y="99537"/>
                </a:lnTo>
                <a:lnTo>
                  <a:pt x="2699439" y="89371"/>
                </a:lnTo>
                <a:lnTo>
                  <a:pt x="2719435" y="90017"/>
                </a:lnTo>
                <a:lnTo>
                  <a:pt x="2739431" y="92608"/>
                </a:lnTo>
                <a:lnTo>
                  <a:pt x="2759426" y="89952"/>
                </a:lnTo>
                <a:lnTo>
                  <a:pt x="2779422" y="87644"/>
                </a:lnTo>
                <a:lnTo>
                  <a:pt x="2799418" y="86376"/>
                </a:lnTo>
                <a:lnTo>
                  <a:pt x="2819414" y="87809"/>
                </a:lnTo>
                <a:lnTo>
                  <a:pt x="2839410" y="80791"/>
                </a:lnTo>
                <a:lnTo>
                  <a:pt x="2859406" y="79432"/>
                </a:lnTo>
                <a:lnTo>
                  <a:pt x="2879402" y="84417"/>
                </a:lnTo>
                <a:lnTo>
                  <a:pt x="2899397" y="84718"/>
                </a:lnTo>
                <a:lnTo>
                  <a:pt x="2919393" y="88900"/>
                </a:lnTo>
                <a:lnTo>
                  <a:pt x="2939389" y="89447"/>
                </a:lnTo>
                <a:lnTo>
                  <a:pt x="2959385" y="87995"/>
                </a:lnTo>
                <a:lnTo>
                  <a:pt x="2979381" y="89302"/>
                </a:lnTo>
                <a:lnTo>
                  <a:pt x="2999377" y="84764"/>
                </a:lnTo>
                <a:lnTo>
                  <a:pt x="3019372" y="90991"/>
                </a:lnTo>
                <a:lnTo>
                  <a:pt x="3039368" y="92326"/>
                </a:lnTo>
                <a:lnTo>
                  <a:pt x="3059364" y="84033"/>
                </a:lnTo>
                <a:lnTo>
                  <a:pt x="3079360" y="87579"/>
                </a:lnTo>
                <a:lnTo>
                  <a:pt x="3099356" y="90679"/>
                </a:lnTo>
                <a:lnTo>
                  <a:pt x="3119352" y="86879"/>
                </a:lnTo>
                <a:lnTo>
                  <a:pt x="3139348" y="91232"/>
                </a:lnTo>
                <a:lnTo>
                  <a:pt x="3159343" y="86723"/>
                </a:lnTo>
                <a:lnTo>
                  <a:pt x="3179339" y="82871"/>
                </a:lnTo>
                <a:lnTo>
                  <a:pt x="3199335" y="84273"/>
                </a:lnTo>
                <a:lnTo>
                  <a:pt x="3219331" y="86402"/>
                </a:lnTo>
                <a:lnTo>
                  <a:pt x="3239327" y="91159"/>
                </a:lnTo>
                <a:lnTo>
                  <a:pt x="3259323" y="91350"/>
                </a:lnTo>
                <a:lnTo>
                  <a:pt x="3279319" y="94400"/>
                </a:lnTo>
                <a:lnTo>
                  <a:pt x="3299314" y="90406"/>
                </a:lnTo>
                <a:lnTo>
                  <a:pt x="3319310" y="93863"/>
                </a:lnTo>
                <a:lnTo>
                  <a:pt x="3339306" y="92905"/>
                </a:lnTo>
                <a:lnTo>
                  <a:pt x="3359302" y="97896"/>
                </a:lnTo>
                <a:lnTo>
                  <a:pt x="3379298" y="99570"/>
                </a:lnTo>
                <a:lnTo>
                  <a:pt x="3399294" y="94758"/>
                </a:lnTo>
                <a:lnTo>
                  <a:pt x="3419289" y="93252"/>
                </a:lnTo>
                <a:lnTo>
                  <a:pt x="3439285" y="94090"/>
                </a:lnTo>
                <a:lnTo>
                  <a:pt x="3459281" y="93841"/>
                </a:lnTo>
                <a:lnTo>
                  <a:pt x="3479277" y="92801"/>
                </a:lnTo>
                <a:lnTo>
                  <a:pt x="3499273" y="92372"/>
                </a:lnTo>
                <a:lnTo>
                  <a:pt x="3519269" y="95689"/>
                </a:lnTo>
                <a:lnTo>
                  <a:pt x="3539265" y="91887"/>
                </a:lnTo>
                <a:lnTo>
                  <a:pt x="3559260" y="92177"/>
                </a:lnTo>
                <a:lnTo>
                  <a:pt x="3579256" y="94080"/>
                </a:lnTo>
                <a:lnTo>
                  <a:pt x="3599252" y="93316"/>
                </a:lnTo>
                <a:lnTo>
                  <a:pt x="3619248" y="90558"/>
                </a:lnTo>
                <a:lnTo>
                  <a:pt x="3639244" y="90443"/>
                </a:lnTo>
                <a:lnTo>
                  <a:pt x="3659240" y="86530"/>
                </a:lnTo>
                <a:lnTo>
                  <a:pt x="3679235" y="84280"/>
                </a:lnTo>
                <a:lnTo>
                  <a:pt x="3699231" y="88970"/>
                </a:lnTo>
                <a:lnTo>
                  <a:pt x="3719227" y="84845"/>
                </a:lnTo>
                <a:lnTo>
                  <a:pt x="3739223" y="84551"/>
                </a:lnTo>
                <a:lnTo>
                  <a:pt x="3759219" y="84884"/>
                </a:lnTo>
                <a:lnTo>
                  <a:pt x="3779215" y="89981"/>
                </a:lnTo>
                <a:close/>
              </a:path>
            </a:pathLst>
          </a:custGeom>
          <a:noFill/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7251192" y="5099366"/>
            <a:ext cx="3779215" cy="83129"/>
          </a:xfrm>
          <a:custGeom>
            <a:avLst/>
            <a:gdLst/>
            <a:ahLst/>
            <a:cxnLst/>
            <a:rect l="l" t="t" r="r" b="b"/>
            <a:pathLst>
              <a:path w="3779215" h="83129">
                <a:moveTo>
                  <a:pt x="0" y="49022"/>
                </a:moveTo>
                <a:lnTo>
                  <a:pt x="19995" y="49406"/>
                </a:lnTo>
                <a:lnTo>
                  <a:pt x="39991" y="49870"/>
                </a:lnTo>
                <a:lnTo>
                  <a:pt x="59987" y="49998"/>
                </a:lnTo>
                <a:lnTo>
                  <a:pt x="79983" y="47747"/>
                </a:lnTo>
                <a:lnTo>
                  <a:pt x="99979" y="46190"/>
                </a:lnTo>
                <a:lnTo>
                  <a:pt x="119975" y="46420"/>
                </a:lnTo>
                <a:lnTo>
                  <a:pt x="139970" y="48289"/>
                </a:lnTo>
                <a:lnTo>
                  <a:pt x="159966" y="47260"/>
                </a:lnTo>
                <a:lnTo>
                  <a:pt x="179962" y="46457"/>
                </a:lnTo>
                <a:lnTo>
                  <a:pt x="199958" y="50492"/>
                </a:lnTo>
                <a:lnTo>
                  <a:pt x="219954" y="47584"/>
                </a:lnTo>
                <a:lnTo>
                  <a:pt x="239950" y="46609"/>
                </a:lnTo>
                <a:lnTo>
                  <a:pt x="259946" y="47834"/>
                </a:lnTo>
                <a:lnTo>
                  <a:pt x="279941" y="48642"/>
                </a:lnTo>
                <a:lnTo>
                  <a:pt x="299937" y="50832"/>
                </a:lnTo>
                <a:lnTo>
                  <a:pt x="319933" y="53187"/>
                </a:lnTo>
                <a:lnTo>
                  <a:pt x="339929" y="50506"/>
                </a:lnTo>
                <a:lnTo>
                  <a:pt x="359925" y="53583"/>
                </a:lnTo>
                <a:lnTo>
                  <a:pt x="379921" y="51433"/>
                </a:lnTo>
                <a:lnTo>
                  <a:pt x="399916" y="50723"/>
                </a:lnTo>
                <a:lnTo>
                  <a:pt x="419912" y="53900"/>
                </a:lnTo>
                <a:lnTo>
                  <a:pt x="439908" y="53659"/>
                </a:lnTo>
                <a:lnTo>
                  <a:pt x="459904" y="50229"/>
                </a:lnTo>
                <a:lnTo>
                  <a:pt x="479900" y="50835"/>
                </a:lnTo>
                <a:lnTo>
                  <a:pt x="499896" y="53134"/>
                </a:lnTo>
                <a:lnTo>
                  <a:pt x="519892" y="52518"/>
                </a:lnTo>
                <a:lnTo>
                  <a:pt x="539887" y="51493"/>
                </a:lnTo>
                <a:lnTo>
                  <a:pt x="559883" y="46420"/>
                </a:lnTo>
                <a:lnTo>
                  <a:pt x="579879" y="46154"/>
                </a:lnTo>
                <a:lnTo>
                  <a:pt x="599875" y="49179"/>
                </a:lnTo>
                <a:lnTo>
                  <a:pt x="619871" y="44789"/>
                </a:lnTo>
                <a:lnTo>
                  <a:pt x="639867" y="43516"/>
                </a:lnTo>
                <a:lnTo>
                  <a:pt x="659862" y="45152"/>
                </a:lnTo>
                <a:lnTo>
                  <a:pt x="679858" y="46892"/>
                </a:lnTo>
                <a:lnTo>
                  <a:pt x="699854" y="45801"/>
                </a:lnTo>
                <a:lnTo>
                  <a:pt x="719850" y="48494"/>
                </a:lnTo>
                <a:lnTo>
                  <a:pt x="739846" y="49464"/>
                </a:lnTo>
                <a:lnTo>
                  <a:pt x="759842" y="43667"/>
                </a:lnTo>
                <a:lnTo>
                  <a:pt x="779838" y="45777"/>
                </a:lnTo>
                <a:lnTo>
                  <a:pt x="799833" y="46530"/>
                </a:lnTo>
                <a:lnTo>
                  <a:pt x="819829" y="43503"/>
                </a:lnTo>
                <a:lnTo>
                  <a:pt x="839825" y="46461"/>
                </a:lnTo>
                <a:lnTo>
                  <a:pt x="859821" y="42563"/>
                </a:lnTo>
                <a:lnTo>
                  <a:pt x="879817" y="41851"/>
                </a:lnTo>
                <a:lnTo>
                  <a:pt x="899813" y="45391"/>
                </a:lnTo>
                <a:lnTo>
                  <a:pt x="919808" y="43908"/>
                </a:lnTo>
                <a:lnTo>
                  <a:pt x="939804" y="42466"/>
                </a:lnTo>
                <a:lnTo>
                  <a:pt x="959800" y="42041"/>
                </a:lnTo>
                <a:lnTo>
                  <a:pt x="979796" y="38583"/>
                </a:lnTo>
                <a:lnTo>
                  <a:pt x="999792" y="41629"/>
                </a:lnTo>
                <a:lnTo>
                  <a:pt x="1019788" y="41082"/>
                </a:lnTo>
                <a:lnTo>
                  <a:pt x="1039784" y="45494"/>
                </a:lnTo>
                <a:lnTo>
                  <a:pt x="1059779" y="40554"/>
                </a:lnTo>
                <a:lnTo>
                  <a:pt x="1079775" y="49017"/>
                </a:lnTo>
                <a:lnTo>
                  <a:pt x="1099771" y="51526"/>
                </a:lnTo>
                <a:lnTo>
                  <a:pt x="1119767" y="53920"/>
                </a:lnTo>
                <a:lnTo>
                  <a:pt x="1139763" y="54135"/>
                </a:lnTo>
                <a:lnTo>
                  <a:pt x="1159759" y="61865"/>
                </a:lnTo>
                <a:lnTo>
                  <a:pt x="1179755" y="59040"/>
                </a:lnTo>
                <a:lnTo>
                  <a:pt x="1199750" y="64417"/>
                </a:lnTo>
                <a:lnTo>
                  <a:pt x="1219746" y="64392"/>
                </a:lnTo>
                <a:lnTo>
                  <a:pt x="1239742" y="63863"/>
                </a:lnTo>
                <a:lnTo>
                  <a:pt x="1259738" y="67419"/>
                </a:lnTo>
                <a:lnTo>
                  <a:pt x="1279734" y="61464"/>
                </a:lnTo>
                <a:lnTo>
                  <a:pt x="1299730" y="61752"/>
                </a:lnTo>
                <a:lnTo>
                  <a:pt x="1319725" y="61203"/>
                </a:lnTo>
                <a:lnTo>
                  <a:pt x="1339721" y="51676"/>
                </a:lnTo>
                <a:lnTo>
                  <a:pt x="1359717" y="55722"/>
                </a:lnTo>
                <a:lnTo>
                  <a:pt x="1379713" y="51534"/>
                </a:lnTo>
                <a:lnTo>
                  <a:pt x="1399709" y="48252"/>
                </a:lnTo>
                <a:lnTo>
                  <a:pt x="1419705" y="49302"/>
                </a:lnTo>
                <a:lnTo>
                  <a:pt x="1439701" y="51365"/>
                </a:lnTo>
                <a:lnTo>
                  <a:pt x="1459696" y="49834"/>
                </a:lnTo>
                <a:lnTo>
                  <a:pt x="1479692" y="50005"/>
                </a:lnTo>
                <a:lnTo>
                  <a:pt x="1499688" y="48407"/>
                </a:lnTo>
                <a:lnTo>
                  <a:pt x="1519684" y="55789"/>
                </a:lnTo>
                <a:lnTo>
                  <a:pt x="1539680" y="51594"/>
                </a:lnTo>
                <a:lnTo>
                  <a:pt x="1559676" y="54835"/>
                </a:lnTo>
                <a:lnTo>
                  <a:pt x="1579671" y="53849"/>
                </a:lnTo>
                <a:lnTo>
                  <a:pt x="1599667" y="46598"/>
                </a:lnTo>
                <a:lnTo>
                  <a:pt x="1619663" y="46828"/>
                </a:lnTo>
                <a:lnTo>
                  <a:pt x="1639659" y="42175"/>
                </a:lnTo>
                <a:lnTo>
                  <a:pt x="1659655" y="34464"/>
                </a:lnTo>
                <a:lnTo>
                  <a:pt x="1679651" y="26177"/>
                </a:lnTo>
                <a:lnTo>
                  <a:pt x="1699647" y="25597"/>
                </a:lnTo>
                <a:lnTo>
                  <a:pt x="1719642" y="16305"/>
                </a:lnTo>
                <a:lnTo>
                  <a:pt x="1739638" y="11400"/>
                </a:lnTo>
                <a:lnTo>
                  <a:pt x="1759634" y="6101"/>
                </a:lnTo>
                <a:lnTo>
                  <a:pt x="1779630" y="0"/>
                </a:lnTo>
                <a:lnTo>
                  <a:pt x="1799626" y="2901"/>
                </a:lnTo>
                <a:lnTo>
                  <a:pt x="1819622" y="3563"/>
                </a:lnTo>
                <a:lnTo>
                  <a:pt x="1839617" y="9291"/>
                </a:lnTo>
                <a:lnTo>
                  <a:pt x="1859613" y="8875"/>
                </a:lnTo>
                <a:lnTo>
                  <a:pt x="1879609" y="22360"/>
                </a:lnTo>
                <a:lnTo>
                  <a:pt x="1899605" y="29872"/>
                </a:lnTo>
                <a:lnTo>
                  <a:pt x="1919601" y="39524"/>
                </a:lnTo>
                <a:lnTo>
                  <a:pt x="1939597" y="61614"/>
                </a:lnTo>
                <a:lnTo>
                  <a:pt x="1959593" y="64795"/>
                </a:lnTo>
                <a:lnTo>
                  <a:pt x="1979588" y="64232"/>
                </a:lnTo>
                <a:lnTo>
                  <a:pt x="1999584" y="69717"/>
                </a:lnTo>
                <a:lnTo>
                  <a:pt x="2019580" y="83129"/>
                </a:lnTo>
                <a:lnTo>
                  <a:pt x="2039576" y="82227"/>
                </a:lnTo>
                <a:lnTo>
                  <a:pt x="2059572" y="73960"/>
                </a:lnTo>
                <a:lnTo>
                  <a:pt x="2079568" y="76547"/>
                </a:lnTo>
                <a:lnTo>
                  <a:pt x="2099564" y="69899"/>
                </a:lnTo>
                <a:lnTo>
                  <a:pt x="2119559" y="69251"/>
                </a:lnTo>
                <a:lnTo>
                  <a:pt x="2139555" y="57422"/>
                </a:lnTo>
                <a:lnTo>
                  <a:pt x="2159551" y="54623"/>
                </a:lnTo>
                <a:lnTo>
                  <a:pt x="2179547" y="53121"/>
                </a:lnTo>
                <a:lnTo>
                  <a:pt x="2199543" y="64955"/>
                </a:lnTo>
                <a:lnTo>
                  <a:pt x="2219539" y="58623"/>
                </a:lnTo>
                <a:lnTo>
                  <a:pt x="2239534" y="61287"/>
                </a:lnTo>
                <a:lnTo>
                  <a:pt x="2259530" y="69610"/>
                </a:lnTo>
                <a:lnTo>
                  <a:pt x="2279526" y="61362"/>
                </a:lnTo>
                <a:lnTo>
                  <a:pt x="2299522" y="60835"/>
                </a:lnTo>
                <a:lnTo>
                  <a:pt x="2319518" y="68961"/>
                </a:lnTo>
                <a:lnTo>
                  <a:pt x="2339514" y="59421"/>
                </a:lnTo>
                <a:lnTo>
                  <a:pt x="2359510" y="63226"/>
                </a:lnTo>
                <a:lnTo>
                  <a:pt x="2379505" y="59585"/>
                </a:lnTo>
                <a:lnTo>
                  <a:pt x="2399501" y="51768"/>
                </a:lnTo>
                <a:lnTo>
                  <a:pt x="2419497" y="50308"/>
                </a:lnTo>
                <a:lnTo>
                  <a:pt x="2439493" y="53355"/>
                </a:lnTo>
                <a:lnTo>
                  <a:pt x="2459489" y="48310"/>
                </a:lnTo>
                <a:lnTo>
                  <a:pt x="2479485" y="45380"/>
                </a:lnTo>
                <a:lnTo>
                  <a:pt x="2499480" y="45030"/>
                </a:lnTo>
                <a:lnTo>
                  <a:pt x="2519476" y="44857"/>
                </a:lnTo>
                <a:lnTo>
                  <a:pt x="2539472" y="43189"/>
                </a:lnTo>
                <a:lnTo>
                  <a:pt x="2559468" y="40067"/>
                </a:lnTo>
                <a:lnTo>
                  <a:pt x="2579464" y="45066"/>
                </a:lnTo>
                <a:lnTo>
                  <a:pt x="2599460" y="41884"/>
                </a:lnTo>
                <a:lnTo>
                  <a:pt x="2619456" y="43316"/>
                </a:lnTo>
                <a:lnTo>
                  <a:pt x="2639451" y="46810"/>
                </a:lnTo>
                <a:lnTo>
                  <a:pt x="2659447" y="45680"/>
                </a:lnTo>
                <a:lnTo>
                  <a:pt x="2679443" y="44740"/>
                </a:lnTo>
                <a:lnTo>
                  <a:pt x="2699439" y="46215"/>
                </a:lnTo>
                <a:lnTo>
                  <a:pt x="2719435" y="49543"/>
                </a:lnTo>
                <a:lnTo>
                  <a:pt x="2739431" y="44645"/>
                </a:lnTo>
                <a:lnTo>
                  <a:pt x="2759426" y="46178"/>
                </a:lnTo>
                <a:lnTo>
                  <a:pt x="2779422" y="45347"/>
                </a:lnTo>
                <a:lnTo>
                  <a:pt x="2799418" y="50373"/>
                </a:lnTo>
                <a:lnTo>
                  <a:pt x="2819414" y="49408"/>
                </a:lnTo>
                <a:lnTo>
                  <a:pt x="2839410" y="50567"/>
                </a:lnTo>
                <a:lnTo>
                  <a:pt x="2859406" y="46291"/>
                </a:lnTo>
                <a:lnTo>
                  <a:pt x="2879402" y="49041"/>
                </a:lnTo>
                <a:lnTo>
                  <a:pt x="2899397" y="49803"/>
                </a:lnTo>
                <a:lnTo>
                  <a:pt x="2919393" y="48270"/>
                </a:lnTo>
                <a:lnTo>
                  <a:pt x="2939389" y="45797"/>
                </a:lnTo>
                <a:lnTo>
                  <a:pt x="2959385" y="46693"/>
                </a:lnTo>
                <a:lnTo>
                  <a:pt x="2979381" y="50309"/>
                </a:lnTo>
                <a:lnTo>
                  <a:pt x="2999377" y="51551"/>
                </a:lnTo>
                <a:lnTo>
                  <a:pt x="3019372" y="48033"/>
                </a:lnTo>
                <a:lnTo>
                  <a:pt x="3039368" y="50703"/>
                </a:lnTo>
                <a:lnTo>
                  <a:pt x="3059364" y="50715"/>
                </a:lnTo>
                <a:lnTo>
                  <a:pt x="3079360" y="54714"/>
                </a:lnTo>
                <a:lnTo>
                  <a:pt x="3099356" y="55392"/>
                </a:lnTo>
                <a:lnTo>
                  <a:pt x="3119352" y="52251"/>
                </a:lnTo>
                <a:lnTo>
                  <a:pt x="3139348" y="53803"/>
                </a:lnTo>
                <a:lnTo>
                  <a:pt x="3159343" y="55622"/>
                </a:lnTo>
                <a:lnTo>
                  <a:pt x="3179339" y="50532"/>
                </a:lnTo>
                <a:lnTo>
                  <a:pt x="3199335" y="51662"/>
                </a:lnTo>
                <a:lnTo>
                  <a:pt x="3219331" y="50048"/>
                </a:lnTo>
                <a:lnTo>
                  <a:pt x="3239327" y="53180"/>
                </a:lnTo>
                <a:lnTo>
                  <a:pt x="3259323" y="48087"/>
                </a:lnTo>
                <a:lnTo>
                  <a:pt x="3279319" y="51574"/>
                </a:lnTo>
                <a:lnTo>
                  <a:pt x="3299314" y="46429"/>
                </a:lnTo>
                <a:lnTo>
                  <a:pt x="3319310" y="48010"/>
                </a:lnTo>
                <a:lnTo>
                  <a:pt x="3339306" y="48124"/>
                </a:lnTo>
                <a:lnTo>
                  <a:pt x="3359302" y="46603"/>
                </a:lnTo>
                <a:lnTo>
                  <a:pt x="3379298" y="44373"/>
                </a:lnTo>
                <a:lnTo>
                  <a:pt x="3399294" y="47956"/>
                </a:lnTo>
                <a:lnTo>
                  <a:pt x="3419289" y="48805"/>
                </a:lnTo>
                <a:lnTo>
                  <a:pt x="3439285" y="46789"/>
                </a:lnTo>
                <a:lnTo>
                  <a:pt x="3459281" y="48568"/>
                </a:lnTo>
                <a:lnTo>
                  <a:pt x="3479277" y="49454"/>
                </a:lnTo>
                <a:lnTo>
                  <a:pt x="3499273" y="49288"/>
                </a:lnTo>
                <a:lnTo>
                  <a:pt x="3519269" y="49924"/>
                </a:lnTo>
                <a:lnTo>
                  <a:pt x="3539265" y="49010"/>
                </a:lnTo>
                <a:lnTo>
                  <a:pt x="3559260" y="48209"/>
                </a:lnTo>
                <a:lnTo>
                  <a:pt x="3579256" y="47950"/>
                </a:lnTo>
                <a:lnTo>
                  <a:pt x="3599252" y="45090"/>
                </a:lnTo>
                <a:lnTo>
                  <a:pt x="3619248" y="47269"/>
                </a:lnTo>
                <a:lnTo>
                  <a:pt x="3639244" y="45739"/>
                </a:lnTo>
                <a:lnTo>
                  <a:pt x="3659240" y="47200"/>
                </a:lnTo>
                <a:lnTo>
                  <a:pt x="3679235" y="46086"/>
                </a:lnTo>
                <a:lnTo>
                  <a:pt x="3699231" y="47863"/>
                </a:lnTo>
                <a:lnTo>
                  <a:pt x="3719227" y="46751"/>
                </a:lnTo>
                <a:lnTo>
                  <a:pt x="3739223" y="48403"/>
                </a:lnTo>
                <a:lnTo>
                  <a:pt x="3759219" y="45021"/>
                </a:lnTo>
                <a:lnTo>
                  <a:pt x="3779215" y="46743"/>
                </a:lnTo>
                <a:close/>
              </a:path>
            </a:pathLst>
          </a:custGeom>
          <a:noFill/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16383" y="4956048"/>
            <a:ext cx="7315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67743" y="5212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D3EE"/>
                </a:solidFill>
                <a:latin typeface="Segoe UI"/>
              </a:rPr>
              <a:t>human event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23176" y="56509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647890"/>
                </a:solidFill>
                <a:latin typeface="Segoe UI"/>
              </a:rPr>
              <a:t>LINKS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23176" y="58338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AECB"/>
                </a:solidFill>
                <a:latin typeface="Segoe UI"/>
              </a:rPr>
              <a:t>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24344" y="5888736"/>
            <a:ext cx="822960" cy="6400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7324344" y="5888736"/>
            <a:ext cx="674827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311896" y="58338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AECB"/>
                </a:solidFill>
                <a:latin typeface="Segoe UI"/>
              </a:rPr>
              <a:t>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13064" y="5888736"/>
            <a:ext cx="822960" cy="6400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8513064" y="5888736"/>
            <a:ext cx="526694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500616" y="58338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AECB"/>
                </a:solidFill>
                <a:latin typeface="Segoe UI"/>
              </a:rPr>
              <a:t>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01784" y="5888736"/>
            <a:ext cx="822960" cy="6400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9701784" y="5888736"/>
            <a:ext cx="255117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9585655" y="5833872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647890"/>
                </a:solidFill>
                <a:latin typeface="Segoe UI"/>
              </a:rPr>
              <a:t>No camera feed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5705856"/>
            <a:ext cx="5870448" cy="804672"/>
          </a:xfrm>
          <a:prstGeom prst="roundRect">
            <a:avLst>
              <a:gd name="adj" fmla="val 22727"/>
            </a:avLst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7" name="Picture 86" descr="s09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33288"/>
            <a:ext cx="2377440" cy="74980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3300984" y="5705856"/>
            <a:ext cx="30175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Step 5 is the one that matters: the bag changes the signal, and the system must still say “not human”.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0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20">
                <a:solidFill>
                  <a:srgbClr val="22D3EE"/>
                </a:solidFill>
                <a:latin typeface="Segoe UI"/>
              </a:rPr>
              <a:t>09  —  IMPACT  &amp; 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" y="617220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2FF"/>
                </a:solidFill>
                <a:latin typeface="Segoe UI"/>
              </a:rPr>
              <a:t>Why this matters — and what comes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5254599" cy="2761488"/>
          </a:xfrm>
          <a:prstGeom prst="roundRect">
            <a:avLst>
              <a:gd name="adj" fmla="val 9271"/>
            </a:avLst>
          </a:prstGeom>
          <a:solidFill>
            <a:srgbClr val="0B122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700784"/>
            <a:ext cx="5254599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6696" y="1938528"/>
            <a:ext cx="4705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40">
                <a:solidFill>
                  <a:srgbClr val="22D3EE"/>
                </a:solidFill>
                <a:latin typeface="Segoe UI"/>
              </a:rP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3" y="2372868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34440" y="2286000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Camera-free sensing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Works where cameras are unwanted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3" y="2720340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633472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Privacy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34640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No images, no audio, no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3" y="306781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34440" y="2980944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Low-cost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82112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ESP32 boards — no specialist RF gear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3" y="3415284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4440" y="3328415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No wearables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529584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Nothing to wear, charge or remember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3" y="3762756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34440" y="3675888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Edge / near-device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77056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Raw CSI is processed locally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3" y="4110228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34440" y="4023360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Scales room by room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24528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Add links, reuse the same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1295" y="1700784"/>
            <a:ext cx="5254599" cy="2761488"/>
          </a:xfrm>
          <a:prstGeom prst="roundRect">
            <a:avLst>
              <a:gd name="adj" fmla="val 9271"/>
            </a:avLst>
          </a:prstGeom>
          <a:solidFill>
            <a:srgbClr val="0B1220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251295" y="1700784"/>
            <a:ext cx="5254599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62191" y="1938528"/>
            <a:ext cx="4705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40">
                <a:solidFill>
                  <a:srgbClr val="8B5CF6"/>
                </a:solidFill>
                <a:latin typeface="Segoe UI"/>
              </a:rPr>
              <a:t>FUTURE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0479" y="2372868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99935" y="2286000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Reliable fall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9935" y="2487168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Sudden-drop + long-stillness events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0479" y="2720340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99935" y="2633472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Multi-room sensing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9935" y="2834640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Several links, one coordinated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0479" y="3067812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99935" y="2980944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Stronger rejection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9935" y="3182112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Fans, doors, pets, moving furniture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0479" y="3415284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799935" y="3328415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TinyML on the ESP32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9935" y="3529584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Inference on the board, not the laptop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0479" y="3762756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99935" y="3675888"/>
            <a:ext cx="43401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AF2FF"/>
                </a:solidFill>
                <a:latin typeface="Segoe UI"/>
              </a:rPr>
              <a:t>Adaptive calibration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9935" y="3877056"/>
            <a:ext cx="43401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ECB"/>
                </a:solidFill>
                <a:latin typeface="Segoe UI"/>
              </a:rPr>
              <a:t>Self-tuning to each new 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2191" y="4096512"/>
            <a:ext cx="4632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7890"/>
                </a:solidFill>
                <a:latin typeface="Segoe UI"/>
              </a:rPr>
              <a:t>CSI sensing is established research. Our contribution is a practical, low-cost implementation with explicit non-human rejection.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791456"/>
            <a:ext cx="10820095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85800" y="5010912"/>
            <a:ext cx="95399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20">
                <a:solidFill>
                  <a:srgbClr val="22D3EE"/>
                </a:solidFill>
                <a:latin typeface="Segoe UI"/>
              </a:rPr>
              <a:t>WiFi is everywhere.  Why not use it to sense the environment — without seeing it?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6692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 spc="120">
                <a:solidFill>
                  <a:srgbClr val="9AAECB"/>
                </a:solidFill>
                <a:latin typeface="Segoe UI"/>
              </a:rPr>
              <a:t>WiFiSense  ·  Sense movement.  Not identities.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43737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60">
                <a:solidFill>
                  <a:srgbClr val="647890"/>
                </a:solidFill>
                <a:latin typeface="Segoe UI"/>
              </a:rPr>
              <a:t>WiFiSense  ·  Privacy-Preserving Human Activity Detection Using WiFi CSI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08615" y="64373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20">
                <a:solidFill>
                  <a:srgbClr val="22D3EE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  <p:transition spd="fast" advClick="1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