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514600"/>
            <a:ext cx="12191695" cy="4343400"/>
          </a:xfrm>
          <a:prstGeom prst="rect">
            <a:avLst/>
          </a:prstGeom>
          <a:solidFill>
            <a:srgbClr val="060B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00E5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02920"/>
            <a:ext cx="45720" cy="310896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21207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HACKATHON PROTOTYPE  ·  ELECTRICITY GRID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E8F2FF"/>
                </a:solidFill>
                <a:latin typeface="Arial"/>
              </a:rPr>
              <a:t>AI EMERGENCY COMMANDER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22191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Consolas"/>
              </a:rPr>
              <a:t>PREDICT.  SIMULATE.  RECOMMEND.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4988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AA4C4"/>
                </a:solidFill>
                <a:latin typeface="Arial"/>
              </a:rPr>
              <a:t>AI-powered emergency decision support for critical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5074920"/>
            <a:ext cx="1207008" cy="384048"/>
          </a:xfrm>
          <a:prstGeom prst="rect">
            <a:avLst/>
          </a:prstGeom>
          <a:solidFill>
            <a:srgbClr val="0B1524">
              <a:alpha val="85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074920"/>
            <a:ext cx="12070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  <a:latin typeface="Consolas"/>
              </a:rPr>
              <a:t>MONITOR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5074920"/>
            <a:ext cx="1207008" cy="384048"/>
          </a:xfrm>
          <a:prstGeom prst="rect">
            <a:avLst/>
          </a:prstGeom>
          <a:solidFill>
            <a:srgbClr val="0B1524">
              <a:alpha val="85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5074920"/>
            <a:ext cx="12070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  <a:latin typeface="Consolas"/>
              </a:rPr>
              <a:t>PREDICT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5074920"/>
            <a:ext cx="1335024" cy="384048"/>
          </a:xfrm>
          <a:prstGeom prst="rect">
            <a:avLst/>
          </a:prstGeom>
          <a:solidFill>
            <a:srgbClr val="0B1524">
              <a:alpha val="85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5074920"/>
            <a:ext cx="13350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  <a:latin typeface="Consolas"/>
              </a:rPr>
              <a:t>SIMULATE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75504" y="5074920"/>
            <a:ext cx="1463040" cy="384048"/>
          </a:xfrm>
          <a:prstGeom prst="rect">
            <a:avLst/>
          </a:prstGeom>
          <a:solidFill>
            <a:srgbClr val="0B1524">
              <a:alpha val="85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50749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  <a:latin typeface="Consolas"/>
              </a:rPr>
              <a:t>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9893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4C4"/>
                </a:solidFill>
                <a:latin typeface="Consolas"/>
              </a:rPr>
              <a:t>A simulated decision-support system for operators — not connected to any real power grid.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Failures don't stop at one 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A4C4"/>
                </a:solidFill>
                <a:latin typeface="Consolas"/>
              </a:rPr>
              <a:t>AI EMERGENCY COMMANDER   ·   SIMULATED PROTOTYPE   ·   HUMAN DECISION-SUPPORT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8F2FF"/>
                </a:solidFill>
                <a:latin typeface="Arial"/>
              </a:rPr>
              <a:t>A normal monitoring system shows an alarm.  An operator still needs to know what comes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3383280" cy="2788920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926080"/>
            <a:ext cx="3383280" cy="50292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9848" y="3310128"/>
            <a:ext cx="146304" cy="146304"/>
          </a:xfrm>
          <a:prstGeom prst="ellipse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32186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3B30"/>
                </a:solidFill>
                <a:latin typeface="Consolas"/>
              </a:rPr>
              <a:t>WHAT MAY FAIL NEXT?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794760"/>
            <a:ext cx="27980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8F2FF"/>
                </a:solidFill>
                <a:latin typeface="Arial"/>
              </a:rPr>
              <a:t>The next weak point in the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07492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3B30"/>
                </a:solidFill>
                <a:latin typeface="Consola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2926080"/>
            <a:ext cx="3383280" cy="2788920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2926080"/>
            <a:ext cx="3383280" cy="50292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90872" y="33101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32186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  <a:latin typeface="Consolas"/>
              </a:rPr>
              <a:t>HOW WILL IT SPREAD?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794760"/>
            <a:ext cx="27980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8F2FF"/>
                </a:solidFill>
                <a:latin typeface="Arial"/>
              </a:rPr>
              <a:t>The cascade path through the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507492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B300"/>
                </a:solidFill>
                <a:latin typeface="Consola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9288" y="2926080"/>
            <a:ext cx="3383280" cy="2788920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9288" y="2926080"/>
            <a:ext cx="3383280" cy="5029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11896" y="3310128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6215" y="32186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onsolas"/>
              </a:rPr>
              <a:t>WHAT ACTION FIRST?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3794760"/>
            <a:ext cx="27980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8F2FF"/>
                </a:solidFill>
                <a:latin typeface="Arial"/>
              </a:rPr>
              <a:t>The safest response to 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507492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03 ·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The AI Emergency Commander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F2FF"/>
                </a:solidFill>
                <a:latin typeface="Arial"/>
              </a:rPr>
              <a:t>An AI-based decision-support copilot that watches the grid and thinks ahead for the operator.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3383280" cy="1325880"/>
          </a:xfrm>
          <a:prstGeom prst="rect">
            <a:avLst/>
          </a:prstGeom>
          <a:solidFill>
            <a:srgbClr val="0B1524">
              <a:alpha val="90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64008" cy="13258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onsolas"/>
              </a:rPr>
              <a:t>MONITORS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1729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2FF"/>
                </a:solidFill>
                <a:latin typeface="Arial"/>
              </a:rPr>
              <a:t>the power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2514600"/>
            <a:ext cx="3383280" cy="1325880"/>
          </a:xfrm>
          <a:prstGeom prst="rect">
            <a:avLst/>
          </a:prstGeom>
          <a:solidFill>
            <a:srgbClr val="0B1524">
              <a:alpha val="90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2514600"/>
            <a:ext cx="64008" cy="132588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71576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B300"/>
                </a:solidFill>
                <a:latin typeface="Consolas"/>
              </a:rPr>
              <a:t>DETECTS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1729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2FF"/>
                </a:solidFill>
                <a:latin typeface="Arial"/>
              </a:rPr>
              <a:t>abnormal conditions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2514600"/>
            <a:ext cx="3383280" cy="1325880"/>
          </a:xfrm>
          <a:prstGeom prst="rect">
            <a:avLst/>
          </a:prstGeom>
          <a:solidFill>
            <a:srgbClr val="0B1524">
              <a:alpha val="90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2514600"/>
            <a:ext cx="64008" cy="13258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71576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3B30"/>
                </a:solidFill>
                <a:latin typeface="Consolas"/>
              </a:rPr>
              <a:t>PREDICTS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1729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2FF"/>
                </a:solidFill>
                <a:latin typeface="Arial"/>
              </a:rPr>
              <a:t>failure 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3383280" cy="1325880"/>
          </a:xfrm>
          <a:prstGeom prst="rect">
            <a:avLst/>
          </a:prstGeom>
          <a:solidFill>
            <a:srgbClr val="0B1524">
              <a:alpha val="90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69080"/>
            <a:ext cx="64008" cy="132588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2702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B300"/>
                </a:solidFill>
                <a:latin typeface="Consolas"/>
              </a:rPr>
              <a:t>SIMULATES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727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2FF"/>
                </a:solidFill>
                <a:latin typeface="Arial"/>
              </a:rPr>
              <a:t>cascading failures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8264" y="4069080"/>
            <a:ext cx="3383280" cy="1325880"/>
          </a:xfrm>
          <a:prstGeom prst="rect">
            <a:avLst/>
          </a:prstGeom>
          <a:solidFill>
            <a:srgbClr val="0B1524">
              <a:alpha val="90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8264" y="4069080"/>
            <a:ext cx="64008" cy="13258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42702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onsolas"/>
              </a:rPr>
              <a:t>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727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2FF"/>
                </a:solidFill>
                <a:latin typeface="Arial"/>
              </a:rPr>
              <a:t>possible 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9288" y="4069080"/>
            <a:ext cx="3383280" cy="1325880"/>
          </a:xfrm>
          <a:prstGeom prst="rect">
            <a:avLst/>
          </a:prstGeom>
          <a:solidFill>
            <a:srgbClr val="0B1524">
              <a:alpha val="90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9288" y="4069080"/>
            <a:ext cx="64008" cy="1325880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42702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ED18F"/>
                </a:solidFill>
                <a:latin typeface="Consolas"/>
              </a:rPr>
              <a:t>RECOMMENDS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727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2FF"/>
                </a:solidFill>
                <a:latin typeface="Arial"/>
              </a:rPr>
              <a:t>the safest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From grid data to a recommended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A4C4"/>
                </a:solidFill>
                <a:latin typeface="Consolas"/>
              </a:rPr>
              <a:t>AI EMERGENCY COMMANDER   ·   SIMULATED PROTOTYPE   ·   HUMAN DECISION-SUPPORT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E5FF"/>
                </a:solidFill>
                <a:latin typeface="Consola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035040" cy="566928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54864" cy="5669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3" y="2029968"/>
            <a:ext cx="164592" cy="16459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182880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Power Grid Data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32688" y="2404872"/>
            <a:ext cx="329184" cy="182880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96896"/>
            <a:ext cx="6035040" cy="566928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596896"/>
            <a:ext cx="54864" cy="56692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4983" y="2798064"/>
            <a:ext cx="164592" cy="164592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259689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Danger Detection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32688" y="3172968"/>
            <a:ext cx="329184" cy="182880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64991"/>
            <a:ext cx="6035040" cy="566928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64991"/>
            <a:ext cx="54864" cy="5669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3" y="3566160"/>
            <a:ext cx="164592" cy="164592"/>
          </a:xfrm>
          <a:prstGeom prst="ellipse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3364991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Failure Prediction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32688" y="3941063"/>
            <a:ext cx="329184" cy="182880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133087"/>
            <a:ext cx="6035040" cy="566928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133087"/>
            <a:ext cx="54864" cy="56692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983" y="4334255"/>
            <a:ext cx="164592" cy="164592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4168" y="4133087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Cascade Simulation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32688" y="4709159"/>
            <a:ext cx="329184" cy="182880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901183"/>
            <a:ext cx="6035040" cy="566928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2E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901183"/>
            <a:ext cx="54864" cy="566928"/>
          </a:xfrm>
          <a:prstGeom prst="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3" y="5102351"/>
            <a:ext cx="164592" cy="164592"/>
          </a:xfrm>
          <a:prstGeom prst="ellipse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44168" y="4901183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What-If Analysis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932688" y="5477255"/>
            <a:ext cx="329184" cy="182880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5669280"/>
            <a:ext cx="6035040" cy="566928"/>
          </a:xfrm>
          <a:prstGeom prst="rect">
            <a:avLst/>
          </a:prstGeom>
          <a:solidFill>
            <a:srgbClr val="0B1524">
              <a:alpha val="90000"/>
            </a:srgbClr>
          </a:solidFill>
          <a:ln w="15875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669280"/>
            <a:ext cx="54864" cy="566928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983" y="5870448"/>
            <a:ext cx="164592" cy="164592"/>
          </a:xfrm>
          <a:prstGeom prst="ellipse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44168" y="56692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AI Recommendation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1828800"/>
            <a:ext cx="4023360" cy="4407408"/>
          </a:xfrm>
          <a:prstGeom prst="rect">
            <a:avLst/>
          </a:prstGeom>
          <a:solidFill>
            <a:srgbClr val="0B1524">
              <a:alpha val="65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21031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CLOSED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606040"/>
            <a:ext cx="33832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AA4C4"/>
                </a:solidFill>
                <a:latin typeface="Arial"/>
              </a:rPr>
              <a:t>Each step feeds the next, and the recommendation loops back into the next what-if run.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1605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6E8C"/>
                </a:solidFill>
                <a:latin typeface="Consolas"/>
              </a:rPr>
              <a:t>ITERATION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6634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6E8C"/>
                </a:solidFill>
                <a:latin typeface="Consolas"/>
              </a:rPr>
              <a:t>ITERATION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1663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6E8C"/>
                </a:solidFill>
                <a:latin typeface="Consolas"/>
              </a:rPr>
              <a:t>ITERATION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5669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6E8C"/>
                </a:solidFill>
                <a:latin typeface="Consolas"/>
              </a:rPr>
              <a:t>ITERATION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05 · EXAMPLE EMERGENCY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A failure spreads through the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A4C4"/>
                </a:solidFill>
                <a:latin typeface="Consolas"/>
              </a:rPr>
              <a:t>AI EMERGENCY COMMANDER   ·   SIMULATED PROTOTYPE   ·   HUMAN DECISION-SUPPORT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E5FF"/>
                </a:solidFill>
                <a:latin typeface="Consola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A4C4"/>
                </a:solidFill>
                <a:latin typeface="Consolas"/>
              </a:rPr>
              <a:t>THREAT ESCALATION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21408"/>
            <a:ext cx="10607040" cy="109728"/>
          </a:xfrm>
          <a:prstGeom prst="rect">
            <a:avLst/>
          </a:prstGeom>
          <a:solidFill>
            <a:srgbClr val="0B1524"/>
          </a:solidFill>
          <a:ln w="9525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82496" y="2103120"/>
            <a:ext cx="164592" cy="1097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1975104" cy="1783080"/>
          </a:xfrm>
          <a:prstGeom prst="rect">
            <a:avLst/>
          </a:prstGeom>
          <a:solidFill>
            <a:srgbClr val="0B1524">
              <a:alpha val="92000"/>
            </a:srgbClr>
          </a:solidFill>
          <a:ln w="1905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1975104" cy="6400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880360"/>
            <a:ext cx="1719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  <a:latin typeface="Consolas"/>
              </a:rPr>
              <a:t>STEP 1</a:t>
            </a:r>
          </a:p>
        </p:txBody>
      </p:sp>
      <p:sp>
        <p:nvSpPr>
          <p:cNvPr id="15" name="Oval 14"/>
          <p:cNvSpPr/>
          <p:nvPr/>
        </p:nvSpPr>
        <p:spPr>
          <a:xfrm>
            <a:off x="1508760" y="3355848"/>
            <a:ext cx="512064" cy="512064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3558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60B14"/>
                </a:solidFill>
                <a:latin typeface="Arial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41064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8F2FF"/>
                </a:solidFill>
                <a:latin typeface="Arial"/>
              </a:rPr>
              <a:t>Transformer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87952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B300"/>
                </a:solidFill>
                <a:latin typeface="Arial"/>
              </a:rPr>
              <a:t>Overheated + overloaded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7620" y="2103120"/>
            <a:ext cx="320040" cy="10972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0088" y="2697480"/>
            <a:ext cx="1975104" cy="1783080"/>
          </a:xfrm>
          <a:prstGeom prst="rect">
            <a:avLst/>
          </a:prstGeom>
          <a:solidFill>
            <a:srgbClr val="0B1524">
              <a:alpha val="92000"/>
            </a:srgbClr>
          </a:solidFill>
          <a:ln w="1905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697480"/>
            <a:ext cx="1975104" cy="6400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8104" y="2880360"/>
            <a:ext cx="1719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  <a:latin typeface="Consolas"/>
              </a:rPr>
              <a:t>STEP 2</a:t>
            </a:r>
          </a:p>
        </p:txBody>
      </p:sp>
      <p:sp>
        <p:nvSpPr>
          <p:cNvPr id="23" name="Oval 22"/>
          <p:cNvSpPr/>
          <p:nvPr/>
        </p:nvSpPr>
        <p:spPr>
          <a:xfrm>
            <a:off x="3721607" y="3355848"/>
            <a:ext cx="512064" cy="512064"/>
          </a:xfrm>
          <a:prstGeom prst="ellipse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7" y="33558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60B14"/>
                </a:solidFill>
                <a:latin typeface="Arial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18104" y="3941064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8F2FF"/>
                </a:solidFill>
                <a:latin typeface="Arial"/>
              </a:rPr>
              <a:t>Transformer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8104" y="4187952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3B30"/>
                </a:solidFill>
                <a:latin typeface="Arial"/>
              </a:rPr>
              <a:t>May fail</a:t>
            </a:r>
          </a:p>
        </p:txBody>
      </p:sp>
      <p:sp>
        <p:nvSpPr>
          <p:cNvPr id="27" name="Oval 26"/>
          <p:cNvSpPr/>
          <p:nvPr/>
        </p:nvSpPr>
        <p:spPr>
          <a:xfrm>
            <a:off x="5020055" y="3552444"/>
            <a:ext cx="109728" cy="109728"/>
          </a:xfrm>
          <a:prstGeom prst="ellipse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52744" y="2103120"/>
            <a:ext cx="475488" cy="10972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02936" y="2697480"/>
            <a:ext cx="1975104" cy="1783080"/>
          </a:xfrm>
          <a:prstGeom prst="rect">
            <a:avLst/>
          </a:prstGeom>
          <a:solidFill>
            <a:srgbClr val="0B1524">
              <a:alpha val="92000"/>
            </a:srgbClr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02936" y="2697480"/>
            <a:ext cx="1975104" cy="640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0951" y="2880360"/>
            <a:ext cx="1719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STEP 3</a:t>
            </a:r>
          </a:p>
        </p:txBody>
      </p:sp>
      <p:sp>
        <p:nvSpPr>
          <p:cNvPr id="32" name="Oval 31"/>
          <p:cNvSpPr/>
          <p:nvPr/>
        </p:nvSpPr>
        <p:spPr>
          <a:xfrm>
            <a:off x="5934455" y="3355848"/>
            <a:ext cx="512064" cy="51206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34455" y="33558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60B14"/>
                </a:solidFill>
                <a:latin typeface="Arial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0951" y="3941064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8F2FF"/>
                </a:solidFill>
                <a:latin typeface="Arial"/>
              </a:rPr>
              <a:t>Power shifts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0951" y="4187952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0E5FF"/>
                </a:solidFill>
                <a:latin typeface="Arial"/>
              </a:rPr>
              <a:t>to Transformer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7867" y="2103120"/>
            <a:ext cx="630936" cy="1097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15783" y="2697480"/>
            <a:ext cx="1975104" cy="1783080"/>
          </a:xfrm>
          <a:prstGeom prst="rect">
            <a:avLst/>
          </a:prstGeom>
          <a:solidFill>
            <a:srgbClr val="0B1524">
              <a:alpha val="92000"/>
            </a:srgbClr>
          </a:solidFill>
          <a:ln w="1905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15783" y="2697480"/>
            <a:ext cx="1975104" cy="6400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2880360"/>
            <a:ext cx="1719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  <a:latin typeface="Consolas"/>
              </a:rPr>
              <a:t>STEP 4</a:t>
            </a:r>
          </a:p>
        </p:txBody>
      </p:sp>
      <p:sp>
        <p:nvSpPr>
          <p:cNvPr id="40" name="Oval 39"/>
          <p:cNvSpPr/>
          <p:nvPr/>
        </p:nvSpPr>
        <p:spPr>
          <a:xfrm>
            <a:off x="8147304" y="3355848"/>
            <a:ext cx="512064" cy="512064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47304" y="33558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60B14"/>
                </a:solidFill>
                <a:latin typeface="Arial"/>
              </a:rP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941064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8F2FF"/>
                </a:solidFill>
                <a:latin typeface="Arial"/>
              </a:rPr>
              <a:t>Transformer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187952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B300"/>
                </a:solidFill>
                <a:latin typeface="Arial"/>
              </a:rPr>
              <a:t>Becomes overloaded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22992" y="2103120"/>
            <a:ext cx="786384" cy="1097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28632" y="2697480"/>
            <a:ext cx="1975104" cy="1783080"/>
          </a:xfrm>
          <a:prstGeom prst="rect">
            <a:avLst/>
          </a:prstGeom>
          <a:solidFill>
            <a:srgbClr val="0B1524">
              <a:alpha val="92000"/>
            </a:srgbClr>
          </a:solidFill>
          <a:ln w="1905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28632" y="2697480"/>
            <a:ext cx="1975104" cy="6400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56648" y="2880360"/>
            <a:ext cx="1719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  <a:latin typeface="Consolas"/>
              </a:rPr>
              <a:t>STEP 5</a:t>
            </a:r>
          </a:p>
        </p:txBody>
      </p:sp>
      <p:sp>
        <p:nvSpPr>
          <p:cNvPr id="48" name="Oval 47"/>
          <p:cNvSpPr/>
          <p:nvPr/>
        </p:nvSpPr>
        <p:spPr>
          <a:xfrm>
            <a:off x="10360152" y="3355848"/>
            <a:ext cx="512064" cy="512064"/>
          </a:xfrm>
          <a:prstGeom prst="ellipse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60152" y="33558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60B14"/>
                </a:solidFill>
                <a:latin typeface="Arial"/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648" y="3941064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8F2FF"/>
                </a:solidFill>
                <a:latin typeface="Arial"/>
              </a:rPr>
              <a:t>Hospital power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4187952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3B30"/>
                </a:solidFill>
                <a:latin typeface="Arial"/>
              </a:rPr>
              <a:t>Supply at risk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4983480"/>
            <a:ext cx="10607040" cy="868680"/>
          </a:xfrm>
          <a:prstGeom prst="rect">
            <a:avLst/>
          </a:prstGeom>
          <a:solidFill>
            <a:srgbClr val="0B1524">
              <a:alpha val="92000"/>
            </a:srgbClr>
          </a:solidFill>
          <a:ln w="127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1560" y="5321808"/>
            <a:ext cx="146304" cy="146304"/>
          </a:xfrm>
          <a:prstGeom prst="ellipse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25880" y="516636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2FF"/>
                </a:solidFill>
                <a:latin typeface="Arial"/>
              </a:rPr>
              <a:t>A single overloaded component can pull down critical services — the operator must see the whole cascade, not one alarm.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06 · WHAT-IF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Two futures. The AI picks the safer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A4C4"/>
                </a:solidFill>
                <a:latin typeface="Consolas"/>
              </a:rPr>
              <a:t>AI EMERGENCY COMMANDER   ·   SIMULATED PROTOTYPE   ·   HUMAN DECISION-SUPPORT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E5FF"/>
                </a:solidFill>
                <a:latin typeface="Consola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5120640" cy="3977639"/>
          </a:xfrm>
          <a:prstGeom prst="rect">
            <a:avLst/>
          </a:prstGeom>
          <a:solidFill>
            <a:srgbClr val="0B1524">
              <a:alpha val="92000"/>
            </a:srgbClr>
          </a:solidFill>
          <a:ln w="15875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20640" cy="566928"/>
          </a:xfrm>
          <a:prstGeom prst="rect">
            <a:avLst/>
          </a:prstGeom>
          <a:solidFill>
            <a:srgbClr val="FF3B3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939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0B14"/>
                </a:solidFill>
                <a:latin typeface="Consolas"/>
              </a:rPr>
              <a:t>OPTION 1  —  DO 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7919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3B30"/>
                </a:solidFill>
                <a:latin typeface="Arial"/>
              </a:rPr>
              <a:t>Failure spreads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246120"/>
            <a:ext cx="4572000" cy="566928"/>
          </a:xfrm>
          <a:prstGeom prst="rect">
            <a:avLst/>
          </a:prstGeom>
          <a:solidFill>
            <a:srgbClr val="101D31"/>
          </a:solidFill>
          <a:ln w="1143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246120"/>
            <a:ext cx="292608" cy="5669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0472" y="324612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F2FF"/>
                </a:solidFill>
                <a:latin typeface="Arial"/>
              </a:rPr>
              <a:t>Failure spreads through the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959352"/>
            <a:ext cx="4572000" cy="566928"/>
          </a:xfrm>
          <a:prstGeom prst="rect">
            <a:avLst/>
          </a:prstGeom>
          <a:solidFill>
            <a:srgbClr val="101D31"/>
          </a:solidFill>
          <a:ln w="1143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3959352"/>
            <a:ext cx="292608" cy="5669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0472" y="395935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F2FF"/>
                </a:solidFill>
                <a:latin typeface="Arial"/>
              </a:rPr>
              <a:t>Higher risk across the 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672584"/>
            <a:ext cx="4572000" cy="566928"/>
          </a:xfrm>
          <a:prstGeom prst="rect">
            <a:avLst/>
          </a:prstGeom>
          <a:solidFill>
            <a:srgbClr val="101D31"/>
          </a:solidFill>
          <a:ln w="1143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4672584"/>
            <a:ext cx="292608" cy="5669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90472" y="4672584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F2FF"/>
                </a:solidFill>
                <a:latin typeface="Arial"/>
              </a:rPr>
              <a:t>Hospital power may be affected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86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A4C4"/>
                </a:solidFill>
                <a:latin typeface="Consolas"/>
              </a:rPr>
              <a:t>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5760720"/>
            <a:ext cx="4572000" cy="146304"/>
          </a:xfrm>
          <a:prstGeom prst="rect">
            <a:avLst/>
          </a:prstGeom>
          <a:solidFill>
            <a:srgbClr val="101D31"/>
          </a:solidFill>
          <a:ln w="9525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5760720"/>
            <a:ext cx="4114800" cy="146304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856231"/>
            <a:ext cx="5340096" cy="4197096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965960"/>
            <a:ext cx="5120640" cy="3977639"/>
          </a:xfrm>
          <a:prstGeom prst="rect">
            <a:avLst/>
          </a:prstGeom>
          <a:solidFill>
            <a:srgbClr val="0B1C2A">
              <a:alpha val="95000"/>
            </a:srgbClr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965960"/>
            <a:ext cx="5120640" cy="566928"/>
          </a:xfrm>
          <a:prstGeom prst="rect">
            <a:avLst/>
          </a:prstGeom>
          <a:solidFill>
            <a:srgbClr val="2ED18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0939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0B14"/>
                </a:solidFill>
                <a:latin typeface="Consolas"/>
              </a:rPr>
              <a:t>OPTION 2  —  REDUCE NON-CRITICAL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67919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D18F"/>
                </a:solidFill>
                <a:latin typeface="Arial"/>
              </a:rPr>
              <a:t>Cascade prevented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246120"/>
            <a:ext cx="4572000" cy="566928"/>
          </a:xfrm>
          <a:prstGeom prst="rect">
            <a:avLst/>
          </a:prstGeom>
          <a:solidFill>
            <a:srgbClr val="101D31"/>
          </a:solidFill>
          <a:ln w="11430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3246120"/>
            <a:ext cx="292608" cy="566928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324612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F2FF"/>
                </a:solidFill>
                <a:latin typeface="Arial"/>
              </a:rPr>
              <a:t>Transformer stabilizes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959352"/>
            <a:ext cx="4572000" cy="566928"/>
          </a:xfrm>
          <a:prstGeom prst="rect">
            <a:avLst/>
          </a:prstGeom>
          <a:solidFill>
            <a:srgbClr val="101D31"/>
          </a:solidFill>
          <a:ln w="11430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3959352"/>
            <a:ext cx="292608" cy="566928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395935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F2FF"/>
                </a:solidFill>
                <a:latin typeface="Arial"/>
              </a:rPr>
              <a:t>Cascade is prevented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672584"/>
            <a:ext cx="4572000" cy="566928"/>
          </a:xfrm>
          <a:prstGeom prst="rect">
            <a:avLst/>
          </a:prstGeom>
          <a:solidFill>
            <a:srgbClr val="101D31"/>
          </a:solidFill>
          <a:ln w="11430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4672584"/>
            <a:ext cx="292608" cy="566928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4672584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F2FF"/>
                </a:solidFill>
                <a:latin typeface="Arial"/>
              </a:rPr>
              <a:t>Hospital stays protected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486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A4C4"/>
                </a:solidFill>
                <a:latin typeface="Consolas"/>
              </a:rPr>
              <a:t>RISK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5760720"/>
            <a:ext cx="4572000" cy="146304"/>
          </a:xfrm>
          <a:prstGeom prst="rect">
            <a:avLst/>
          </a:prstGeom>
          <a:solidFill>
            <a:srgbClr val="101D31"/>
          </a:solidFill>
          <a:ln w="9525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5760720"/>
            <a:ext cx="685800" cy="146304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751576" y="3520440"/>
            <a:ext cx="685800" cy="685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60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51576" y="3520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0B14"/>
                </a:solidFill>
                <a:latin typeface="Consolas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solidFill>
            <a:srgbClr val="0B1524">
              <a:alpha val="85000"/>
            </a:srgbClr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60350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A4C4"/>
                </a:solidFill>
                <a:latin typeface="Consolas"/>
              </a:rPr>
              <a:t>The simulator tests both actions on a digital model and rates the safest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07 · AI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The safest action, stated clearly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A4C4"/>
                </a:solidFill>
                <a:latin typeface="Consolas"/>
              </a:rPr>
              <a:t>AI EMERGENCY COMMANDER   ·   SIMULATED PROTOTYPE   ·   HUMAN DECISION-SUPPORT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E5FF"/>
                </a:solidFill>
                <a:latin typeface="Consola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07040" cy="2286000"/>
          </a:xfrm>
          <a:prstGeom prst="rect">
            <a:avLst/>
          </a:prstGeom>
          <a:solidFill>
            <a:srgbClr val="0B1524">
              <a:alpha val="93000"/>
            </a:srgbClr>
          </a:solidFill>
          <a:ln w="19050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91440" cy="2286000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11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D18F"/>
                </a:solidFill>
                <a:latin typeface="Consolas"/>
              </a:rPr>
              <a:t>RECOMMENDED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77440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8F2FF"/>
                </a:solidFill>
                <a:latin typeface="Arial"/>
              </a:rPr>
              <a:t>Reduce non-critical
Zone B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D18F"/>
                </a:solidFill>
                <a:latin typeface="Arial"/>
              </a:rPr>
              <a:t>by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A4C4"/>
                </a:solidFill>
                <a:latin typeface="Consolas"/>
              </a:rPr>
              <a:t>ZONE B 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606040"/>
            <a:ext cx="4480560" cy="201168"/>
          </a:xfrm>
          <a:prstGeom prst="rect">
            <a:avLst/>
          </a:prstGeom>
          <a:solidFill>
            <a:srgbClr val="101D31"/>
          </a:solidFill>
          <a:ln w="9525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606040"/>
            <a:ext cx="4480560" cy="20116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926080"/>
            <a:ext cx="3808476" cy="201168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2004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D18F"/>
                </a:solidFill>
                <a:latin typeface="Consolas"/>
              </a:rPr>
              <a:t>100%  →  85%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343400"/>
            <a:ext cx="10607040" cy="1417320"/>
          </a:xfrm>
          <a:prstGeom prst="rect">
            <a:avLst/>
          </a:prstGeom>
          <a:solidFill>
            <a:srgbClr val="0B1524">
              <a:alpha val="90000"/>
            </a:srgbClr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343400"/>
            <a:ext cx="91440" cy="14173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262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64608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8F2FF"/>
                </a:solidFill>
                <a:latin typeface="Arial"/>
              </a:rPr>
              <a:t>Reduces transformer overload and lowers the risk of a cascade — protecting the critical hospital feed.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08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A digital twin that thinks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A4C4"/>
                </a:solidFill>
                <a:latin typeface="Consolas"/>
              </a:rPr>
              <a:t>AI EMERGENCY COMMANDER   ·   SIMULATED PROTOTYPE   ·   HUMAN DECISION-SUPPORT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E5FF"/>
                </a:solidFill>
                <a:latin typeface="Consola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783080"/>
            <a:ext cx="7863840" cy="548640"/>
          </a:xfrm>
          <a:prstGeom prst="rect">
            <a:avLst/>
          </a:prstGeom>
          <a:solidFill>
            <a:srgbClr val="0B1524">
              <a:alpha val="90000"/>
            </a:srgbClr>
          </a:solidFill>
          <a:ln w="1397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1783080"/>
            <a:ext cx="54864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42032" y="1975104"/>
            <a:ext cx="164592" cy="16459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Arial"/>
              </a:rPr>
              <a:t>Simulated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78308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8AA4C4"/>
                </a:solidFill>
                <a:latin typeface="Consolas"/>
              </a:rPr>
              <a:t>grid telemetry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423160"/>
            <a:ext cx="7863840" cy="548640"/>
          </a:xfrm>
          <a:prstGeom prst="rect">
            <a:avLst/>
          </a:prstGeom>
          <a:solidFill>
            <a:srgbClr val="0B1524">
              <a:alpha val="90000"/>
            </a:srgbClr>
          </a:solidFill>
          <a:ln w="1397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423160"/>
            <a:ext cx="54864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42032" y="2615184"/>
            <a:ext cx="164592" cy="16459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242316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Arial"/>
              </a:rPr>
              <a:t>Monitoring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42316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8AA4C4"/>
                </a:solidFill>
                <a:latin typeface="Consolas"/>
              </a:rPr>
              <a:t>anomaly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063239"/>
            <a:ext cx="7863840" cy="548640"/>
          </a:xfrm>
          <a:prstGeom prst="rect">
            <a:avLst/>
          </a:prstGeom>
          <a:solidFill>
            <a:srgbClr val="0B1524">
              <a:alpha val="90000"/>
            </a:srgbClr>
          </a:solidFill>
          <a:ln w="1397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3063239"/>
            <a:ext cx="54864" cy="54864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42032" y="3255263"/>
            <a:ext cx="164592" cy="164592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3063239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Arial"/>
              </a:rPr>
              <a:t>Prediction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06323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8AA4C4"/>
                </a:solidFill>
                <a:latin typeface="Consolas"/>
              </a:rPr>
              <a:t>failure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703320"/>
            <a:ext cx="7863840" cy="548640"/>
          </a:xfrm>
          <a:prstGeom prst="rect">
            <a:avLst/>
          </a:prstGeom>
          <a:solidFill>
            <a:srgbClr val="0B1524">
              <a:alpha val="90000"/>
            </a:srgbClr>
          </a:solidFill>
          <a:ln w="13970">
            <a:solidFill>
              <a:srgbClr val="2E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3703320"/>
            <a:ext cx="54864" cy="548640"/>
          </a:xfrm>
          <a:prstGeom prst="rect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3895344"/>
            <a:ext cx="164592" cy="164592"/>
          </a:xfrm>
          <a:prstGeom prst="ellipse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2928" y="370332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Arial"/>
              </a:rPr>
              <a:t>Digital Power-Grid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033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8AA4C4"/>
                </a:solidFill>
                <a:latin typeface="Consolas"/>
              </a:rPr>
              <a:t>the digital twin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343400"/>
            <a:ext cx="7863840" cy="548640"/>
          </a:xfrm>
          <a:prstGeom prst="rect">
            <a:avLst/>
          </a:prstGeom>
          <a:solidFill>
            <a:srgbClr val="0B1524">
              <a:alpha val="90000"/>
            </a:srgbClr>
          </a:solidFill>
          <a:ln w="1397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0" y="4343400"/>
            <a:ext cx="54864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42032" y="4535424"/>
            <a:ext cx="164592" cy="16459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434340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Arial"/>
              </a:rPr>
              <a:t>What-If 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3434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8AA4C4"/>
                </a:solidFill>
                <a:latin typeface="Consolas"/>
              </a:rPr>
              <a:t>action 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983480"/>
            <a:ext cx="7863840" cy="548640"/>
          </a:xfrm>
          <a:prstGeom prst="rect">
            <a:avLst/>
          </a:prstGeom>
          <a:solidFill>
            <a:srgbClr val="0B1524">
              <a:alpha val="90000"/>
            </a:srgbClr>
          </a:solidFill>
          <a:ln w="13970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4983480"/>
            <a:ext cx="54864" cy="548640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42032" y="5175504"/>
            <a:ext cx="164592" cy="164592"/>
          </a:xfrm>
          <a:prstGeom prst="ellipse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2928" y="49834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Arial"/>
              </a:rPr>
              <a:t>AI Decision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98348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8AA4C4"/>
                </a:solidFill>
                <a:latin typeface="Consolas"/>
              </a:rPr>
              <a:t>safest recommendation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5623559"/>
            <a:ext cx="7863840" cy="548640"/>
          </a:xfrm>
          <a:prstGeom prst="rect">
            <a:avLst/>
          </a:prstGeom>
          <a:solidFill>
            <a:srgbClr val="0B1524">
              <a:alpha val="90000"/>
            </a:srgbClr>
          </a:solidFill>
          <a:ln w="13970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0" y="5623559"/>
            <a:ext cx="54864" cy="548640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42032" y="5815583"/>
            <a:ext cx="164592" cy="164592"/>
          </a:xfrm>
          <a:prstGeom prst="ellipse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52928" y="5623559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Arial"/>
              </a:rPr>
              <a:t>Emergency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62355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8AA4C4"/>
                </a:solidFill>
                <a:latin typeface="Consolas"/>
              </a:rPr>
              <a:t>operator interface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2468879" y="2336291"/>
            <a:ext cx="329184" cy="86868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own Arrow 44"/>
          <p:cNvSpPr/>
          <p:nvPr/>
        </p:nvSpPr>
        <p:spPr>
          <a:xfrm>
            <a:off x="2468879" y="2976372"/>
            <a:ext cx="329184" cy="86868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2468879" y="3616451"/>
            <a:ext cx="329184" cy="86868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own Arrow 46"/>
          <p:cNvSpPr/>
          <p:nvPr/>
        </p:nvSpPr>
        <p:spPr>
          <a:xfrm>
            <a:off x="2468879" y="4256531"/>
            <a:ext cx="329184" cy="86868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own Arrow 47"/>
          <p:cNvSpPr/>
          <p:nvPr/>
        </p:nvSpPr>
        <p:spPr>
          <a:xfrm>
            <a:off x="2468879" y="4896612"/>
            <a:ext cx="329184" cy="86868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own Arrow 48"/>
          <p:cNvSpPr/>
          <p:nvPr/>
        </p:nvSpPr>
        <p:spPr>
          <a:xfrm>
            <a:off x="2468879" y="5536692"/>
            <a:ext cx="329184" cy="86868"/>
          </a:xfrm>
          <a:prstGeom prst="downArrow">
            <a:avLst/>
          </a:prstGeom>
          <a:solidFill>
            <a:srgbClr val="0F6E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566928" y="2148840"/>
            <a:ext cx="237744" cy="3840480"/>
          </a:xfrm>
          <a:prstGeom prst="downArrow">
            <a:avLst/>
          </a:prstGeom>
          <a:solidFill>
            <a:srgbClr val="00E5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1828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E5FF"/>
                </a:solidFill>
                <a:latin typeface="Consolas"/>
              </a:rPr>
              <a:t>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// 09 · INNOVATION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F2FF"/>
                </a:solidFill>
                <a:latin typeface="Arial"/>
              </a:rPr>
              <a:t>Beyond detection — to safer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28016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490472"/>
            <a:ext cx="9262872" cy="10972"/>
          </a:xfrm>
          <a:prstGeom prst="rect">
            <a:avLst/>
          </a:prstGeom>
          <a:solidFill>
            <a:srgbClr val="0F6E8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A4C4"/>
                </a:solidFill>
                <a:latin typeface="Consolas"/>
              </a:rPr>
              <a:t>AI EMERGENCY COMMANDER   ·   SIMULATED PROTOTYPE   ·   HUMAN DECISION-SUPPORT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E5FF"/>
                </a:solidFill>
                <a:latin typeface="Consola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120640" cy="4206240"/>
          </a:xfrm>
          <a:prstGeom prst="rect">
            <a:avLst/>
          </a:prstGeom>
          <a:solidFill>
            <a:srgbClr val="0B1524">
              <a:alpha val="92000"/>
            </a:srgbClr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5120640" cy="54864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8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E8F2FF"/>
                </a:solidFill>
                <a:latin typeface="Arial"/>
              </a:rPr>
              <a:t>Not just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8AA4C4"/>
                </a:solidFill>
                <a:latin typeface="Arial"/>
              </a:rPr>
              <a:t>The system predicts consequences, compares possible actions, and recommends the safer response.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5029200"/>
            <a:ext cx="4206240" cy="10972"/>
          </a:xfrm>
          <a:prstGeom prst="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663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F2FF"/>
                </a:solidFill>
                <a:latin typeface="Consolas"/>
              </a:rPr>
              <a:t>A human remains in command.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120640" cy="4206240"/>
          </a:xfrm>
          <a:prstGeom prst="rect">
            <a:avLst/>
          </a:prstGeom>
          <a:solidFill>
            <a:srgbClr val="0B1524">
              <a:alpha val="92000"/>
            </a:srgbClr>
          </a:solidFill>
          <a:ln w="15875">
            <a:solidFill>
              <a:srgbClr val="2ED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20640" cy="54864"/>
          </a:xfrm>
          <a:prstGeom prst="rect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D18F"/>
                </a:solidFill>
                <a:latin typeface="Consolas"/>
              </a:rPr>
              <a:t>IMPACT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816352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6974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Faster emergency response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438144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31927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Reduced infrastructure downtime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059936"/>
            <a:ext cx="146304" cy="146304"/>
          </a:xfrm>
          <a:prstGeom prst="ellipse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94106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Protection of critical services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681728"/>
            <a:ext cx="146304" cy="146304"/>
          </a:xfrm>
          <a:prstGeom prst="ellipse">
            <a:avLst/>
          </a:prstGeom>
          <a:solidFill>
            <a:srgbClr val="2ED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562856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Better decisions for operators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5303520"/>
            <a:ext cx="146304" cy="146304"/>
          </a:xfrm>
          <a:prstGeom prst="ellipse">
            <a:avLst/>
          </a:prstGeom>
          <a:solidFill>
            <a:srgbClr val="2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846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F2FF"/>
                </a:solidFill>
                <a:latin typeface="Arial"/>
              </a:rPr>
              <a:t>Scalable to other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48840"/>
            <a:ext cx="12191695" cy="4709160"/>
          </a:xfrm>
          <a:prstGeom prst="rect">
            <a:avLst/>
          </a:prstGeom>
          <a:solidFill>
            <a:srgbClr val="060B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27432"/>
          </a:xfrm>
          <a:prstGeom prst="rect">
            <a:avLst/>
          </a:prstGeom>
          <a:solidFill>
            <a:srgbClr val="00E5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8AA4C4"/>
                </a:solidFill>
                <a:latin typeface="Arial"/>
              </a:rPr>
              <a:t>DON'T JUST DETECT THE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E8F2FF"/>
                </a:solidFill>
                <a:latin typeface="Arial"/>
              </a:rPr>
              <a:t>PREDICT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00E5FF"/>
                </a:solidFill>
                <a:latin typeface="Arial"/>
              </a:rPr>
              <a:t>SIMULATE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2ED18F"/>
                </a:solidFill>
                <a:latin typeface="Arial"/>
              </a:rPr>
              <a:t>PREVENT THE CASCADE.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17220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4C4"/>
                </a:solidFill>
                <a:latin typeface="Consolas"/>
              </a:rPr>
              <a:t>AI EMERGENCY COMMANDER  ·  SIMULATED PROTOTYPE  ·  HUMAN DECISION-SUPPORT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