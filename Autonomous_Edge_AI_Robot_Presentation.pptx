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factory_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F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548640"/>
            <a:ext cx="1097280" cy="508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0" y="548640"/>
            <a:ext cx="45720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INDUSTRIAL PROJECT  •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60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Autonomous Edge-AI Robot</a:t>
            </a:r>
            <a:br/>
            <a:r>
              <a:t>for Compressed-Air Leak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17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4DA3FF"/>
                </a:solidFill>
                <a:latin typeface="Calibri"/>
              </a:defRPr>
            </a:pPr>
            <a:r>
              <a:t>Smart Industrial Energy Monitoring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611880"/>
            <a:ext cx="5029200" cy="12700"/>
          </a:xfrm>
          <a:prstGeom prst="rect">
            <a:avLst/>
          </a:prstGeom>
          <a:solidFill>
            <a:srgbClr val="3C5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4754880" cy="1828800"/>
          </a:xfrm>
          <a:prstGeom prst="roundRect">
            <a:avLst/>
          </a:prstGeom>
          <a:solidFill>
            <a:srgbClr val="111B37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2519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TEAM DETAILS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57200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CE6F5"/>
                </a:solidFill>
                <a:latin typeface="Calibri"/>
              </a:defRPr>
            </a:pPr>
            <a:r>
              <a:t>Team Name:  [Your Team Name]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8920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FC3"/>
                </a:solidFill>
                <a:latin typeface="Calibri"/>
              </a:defRPr>
            </a:pPr>
            <a:r>
              <a:t>Members:  [Member 1, Member 2, Member 3]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12079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FC3"/>
                </a:solidFill>
                <a:latin typeface="Calibri"/>
              </a:defRPr>
            </a:pPr>
            <a:r>
              <a:t>Guide:  [Guide Name]  |  Dept:  [ECE / EEE / Mechatronics]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5321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0AFC3"/>
                </a:solidFill>
                <a:latin typeface="Calibri"/>
              </a:defRPr>
            </a:pPr>
            <a:r>
              <a:t>College:  [Your College Name]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731520"/>
            <a:ext cx="2011680" cy="457200"/>
          </a:xfrm>
          <a:prstGeom prst="roundRect">
            <a:avLst/>
          </a:prstGeom>
          <a:solidFill>
            <a:srgbClr val="0F2350"/>
          </a:solidFill>
          <a:ln w="1270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7315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DA3FF"/>
                </a:solidFill>
                <a:latin typeface="Calibri"/>
              </a:defRPr>
            </a:pPr>
            <a:r>
              <a:t>●  EDGE AI  •  ROBOTICS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0" cy="508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02  •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669280" cy="4389120"/>
          </a:xfrm>
          <a:prstGeom prst="roundRect">
            <a:avLst/>
          </a:prstGeom>
          <a:solidFill>
            <a:srgbClr val="111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DA3FF"/>
                </a:solidFill>
                <a:latin typeface="Calibri"/>
              </a:defRPr>
            </a:pPr>
            <a:r>
              <a:t>Why This Project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4688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1400"/>
              </a:spcAft>
              <a:defRPr sz="1700" b="0">
                <a:solidFill>
                  <a:srgbClr val="DCE6F5"/>
                </a:solidFill>
                <a:latin typeface="Calibri"/>
              </a:defRPr>
            </a:pPr>
            <a:r>
              <a:t>●  Compressed air is widely used in industries.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1700" b="0">
                <a:solidFill>
                  <a:srgbClr val="DCE6F5"/>
                </a:solidFill>
                <a:latin typeface="Calibri"/>
              </a:defRPr>
            </a:pPr>
            <a:r>
              <a:t>●  Small pipeline leaks waste energy.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1700" b="0">
                <a:solidFill>
                  <a:srgbClr val="DCE6F5"/>
                </a:solidFill>
                <a:latin typeface="Calibri"/>
              </a:defRPr>
            </a:pPr>
            <a:r>
              <a:t>●  Leaks increase operating costs.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1700" b="0">
                <a:solidFill>
                  <a:srgbClr val="DCE6F5"/>
                </a:solidFill>
                <a:latin typeface="Calibri"/>
              </a:defRPr>
            </a:pPr>
            <a:r>
              <a:t>●  Our robot scans pipelines automatically.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1700" b="0">
                <a:solidFill>
                  <a:srgbClr val="DCE6F5"/>
                </a:solidFill>
                <a:latin typeface="Calibri"/>
              </a:defRPr>
            </a:pPr>
            <a:r>
              <a:t>●  It detects leaks in real time.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1700" b="0">
                <a:solidFill>
                  <a:srgbClr val="DCE6F5"/>
                </a:solidFill>
                <a:latin typeface="Calibri"/>
              </a:defRPr>
            </a:pPr>
            <a:r>
              <a:t>●  Edge AI processes data locally.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1700" b="0">
                <a:solidFill>
                  <a:srgbClr val="DCE6F5"/>
                </a:solidFill>
                <a:latin typeface="Calibri"/>
              </a:defRPr>
            </a:pPr>
            <a:r>
              <a:t>●  Fast, smart, and energy efficient.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07200" y="1778000"/>
            <a:ext cx="4673600" cy="4490720"/>
          </a:xfrm>
          <a:prstGeom prst="roundRect">
            <a:avLst/>
          </a:prstGeom>
          <a:solidFill>
            <a:srgbClr val="111B37"/>
          </a:solidFill>
          <a:ln w="1905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lide2_pipel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28800"/>
            <a:ext cx="4572000" cy="43891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31520" y="6400800"/>
            <a:ext cx="10698480" cy="12700"/>
          </a:xfrm>
          <a:prstGeom prst="rect">
            <a:avLst/>
          </a:prstGeom>
          <a:solidFill>
            <a:srgbClr val="1E3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0" cy="50800"/>
          </a:xfrm>
          <a:prstGeom prst="rect">
            <a:avLst/>
          </a:prstGeom>
          <a:solidFill>
            <a:srgbClr val="FF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7878"/>
                </a:solidFill>
                <a:latin typeface="Calibri"/>
              </a:defRPr>
            </a:pPr>
            <a:r>
              <a:t>03  • 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7200" y="1778000"/>
            <a:ext cx="4673600" cy="4490720"/>
          </a:xfrm>
          <a:prstGeom prst="roundRect">
            <a:avLst/>
          </a:prstGeom>
          <a:solidFill>
            <a:srgbClr val="111B37"/>
          </a:solidFill>
          <a:ln w="1905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3_lea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828800"/>
            <a:ext cx="4572000" cy="4389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1828800"/>
            <a:ext cx="2743200" cy="2011680"/>
          </a:xfrm>
          <a:prstGeom prst="roundRect">
            <a:avLst/>
          </a:prstGeom>
          <a:solidFill>
            <a:srgbClr val="14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011680"/>
            <a:ext cx="548640" cy="381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4FF"/>
                </a:solidFill>
                <a:latin typeface="Calibri"/>
              </a:defRPr>
            </a:pPr>
            <a:r>
              <a:t>⏱ TIME CONSUMING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CE6F5"/>
                </a:solidFill>
                <a:latin typeface="Calibri"/>
              </a:defRPr>
            </a:pPr>
            <a:r>
              <a:t>Manual leak inspection</a:t>
            </a:r>
            <a:br/>
            <a:r>
              <a:t>is slow and inefficient.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828800"/>
            <a:ext cx="2743200" cy="2011680"/>
          </a:xfrm>
          <a:prstGeom prst="roundRect">
            <a:avLst/>
          </a:prstGeom>
          <a:solidFill>
            <a:srgbClr val="111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0480" y="2011680"/>
            <a:ext cx="548640" cy="381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2240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4FF"/>
                </a:solidFill>
                <a:latin typeface="Calibri"/>
              </a:defRPr>
            </a:pPr>
            <a:r>
              <a:t>👁 HIDDEN LEAKS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6974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CE6F5"/>
                </a:solidFill>
                <a:latin typeface="Calibri"/>
              </a:defRPr>
            </a:pPr>
            <a:r>
              <a:t>Small leaks remain</a:t>
            </a:r>
            <a:br/>
            <a:r>
              <a:t>unnoticed for long time.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14800"/>
            <a:ext cx="2743200" cy="2011680"/>
          </a:xfrm>
          <a:prstGeom prst="roundRect">
            <a:avLst/>
          </a:prstGeom>
          <a:solidFill>
            <a:srgbClr val="1421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4297680"/>
            <a:ext cx="548640" cy="38100"/>
          </a:xfrm>
          <a:prstGeom prst="rect">
            <a:avLst/>
          </a:prstGeom>
          <a:solidFill>
            <a:srgbClr val="FF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526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678"/>
                </a:solidFill>
                <a:latin typeface="Calibri"/>
              </a:defRPr>
            </a:pPr>
            <a:r>
              <a:t>📡 NO CONTINUOUS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9834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CE6F5"/>
                </a:solidFill>
                <a:latin typeface="Calibri"/>
              </a:defRPr>
            </a:pPr>
            <a:r>
              <a:t>24/7 manual monitoring</a:t>
            </a:r>
            <a:br/>
            <a:r>
              <a:t>is difficult.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4114800"/>
            <a:ext cx="2743200" cy="2011680"/>
          </a:xfrm>
          <a:prstGeom prst="roundRect">
            <a:avLst/>
          </a:prstGeom>
          <a:solidFill>
            <a:srgbClr val="111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0" y="4297680"/>
            <a:ext cx="548640" cy="38100"/>
          </a:xfrm>
          <a:prstGeom prst="rect">
            <a:avLst/>
          </a:prstGeom>
          <a:solidFill>
            <a:srgbClr val="FF5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0" y="45262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9678"/>
                </a:solidFill>
                <a:latin typeface="Calibri"/>
              </a:defRPr>
            </a:pPr>
            <a:r>
              <a:t>⚡ HIGH ENERGY LOSS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983480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CE6F5"/>
                </a:solidFill>
                <a:latin typeface="Calibri"/>
              </a:defRPr>
            </a:pPr>
            <a:r>
              <a:t>Leaks increase energy use</a:t>
            </a:r>
            <a:br/>
            <a:r>
              <a:t>and maintenance cost.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400800"/>
            <a:ext cx="10698480" cy="12700"/>
          </a:xfrm>
          <a:prstGeom prst="rect">
            <a:avLst/>
          </a:prstGeom>
          <a:solidFill>
            <a:srgbClr val="1E3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31520" cy="508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04  • 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Objective / Aim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0720" y="1778000"/>
            <a:ext cx="4673600" cy="4490720"/>
          </a:xfrm>
          <a:prstGeom prst="roundRect">
            <a:avLst/>
          </a:prstGeom>
          <a:solidFill>
            <a:srgbClr val="111B37"/>
          </a:solidFill>
          <a:ln w="1905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4_robot_inspe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28800"/>
            <a:ext cx="4572000" cy="4389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760720" y="1828800"/>
            <a:ext cx="5669280" cy="4389120"/>
          </a:xfrm>
          <a:prstGeom prst="roundRect">
            <a:avLst/>
          </a:prstGeom>
          <a:solidFill>
            <a:srgbClr val="111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DA3FF"/>
                </a:solidFill>
                <a:latin typeface="Calibri"/>
              </a:defRPr>
            </a:pPr>
            <a:r>
              <a:t>Our Main Goals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6032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1800"/>
              </a:spcAft>
              <a:defRPr sz="1600">
                <a:solidFill>
                  <a:srgbClr val="DCE6F5"/>
                </a:solidFill>
                <a:latin typeface="Calibri"/>
              </a:defRPr>
            </a:pPr>
            <a:r>
              <a:t>🤖  Detect compressed-air leaks automatically.</a:t>
            </a:r>
          </a:p>
          <a:p>
            <a:pPr>
              <a:spcBef>
                <a:spcPts val="600"/>
              </a:spcBef>
              <a:spcAft>
                <a:spcPts val="1800"/>
              </a:spcAft>
              <a:defRPr sz="1600">
                <a:solidFill>
                  <a:srgbClr val="DCE6F5"/>
                </a:solidFill>
                <a:latin typeface="Calibri"/>
              </a:defRPr>
            </a:pPr>
            <a:r>
              <a:t>📍  Locate the approximate leak position.</a:t>
            </a:r>
          </a:p>
          <a:p>
            <a:pPr>
              <a:spcBef>
                <a:spcPts val="600"/>
              </a:spcBef>
              <a:spcAft>
                <a:spcPts val="1800"/>
              </a:spcAft>
              <a:defRPr sz="1600">
                <a:solidFill>
                  <a:srgbClr val="DCE6F5"/>
                </a:solidFill>
                <a:latin typeface="Calibri"/>
              </a:defRPr>
            </a:pPr>
            <a:r>
              <a:t>👷  Reduce manual inspection effort.</a:t>
            </a:r>
          </a:p>
          <a:p>
            <a:pPr>
              <a:spcBef>
                <a:spcPts val="600"/>
              </a:spcBef>
              <a:spcAft>
                <a:spcPts val="1800"/>
              </a:spcAft>
              <a:defRPr sz="1600">
                <a:solidFill>
                  <a:srgbClr val="DCE6F5"/>
                </a:solidFill>
                <a:latin typeface="Calibri"/>
              </a:defRPr>
            </a:pPr>
            <a:r>
              <a:t>🚨  Provide faster alerts for maintenance.</a:t>
            </a:r>
          </a:p>
          <a:p>
            <a:pPr>
              <a:spcBef>
                <a:spcPts val="600"/>
              </a:spcBef>
              <a:spcAft>
                <a:spcPts val="1800"/>
              </a:spcAft>
              <a:defRPr sz="1600">
                <a:solidFill>
                  <a:srgbClr val="DCE6F5"/>
                </a:solidFill>
                <a:latin typeface="Calibri"/>
              </a:defRPr>
            </a:pPr>
            <a:r>
              <a:t>⚡  Reduce energy wastage and save cost.</a:t>
            </a:r>
          </a:p>
          <a:p>
            <a:pPr>
              <a:spcBef>
                <a:spcPts val="600"/>
              </a:spcBef>
              <a:spcAft>
                <a:spcPts val="1800"/>
              </a:spcAft>
              <a:defRPr sz="1600">
                <a:solidFill>
                  <a:srgbClr val="DCE6F5"/>
                </a:solidFill>
                <a:latin typeface="Calibri"/>
              </a:defRPr>
            </a:pPr>
            <a:r>
              <a:t>🏭  Enable smart industrial maintenance.</a:t>
            </a:r>
          </a:p>
        </p:txBody>
      </p:sp>
      <p:sp>
        <p:nvSpPr>
          <p:cNvPr id="10" name="Oval 9"/>
          <p:cNvSpPr/>
          <p:nvPr/>
        </p:nvSpPr>
        <p:spPr>
          <a:xfrm>
            <a:off x="10789920" y="2651760"/>
            <a:ext cx="274320" cy="274320"/>
          </a:xfrm>
          <a:prstGeom prst="ellipse">
            <a:avLst/>
          </a:prstGeom>
          <a:solidFill>
            <a:srgbClr val="14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0" y="265176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DA3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10789920" y="3264408"/>
            <a:ext cx="274320" cy="274320"/>
          </a:xfrm>
          <a:prstGeom prst="ellipse">
            <a:avLst/>
          </a:prstGeom>
          <a:solidFill>
            <a:srgbClr val="14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0" y="326440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DA3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Oval 13"/>
          <p:cNvSpPr/>
          <p:nvPr/>
        </p:nvSpPr>
        <p:spPr>
          <a:xfrm>
            <a:off x="10789920" y="3877056"/>
            <a:ext cx="274320" cy="274320"/>
          </a:xfrm>
          <a:prstGeom prst="ellipse">
            <a:avLst/>
          </a:prstGeom>
          <a:solidFill>
            <a:srgbClr val="14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0" y="3877056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DA3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10789920" y="4489704"/>
            <a:ext cx="274320" cy="274320"/>
          </a:xfrm>
          <a:prstGeom prst="ellipse">
            <a:avLst/>
          </a:prstGeom>
          <a:solidFill>
            <a:srgbClr val="14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0" y="448970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DA3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Oval 17"/>
          <p:cNvSpPr/>
          <p:nvPr/>
        </p:nvSpPr>
        <p:spPr>
          <a:xfrm>
            <a:off x="10789920" y="5102352"/>
            <a:ext cx="274320" cy="274320"/>
          </a:xfrm>
          <a:prstGeom prst="ellipse">
            <a:avLst/>
          </a:prstGeom>
          <a:solidFill>
            <a:srgbClr val="14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0" y="510235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DA3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10789920" y="5715000"/>
            <a:ext cx="274320" cy="274320"/>
          </a:xfrm>
          <a:prstGeom prst="ellipse">
            <a:avLst/>
          </a:prstGeom>
          <a:solidFill>
            <a:srgbClr val="14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0" y="57150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4DA3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6400800"/>
            <a:ext cx="10698480" cy="12700"/>
          </a:xfrm>
          <a:prstGeom prst="rect">
            <a:avLst/>
          </a:prstGeom>
          <a:solidFill>
            <a:srgbClr val="1E3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5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F">
              <a:alpha val="8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457200"/>
            <a:ext cx="731520" cy="508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05  • 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Flow Chart / Block Diagram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1828800"/>
            <a:ext cx="3931920" cy="411480"/>
          </a:xfrm>
          <a:prstGeom prst="roundRect">
            <a:avLst/>
          </a:prstGeom>
          <a:solidFill>
            <a:srgbClr val="122855"/>
          </a:solidFill>
          <a:ln w="1524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🏭 Compressed-Air Pipeline</a:t>
            </a:r>
          </a:p>
        </p:txBody>
      </p:sp>
      <p:sp>
        <p:nvSpPr>
          <p:cNvPr id="8" name="Down Arrow 7"/>
          <p:cNvSpPr/>
          <p:nvPr/>
        </p:nvSpPr>
        <p:spPr>
          <a:xfrm>
            <a:off x="5989320" y="2265680"/>
            <a:ext cx="182880" cy="73152"/>
          </a:xfrm>
          <a:prstGeom prst="downArrow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0" y="2423160"/>
            <a:ext cx="3931920" cy="411480"/>
          </a:xfrm>
          <a:prstGeom prst="roundRect">
            <a:avLst/>
          </a:prstGeom>
          <a:solidFill>
            <a:srgbClr val="142144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🤖 Line-Following Robot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89320" y="2860040"/>
            <a:ext cx="182880" cy="73152"/>
          </a:xfrm>
          <a:prstGeom prst="down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14800" y="3017520"/>
            <a:ext cx="3931920" cy="411480"/>
          </a:xfrm>
          <a:prstGeom prst="roundRect">
            <a:avLst/>
          </a:prstGeom>
          <a:solidFill>
            <a:srgbClr val="142144"/>
          </a:solidFill>
          <a:ln w="15240">
            <a:solidFill>
              <a:srgbClr val="64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🎙 Ultrasonic / Acoustic Sensor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89320" y="3454400"/>
            <a:ext cx="182880" cy="73152"/>
          </a:xfrm>
          <a:prstGeom prst="downArrow">
            <a:avLst/>
          </a:prstGeom>
          <a:solidFill>
            <a:srgbClr val="64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114800" y="3611880"/>
            <a:ext cx="3931920" cy="411480"/>
          </a:xfrm>
          <a:prstGeom prst="roundRect">
            <a:avLst/>
          </a:prstGeom>
          <a:solidFill>
            <a:srgbClr val="142144"/>
          </a:solidFill>
          <a:ln w="15240">
            <a:solidFill>
              <a:srgbClr val="96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🧠 Edge AI Processing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89320" y="4048760"/>
            <a:ext cx="182880" cy="73152"/>
          </a:xfrm>
          <a:prstGeom prst="downArrow">
            <a:avLst/>
          </a:prstGeom>
          <a:solidFill>
            <a:srgbClr val="96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14800" y="4206240"/>
            <a:ext cx="3931920" cy="411480"/>
          </a:xfrm>
          <a:prstGeom prst="roundRect">
            <a:avLst/>
          </a:prstGeom>
          <a:solidFill>
            <a:srgbClr val="463C14"/>
          </a:solidFill>
          <a:ln w="15240">
            <a:solidFill>
              <a:srgbClr val="FFC8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❓ Leak Detected?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89320" y="4643120"/>
            <a:ext cx="182880" cy="73152"/>
          </a:xfrm>
          <a:prstGeom prst="downArrow">
            <a:avLst/>
          </a:prstGeom>
          <a:solidFill>
            <a:srgbClr val="FFC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114800" y="4800600"/>
            <a:ext cx="3931920" cy="411480"/>
          </a:xfrm>
          <a:prstGeom prst="roundRect">
            <a:avLst/>
          </a:prstGeom>
          <a:solidFill>
            <a:srgbClr val="142144"/>
          </a:solidFill>
          <a:ln w="15240">
            <a:solidFill>
              <a:srgbClr val="50C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📍 Location Recorded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989320" y="5237480"/>
            <a:ext cx="182880" cy="73152"/>
          </a:xfrm>
          <a:prstGeom prst="downArrow">
            <a:avLst/>
          </a:prstGeom>
          <a:solidFill>
            <a:srgbClr val="50C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114800" y="5394960"/>
            <a:ext cx="3931920" cy="411480"/>
          </a:xfrm>
          <a:prstGeom prst="roundRect">
            <a:avLst/>
          </a:prstGeom>
          <a:solidFill>
            <a:srgbClr val="142144"/>
          </a:solidFill>
          <a:ln w="1524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📡 LoRa / Wireless Comm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989320" y="5831840"/>
            <a:ext cx="182880" cy="73152"/>
          </a:xfrm>
          <a:prstGeom prst="downArrow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14800" y="5989320"/>
            <a:ext cx="3931920" cy="411480"/>
          </a:xfrm>
          <a:prstGeom prst="roundRect">
            <a:avLst/>
          </a:prstGeom>
          <a:solidFill>
            <a:srgbClr val="142144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💻 Gateway / Dashboard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5989320" y="6426200"/>
            <a:ext cx="182880" cy="73152"/>
          </a:xfrm>
          <a:prstGeom prst="down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114800" y="6583680"/>
            <a:ext cx="3931920" cy="411480"/>
          </a:xfrm>
          <a:prstGeom prst="roundRect">
            <a:avLst/>
          </a:prstGeom>
          <a:solidFill>
            <a:srgbClr val="55191E"/>
          </a:solidFill>
          <a:ln w="15240">
            <a:solidFill>
              <a:srgbClr val="FF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🚨 Maintenance Alert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2011680"/>
            <a:ext cx="2560320" cy="1280160"/>
          </a:xfrm>
          <a:prstGeom prst="roundRect">
            <a:avLst/>
          </a:prstGeom>
          <a:solidFill>
            <a:srgbClr val="111B37"/>
          </a:solidFill>
          <a:ln w="1016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2148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DA3FF"/>
                </a:solidFill>
                <a:latin typeface="Calibri"/>
              </a:defRPr>
            </a:pPr>
            <a:r>
              <a:t>🤖 Robot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2560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FC3"/>
                </a:solidFill>
                <a:latin typeface="Calibri"/>
              </a:defRPr>
            </a:pPr>
            <a:r>
              <a:t>Moves on line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657600"/>
            <a:ext cx="2560320" cy="1280160"/>
          </a:xfrm>
          <a:prstGeom prst="roundRect">
            <a:avLst/>
          </a:prstGeom>
          <a:solidFill>
            <a:srgbClr val="111B37"/>
          </a:solidFill>
          <a:ln w="1016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794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DA3FF"/>
                </a:solidFill>
                <a:latin typeface="Calibri"/>
              </a:defRPr>
            </a:pPr>
            <a:r>
              <a:t>🎙 Sensor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2062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FC3"/>
                </a:solidFill>
                <a:latin typeface="Calibri"/>
              </a:defRPr>
            </a:pPr>
            <a:r>
              <a:t>Hears leak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303520"/>
            <a:ext cx="2560320" cy="1280160"/>
          </a:xfrm>
          <a:prstGeom prst="roundRect">
            <a:avLst/>
          </a:prstGeom>
          <a:solidFill>
            <a:srgbClr val="111B37"/>
          </a:solidFill>
          <a:ln w="1016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44068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DA3FF"/>
                </a:solidFill>
                <a:latin typeface="Calibri"/>
              </a:defRPr>
            </a:pPr>
            <a:r>
              <a:t>🧠 Edge AI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8521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FC3"/>
                </a:solidFill>
                <a:latin typeface="Calibri"/>
              </a:defRPr>
            </a:pPr>
            <a:r>
              <a:t>Thinks locally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2011680"/>
            <a:ext cx="2286000" cy="1280160"/>
          </a:xfrm>
          <a:prstGeom prst="roundRect">
            <a:avLst/>
          </a:prstGeom>
          <a:solidFill>
            <a:srgbClr val="111B37"/>
          </a:solidFill>
          <a:ln w="1016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21488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FF"/>
                </a:solidFill>
                <a:latin typeface="Calibri"/>
              </a:defRPr>
            </a:pPr>
            <a:r>
              <a:t>📡 LoRa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25603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FC3"/>
                </a:solidFill>
                <a:latin typeface="Calibri"/>
              </a:defRPr>
            </a:pPr>
            <a:r>
              <a:t>Long range</a:t>
            </a:r>
            <a:br/>
            <a:r>
              <a:t>wireless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3657600"/>
            <a:ext cx="2286000" cy="1280160"/>
          </a:xfrm>
          <a:prstGeom prst="roundRect">
            <a:avLst/>
          </a:prstGeom>
          <a:solidFill>
            <a:srgbClr val="111B37"/>
          </a:solidFill>
          <a:ln w="1016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3794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FF"/>
                </a:solidFill>
                <a:latin typeface="Calibri"/>
              </a:defRPr>
            </a:pPr>
            <a:r>
              <a:t>💻 Dashboard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6880" y="42062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FC3"/>
                </a:solidFill>
                <a:latin typeface="Calibri"/>
              </a:defRPr>
            </a:pPr>
            <a:r>
              <a:t>Live monitoring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5303520"/>
            <a:ext cx="2286000" cy="1280160"/>
          </a:xfrm>
          <a:prstGeom prst="roundRect">
            <a:avLst/>
          </a:prstGeom>
          <a:solidFill>
            <a:srgbClr val="111B37"/>
          </a:solidFill>
          <a:ln w="1016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26880" y="54406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4FF"/>
                </a:solidFill>
                <a:latin typeface="Calibri"/>
              </a:defRPr>
            </a:pPr>
            <a:r>
              <a:t>🚨 Alert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0" y="58521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FC3"/>
                </a:solidFill>
                <a:latin typeface="Calibri"/>
              </a:defRPr>
            </a:pPr>
            <a:r>
              <a:t>Fast maintenance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D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6_futurist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0D1F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457200"/>
            <a:ext cx="731520" cy="50800"/>
          </a:xfrm>
          <a:prstGeom prst="rect">
            <a:avLst/>
          </a:prstGeom>
          <a:solidFill>
            <a:srgbClr val="4D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FF"/>
                </a:solidFill>
                <a:latin typeface="Calibri"/>
              </a:defRPr>
            </a:pPr>
            <a:r>
              <a:t>06  • 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669280" cy="2926080"/>
          </a:xfrm>
          <a:prstGeom prst="roundRect">
            <a:avLst/>
          </a:prstGeom>
          <a:solidFill>
            <a:srgbClr val="111B37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03120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0"/>
              </a:spcAft>
              <a:defRPr sz="1700">
                <a:solidFill>
                  <a:srgbClr val="DCE6F5"/>
                </a:solidFill>
                <a:latin typeface="Calibri"/>
              </a:defRPr>
            </a:pPr>
            <a:r>
              <a:t>✓  Autonomous detection reduces manual effort.</a:t>
            </a:r>
          </a:p>
          <a:p>
            <a:pPr>
              <a:spcBef>
                <a:spcPts val="800"/>
              </a:spcBef>
              <a:spcAft>
                <a:spcPts val="2000"/>
              </a:spcAft>
              <a:defRPr sz="1700">
                <a:solidFill>
                  <a:srgbClr val="DCE6F5"/>
                </a:solidFill>
                <a:latin typeface="Calibri"/>
              </a:defRPr>
            </a:pPr>
            <a:r>
              <a:t>✓  Edge AI enables fast local decisions.</a:t>
            </a:r>
          </a:p>
          <a:p>
            <a:pPr>
              <a:spcBef>
                <a:spcPts val="800"/>
              </a:spcBef>
              <a:spcAft>
                <a:spcPts val="2000"/>
              </a:spcAft>
              <a:defRPr sz="1700">
                <a:solidFill>
                  <a:srgbClr val="DCE6F5"/>
                </a:solidFill>
                <a:latin typeface="Calibri"/>
              </a:defRPr>
            </a:pPr>
            <a:r>
              <a:t>✓  Early leak detection saves energy and cost.</a:t>
            </a:r>
          </a:p>
          <a:p>
            <a:pPr>
              <a:spcBef>
                <a:spcPts val="800"/>
              </a:spcBef>
              <a:spcAft>
                <a:spcPts val="2000"/>
              </a:spcAft>
              <a:defRPr sz="1700">
                <a:solidFill>
                  <a:srgbClr val="DCE6F5"/>
                </a:solidFill>
                <a:latin typeface="Calibri"/>
              </a:defRPr>
            </a:pPr>
            <a:r>
              <a:t>✓  System can expand for smart maintenance.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828800"/>
            <a:ext cx="4572000" cy="2926080"/>
          </a:xfrm>
          <a:prstGeom prst="roundRect">
            <a:avLst/>
          </a:prstGeom>
          <a:solidFill>
            <a:srgbClr val="0C1632"/>
          </a:solidFill>
          <a:ln w="19050">
            <a:solidFill>
              <a:srgbClr val="4D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210312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108960"/>
            <a:ext cx="274320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3383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4DA3FF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393192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AFC3"/>
                </a:solidFill>
                <a:latin typeface="Calibri"/>
              </a:defRPr>
            </a:pPr>
            <a:r>
              <a:t>Smart Industrial Energy Monitoring System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669280"/>
            <a:ext cx="10698480" cy="12700"/>
          </a:xfrm>
          <a:prstGeom prst="rect">
            <a:avLst/>
          </a:prstGeom>
          <a:solidFill>
            <a:srgbClr val="1E32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0AFC3"/>
                </a:solidFill>
                <a:latin typeface="Calibri"/>
              </a:defRPr>
            </a:pPr>
            <a:r>
              <a:t>Contact: [email@college.edu]  |  Team: [Your Team Name]  |  Project: Autonomous Edge-AI Robot for Leak Detection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