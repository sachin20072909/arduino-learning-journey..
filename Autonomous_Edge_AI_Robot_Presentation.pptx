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factory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F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65992" y="27432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96344" y="274320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65392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199632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65992" y="6565392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96344" y="6199632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0" y="6217920"/>
            <a:ext cx="365760" cy="365760"/>
          </a:xfrm>
          <a:prstGeom prst="ellipse">
            <a:avLst/>
          </a:prstGeom>
          <a:solidFill>
            <a:srgbClr val="14234B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0" y="6217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DA3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02920"/>
            <a:ext cx="1097280" cy="508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0" y="502920"/>
            <a:ext cx="4572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INDUSTRIAL PROJECT  •  2026  •  LEAKGUARD  •  EDGE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960120"/>
            <a:ext cx="7772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6200" b="1">
                <a:solidFill>
                  <a:srgbClr val="00D4FF"/>
                </a:solidFill>
                <a:latin typeface="Calibri"/>
              </a:defRPr>
            </a:pPr>
            <a:r>
              <a:t>LeakGuard</a:t>
            </a:r>
          </a:p>
          <a:p>
            <a:pPr>
              <a:lnSpc>
                <a:spcPct val="105000"/>
              </a:lnSpc>
              <a:defRPr sz="3000" b="1">
                <a:solidFill>
                  <a:srgbClr val="FFFFFF"/>
                </a:solidFill>
                <a:latin typeface="Calibri"/>
              </a:defRPr>
            </a:pPr>
            <a:r>
              <a:t>Autonomous Edge-AI Robot</a:t>
            </a:r>
            <a:br/>
            <a:r>
              <a:t>for Compressed-Air Leak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1143000"/>
            <a:ext cx="1188720" cy="365760"/>
          </a:xfrm>
          <a:prstGeom prst="roundRect">
            <a:avLst/>
          </a:prstGeom>
          <a:solidFill>
            <a:srgbClr val="0F2D5F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143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★ PREMIUM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54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A3FF"/>
                </a:solidFill>
                <a:latin typeface="Calibri"/>
              </a:defRPr>
            </a:pPr>
            <a:r>
              <a:t>Smart Industrial Energy Monitoring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611880"/>
            <a:ext cx="5303520" cy="12700"/>
          </a:xfrm>
          <a:prstGeom prst="rect">
            <a:avLst/>
          </a:prstGeom>
          <a:solidFill>
            <a:srgbClr val="3C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886200"/>
            <a:ext cx="1600200" cy="685800"/>
          </a:xfrm>
          <a:prstGeom prst="roundRect">
            <a:avLst/>
          </a:prstGeom>
          <a:solidFill>
            <a:srgbClr val="122046"/>
          </a:solidFill>
          <a:ln w="1016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959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🤖 AUTONOMOUS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2062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FC3"/>
                </a:solidFill>
                <a:latin typeface="Calibri"/>
              </a:defRPr>
            </a:pPr>
            <a:r>
              <a:t>Self Navigation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3886200"/>
            <a:ext cx="1600200" cy="685800"/>
          </a:xfrm>
          <a:prstGeom prst="roundRect">
            <a:avLst/>
          </a:prstGeom>
          <a:solidFill>
            <a:srgbClr val="122046"/>
          </a:solidFill>
          <a:ln w="1016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959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🧠 EDGE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2062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FC3"/>
                </a:solidFill>
                <a:latin typeface="Calibri"/>
              </a:defRPr>
            </a:pPr>
            <a:r>
              <a:t>Local Processing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3886200"/>
            <a:ext cx="1600200" cy="685800"/>
          </a:xfrm>
          <a:prstGeom prst="roundRect">
            <a:avLst/>
          </a:prstGeom>
          <a:solidFill>
            <a:srgbClr val="122046"/>
          </a:solidFill>
          <a:ln w="1016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395935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⚡ 30% SAVING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20624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FC3"/>
                </a:solidFill>
                <a:latin typeface="Calibri"/>
              </a:defRPr>
            </a:pPr>
            <a:r>
              <a:t>Energy Efficient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00600"/>
            <a:ext cx="5029200" cy="1783080"/>
          </a:xfrm>
          <a:prstGeom prst="roundRect">
            <a:avLst/>
          </a:prstGeom>
          <a:solidFill>
            <a:srgbClr val="111B37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800600"/>
            <a:ext cx="50800" cy="178308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PROJECT TEAM  •  CCE &amp; MECH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2760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 Lead:  Sachin.N  —  CCE Dept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601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6F5"/>
                </a:solidFill>
                <a:latin typeface="Calibri"/>
              </a:defRPr>
            </a:pPr>
            <a:r>
              <a:t>Member 1:  Rithish.P  —  CCE Dept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604418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6F5"/>
                </a:solidFill>
                <a:latin typeface="Calibri"/>
              </a:defRPr>
            </a:pPr>
            <a:r>
              <a:t>Member 2:  Dharun.V  —  MECH Dept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0" y="685800"/>
            <a:ext cx="2377440" cy="502920"/>
          </a:xfrm>
          <a:prstGeom prst="roundRect">
            <a:avLst/>
          </a:prstGeom>
          <a:solidFill>
            <a:srgbClr val="0F2350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6858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●  LEAKGUARD  •  EDGE AI  •  LoRa</a:t>
            </a:r>
          </a:p>
        </p:txBody>
      </p:sp>
      <p:sp>
        <p:nvSpPr>
          <p:cNvPr id="39" name="Oval 38"/>
          <p:cNvSpPr/>
          <p:nvPr/>
        </p:nvSpPr>
        <p:spPr>
          <a:xfrm>
            <a:off x="73152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156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7160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69163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01168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3172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5175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7180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29183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61188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93192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5195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5992" y="27432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96344" y="274320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565392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199632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65992" y="6565392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96344" y="6199632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0" y="6217920"/>
            <a:ext cx="365760" cy="365760"/>
          </a:xfrm>
          <a:prstGeom prst="ellipse">
            <a:avLst/>
          </a:prstGeom>
          <a:solidFill>
            <a:srgbClr val="14234B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0" y="6217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DA3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02  •  INTRODUCTION  •  LEAKGUARD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737360"/>
            <a:ext cx="5669280" cy="457200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737360"/>
            <a:ext cx="50800" cy="45720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DA3FF"/>
                </a:solidFill>
                <a:latin typeface="Calibri"/>
              </a:defRPr>
            </a:pPr>
            <a:r>
              <a:t>✦  Why This Project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DCE6F5"/>
                </a:solidFill>
                <a:latin typeface="Calibri"/>
              </a:defRPr>
            </a:pPr>
            <a:r>
              <a:t>●  Compressed air is widely used in industries.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DCE6F5"/>
                </a:solidFill>
                <a:latin typeface="Calibri"/>
              </a:defRPr>
            </a:pPr>
            <a:r>
              <a:t>●  Small pipeline leaks waste huge energy.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DCE6F5"/>
                </a:solidFill>
                <a:latin typeface="Calibri"/>
              </a:defRPr>
            </a:pPr>
            <a:r>
              <a:t>●  Leaks increase operating costs by 30%.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DCE6F5"/>
                </a:solidFill>
                <a:latin typeface="Calibri"/>
              </a:defRPr>
            </a:pPr>
            <a:r>
              <a:t>●  Our LeakGuard robot scans automatically.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DCE6F5"/>
                </a:solidFill>
                <a:latin typeface="Calibri"/>
              </a:defRPr>
            </a:pPr>
            <a:r>
              <a:t>●  It detects leaks in real time.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DCE6F5"/>
                </a:solidFill>
                <a:latin typeface="Calibri"/>
              </a:defRPr>
            </a:pPr>
            <a:r>
              <a:t>●  Edge AI processes data locally &amp; fast.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500">
                <a:solidFill>
                  <a:srgbClr val="DCE6F5"/>
                </a:solidFill>
                <a:latin typeface="Calibri"/>
              </a:defRPr>
            </a:pPr>
            <a:r>
              <a:t>●  Saves energy, cost and manpower.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5303520"/>
            <a:ext cx="5029200" cy="77724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49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💡 DID YOU KNOW?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623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AF37"/>
                </a:solidFill>
                <a:latin typeface="Calibri"/>
              </a:defRPr>
            </a:pPr>
            <a:r>
              <a:t>A 3mm leak can waste ₹2.5 Lakhs / year in energy cost!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200" y="1686560"/>
            <a:ext cx="4673600" cy="4673600"/>
          </a:xfrm>
          <a:prstGeom prst="roundRect">
            <a:avLst/>
          </a:prstGeom>
          <a:solidFill>
            <a:srgbClr val="111B37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lide2_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4572000" cy="45720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040880" y="5669280"/>
            <a:ext cx="4206240" cy="457200"/>
          </a:xfrm>
          <a:prstGeom prst="roundRect">
            <a:avLst/>
          </a:prstGeom>
          <a:solidFill>
            <a:srgbClr val="0A193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5669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4FF"/>
                </a:solidFill>
                <a:latin typeface="Calibri"/>
              </a:defRPr>
            </a:pPr>
            <a:r>
              <a:t>📷  LeakGuard Robot Scanning Industrial Pipeline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56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7160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9163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1168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3172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65175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9183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1188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93192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5195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5992" y="27432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96344" y="274320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565392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199632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65992" y="6565392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96344" y="6199632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0" y="6217920"/>
            <a:ext cx="365760" cy="365760"/>
          </a:xfrm>
          <a:prstGeom prst="ellipse">
            <a:avLst/>
          </a:prstGeom>
          <a:solidFill>
            <a:srgbClr val="14234B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0" y="6217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DA3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878"/>
                </a:solidFill>
                <a:latin typeface="Calibri"/>
              </a:defRPr>
            </a:pPr>
            <a:r>
              <a:t>03  •  PROBLEM STATEMENT  •  CRITICAL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7200" y="1686560"/>
            <a:ext cx="4673600" cy="4673600"/>
          </a:xfrm>
          <a:prstGeom prst="roundRect">
            <a:avLst/>
          </a:prstGeom>
          <a:solidFill>
            <a:srgbClr val="111B37"/>
          </a:solidFill>
          <a:ln w="1905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3_leak_v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4572000" cy="457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040880" y="1920240"/>
            <a:ext cx="1828800" cy="365760"/>
          </a:xfrm>
          <a:prstGeom prst="roundRect">
            <a:avLst/>
          </a:prstGeom>
          <a:solidFill>
            <a:srgbClr val="501414"/>
          </a:solidFill>
          <a:ln w="1270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696"/>
                </a:solidFill>
                <a:latin typeface="Calibri"/>
              </a:defRPr>
            </a:pPr>
            <a:r>
              <a:t>⚠ LEAK DETECTED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737360"/>
            <a:ext cx="2743200" cy="2103120"/>
          </a:xfrm>
          <a:prstGeom prst="roundRect">
            <a:avLst/>
          </a:prstGeom>
          <a:solidFill>
            <a:srgbClr val="162348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1920240"/>
            <a:ext cx="54864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1920240"/>
            <a:ext cx="640080" cy="274320"/>
          </a:xfrm>
          <a:prstGeom prst="roundRect">
            <a:avLst/>
          </a:prstGeom>
          <a:solidFill>
            <a:srgbClr val="0F2850"/>
          </a:solidFill>
          <a:ln w="1016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1920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⏱ TIME CONSUMING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651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6F5"/>
                </a:solidFill>
                <a:latin typeface="Calibri"/>
              </a:defRPr>
            </a:pPr>
            <a:r>
              <a:t>Manual inspection</a:t>
            </a:r>
            <a:br/>
            <a:r>
              <a:t>is slow &amp; inefficient.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3"/>
                </a:solidFill>
                <a:latin typeface="Calibri"/>
              </a:defRPr>
            </a:pPr>
            <a:r>
              <a:t>→ Impact: 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1737360"/>
            <a:ext cx="2743200" cy="210312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1920240"/>
            <a:ext cx="548640" cy="381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0" y="1920240"/>
            <a:ext cx="640080" cy="274320"/>
          </a:xfrm>
          <a:prstGeom prst="roundRect">
            <a:avLst/>
          </a:prstGeom>
          <a:solidFill>
            <a:srgbClr val="0F2850"/>
          </a:solidFill>
          <a:ln w="1016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1920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D4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👁 HIDDEN LEAKS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26517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6F5"/>
                </a:solidFill>
                <a:latin typeface="Calibri"/>
              </a:defRPr>
            </a:pPr>
            <a:r>
              <a:t>Small leaks stay</a:t>
            </a:r>
            <a:br/>
            <a:r>
              <a:t>unnoticed for months.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3"/>
                </a:solidFill>
                <a:latin typeface="Calibri"/>
              </a:defRPr>
            </a:pPr>
            <a:r>
              <a:t>→ Impact: High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114800"/>
            <a:ext cx="2743200" cy="2103120"/>
          </a:xfrm>
          <a:prstGeom prst="roundRect">
            <a:avLst/>
          </a:prstGeom>
          <a:solidFill>
            <a:srgbClr val="162348"/>
          </a:solidFill>
          <a:ln w="1270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297680"/>
            <a:ext cx="548640" cy="3810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4297680"/>
            <a:ext cx="640080" cy="274320"/>
          </a:xfrm>
          <a:prstGeom prst="roundRect">
            <a:avLst/>
          </a:prstGeom>
          <a:solidFill>
            <a:srgbClr val="3C1414"/>
          </a:solidFill>
          <a:ln w="1016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0" y="4297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696"/>
                </a:solidFill>
                <a:latin typeface="Calibri"/>
              </a:defRPr>
            </a:pPr>
            <a:r>
              <a:t>Major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678"/>
                </a:solidFill>
                <a:latin typeface="Calibri"/>
              </a:defRPr>
            </a:pPr>
            <a:r>
              <a:t>📡 NO 24/7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029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6F5"/>
                </a:solidFill>
                <a:latin typeface="Calibri"/>
              </a:defRPr>
            </a:pPr>
            <a:r>
              <a:t>Continuous manual</a:t>
            </a:r>
            <a:br/>
            <a:r>
              <a:t>monitoring is impossible.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760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3"/>
                </a:solidFill>
                <a:latin typeface="Calibri"/>
              </a:defRPr>
            </a:pPr>
            <a:r>
              <a:t>→ Cost: Very 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4114800"/>
            <a:ext cx="2743200" cy="210312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40480" y="4297680"/>
            <a:ext cx="548640" cy="3810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486400" y="4297680"/>
            <a:ext cx="640080" cy="274320"/>
          </a:xfrm>
          <a:prstGeom prst="roundRect">
            <a:avLst/>
          </a:prstGeom>
          <a:solidFill>
            <a:srgbClr val="3C1414"/>
          </a:solidFill>
          <a:ln w="1016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0" y="42976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9696"/>
                </a:solidFill>
                <a:latin typeface="Calibri"/>
              </a:defRPr>
            </a:pPr>
            <a:r>
              <a:t>₹₹₹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678"/>
                </a:solidFill>
                <a:latin typeface="Calibri"/>
              </a:defRPr>
            </a:pPr>
            <a:r>
              <a:t>⚡ 30% ENERGY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50292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E6F5"/>
                </a:solidFill>
                <a:latin typeface="Calibri"/>
              </a:defRPr>
            </a:pPr>
            <a:r>
              <a:t>Leaks increase power</a:t>
            </a:r>
            <a:br/>
            <a:r>
              <a:t>&amp; maintenance cost.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760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FC3"/>
                </a:solidFill>
                <a:latin typeface="Calibri"/>
              </a:defRPr>
            </a:pPr>
            <a:r>
              <a:t>→ Cost: Very High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156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7160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9163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01168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65175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97180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9183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1188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93192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5195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65992" y="27432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96344" y="274320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565392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6199632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65992" y="6565392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96344" y="6199632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612880" y="6217920"/>
            <a:ext cx="365760" cy="365760"/>
          </a:xfrm>
          <a:prstGeom prst="ellipse">
            <a:avLst/>
          </a:prstGeom>
          <a:solidFill>
            <a:srgbClr val="14234B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0" y="6217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DA3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04  •  OBJECTIVE  •  LEAKGUARD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960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Objective / Aim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720" y="1686560"/>
            <a:ext cx="4673600" cy="4673600"/>
          </a:xfrm>
          <a:prstGeom prst="roundRect">
            <a:avLst/>
          </a:prstGeom>
          <a:solidFill>
            <a:srgbClr val="111B37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4_robot_insp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4572000" cy="457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4400" y="5669280"/>
            <a:ext cx="4206240" cy="457200"/>
          </a:xfrm>
          <a:prstGeom prst="roundRect">
            <a:avLst/>
          </a:prstGeom>
          <a:solidFill>
            <a:srgbClr val="0A193C"/>
          </a:solidFill>
          <a:ln w="1016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D4FF"/>
                </a:solidFill>
                <a:latin typeface="Calibri"/>
              </a:defRPr>
            </a:pPr>
            <a:r>
              <a:t>🤖  LeakGuard Autonomous Inspection in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737360"/>
            <a:ext cx="5669280" cy="457200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737360"/>
            <a:ext cx="50800" cy="45720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A3FF"/>
                </a:solidFill>
                <a:latin typeface="Calibri"/>
              </a:defRPr>
            </a:pPr>
            <a:r>
              <a:t>✦  Our Main Goals with LeakGuard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2860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🤖  Detect leaks automatically</a:t>
            </a:r>
          </a:p>
          <a:p>
            <a:pPr>
              <a:spcBef>
                <a:spcPts val="5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📍  Locate exact leak position</a:t>
            </a:r>
          </a:p>
          <a:p>
            <a:pPr>
              <a:spcBef>
                <a:spcPts val="5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👷  Reduce manual inspection</a:t>
            </a:r>
          </a:p>
          <a:p>
            <a:pPr>
              <a:spcBef>
                <a:spcPts val="5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🚨  Faster maintenance alerts</a:t>
            </a:r>
          </a:p>
          <a:p>
            <a:pPr>
              <a:spcBef>
                <a:spcPts val="5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⚡  Reduce energy wastage</a:t>
            </a:r>
          </a:p>
          <a:p>
            <a:pPr>
              <a:spcBef>
                <a:spcPts val="5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🏭  Smart industrial maintenance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2331720"/>
            <a:ext cx="1188720" cy="256032"/>
          </a:xfrm>
          <a:prstGeom prst="roundRect">
            <a:avLst/>
          </a:prstGeom>
          <a:solidFill>
            <a:srgbClr val="122855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23317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100% Auto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2898648"/>
            <a:ext cx="1188720" cy="256032"/>
          </a:xfrm>
          <a:prstGeom prst="roundRect">
            <a:avLst/>
          </a:prstGeom>
          <a:solidFill>
            <a:srgbClr val="122855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28986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± 10cm Accuracy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3465576"/>
            <a:ext cx="1188720" cy="256032"/>
          </a:xfrm>
          <a:prstGeom prst="roundRect">
            <a:avLst/>
          </a:prstGeom>
          <a:solidFill>
            <a:srgbClr val="122855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34655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90% Less Effort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4032504"/>
            <a:ext cx="1188720" cy="256032"/>
          </a:xfrm>
          <a:prstGeom prst="roundRect">
            <a:avLst/>
          </a:prstGeom>
          <a:solidFill>
            <a:srgbClr val="122855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403250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&lt; 2 Sec Alert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4599431"/>
            <a:ext cx="1188720" cy="256032"/>
          </a:xfrm>
          <a:prstGeom prst="roundRect">
            <a:avLst/>
          </a:prstGeom>
          <a:solidFill>
            <a:srgbClr val="122855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0" y="4599431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30% Cost Saving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5166360"/>
            <a:ext cx="1188720" cy="256032"/>
          </a:xfrm>
          <a:prstGeom prst="roundRect">
            <a:avLst/>
          </a:prstGeom>
          <a:solidFill>
            <a:srgbClr val="122855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51663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Industry 4.0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5623560"/>
            <a:ext cx="5029200" cy="548640"/>
          </a:xfrm>
          <a:prstGeom prst="roundRect">
            <a:avLst/>
          </a:prstGeom>
          <a:solidFill>
            <a:srgbClr val="0F2D23"/>
          </a:solidFill>
          <a:ln w="1270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669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8E696"/>
                </a:solidFill>
                <a:latin typeface="Calibri"/>
              </a:defRPr>
            </a:pPr>
            <a:r>
              <a:t>✓  Expected Result: 95% Leak Detection Accuracy with Edge AI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156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7160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69163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01168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3172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65175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7180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29183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61188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93192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25195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extra_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65992" y="27432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96344" y="274320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65392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199632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65992" y="6565392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96344" y="6199632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0" y="6217920"/>
            <a:ext cx="365760" cy="365760"/>
          </a:xfrm>
          <a:prstGeom prst="ellipse">
            <a:avLst/>
          </a:prstGeom>
          <a:solidFill>
            <a:srgbClr val="14234B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0" y="6217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DA3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05  •  SYSTEM ARCHITECTURE  •  LEAKGUARD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960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Flow Chart / Block Diagram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737360"/>
            <a:ext cx="3749039" cy="384048"/>
          </a:xfrm>
          <a:prstGeom prst="roundRect">
            <a:avLst/>
          </a:prstGeom>
          <a:solidFill>
            <a:srgbClr val="122855"/>
          </a:solidFill>
          <a:ln w="1524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🏭 Compressed-Air Pipeline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007607" y="2146808"/>
            <a:ext cx="146304" cy="64008"/>
          </a:xfrm>
          <a:prstGeom prst="downArrow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06240" y="2276856"/>
            <a:ext cx="3749039" cy="384048"/>
          </a:xfrm>
          <a:prstGeom prst="roundRect">
            <a:avLst/>
          </a:prstGeom>
          <a:solidFill>
            <a:srgbClr val="16234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🤖 Line-Following Robot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07607" y="2686304"/>
            <a:ext cx="146304" cy="64008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06240" y="2816352"/>
            <a:ext cx="3749039" cy="384048"/>
          </a:xfrm>
          <a:prstGeom prst="roundRect">
            <a:avLst/>
          </a:prstGeom>
          <a:solidFill>
            <a:srgbClr val="162348"/>
          </a:solidFill>
          <a:ln w="1524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🎙 Ultrasonic / Acoustic Sensor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07607" y="3225800"/>
            <a:ext cx="146304" cy="64008"/>
          </a:xfrm>
          <a:prstGeom prst="downArrow">
            <a:avLst/>
          </a:prstGeom>
          <a:solidFill>
            <a:srgbClr val="64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06240" y="3355848"/>
            <a:ext cx="3749039" cy="384048"/>
          </a:xfrm>
          <a:prstGeom prst="roundRect">
            <a:avLst/>
          </a:prstGeom>
          <a:solidFill>
            <a:srgbClr val="162348"/>
          </a:solidFill>
          <a:ln w="15240">
            <a:solidFill>
              <a:srgbClr val="82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🧠 Edge AI Processing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07607" y="3765296"/>
            <a:ext cx="146304" cy="64008"/>
          </a:xfrm>
          <a:prstGeom prst="downArrow">
            <a:avLst/>
          </a:prstGeom>
          <a:solidFill>
            <a:srgbClr val="82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06240" y="3895344"/>
            <a:ext cx="3749039" cy="384048"/>
          </a:xfrm>
          <a:prstGeom prst="roundRect">
            <a:avLst/>
          </a:prstGeom>
          <a:solidFill>
            <a:srgbClr val="463C14"/>
          </a:solidFill>
          <a:ln w="15240">
            <a:solidFill>
              <a:srgbClr val="FFC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❓ Leak Detected?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6007607" y="4304792"/>
            <a:ext cx="146304" cy="64008"/>
          </a:xfrm>
          <a:prstGeom prst="downArrow">
            <a:avLst/>
          </a:prstGeom>
          <a:solidFill>
            <a:srgbClr val="FFC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06240" y="4434840"/>
            <a:ext cx="3749039" cy="384048"/>
          </a:xfrm>
          <a:prstGeom prst="roundRect">
            <a:avLst/>
          </a:prstGeom>
          <a:solidFill>
            <a:srgbClr val="162348"/>
          </a:solidFill>
          <a:ln w="15240">
            <a:solidFill>
              <a:srgbClr val="5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📍 Location Recorded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6007607" y="4844288"/>
            <a:ext cx="146304" cy="64008"/>
          </a:xfrm>
          <a:prstGeom prst="downArrow">
            <a:avLst/>
          </a:prstGeom>
          <a:solidFill>
            <a:srgbClr val="5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206240" y="4974336"/>
            <a:ext cx="3749039" cy="384048"/>
          </a:xfrm>
          <a:prstGeom prst="roundRect">
            <a:avLst/>
          </a:prstGeom>
          <a:solidFill>
            <a:srgbClr val="162348"/>
          </a:solidFill>
          <a:ln w="1524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📡 LoRa / Wireless Comm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6007607" y="5383784"/>
            <a:ext cx="146304" cy="64008"/>
          </a:xfrm>
          <a:prstGeom prst="downArrow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06240" y="5513832"/>
            <a:ext cx="3749039" cy="384048"/>
          </a:xfrm>
          <a:prstGeom prst="roundRect">
            <a:avLst/>
          </a:prstGeom>
          <a:solidFill>
            <a:srgbClr val="162348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💻 Gateway / Dashboard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6007607" y="5923280"/>
            <a:ext cx="146304" cy="64008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06240" y="6053328"/>
            <a:ext cx="3749039" cy="384048"/>
          </a:xfrm>
          <a:prstGeom prst="roundRect">
            <a:avLst/>
          </a:prstGeom>
          <a:solidFill>
            <a:srgbClr val="55191E"/>
          </a:solidFill>
          <a:ln w="1524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🚨 Maintenance Alert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1737360"/>
            <a:ext cx="2651760" cy="141732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1737360"/>
            <a:ext cx="38100" cy="141732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A3FF"/>
                </a:solidFill>
                <a:latin typeface="Calibri"/>
              </a:defRPr>
            </a:pPr>
            <a:r>
              <a:t>🤖 ROBOT BRAIN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2148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6F5"/>
                </a:solidFill>
                <a:latin typeface="Calibri"/>
              </a:defRPr>
            </a:pPr>
            <a:r>
              <a:t>Autonomous</a:t>
            </a:r>
            <a:br/>
            <a:r>
              <a:t>Line Follow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2788920"/>
            <a:ext cx="1097280" cy="228600"/>
          </a:xfrm>
          <a:prstGeom prst="roundRect">
            <a:avLst/>
          </a:prstGeom>
          <a:solidFill>
            <a:srgbClr val="0F234B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STM32 + 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337560"/>
            <a:ext cx="2651760" cy="141732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3337560"/>
            <a:ext cx="38100" cy="141732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A3FF"/>
                </a:solidFill>
                <a:latin typeface="Calibri"/>
              </a:defRPr>
            </a:pPr>
            <a:r>
              <a:t>🎙 SENSOR 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3749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6F5"/>
                </a:solidFill>
                <a:latin typeface="Calibri"/>
              </a:defRPr>
            </a:pPr>
            <a:r>
              <a:t>Ultrasonic</a:t>
            </a:r>
            <a:br/>
            <a:r>
              <a:t>40kHz Detection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389120"/>
            <a:ext cx="1097280" cy="228600"/>
          </a:xfrm>
          <a:prstGeom prst="roundRect">
            <a:avLst/>
          </a:prstGeom>
          <a:solidFill>
            <a:srgbClr val="0F234B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389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High Sensitivity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937760"/>
            <a:ext cx="2651760" cy="141732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4937760"/>
            <a:ext cx="38100" cy="141732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029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DA3FF"/>
                </a:solidFill>
                <a:latin typeface="Calibri"/>
              </a:defRPr>
            </a:pPr>
            <a:r>
              <a:t>🧠 EDGE 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349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6F5"/>
                </a:solidFill>
                <a:latin typeface="Calibri"/>
              </a:defRPr>
            </a:pPr>
            <a:r>
              <a:t>TinyML Model</a:t>
            </a:r>
            <a:br/>
            <a:r>
              <a:t>Local Inference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5989320"/>
            <a:ext cx="1097280" cy="228600"/>
          </a:xfrm>
          <a:prstGeom prst="roundRect">
            <a:avLst/>
          </a:prstGeom>
          <a:solidFill>
            <a:srgbClr val="0F234B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5989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00D4FF"/>
                </a:solidFill>
                <a:latin typeface="Calibri"/>
              </a:defRPr>
            </a:pPr>
            <a:r>
              <a:t>&lt; 100ms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1737360"/>
            <a:ext cx="2377440" cy="141732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44000" y="1737360"/>
            <a:ext cx="38100" cy="1417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📡 LoRa LINK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2148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6F5"/>
                </a:solidFill>
                <a:latin typeface="Calibri"/>
              </a:defRPr>
            </a:pPr>
            <a:r>
              <a:t>Long Range</a:t>
            </a:r>
            <a:br/>
            <a:r>
              <a:t>5km Wireless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2788920"/>
            <a:ext cx="1097280" cy="228600"/>
          </a:xfrm>
          <a:prstGeom prst="roundRect">
            <a:avLst/>
          </a:prstGeom>
          <a:solidFill>
            <a:srgbClr val="0F234B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2788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4DA3FF"/>
                </a:solidFill>
                <a:latin typeface="Calibri"/>
              </a:defRPr>
            </a:pPr>
            <a:r>
              <a:t>433MHz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0" y="3337560"/>
            <a:ext cx="2377440" cy="141732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44000" y="3337560"/>
            <a:ext cx="38100" cy="1417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2688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💻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26880" y="37490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6F5"/>
                </a:solidFill>
                <a:latin typeface="Calibri"/>
              </a:defRPr>
            </a:pPr>
            <a:r>
              <a:t>Live Monitoring</a:t>
            </a:r>
            <a:br/>
            <a:r>
              <a:t>Web + Mobile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26880" y="4389120"/>
            <a:ext cx="1097280" cy="228600"/>
          </a:xfrm>
          <a:prstGeom prst="roundRect">
            <a:avLst/>
          </a:prstGeom>
          <a:solidFill>
            <a:srgbClr val="0F234B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4389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4DA3FF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0" y="4937760"/>
            <a:ext cx="2377440" cy="1417320"/>
          </a:xfrm>
          <a:prstGeom prst="roundRect">
            <a:avLst/>
          </a:prstGeom>
          <a:solidFill>
            <a:srgbClr val="111B3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44000" y="4937760"/>
            <a:ext cx="38100" cy="1417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26880" y="5029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FF"/>
                </a:solidFill>
                <a:latin typeface="Calibri"/>
              </a:defRPr>
            </a:pPr>
            <a:r>
              <a:t>🚨 ALERT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5349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E6F5"/>
                </a:solidFill>
                <a:latin typeface="Calibri"/>
              </a:defRPr>
            </a:pPr>
            <a:r>
              <a:t>Fast Action</a:t>
            </a:r>
            <a:br/>
            <a:r>
              <a:t>Buzzer + SMS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326880" y="5989320"/>
            <a:ext cx="1097280" cy="228600"/>
          </a:xfrm>
          <a:prstGeom prst="roundRect">
            <a:avLst/>
          </a:prstGeom>
          <a:solidFill>
            <a:srgbClr val="0F234B"/>
          </a:solidFill>
          <a:ln w="762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26880" y="5989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4DA3FF"/>
                </a:solidFill>
                <a:latin typeface="Calibri"/>
              </a:defRPr>
            </a:pPr>
            <a:r>
              <a:t>Instant</a:t>
            </a:r>
          </a:p>
        </p:txBody>
      </p:sp>
      <p:sp>
        <p:nvSpPr>
          <p:cNvPr id="70" name="Oval 69"/>
          <p:cNvSpPr/>
          <p:nvPr/>
        </p:nvSpPr>
        <p:spPr>
          <a:xfrm>
            <a:off x="73152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5156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69163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201168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233172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65175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97180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29183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61188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93192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25195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6_futurist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74320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65992" y="274320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96344" y="274320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65392"/>
            <a:ext cx="54864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6199632"/>
            <a:ext cx="25400" cy="365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65992" y="6565392"/>
            <a:ext cx="548640" cy="254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96344" y="6199632"/>
            <a:ext cx="25400" cy="3657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0" y="6217920"/>
            <a:ext cx="365760" cy="365760"/>
          </a:xfrm>
          <a:prstGeom prst="ellipse">
            <a:avLst/>
          </a:prstGeom>
          <a:solidFill>
            <a:srgbClr val="14234B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0" y="6217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DA3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"/>
            <a:ext cx="731520" cy="5080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FF"/>
                </a:solidFill>
                <a:latin typeface="Calibri"/>
              </a:defRPr>
            </a:pPr>
            <a:r>
              <a:t>06  •  CONCLUSION  •  LEAKGUARD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9601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1737360"/>
            <a:ext cx="5669280" cy="3108960"/>
          </a:xfrm>
          <a:prstGeom prst="roundRect">
            <a:avLst/>
          </a:prstGeom>
          <a:solidFill>
            <a:srgbClr val="111B37">
              <a:alpha val="85000"/>
            </a:srgbClr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1737360"/>
            <a:ext cx="50800" cy="3108960"/>
          </a:xfrm>
          <a:prstGeom prst="rect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A3FF"/>
                </a:solidFill>
                <a:latin typeface="Calibri"/>
              </a:defRPr>
            </a:pPr>
            <a:r>
              <a:t>✦  Key Achievements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2402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✓  Autonomous detection reduces manual effort by 90%.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✓  Edge AI enables fast local decisions in &lt;100ms.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✓  Early leak detection saves 30% energy and cost.</a:t>
            </a:r>
          </a:p>
          <a:p>
            <a:pPr>
              <a:spcBef>
                <a:spcPts val="600"/>
              </a:spcBef>
              <a:spcAft>
                <a:spcPts val="1600"/>
              </a:spcAft>
              <a:defRPr sz="1400">
                <a:solidFill>
                  <a:srgbClr val="DCE6F5"/>
                </a:solidFill>
                <a:latin typeface="Calibri"/>
              </a:defRPr>
            </a:pPr>
            <a:r>
              <a:t>✓  LeakGuard can expand for smart Industry 4.0 maintenance.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297680"/>
            <a:ext cx="1554480" cy="457200"/>
          </a:xfrm>
          <a:prstGeom prst="roundRect">
            <a:avLst/>
          </a:prstGeom>
          <a:solidFill>
            <a:srgbClr val="12234B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43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E6F5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297680"/>
            <a:ext cx="1554480" cy="457200"/>
          </a:xfrm>
          <a:prstGeom prst="roundRect">
            <a:avLst/>
          </a:prstGeom>
          <a:solidFill>
            <a:srgbClr val="12234B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31596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&lt;2s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343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E6F5"/>
                </a:solidFill>
                <a:latin typeface="Calibri"/>
              </a:defRPr>
            </a:pPr>
            <a:r>
              <a:t>Alert Time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79" y="4297680"/>
            <a:ext cx="1554480" cy="457200"/>
          </a:xfrm>
          <a:prstGeom prst="roundRect">
            <a:avLst/>
          </a:prstGeom>
          <a:solidFill>
            <a:srgbClr val="12234B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79" y="4315968"/>
            <a:ext cx="731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19" y="4343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CE6F5"/>
                </a:solidFill>
                <a:latin typeface="Calibri"/>
              </a:defRPr>
            </a:pPr>
            <a:r>
              <a:t>Energy Save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1737360"/>
            <a:ext cx="4572000" cy="3108960"/>
          </a:xfrm>
          <a:prstGeom prst="roundRect">
            <a:avLst/>
          </a:prstGeom>
          <a:solidFill>
            <a:srgbClr val="0C1632"/>
          </a:solidFill>
          <a:ln w="1905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18288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Calibri"/>
              </a:defRPr>
            </a:pPr>
            <a:r>
              <a:t>✦  LEAKGUARD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148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Calibri"/>
              </a:defRPr>
            </a:pPr>
            <a:r>
              <a:t>LeakGuard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6060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337560"/>
            <a:ext cx="27432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5204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DA3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8862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DCE6F5"/>
                </a:solidFill>
                <a:latin typeface="Calibri"/>
              </a:defRPr>
            </a:pPr>
            <a:r>
              <a:t>Team Lead: Sachin.N (CCE)</a:t>
            </a:r>
            <a:br/>
            <a:r>
              <a:t>Rithish.P (CCE)  •  Dharun.V (MECH)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526280"/>
            <a:ext cx="640080" cy="640080"/>
          </a:xfrm>
          <a:prstGeom prst="roundRect">
            <a:avLst/>
          </a:prstGeom>
          <a:solidFill>
            <a:srgbClr val="14234B"/>
          </a:solidFill>
          <a:ln w="12700">
            <a:solidFill>
              <a:srgbClr val="4D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4526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4FF"/>
                </a:solidFill>
                <a:latin typeface="Calibri"/>
              </a:defRPr>
            </a:pPr>
            <a:r>
              <a:t>QR</a:t>
            </a:r>
            <a:br/>
            <a:r>
              <a:t>CODE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486400"/>
            <a:ext cx="10698480" cy="12700"/>
          </a:xfrm>
          <a:prstGeom prst="rect">
            <a:avLst/>
          </a:prstGeom>
          <a:solidFill>
            <a:srgbClr val="1E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FC3"/>
                </a:solidFill>
                <a:latin typeface="Calibri"/>
              </a:defRPr>
            </a:pPr>
            <a:r>
              <a:t>LeakGuard | Autonomous Edge-AI Robot for Compressed-Air Leak Detection | Team Lead: Sachin.N (CCE) | Rithish.P (CCE) | Dharun.V (MECH)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A6E8C"/>
                </a:solidFill>
                <a:latin typeface="Calibri"/>
              </a:defRPr>
            </a:pPr>
            <a:r>
              <a:t>Smart Industrial Energy Monitoring System  •  Industry 4.0  •  Edge AI  •  LoRa Communication</a:t>
            </a:r>
          </a:p>
        </p:txBody>
      </p:sp>
      <p:sp>
        <p:nvSpPr>
          <p:cNvPr id="42" name="Oval 41"/>
          <p:cNvSpPr/>
          <p:nvPr/>
        </p:nvSpPr>
        <p:spPr>
          <a:xfrm>
            <a:off x="73152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156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69163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01168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651759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97180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29183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611880" y="6446520"/>
            <a:ext cx="50800" cy="50800"/>
          </a:xfrm>
          <a:prstGeom prst="ellipse">
            <a:avLst/>
          </a:prstGeom>
          <a:solidFill>
            <a:srgbClr val="4D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931920" y="6446520"/>
            <a:ext cx="50800" cy="50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51959" y="6446520"/>
            <a:ext cx="50800" cy="50800"/>
          </a:xfrm>
          <a:prstGeom prst="ellipse">
            <a:avLst/>
          </a:prstGeom>
          <a:solidFill>
            <a:srgbClr val="3C5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