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factory_rob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D1F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274320"/>
            <a:ext cx="548640" cy="254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74320"/>
            <a:ext cx="25400" cy="36576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365992" y="274320"/>
            <a:ext cx="54864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96344" y="274320"/>
            <a:ext cx="25400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6565392"/>
            <a:ext cx="54864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6199632"/>
            <a:ext cx="25400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365992" y="6565392"/>
            <a:ext cx="548640" cy="254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96344" y="6199632"/>
            <a:ext cx="25400" cy="36576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612880" y="6217920"/>
            <a:ext cx="365760" cy="365760"/>
          </a:xfrm>
          <a:prstGeom prst="ellipse">
            <a:avLst/>
          </a:prstGeom>
          <a:solidFill>
            <a:srgbClr val="14234B"/>
          </a:solidFill>
          <a:ln w="1270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0" y="62179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DA3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02920"/>
            <a:ext cx="1097280" cy="508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680" y="502920"/>
            <a:ext cx="45720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85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D4FF"/>
                </a:solidFill>
                <a:latin typeface="Calibri"/>
              </a:defRPr>
            </a:pPr>
            <a:r>
              <a:t>INDUSTRIAL PROJECT  •  2026  •  LEAKGUARD  •  EDGE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960120"/>
            <a:ext cx="7772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6200" b="1">
                <a:solidFill>
                  <a:srgbClr val="00D4FF"/>
                </a:solidFill>
                <a:latin typeface="Calibri"/>
              </a:defRPr>
            </a:pPr>
            <a:r>
              <a:t>LeakGuard</a:t>
            </a:r>
          </a:p>
          <a:p>
            <a:pPr>
              <a:lnSpc>
                <a:spcPct val="105000"/>
              </a:lnSpc>
              <a:defRPr sz="3000" b="1">
                <a:solidFill>
                  <a:srgbClr val="FFFFFF"/>
                </a:solidFill>
                <a:latin typeface="Calibri"/>
              </a:defRPr>
            </a:pPr>
            <a:r>
              <a:t>Autonomous Edge-AI Robot</a:t>
            </a:r>
            <a:br/>
            <a:r>
              <a:t>for Compressed-Air Leak Detection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0480" y="1143000"/>
            <a:ext cx="1188720" cy="365760"/>
          </a:xfrm>
          <a:prstGeom prst="roundRect">
            <a:avLst/>
          </a:prstGeom>
          <a:solidFill>
            <a:srgbClr val="0F2D5F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0" y="11430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D4FF"/>
                </a:solidFill>
                <a:latin typeface="Calibri"/>
              </a:defRPr>
            </a:pPr>
            <a:r>
              <a:t>★ PREMIUM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1546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4DA3FF"/>
                </a:solidFill>
                <a:latin typeface="Calibri"/>
              </a:defRPr>
            </a:pPr>
            <a:r>
              <a:t>Smart Industrial Energy Monitoring System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611880"/>
            <a:ext cx="5303520" cy="12700"/>
          </a:xfrm>
          <a:prstGeom prst="rect">
            <a:avLst/>
          </a:prstGeom>
          <a:solidFill>
            <a:srgbClr val="3C5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1520" y="3886200"/>
            <a:ext cx="1600200" cy="685800"/>
          </a:xfrm>
          <a:prstGeom prst="roundRect">
            <a:avLst/>
          </a:prstGeom>
          <a:solidFill>
            <a:srgbClr val="122046"/>
          </a:solidFill>
          <a:ln w="1016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959352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D4FF"/>
                </a:solidFill>
                <a:latin typeface="Calibri"/>
              </a:defRPr>
            </a:pPr>
            <a:r>
              <a:t>🤖 AUTONOMOUS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20624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A0AFC3"/>
                </a:solidFill>
                <a:latin typeface="Calibri"/>
              </a:defRPr>
            </a:pPr>
            <a:r>
              <a:t>Self Navigation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468880" y="3886200"/>
            <a:ext cx="1600200" cy="685800"/>
          </a:xfrm>
          <a:prstGeom prst="roundRect">
            <a:avLst/>
          </a:prstGeom>
          <a:solidFill>
            <a:srgbClr val="122046"/>
          </a:solidFill>
          <a:ln w="1016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60320" y="3959352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D4FF"/>
                </a:solidFill>
                <a:latin typeface="Calibri"/>
              </a:defRPr>
            </a:pPr>
            <a:r>
              <a:t>🧠 EDGE 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420624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A0AFC3"/>
                </a:solidFill>
                <a:latin typeface="Calibri"/>
              </a:defRPr>
            </a:pPr>
            <a:r>
              <a:t>Local Processing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06240" y="3886200"/>
            <a:ext cx="1600200" cy="685800"/>
          </a:xfrm>
          <a:prstGeom prst="roundRect">
            <a:avLst/>
          </a:prstGeom>
          <a:solidFill>
            <a:srgbClr val="122046"/>
          </a:solidFill>
          <a:ln w="1016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7680" y="3959352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D4FF"/>
                </a:solidFill>
                <a:latin typeface="Calibri"/>
              </a:defRPr>
            </a:pPr>
            <a:r>
              <a:t>⚡ 30% SAVING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420624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A0AFC3"/>
                </a:solidFill>
                <a:latin typeface="Calibri"/>
              </a:defRPr>
            </a:pPr>
            <a:r>
              <a:t>Energy Efficient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4800600"/>
            <a:ext cx="5029200" cy="1783080"/>
          </a:xfrm>
          <a:prstGeom prst="roundRect">
            <a:avLst/>
          </a:prstGeom>
          <a:solidFill>
            <a:srgbClr val="111B37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1520" y="4800600"/>
            <a:ext cx="50800" cy="178308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892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D4FF"/>
                </a:solidFill>
                <a:latin typeface="Calibri"/>
              </a:defRPr>
            </a:pPr>
            <a:r>
              <a:t>PROJECT TEAM  •  CCE &amp; MECH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27608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Team Lead:  Sachin.N  —  CCE Dept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6013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CE6F5"/>
                </a:solidFill>
                <a:latin typeface="Calibri"/>
              </a:defRPr>
            </a:pPr>
            <a:r>
              <a:t>Member 1:  Rithish.P  —  CCE Dept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6044183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CE6F5"/>
                </a:solidFill>
                <a:latin typeface="Calibri"/>
              </a:defRPr>
            </a:pPr>
            <a:r>
              <a:t>Member 2:  Dharun.V  —  MECH Dept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326880" y="685800"/>
            <a:ext cx="2377440" cy="502920"/>
          </a:xfrm>
          <a:prstGeom prst="roundRect">
            <a:avLst/>
          </a:prstGeom>
          <a:solidFill>
            <a:srgbClr val="0F2350"/>
          </a:solidFill>
          <a:ln w="1270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0" y="68580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D4FF"/>
                </a:solidFill>
                <a:latin typeface="Calibri"/>
              </a:defRPr>
            </a:pPr>
            <a:r>
              <a:t>●  LEAKGUARD  •  EDGE AI  •  LoRa</a:t>
            </a:r>
          </a:p>
        </p:txBody>
      </p:sp>
      <p:sp>
        <p:nvSpPr>
          <p:cNvPr id="39" name="Oval 38"/>
          <p:cNvSpPr/>
          <p:nvPr/>
        </p:nvSpPr>
        <p:spPr>
          <a:xfrm>
            <a:off x="731520" y="6446520"/>
            <a:ext cx="50800" cy="50800"/>
          </a:xfrm>
          <a:prstGeom prst="ellipse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51560" y="6446520"/>
            <a:ext cx="50800" cy="508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371600" y="6446520"/>
            <a:ext cx="50800" cy="50800"/>
          </a:xfrm>
          <a:prstGeom prst="ellipse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691639" y="6446520"/>
            <a:ext cx="50800" cy="50800"/>
          </a:xfrm>
          <a:prstGeom prst="ellipse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011680" y="6446520"/>
            <a:ext cx="50800" cy="508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331720" y="6446520"/>
            <a:ext cx="50800" cy="50800"/>
          </a:xfrm>
          <a:prstGeom prst="ellipse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651759" y="6446520"/>
            <a:ext cx="50800" cy="50800"/>
          </a:xfrm>
          <a:prstGeom prst="ellipse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71800" y="6446520"/>
            <a:ext cx="50800" cy="508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291839" y="6446520"/>
            <a:ext cx="50800" cy="50800"/>
          </a:xfrm>
          <a:prstGeom prst="ellipse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611880" y="6446520"/>
            <a:ext cx="50800" cy="50800"/>
          </a:xfrm>
          <a:prstGeom prst="ellipse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931920" y="6446520"/>
            <a:ext cx="50800" cy="508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51959" y="6446520"/>
            <a:ext cx="50800" cy="50800"/>
          </a:xfrm>
          <a:prstGeom prst="ellipse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274320"/>
            <a:ext cx="548640" cy="254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25400" cy="36576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365992" y="274320"/>
            <a:ext cx="54864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896344" y="274320"/>
            <a:ext cx="25400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6565392"/>
            <a:ext cx="54864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6199632"/>
            <a:ext cx="25400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65992" y="6565392"/>
            <a:ext cx="548640" cy="254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896344" y="6199632"/>
            <a:ext cx="25400" cy="36576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612880" y="6217920"/>
            <a:ext cx="365760" cy="365760"/>
          </a:xfrm>
          <a:prstGeom prst="ellipse">
            <a:avLst/>
          </a:prstGeom>
          <a:solidFill>
            <a:srgbClr val="14234B"/>
          </a:solidFill>
          <a:ln w="1270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0" y="62179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DA3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7200"/>
            <a:ext cx="731520" cy="508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4FF"/>
                </a:solidFill>
                <a:latin typeface="Calibri"/>
              </a:defRPr>
            </a:pPr>
            <a:r>
              <a:t>02  •  INTRODUCTION  •  LEAKGUARD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96012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Introduction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1737360"/>
            <a:ext cx="5669280" cy="4572000"/>
          </a:xfrm>
          <a:prstGeom prst="roundRect">
            <a:avLst/>
          </a:prstGeom>
          <a:solidFill>
            <a:srgbClr val="111B37"/>
          </a:solidFill>
          <a:ln w="1270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1737360"/>
            <a:ext cx="50800" cy="45720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187451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DA3FF"/>
                </a:solidFill>
                <a:latin typeface="Calibri"/>
              </a:defRPr>
            </a:pPr>
            <a:r>
              <a:t>✦  Why This Project Matters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2860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200"/>
              </a:spcAft>
              <a:defRPr sz="1500">
                <a:solidFill>
                  <a:srgbClr val="DCE6F5"/>
                </a:solidFill>
                <a:latin typeface="Calibri"/>
              </a:defRPr>
            </a:pPr>
            <a:r>
              <a:t>●  Compressed air is widely used in industries.</a:t>
            </a:r>
          </a:p>
          <a:p>
            <a:pPr>
              <a:spcBef>
                <a:spcPts val="400"/>
              </a:spcBef>
              <a:spcAft>
                <a:spcPts val="1200"/>
              </a:spcAft>
              <a:defRPr sz="1500">
                <a:solidFill>
                  <a:srgbClr val="DCE6F5"/>
                </a:solidFill>
                <a:latin typeface="Calibri"/>
              </a:defRPr>
            </a:pPr>
            <a:r>
              <a:t>●  Small pipeline leaks waste huge energy.</a:t>
            </a:r>
          </a:p>
          <a:p>
            <a:pPr>
              <a:spcBef>
                <a:spcPts val="400"/>
              </a:spcBef>
              <a:spcAft>
                <a:spcPts val="1200"/>
              </a:spcAft>
              <a:defRPr sz="1500">
                <a:solidFill>
                  <a:srgbClr val="DCE6F5"/>
                </a:solidFill>
                <a:latin typeface="Calibri"/>
              </a:defRPr>
            </a:pPr>
            <a:r>
              <a:t>●  Leaks increase operating costs by 30%.</a:t>
            </a:r>
          </a:p>
          <a:p>
            <a:pPr>
              <a:spcBef>
                <a:spcPts val="400"/>
              </a:spcBef>
              <a:spcAft>
                <a:spcPts val="1200"/>
              </a:spcAft>
              <a:defRPr sz="1500">
                <a:solidFill>
                  <a:srgbClr val="DCE6F5"/>
                </a:solidFill>
                <a:latin typeface="Calibri"/>
              </a:defRPr>
            </a:pPr>
            <a:r>
              <a:t>●  Our LeakGuard robot scans automatically.</a:t>
            </a:r>
          </a:p>
          <a:p>
            <a:pPr>
              <a:spcBef>
                <a:spcPts val="400"/>
              </a:spcBef>
              <a:spcAft>
                <a:spcPts val="1200"/>
              </a:spcAft>
              <a:defRPr sz="1500">
                <a:solidFill>
                  <a:srgbClr val="DCE6F5"/>
                </a:solidFill>
                <a:latin typeface="Calibri"/>
              </a:defRPr>
            </a:pPr>
            <a:r>
              <a:t>●  It detects leaks in real time.</a:t>
            </a:r>
          </a:p>
          <a:p>
            <a:pPr>
              <a:spcBef>
                <a:spcPts val="400"/>
              </a:spcBef>
              <a:spcAft>
                <a:spcPts val="1200"/>
              </a:spcAft>
              <a:defRPr sz="1500">
                <a:solidFill>
                  <a:srgbClr val="DCE6F5"/>
                </a:solidFill>
                <a:latin typeface="Calibri"/>
              </a:defRPr>
            </a:pPr>
            <a:r>
              <a:t>●  Edge AI processes data locally &amp; fast.</a:t>
            </a:r>
          </a:p>
          <a:p>
            <a:pPr>
              <a:spcBef>
                <a:spcPts val="400"/>
              </a:spcBef>
              <a:spcAft>
                <a:spcPts val="1200"/>
              </a:spcAft>
              <a:defRPr sz="1500">
                <a:solidFill>
                  <a:srgbClr val="DCE6F5"/>
                </a:solidFill>
                <a:latin typeface="Calibri"/>
              </a:defRPr>
            </a:pPr>
            <a:r>
              <a:t>●  Saves energy, cost and manpower.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1560" y="5303520"/>
            <a:ext cx="5029200" cy="777240"/>
          </a:xfrm>
          <a:prstGeom prst="rect">
            <a:avLst/>
          </a:prstGeom>
          <a:solidFill>
            <a:srgbClr val="142850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3492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D4FF"/>
                </a:solidFill>
                <a:latin typeface="Calibri"/>
              </a:defRPr>
            </a:pPr>
            <a:r>
              <a:t>💡 DID YOU KNOW?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6235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4AF37"/>
                </a:solidFill>
                <a:latin typeface="Calibri"/>
              </a:defRPr>
            </a:pPr>
            <a:r>
              <a:t>A 3mm leak can waste ₹2.5 Lakhs / year in energy cost!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0" y="1737360"/>
            <a:ext cx="4572000" cy="4023360"/>
          </a:xfrm>
          <a:prstGeom prst="rect">
            <a:avLst/>
          </a:prstGeom>
          <a:solidFill>
            <a:srgbClr val="0C142D"/>
          </a:solidFill>
          <a:ln w="2286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lide2_pipel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0004" y="1769364"/>
            <a:ext cx="4507992" cy="3959352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858000" y="1737360"/>
            <a:ext cx="45720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0" y="1737360"/>
            <a:ext cx="164592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0" y="1737360"/>
            <a:ext cx="38100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265408" y="1737360"/>
            <a:ext cx="164592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391900" y="1737360"/>
            <a:ext cx="38100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858000" y="5722620"/>
            <a:ext cx="164592" cy="381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8000" y="5596128"/>
            <a:ext cx="38100" cy="164592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265408" y="5722620"/>
            <a:ext cx="164592" cy="381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391900" y="5596128"/>
            <a:ext cx="38100" cy="164592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58000" y="5760720"/>
            <a:ext cx="4572000" cy="457200"/>
          </a:xfrm>
          <a:prstGeom prst="rect">
            <a:avLst/>
          </a:prstGeom>
          <a:solidFill>
            <a:srgbClr val="0A193C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5760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D4FF"/>
                </a:solidFill>
                <a:latin typeface="Calibri"/>
              </a:defRPr>
            </a:pPr>
            <a:r>
              <a:t>📷  LeakGuard Robot Scanning Industrial Pipeline</a:t>
            </a:r>
          </a:p>
        </p:txBody>
      </p:sp>
      <p:sp>
        <p:nvSpPr>
          <p:cNvPr id="35" name="Oval 34"/>
          <p:cNvSpPr/>
          <p:nvPr/>
        </p:nvSpPr>
        <p:spPr>
          <a:xfrm>
            <a:off x="731520" y="6446520"/>
            <a:ext cx="50800" cy="50800"/>
          </a:xfrm>
          <a:prstGeom prst="ellipse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51560" y="6446520"/>
            <a:ext cx="50800" cy="508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71600" y="6446520"/>
            <a:ext cx="50800" cy="50800"/>
          </a:xfrm>
          <a:prstGeom prst="ellipse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691639" y="6446520"/>
            <a:ext cx="50800" cy="50800"/>
          </a:xfrm>
          <a:prstGeom prst="ellipse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011680" y="6446520"/>
            <a:ext cx="50800" cy="508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331720" y="6446520"/>
            <a:ext cx="50800" cy="50800"/>
          </a:xfrm>
          <a:prstGeom prst="ellipse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651759" y="6446520"/>
            <a:ext cx="50800" cy="50800"/>
          </a:xfrm>
          <a:prstGeom prst="ellipse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71800" y="6446520"/>
            <a:ext cx="50800" cy="508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291839" y="6446520"/>
            <a:ext cx="50800" cy="50800"/>
          </a:xfrm>
          <a:prstGeom prst="ellipse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611880" y="6446520"/>
            <a:ext cx="50800" cy="50800"/>
          </a:xfrm>
          <a:prstGeom prst="ellipse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931920" y="6446520"/>
            <a:ext cx="50800" cy="508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251959" y="6446520"/>
            <a:ext cx="50800" cy="50800"/>
          </a:xfrm>
          <a:prstGeom prst="ellipse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274320"/>
            <a:ext cx="548640" cy="254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25400" cy="36576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365992" y="274320"/>
            <a:ext cx="54864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896344" y="274320"/>
            <a:ext cx="25400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6565392"/>
            <a:ext cx="54864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6199632"/>
            <a:ext cx="25400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65992" y="6565392"/>
            <a:ext cx="548640" cy="254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896344" y="6199632"/>
            <a:ext cx="25400" cy="36576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612880" y="6217920"/>
            <a:ext cx="365760" cy="365760"/>
          </a:xfrm>
          <a:prstGeom prst="ellipse">
            <a:avLst/>
          </a:prstGeom>
          <a:solidFill>
            <a:srgbClr val="14234B"/>
          </a:solidFill>
          <a:ln w="1270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0" y="62179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DA3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7200"/>
            <a:ext cx="731520" cy="50800"/>
          </a:xfrm>
          <a:prstGeom prst="rect">
            <a:avLst/>
          </a:prstGeom>
          <a:solidFill>
            <a:srgbClr val="FF5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7878"/>
                </a:solidFill>
                <a:latin typeface="Calibri"/>
              </a:defRPr>
            </a:pPr>
            <a:r>
              <a:t>03  •  PROBLEM STATEMENT  •  CRITICAL ISSUES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96012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1737360"/>
            <a:ext cx="4572000" cy="4023360"/>
          </a:xfrm>
          <a:prstGeom prst="rect">
            <a:avLst/>
          </a:prstGeom>
          <a:solidFill>
            <a:srgbClr val="0C142D"/>
          </a:solidFill>
          <a:ln w="22860">
            <a:solidFill>
              <a:srgbClr val="FF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lide3_leak_v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0004" y="1769364"/>
            <a:ext cx="4507992" cy="3959352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858000" y="1737360"/>
            <a:ext cx="4572000" cy="38100"/>
          </a:xfrm>
          <a:prstGeom prst="rect">
            <a:avLst/>
          </a:prstGeom>
          <a:solidFill>
            <a:srgbClr val="FF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0" y="1737360"/>
            <a:ext cx="164592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737360"/>
            <a:ext cx="38100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265408" y="1737360"/>
            <a:ext cx="164592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91900" y="1737360"/>
            <a:ext cx="38100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0" y="5722620"/>
            <a:ext cx="164592" cy="381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0" y="5596128"/>
            <a:ext cx="38100" cy="164592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265408" y="5722620"/>
            <a:ext cx="164592" cy="381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391900" y="5596128"/>
            <a:ext cx="38100" cy="164592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95160" y="1874519"/>
            <a:ext cx="1828800" cy="365760"/>
          </a:xfrm>
          <a:prstGeom prst="rect">
            <a:avLst/>
          </a:prstGeom>
          <a:solidFill>
            <a:srgbClr val="501414"/>
          </a:solidFill>
          <a:ln w="12700">
            <a:solidFill>
              <a:srgbClr val="FF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95160" y="187451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9696"/>
                </a:solidFill>
                <a:latin typeface="Calibri"/>
              </a:defRPr>
            </a:pPr>
            <a:r>
              <a:t>⚠ LEAK DETECTED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5760720"/>
            <a:ext cx="4572000" cy="457200"/>
          </a:xfrm>
          <a:prstGeom prst="rect">
            <a:avLst/>
          </a:prstGeom>
          <a:solidFill>
            <a:srgbClr val="3C0F0F"/>
          </a:solidFill>
          <a:ln w="12700">
            <a:solidFill>
              <a:srgbClr val="FF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5760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9696"/>
                </a:solidFill>
                <a:latin typeface="Calibri"/>
              </a:defRPr>
            </a:pPr>
            <a:r>
              <a:t>🔍  Thermal Imaging: Pressure Drop 7.2 → 5.8 bar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1737360"/>
            <a:ext cx="2743200" cy="2103120"/>
          </a:xfrm>
          <a:prstGeom prst="rect">
            <a:avLst/>
          </a:prstGeom>
          <a:solidFill>
            <a:srgbClr val="162348"/>
          </a:solidFill>
          <a:ln w="1270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" y="1737360"/>
            <a:ext cx="2743200" cy="381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560320" y="1874520"/>
            <a:ext cx="640080" cy="274320"/>
          </a:xfrm>
          <a:prstGeom prst="rect">
            <a:avLst/>
          </a:prstGeom>
          <a:solidFill>
            <a:srgbClr val="0F2850"/>
          </a:solidFill>
          <a:ln w="1016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0" y="1874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D4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21945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4FF"/>
                </a:solidFill>
                <a:latin typeface="Calibri"/>
              </a:defRPr>
            </a:pPr>
            <a:r>
              <a:t>⏱ TIME CONSUMING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25603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CE6F5"/>
                </a:solidFill>
                <a:latin typeface="Calibri"/>
              </a:defRPr>
            </a:pPr>
            <a:r>
              <a:t>Manual inspection</a:t>
            </a:r>
            <a:br/>
            <a:r>
              <a:t>is slow &amp; inefficient.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34290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0AFC3"/>
                </a:solidFill>
                <a:latin typeface="Calibri"/>
              </a:defRPr>
            </a:pPr>
            <a:r>
              <a:t>→ Impact: High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0" y="1737360"/>
            <a:ext cx="2743200" cy="2103120"/>
          </a:xfrm>
          <a:prstGeom prst="rect">
            <a:avLst/>
          </a:prstGeom>
          <a:solidFill>
            <a:srgbClr val="111B37"/>
          </a:solidFill>
          <a:ln w="1270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0" y="1737360"/>
            <a:ext cx="2743200" cy="381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0" y="1874520"/>
            <a:ext cx="640080" cy="274320"/>
          </a:xfrm>
          <a:prstGeom prst="rect">
            <a:avLst/>
          </a:prstGeom>
          <a:solidFill>
            <a:srgbClr val="0F2850"/>
          </a:solidFill>
          <a:ln w="1016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0" y="1874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0D4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40480" y="21945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4FF"/>
                </a:solidFill>
                <a:latin typeface="Calibri"/>
              </a:defRPr>
            </a:pPr>
            <a:r>
              <a:t>👁 HIDDEN LEAKS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0480" y="256032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CE6F5"/>
                </a:solidFill>
                <a:latin typeface="Calibri"/>
              </a:defRPr>
            </a:pPr>
            <a:r>
              <a:t>Small leaks stay</a:t>
            </a:r>
            <a:br/>
            <a:r>
              <a:t>unnoticed for months.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40480" y="34290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0AFC3"/>
                </a:solidFill>
                <a:latin typeface="Calibri"/>
              </a:defRPr>
            </a:pPr>
            <a:r>
              <a:t>→ Impact: High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" y="4114800"/>
            <a:ext cx="2743200" cy="2103120"/>
          </a:xfrm>
          <a:prstGeom prst="rect">
            <a:avLst/>
          </a:prstGeom>
          <a:solidFill>
            <a:srgbClr val="162348"/>
          </a:solidFill>
          <a:ln w="12700">
            <a:solidFill>
              <a:srgbClr val="FF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31520" y="4114800"/>
            <a:ext cx="2743200" cy="38100"/>
          </a:xfrm>
          <a:prstGeom prst="rect">
            <a:avLst/>
          </a:prstGeom>
          <a:solidFill>
            <a:srgbClr val="FF5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560320" y="4251960"/>
            <a:ext cx="640080" cy="274320"/>
          </a:xfrm>
          <a:prstGeom prst="rect">
            <a:avLst/>
          </a:prstGeom>
          <a:solidFill>
            <a:srgbClr val="3C1414"/>
          </a:solidFill>
          <a:ln w="10160">
            <a:solidFill>
              <a:srgbClr val="FF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60320" y="42519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9696"/>
                </a:solidFill>
                <a:latin typeface="Calibri"/>
              </a:defRPr>
            </a:pPr>
            <a:r>
              <a:t>Major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" y="45720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9678"/>
                </a:solidFill>
                <a:latin typeface="Calibri"/>
              </a:defRPr>
            </a:pPr>
            <a:r>
              <a:t>📡 NO 24/7 MONITORING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493776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CE6F5"/>
                </a:solidFill>
                <a:latin typeface="Calibri"/>
              </a:defRPr>
            </a:pPr>
            <a:r>
              <a:t>Continuous manual</a:t>
            </a:r>
            <a:br/>
            <a:r>
              <a:t>monitoring is impossible.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58064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0AFC3"/>
                </a:solidFill>
                <a:latin typeface="Calibri"/>
              </a:defRPr>
            </a:pPr>
            <a:r>
              <a:t>→ Cost: Very High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0" y="4114800"/>
            <a:ext cx="2743200" cy="2103120"/>
          </a:xfrm>
          <a:prstGeom prst="rect">
            <a:avLst/>
          </a:prstGeom>
          <a:solidFill>
            <a:srgbClr val="111B37"/>
          </a:solidFill>
          <a:ln w="12700">
            <a:solidFill>
              <a:srgbClr val="FF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657600" y="4114800"/>
            <a:ext cx="2743200" cy="38100"/>
          </a:xfrm>
          <a:prstGeom prst="rect">
            <a:avLst/>
          </a:prstGeom>
          <a:solidFill>
            <a:srgbClr val="FF5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486400" y="4251960"/>
            <a:ext cx="640080" cy="274320"/>
          </a:xfrm>
          <a:prstGeom prst="rect">
            <a:avLst/>
          </a:prstGeom>
          <a:solidFill>
            <a:srgbClr val="3C1414"/>
          </a:solidFill>
          <a:ln w="10160">
            <a:solidFill>
              <a:srgbClr val="FF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0" y="42519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9696"/>
                </a:solidFill>
                <a:latin typeface="Calibri"/>
              </a:defRPr>
            </a:pPr>
            <a:r>
              <a:t>₹₹₹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840480" y="45720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9678"/>
                </a:solidFill>
                <a:latin typeface="Calibri"/>
              </a:defRPr>
            </a:pPr>
            <a:r>
              <a:t>⚡ 30% ENERGY LOSS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40480" y="493776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CE6F5"/>
                </a:solidFill>
                <a:latin typeface="Calibri"/>
              </a:defRPr>
            </a:pPr>
            <a:r>
              <a:t>Leaks increase power</a:t>
            </a:r>
            <a:br/>
            <a:r>
              <a:t>&amp; maintenance cost.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40480" y="58064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A0AFC3"/>
                </a:solidFill>
                <a:latin typeface="Calibri"/>
              </a:defRPr>
            </a:pPr>
            <a:r>
              <a:t>→ Cost: Very High</a:t>
            </a:r>
          </a:p>
        </p:txBody>
      </p:sp>
      <p:sp>
        <p:nvSpPr>
          <p:cNvPr id="58" name="Oval 57"/>
          <p:cNvSpPr/>
          <p:nvPr/>
        </p:nvSpPr>
        <p:spPr>
          <a:xfrm>
            <a:off x="731520" y="6446520"/>
            <a:ext cx="50800" cy="50800"/>
          </a:xfrm>
          <a:prstGeom prst="ellipse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051560" y="6446520"/>
            <a:ext cx="50800" cy="508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371600" y="6446520"/>
            <a:ext cx="50800" cy="50800"/>
          </a:xfrm>
          <a:prstGeom prst="ellipse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691639" y="6446520"/>
            <a:ext cx="50800" cy="50800"/>
          </a:xfrm>
          <a:prstGeom prst="ellipse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2011680" y="6446520"/>
            <a:ext cx="50800" cy="508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331720" y="6446520"/>
            <a:ext cx="50800" cy="50800"/>
          </a:xfrm>
          <a:prstGeom prst="ellipse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2651759" y="6446520"/>
            <a:ext cx="50800" cy="50800"/>
          </a:xfrm>
          <a:prstGeom prst="ellipse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2971800" y="6446520"/>
            <a:ext cx="50800" cy="508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291839" y="6446520"/>
            <a:ext cx="50800" cy="50800"/>
          </a:xfrm>
          <a:prstGeom prst="ellipse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611880" y="6446520"/>
            <a:ext cx="50800" cy="50800"/>
          </a:xfrm>
          <a:prstGeom prst="ellipse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3931920" y="6446520"/>
            <a:ext cx="50800" cy="508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251959" y="6446520"/>
            <a:ext cx="50800" cy="50800"/>
          </a:xfrm>
          <a:prstGeom prst="ellipse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274320"/>
            <a:ext cx="548640" cy="254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74320"/>
            <a:ext cx="25400" cy="36576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365992" y="274320"/>
            <a:ext cx="54864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896344" y="274320"/>
            <a:ext cx="25400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6565392"/>
            <a:ext cx="54864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6199632"/>
            <a:ext cx="25400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65992" y="6565392"/>
            <a:ext cx="548640" cy="254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896344" y="6199632"/>
            <a:ext cx="25400" cy="36576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612880" y="6217920"/>
            <a:ext cx="365760" cy="365760"/>
          </a:xfrm>
          <a:prstGeom prst="ellipse">
            <a:avLst/>
          </a:prstGeom>
          <a:solidFill>
            <a:srgbClr val="14234B"/>
          </a:solidFill>
          <a:ln w="1270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0" y="62179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DA3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7200"/>
            <a:ext cx="731520" cy="508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4FF"/>
                </a:solidFill>
                <a:latin typeface="Calibri"/>
              </a:defRPr>
            </a:pPr>
            <a:r>
              <a:t>04  •  OBJECTIVE  •  LEAKGUARD GOALS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96012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Objective / Aim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1737360"/>
            <a:ext cx="4572000" cy="4023360"/>
          </a:xfrm>
          <a:prstGeom prst="rect">
            <a:avLst/>
          </a:prstGeom>
          <a:solidFill>
            <a:srgbClr val="0C142D"/>
          </a:solidFill>
          <a:ln w="2286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lide4_robot_insp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" y="1769364"/>
            <a:ext cx="4507992" cy="3959352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31520" y="1737360"/>
            <a:ext cx="4572000" cy="381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1737360"/>
            <a:ext cx="164592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1737360"/>
            <a:ext cx="38100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38928" y="1737360"/>
            <a:ext cx="164592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265420" y="1737360"/>
            <a:ext cx="38100" cy="16459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5722620"/>
            <a:ext cx="164592" cy="381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5596128"/>
            <a:ext cx="38100" cy="164592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38928" y="5722620"/>
            <a:ext cx="164592" cy="381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265420" y="5596128"/>
            <a:ext cx="38100" cy="164592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520" y="5760720"/>
            <a:ext cx="4572000" cy="457200"/>
          </a:xfrm>
          <a:prstGeom prst="rect">
            <a:avLst/>
          </a:prstGeom>
          <a:solidFill>
            <a:srgbClr val="0A193C"/>
          </a:solidFill>
          <a:ln w="1270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760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D4FF"/>
                </a:solidFill>
                <a:latin typeface="Calibri"/>
              </a:defRPr>
            </a:pPr>
            <a:r>
              <a:t>🤖  LeakGuard Autonomous Inspection in Action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60720" y="1737360"/>
            <a:ext cx="5669280" cy="4572000"/>
          </a:xfrm>
          <a:prstGeom prst="rect">
            <a:avLst/>
          </a:prstGeom>
          <a:solidFill>
            <a:srgbClr val="111B37"/>
          </a:solidFill>
          <a:ln w="1270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60720" y="1737360"/>
            <a:ext cx="50800" cy="45720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187451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DA3FF"/>
                </a:solidFill>
                <a:latin typeface="Calibri"/>
              </a:defRPr>
            </a:pPr>
            <a:r>
              <a:t>✦  Our Main Goals with LeakGuard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228600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spcAft>
                <a:spcPts val="1600"/>
              </a:spcAft>
              <a:defRPr sz="1400">
                <a:solidFill>
                  <a:srgbClr val="DCE6F5"/>
                </a:solidFill>
                <a:latin typeface="Calibri"/>
              </a:defRPr>
            </a:pPr>
            <a:r>
              <a:t>🤖  Detect leaks automatically</a:t>
            </a:r>
          </a:p>
          <a:p>
            <a:pPr>
              <a:spcBef>
                <a:spcPts val="500"/>
              </a:spcBef>
              <a:spcAft>
                <a:spcPts val="1600"/>
              </a:spcAft>
              <a:defRPr sz="1400">
                <a:solidFill>
                  <a:srgbClr val="DCE6F5"/>
                </a:solidFill>
                <a:latin typeface="Calibri"/>
              </a:defRPr>
            </a:pPr>
            <a:r>
              <a:t>📍  Locate exact leak position</a:t>
            </a:r>
          </a:p>
          <a:p>
            <a:pPr>
              <a:spcBef>
                <a:spcPts val="500"/>
              </a:spcBef>
              <a:spcAft>
                <a:spcPts val="1600"/>
              </a:spcAft>
              <a:defRPr sz="1400">
                <a:solidFill>
                  <a:srgbClr val="DCE6F5"/>
                </a:solidFill>
                <a:latin typeface="Calibri"/>
              </a:defRPr>
            </a:pPr>
            <a:r>
              <a:t>👷  Reduce manual inspection</a:t>
            </a:r>
          </a:p>
          <a:p>
            <a:pPr>
              <a:spcBef>
                <a:spcPts val="500"/>
              </a:spcBef>
              <a:spcAft>
                <a:spcPts val="1600"/>
              </a:spcAft>
              <a:defRPr sz="1400">
                <a:solidFill>
                  <a:srgbClr val="DCE6F5"/>
                </a:solidFill>
                <a:latin typeface="Calibri"/>
              </a:defRPr>
            </a:pPr>
            <a:r>
              <a:t>🚨  Faster maintenance alerts</a:t>
            </a:r>
          </a:p>
          <a:p>
            <a:pPr>
              <a:spcBef>
                <a:spcPts val="500"/>
              </a:spcBef>
              <a:spcAft>
                <a:spcPts val="1600"/>
              </a:spcAft>
              <a:defRPr sz="1400">
                <a:solidFill>
                  <a:srgbClr val="DCE6F5"/>
                </a:solidFill>
                <a:latin typeface="Calibri"/>
              </a:defRPr>
            </a:pPr>
            <a:r>
              <a:t>⚡  Reduce energy wastage</a:t>
            </a:r>
          </a:p>
          <a:p>
            <a:pPr>
              <a:spcBef>
                <a:spcPts val="500"/>
              </a:spcBef>
              <a:spcAft>
                <a:spcPts val="1600"/>
              </a:spcAft>
              <a:defRPr sz="1400">
                <a:solidFill>
                  <a:srgbClr val="DCE6F5"/>
                </a:solidFill>
                <a:latin typeface="Calibri"/>
              </a:defRPr>
            </a:pPr>
            <a:r>
              <a:t>🏭  Smart industrial maintenance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75520" y="2331720"/>
            <a:ext cx="1188720" cy="256032"/>
          </a:xfrm>
          <a:prstGeom prst="rect">
            <a:avLst/>
          </a:prstGeom>
          <a:solidFill>
            <a:srgbClr val="122855"/>
          </a:solidFill>
          <a:ln w="762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75520" y="233172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00D4FF"/>
                </a:solidFill>
                <a:latin typeface="Calibri"/>
              </a:defRPr>
            </a:pPr>
            <a:r>
              <a:t>100% Auto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875520" y="2898648"/>
            <a:ext cx="1188720" cy="256032"/>
          </a:xfrm>
          <a:prstGeom prst="rect">
            <a:avLst/>
          </a:prstGeom>
          <a:solidFill>
            <a:srgbClr val="122855"/>
          </a:solidFill>
          <a:ln w="762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20" y="289864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00D4FF"/>
                </a:solidFill>
                <a:latin typeface="Calibri"/>
              </a:defRPr>
            </a:pPr>
            <a:r>
              <a:t>± 10cm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875520" y="3465576"/>
            <a:ext cx="1188720" cy="256032"/>
          </a:xfrm>
          <a:prstGeom prst="rect">
            <a:avLst/>
          </a:prstGeom>
          <a:solidFill>
            <a:srgbClr val="122855"/>
          </a:solidFill>
          <a:ln w="762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5520" y="3465576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00D4FF"/>
                </a:solidFill>
                <a:latin typeface="Calibri"/>
              </a:defRPr>
            </a:pPr>
            <a:r>
              <a:t>90% Less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75520" y="4032504"/>
            <a:ext cx="1188720" cy="256032"/>
          </a:xfrm>
          <a:prstGeom prst="rect">
            <a:avLst/>
          </a:prstGeom>
          <a:solidFill>
            <a:srgbClr val="122855"/>
          </a:solidFill>
          <a:ln w="762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0" y="4032504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00D4FF"/>
                </a:solidFill>
                <a:latin typeface="Calibri"/>
              </a:defRPr>
            </a:pPr>
            <a:r>
              <a:t>&lt; 2 Sec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0" y="4599431"/>
            <a:ext cx="1188720" cy="256032"/>
          </a:xfrm>
          <a:prstGeom prst="rect">
            <a:avLst/>
          </a:prstGeom>
          <a:solidFill>
            <a:srgbClr val="122855"/>
          </a:solidFill>
          <a:ln w="762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0" y="4599431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00D4FF"/>
                </a:solidFill>
                <a:latin typeface="Calibri"/>
              </a:defRPr>
            </a:pPr>
            <a:r>
              <a:t>30% Save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75520" y="5166360"/>
            <a:ext cx="1188720" cy="256032"/>
          </a:xfrm>
          <a:prstGeom prst="rect">
            <a:avLst/>
          </a:prstGeom>
          <a:solidFill>
            <a:srgbClr val="122855"/>
          </a:solidFill>
          <a:ln w="762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75520" y="5166360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00D4FF"/>
                </a:solidFill>
                <a:latin typeface="Calibri"/>
              </a:defRPr>
            </a:pPr>
            <a:r>
              <a:t>Industry 4.0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80760" y="5623560"/>
            <a:ext cx="5029200" cy="548640"/>
          </a:xfrm>
          <a:prstGeom prst="rect">
            <a:avLst/>
          </a:prstGeom>
          <a:solidFill>
            <a:srgbClr val="0F2D23"/>
          </a:solidFill>
          <a:ln w="12700">
            <a:solidFill>
              <a:srgbClr val="50C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0760" y="56235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78E696"/>
                </a:solidFill>
                <a:latin typeface="Calibri"/>
              </a:defRPr>
            </a:pPr>
            <a:r>
              <a:t>✓  Expected: 95% Leak Detection Accuracy with Edge AI</a:t>
            </a:r>
          </a:p>
        </p:txBody>
      </p:sp>
      <p:sp>
        <p:nvSpPr>
          <p:cNvPr id="46" name="Oval 45"/>
          <p:cNvSpPr/>
          <p:nvPr/>
        </p:nvSpPr>
        <p:spPr>
          <a:xfrm>
            <a:off x="731520" y="6446520"/>
            <a:ext cx="50800" cy="50800"/>
          </a:xfrm>
          <a:prstGeom prst="ellipse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51560" y="6446520"/>
            <a:ext cx="50800" cy="508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371600" y="6446520"/>
            <a:ext cx="50800" cy="50800"/>
          </a:xfrm>
          <a:prstGeom prst="ellipse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691639" y="6446520"/>
            <a:ext cx="50800" cy="50800"/>
          </a:xfrm>
          <a:prstGeom prst="ellipse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011680" y="6446520"/>
            <a:ext cx="50800" cy="508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331720" y="6446520"/>
            <a:ext cx="50800" cy="50800"/>
          </a:xfrm>
          <a:prstGeom prst="ellipse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651759" y="6446520"/>
            <a:ext cx="50800" cy="50800"/>
          </a:xfrm>
          <a:prstGeom prst="ellipse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2971800" y="6446520"/>
            <a:ext cx="50800" cy="508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291839" y="6446520"/>
            <a:ext cx="50800" cy="50800"/>
          </a:xfrm>
          <a:prstGeom prst="ellipse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611880" y="6446520"/>
            <a:ext cx="50800" cy="50800"/>
          </a:xfrm>
          <a:prstGeom prst="ellipse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931920" y="6446520"/>
            <a:ext cx="50800" cy="508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51959" y="6446520"/>
            <a:ext cx="50800" cy="50800"/>
          </a:xfrm>
          <a:prstGeom prst="ellipse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extra_te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D1F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274320"/>
            <a:ext cx="548640" cy="254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74320"/>
            <a:ext cx="25400" cy="36576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365992" y="274320"/>
            <a:ext cx="54864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96344" y="274320"/>
            <a:ext cx="25400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6565392"/>
            <a:ext cx="54864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6199632"/>
            <a:ext cx="25400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365992" y="6565392"/>
            <a:ext cx="548640" cy="254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96344" y="6199632"/>
            <a:ext cx="25400" cy="36576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612880" y="6217920"/>
            <a:ext cx="365760" cy="365760"/>
          </a:xfrm>
          <a:prstGeom prst="ellipse">
            <a:avLst/>
          </a:prstGeom>
          <a:solidFill>
            <a:srgbClr val="14234B"/>
          </a:solidFill>
          <a:ln w="1270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0" y="62179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DA3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57200"/>
            <a:ext cx="731520" cy="508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0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4FF"/>
                </a:solidFill>
                <a:latin typeface="Calibri"/>
              </a:defRPr>
            </a:pPr>
            <a:r>
              <a:t>05  •  SYSTEM ARCHITECTURE  •  LEAKGUARD 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9601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Flow Chart / Block Diagram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0" y="1737360"/>
            <a:ext cx="3749039" cy="384048"/>
          </a:xfrm>
          <a:prstGeom prst="rect">
            <a:avLst/>
          </a:prstGeom>
          <a:solidFill>
            <a:srgbClr val="122855"/>
          </a:solidFill>
          <a:ln w="1524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🏭 Compressed-Air Pipeline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6007607" y="2146808"/>
            <a:ext cx="146304" cy="64008"/>
          </a:xfrm>
          <a:prstGeom prst="downArrow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06240" y="2276856"/>
            <a:ext cx="3749039" cy="384048"/>
          </a:xfrm>
          <a:prstGeom prst="rect">
            <a:avLst/>
          </a:prstGeom>
          <a:solidFill>
            <a:srgbClr val="162348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🤖 Line-Following Robot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6007607" y="2686304"/>
            <a:ext cx="146304" cy="64008"/>
          </a:xfrm>
          <a:prstGeom prst="down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06240" y="2816352"/>
            <a:ext cx="3749039" cy="384048"/>
          </a:xfrm>
          <a:prstGeom prst="rect">
            <a:avLst/>
          </a:prstGeom>
          <a:solidFill>
            <a:srgbClr val="162348"/>
          </a:solidFill>
          <a:ln w="15240">
            <a:solidFill>
              <a:srgbClr val="64B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🎙 Ultrasonic / Acoustic Sensor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6007607" y="3225800"/>
            <a:ext cx="146304" cy="64008"/>
          </a:xfrm>
          <a:prstGeom prst="downArrow">
            <a:avLst/>
          </a:prstGeom>
          <a:solidFill>
            <a:srgbClr val="64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06240" y="3355848"/>
            <a:ext cx="3749039" cy="384048"/>
          </a:xfrm>
          <a:prstGeom prst="rect">
            <a:avLst/>
          </a:prstGeom>
          <a:solidFill>
            <a:srgbClr val="162348"/>
          </a:solidFill>
          <a:ln w="15240">
            <a:solidFill>
              <a:srgbClr val="826E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🧠 Edge AI Processing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6007607" y="3765296"/>
            <a:ext cx="146304" cy="64008"/>
          </a:xfrm>
          <a:prstGeom prst="downArrow">
            <a:avLst/>
          </a:prstGeom>
          <a:solidFill>
            <a:srgbClr val="82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06240" y="3895344"/>
            <a:ext cx="3749039" cy="384048"/>
          </a:xfrm>
          <a:prstGeom prst="rect">
            <a:avLst/>
          </a:prstGeom>
          <a:solidFill>
            <a:srgbClr val="463C14"/>
          </a:solidFill>
          <a:ln w="15240">
            <a:solidFill>
              <a:srgbClr val="FFC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❓ Leak Detected?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6007607" y="4304792"/>
            <a:ext cx="146304" cy="64008"/>
          </a:xfrm>
          <a:prstGeom prst="downArrow">
            <a:avLst/>
          </a:prstGeom>
          <a:solidFill>
            <a:srgbClr val="FFC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06240" y="4434840"/>
            <a:ext cx="3749039" cy="384048"/>
          </a:xfrm>
          <a:prstGeom prst="rect">
            <a:avLst/>
          </a:prstGeom>
          <a:solidFill>
            <a:srgbClr val="162348"/>
          </a:solidFill>
          <a:ln w="15240">
            <a:solidFill>
              <a:srgbClr val="50C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📍 Location Recorded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6007607" y="4844288"/>
            <a:ext cx="146304" cy="64008"/>
          </a:xfrm>
          <a:prstGeom prst="downArrow">
            <a:avLst/>
          </a:prstGeom>
          <a:solidFill>
            <a:srgbClr val="50C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06240" y="4974336"/>
            <a:ext cx="3749039" cy="384048"/>
          </a:xfrm>
          <a:prstGeom prst="rect">
            <a:avLst/>
          </a:prstGeom>
          <a:solidFill>
            <a:srgbClr val="162348"/>
          </a:solidFill>
          <a:ln w="1524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📡 LoRa / Wireless Comm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6007607" y="5383784"/>
            <a:ext cx="146304" cy="64008"/>
          </a:xfrm>
          <a:prstGeom prst="downArrow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06240" y="5513832"/>
            <a:ext cx="3749039" cy="384048"/>
          </a:xfrm>
          <a:prstGeom prst="rect">
            <a:avLst/>
          </a:prstGeom>
          <a:solidFill>
            <a:srgbClr val="162348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💻 Gateway / Dashboard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6007607" y="5923280"/>
            <a:ext cx="146304" cy="64008"/>
          </a:xfrm>
          <a:prstGeom prst="down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06240" y="6053328"/>
            <a:ext cx="3749039" cy="384048"/>
          </a:xfrm>
          <a:prstGeom prst="rect">
            <a:avLst/>
          </a:prstGeom>
          <a:solidFill>
            <a:srgbClr val="55191E"/>
          </a:solidFill>
          <a:ln w="15240">
            <a:solidFill>
              <a:srgbClr val="FF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🚨 Maintenance Alert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1737360"/>
            <a:ext cx="2651760" cy="1417320"/>
          </a:xfrm>
          <a:prstGeom prst="rect">
            <a:avLst/>
          </a:prstGeom>
          <a:solidFill>
            <a:srgbClr val="111B37"/>
          </a:solidFill>
          <a:ln w="1270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1520" y="1737360"/>
            <a:ext cx="38100" cy="141732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18288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DA3FF"/>
                </a:solidFill>
                <a:latin typeface="Calibri"/>
              </a:defRPr>
            </a:pPr>
            <a:r>
              <a:t>🤖 ROBOT BRAIN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21488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CE6F5"/>
                </a:solidFill>
                <a:latin typeface="Calibri"/>
              </a:defRPr>
            </a:pPr>
            <a:r>
              <a:t>Autonomous</a:t>
            </a:r>
            <a:br/>
            <a:r>
              <a:t>Line Follow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2788920"/>
            <a:ext cx="1097280" cy="228600"/>
          </a:xfrm>
          <a:prstGeom prst="rect">
            <a:avLst/>
          </a:prstGeom>
          <a:solidFill>
            <a:srgbClr val="0F234B"/>
          </a:solidFill>
          <a:ln w="762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278892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00D4FF"/>
                </a:solidFill>
                <a:latin typeface="Calibri"/>
              </a:defRPr>
            </a:pPr>
            <a:r>
              <a:t>STM32 + IR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3337560"/>
            <a:ext cx="2651760" cy="1417320"/>
          </a:xfrm>
          <a:prstGeom prst="rect">
            <a:avLst/>
          </a:prstGeom>
          <a:solidFill>
            <a:srgbClr val="111B37"/>
          </a:solidFill>
          <a:ln w="1270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3337560"/>
            <a:ext cx="38100" cy="141732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3429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DA3FF"/>
                </a:solidFill>
                <a:latin typeface="Calibri"/>
              </a:defRPr>
            </a:pPr>
            <a:r>
              <a:t>🎙 SENSOR EAR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37490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CE6F5"/>
                </a:solidFill>
                <a:latin typeface="Calibri"/>
              </a:defRPr>
            </a:pPr>
            <a:r>
              <a:t>Ultrasonic</a:t>
            </a:r>
            <a:br/>
            <a:r>
              <a:t>40kHz Detection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" y="4389120"/>
            <a:ext cx="1097280" cy="228600"/>
          </a:xfrm>
          <a:prstGeom prst="rect">
            <a:avLst/>
          </a:prstGeom>
          <a:solidFill>
            <a:srgbClr val="0F234B"/>
          </a:solidFill>
          <a:ln w="762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438912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00D4FF"/>
                </a:solidFill>
                <a:latin typeface="Calibri"/>
              </a:defRPr>
            </a:pPr>
            <a:r>
              <a:t>High Sensitivity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4937760"/>
            <a:ext cx="2651760" cy="1417320"/>
          </a:xfrm>
          <a:prstGeom prst="rect">
            <a:avLst/>
          </a:prstGeom>
          <a:solidFill>
            <a:srgbClr val="111B37"/>
          </a:solidFill>
          <a:ln w="1270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1520" y="4937760"/>
            <a:ext cx="38100" cy="141732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50292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DA3FF"/>
                </a:solidFill>
                <a:latin typeface="Calibri"/>
              </a:defRPr>
            </a:pPr>
            <a:r>
              <a:t>🧠 EDGE AI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53492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CE6F5"/>
                </a:solidFill>
                <a:latin typeface="Calibri"/>
              </a:defRPr>
            </a:pPr>
            <a:r>
              <a:t>TinyML Model</a:t>
            </a:r>
            <a:br/>
            <a:r>
              <a:t>Local Inference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5989320"/>
            <a:ext cx="1097280" cy="228600"/>
          </a:xfrm>
          <a:prstGeom prst="rect">
            <a:avLst/>
          </a:prstGeom>
          <a:solidFill>
            <a:srgbClr val="0F234B"/>
          </a:solidFill>
          <a:ln w="762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4400" y="598932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00D4FF"/>
                </a:solidFill>
                <a:latin typeface="Calibri"/>
              </a:defRPr>
            </a:pPr>
            <a:r>
              <a:t>&lt; 100ms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44000" y="1737360"/>
            <a:ext cx="2377440" cy="1417320"/>
          </a:xfrm>
          <a:prstGeom prst="rect">
            <a:avLst/>
          </a:prstGeom>
          <a:solidFill>
            <a:srgbClr val="111B37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144000" y="1737360"/>
            <a:ext cx="38100" cy="14173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26880" y="18288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D4FF"/>
                </a:solidFill>
                <a:latin typeface="Calibri"/>
              </a:defRPr>
            </a:pPr>
            <a:r>
              <a:t>📡 LoRa LINK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6880" y="21488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CE6F5"/>
                </a:solidFill>
                <a:latin typeface="Calibri"/>
              </a:defRPr>
            </a:pPr>
            <a:r>
              <a:t>Long Range</a:t>
            </a:r>
            <a:br/>
            <a:r>
              <a:t>5km Wireless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326880" y="2788920"/>
            <a:ext cx="1097280" cy="228600"/>
          </a:xfrm>
          <a:prstGeom prst="rect">
            <a:avLst/>
          </a:prstGeom>
          <a:solidFill>
            <a:srgbClr val="0F234B"/>
          </a:solidFill>
          <a:ln w="762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26880" y="278892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4DA3FF"/>
                </a:solidFill>
                <a:latin typeface="Calibri"/>
              </a:defRPr>
            </a:pPr>
            <a:r>
              <a:t>433MHz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4000" y="3337560"/>
            <a:ext cx="2377440" cy="1417320"/>
          </a:xfrm>
          <a:prstGeom prst="rect">
            <a:avLst/>
          </a:prstGeom>
          <a:solidFill>
            <a:srgbClr val="111B37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144000" y="3337560"/>
            <a:ext cx="38100" cy="14173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326880" y="34290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D4FF"/>
                </a:solidFill>
                <a:latin typeface="Calibri"/>
              </a:defRPr>
            </a:pPr>
            <a:r>
              <a:t>💻 DASHBOARD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26880" y="37490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CE6F5"/>
                </a:solidFill>
                <a:latin typeface="Calibri"/>
              </a:defRPr>
            </a:pPr>
            <a:r>
              <a:t>Live Monitoring</a:t>
            </a:r>
            <a:br/>
            <a:r>
              <a:t>Web + Mobile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326880" y="4389120"/>
            <a:ext cx="1097280" cy="228600"/>
          </a:xfrm>
          <a:prstGeom prst="rect">
            <a:avLst/>
          </a:prstGeom>
          <a:solidFill>
            <a:srgbClr val="0F234B"/>
          </a:solidFill>
          <a:ln w="762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326880" y="438912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4DA3FF"/>
                </a:solidFill>
                <a:latin typeface="Calibri"/>
              </a:defRPr>
            </a:pPr>
            <a:r>
              <a:t>Real-time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144000" y="4937760"/>
            <a:ext cx="2377440" cy="1417320"/>
          </a:xfrm>
          <a:prstGeom prst="rect">
            <a:avLst/>
          </a:prstGeom>
          <a:solidFill>
            <a:srgbClr val="111B37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44000" y="4937760"/>
            <a:ext cx="38100" cy="14173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326880" y="50292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D4FF"/>
                </a:solidFill>
                <a:latin typeface="Calibri"/>
              </a:defRPr>
            </a:pPr>
            <a:r>
              <a:t>🚨 ALERT SYSTEM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26880" y="53492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CE6F5"/>
                </a:solidFill>
                <a:latin typeface="Calibri"/>
              </a:defRPr>
            </a:pPr>
            <a:r>
              <a:t>Fast Action</a:t>
            </a:r>
            <a:br/>
            <a:r>
              <a:t>Buzzer + SMS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326880" y="5989320"/>
            <a:ext cx="1097280" cy="228600"/>
          </a:xfrm>
          <a:prstGeom prst="rect">
            <a:avLst/>
          </a:prstGeom>
          <a:solidFill>
            <a:srgbClr val="0F234B"/>
          </a:solidFill>
          <a:ln w="762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26880" y="598932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4DA3FF"/>
                </a:solidFill>
                <a:latin typeface="Calibri"/>
              </a:defRPr>
            </a:pPr>
            <a:r>
              <a:t>Instant</a:t>
            </a:r>
          </a:p>
        </p:txBody>
      </p:sp>
      <p:sp>
        <p:nvSpPr>
          <p:cNvPr id="70" name="Oval 69"/>
          <p:cNvSpPr/>
          <p:nvPr/>
        </p:nvSpPr>
        <p:spPr>
          <a:xfrm>
            <a:off x="731520" y="6446520"/>
            <a:ext cx="50800" cy="50800"/>
          </a:xfrm>
          <a:prstGeom prst="ellipse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51560" y="6446520"/>
            <a:ext cx="50800" cy="508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371600" y="6446520"/>
            <a:ext cx="50800" cy="50800"/>
          </a:xfrm>
          <a:prstGeom prst="ellipse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691639" y="6446520"/>
            <a:ext cx="50800" cy="50800"/>
          </a:xfrm>
          <a:prstGeom prst="ellipse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2011680" y="6446520"/>
            <a:ext cx="50800" cy="508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2331720" y="6446520"/>
            <a:ext cx="50800" cy="50800"/>
          </a:xfrm>
          <a:prstGeom prst="ellipse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2651759" y="6446520"/>
            <a:ext cx="50800" cy="50800"/>
          </a:xfrm>
          <a:prstGeom prst="ellipse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971800" y="6446520"/>
            <a:ext cx="50800" cy="508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3291839" y="6446520"/>
            <a:ext cx="50800" cy="50800"/>
          </a:xfrm>
          <a:prstGeom prst="ellipse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611880" y="6446520"/>
            <a:ext cx="50800" cy="50800"/>
          </a:xfrm>
          <a:prstGeom prst="ellipse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931920" y="6446520"/>
            <a:ext cx="50800" cy="508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4251959" y="6446520"/>
            <a:ext cx="50800" cy="50800"/>
          </a:xfrm>
          <a:prstGeom prst="ellipse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6_futurist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D1F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274320"/>
            <a:ext cx="548640" cy="254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74320"/>
            <a:ext cx="25400" cy="36576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365992" y="274320"/>
            <a:ext cx="54864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896344" y="274320"/>
            <a:ext cx="25400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6565392"/>
            <a:ext cx="54864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6199632"/>
            <a:ext cx="25400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365992" y="6565392"/>
            <a:ext cx="548640" cy="254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96344" y="6199632"/>
            <a:ext cx="25400" cy="36576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612880" y="6217920"/>
            <a:ext cx="365760" cy="365760"/>
          </a:xfrm>
          <a:prstGeom prst="ellipse">
            <a:avLst/>
          </a:prstGeom>
          <a:solidFill>
            <a:srgbClr val="14234B"/>
          </a:solidFill>
          <a:ln w="1270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0" y="62179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4DA3F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57200"/>
            <a:ext cx="731520" cy="508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4FF"/>
                </a:solidFill>
                <a:latin typeface="Calibri"/>
              </a:defRPr>
            </a:pPr>
            <a:r>
              <a:t>06  •  CONCLUSION  •  LEAKGUARD 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96012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1737360"/>
            <a:ext cx="5669280" cy="3108960"/>
          </a:xfrm>
          <a:prstGeom prst="rect">
            <a:avLst/>
          </a:prstGeom>
          <a:solidFill>
            <a:srgbClr val="111B37">
              <a:alpha val="85000"/>
            </a:srgbClr>
          </a:solidFill>
          <a:ln w="1270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1737360"/>
            <a:ext cx="50800" cy="310896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1828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DA3FF"/>
                </a:solidFill>
                <a:latin typeface="Calibri"/>
              </a:defRPr>
            </a:pPr>
            <a:r>
              <a:t>✦  Key Achievements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224028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1600"/>
              </a:spcAft>
              <a:defRPr sz="1400">
                <a:solidFill>
                  <a:srgbClr val="DCE6F5"/>
                </a:solidFill>
                <a:latin typeface="Calibri"/>
              </a:defRPr>
            </a:pPr>
            <a:r>
              <a:t>✓  Autonomous detection reduces manual effort by 90%.</a:t>
            </a:r>
          </a:p>
          <a:p>
            <a:pPr>
              <a:spcBef>
                <a:spcPts val="600"/>
              </a:spcBef>
              <a:spcAft>
                <a:spcPts val="1600"/>
              </a:spcAft>
              <a:defRPr sz="1400">
                <a:solidFill>
                  <a:srgbClr val="DCE6F5"/>
                </a:solidFill>
                <a:latin typeface="Calibri"/>
              </a:defRPr>
            </a:pPr>
            <a:r>
              <a:t>✓  Edge AI enables fast local decisions in &lt;100ms.</a:t>
            </a:r>
          </a:p>
          <a:p>
            <a:pPr>
              <a:spcBef>
                <a:spcPts val="600"/>
              </a:spcBef>
              <a:spcAft>
                <a:spcPts val="1600"/>
              </a:spcAft>
              <a:defRPr sz="1400">
                <a:solidFill>
                  <a:srgbClr val="DCE6F5"/>
                </a:solidFill>
                <a:latin typeface="Calibri"/>
              </a:defRPr>
            </a:pPr>
            <a:r>
              <a:t>✓  Early leak detection saves 30% energy and cost.</a:t>
            </a:r>
          </a:p>
          <a:p>
            <a:pPr>
              <a:spcBef>
                <a:spcPts val="600"/>
              </a:spcBef>
              <a:spcAft>
                <a:spcPts val="1600"/>
              </a:spcAft>
              <a:defRPr sz="1400">
                <a:solidFill>
                  <a:srgbClr val="DCE6F5"/>
                </a:solidFill>
                <a:latin typeface="Calibri"/>
              </a:defRPr>
            </a:pPr>
            <a:r>
              <a:t>✓  LeakGuard can expand for smart Industry 4.0 maintenance.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" y="4297680"/>
            <a:ext cx="1554480" cy="457200"/>
          </a:xfrm>
          <a:prstGeom prst="rect">
            <a:avLst/>
          </a:prstGeom>
          <a:solidFill>
            <a:srgbClr val="12234B"/>
          </a:solidFill>
          <a:ln w="1016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315968"/>
            <a:ext cx="731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4FF"/>
                </a:solidFill>
                <a:latin typeface="Calibri"/>
              </a:defRPr>
            </a:pPr>
            <a:r>
              <a:t>95%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3434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CE6F5"/>
                </a:solidFill>
                <a:latin typeface="Calibri"/>
              </a:defRPr>
            </a:pPr>
            <a:r>
              <a:t>Accuracy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88920" y="4297680"/>
            <a:ext cx="1554480" cy="457200"/>
          </a:xfrm>
          <a:prstGeom prst="rect">
            <a:avLst/>
          </a:prstGeom>
          <a:solidFill>
            <a:srgbClr val="12234B"/>
          </a:solidFill>
          <a:ln w="1016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88920" y="4315968"/>
            <a:ext cx="731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4FF"/>
                </a:solidFill>
                <a:latin typeface="Calibri"/>
              </a:defRPr>
            </a:pPr>
            <a:r>
              <a:t>&lt;2s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43434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CE6F5"/>
                </a:solidFill>
                <a:latin typeface="Calibri"/>
              </a:defRPr>
            </a:pPr>
            <a:r>
              <a:t>Alert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26279" y="4297680"/>
            <a:ext cx="1554480" cy="457200"/>
          </a:xfrm>
          <a:prstGeom prst="rect">
            <a:avLst/>
          </a:prstGeom>
          <a:solidFill>
            <a:srgbClr val="12234B"/>
          </a:solidFill>
          <a:ln w="1016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26279" y="4315968"/>
            <a:ext cx="731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4FF"/>
                </a:solidFill>
                <a:latin typeface="Calibri"/>
              </a:defRPr>
            </a:pPr>
            <a:r>
              <a:t>30%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19" y="43434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CE6F5"/>
                </a:solidFill>
                <a:latin typeface="Calibri"/>
              </a:defRPr>
            </a:pPr>
            <a:r>
              <a:t>Energy Save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0" y="1737360"/>
            <a:ext cx="4572000" cy="3108960"/>
          </a:xfrm>
          <a:prstGeom prst="rect">
            <a:avLst/>
          </a:prstGeom>
          <a:solidFill>
            <a:srgbClr val="0C1632"/>
          </a:solidFill>
          <a:ln w="1905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0880" y="182880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D4FF"/>
                </a:solidFill>
                <a:latin typeface="Calibri"/>
              </a:defRPr>
            </a:pPr>
            <a:r>
              <a:t>✦  LEAKGUARD PROJECT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21488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D4FF"/>
                </a:solidFill>
                <a:latin typeface="Calibri"/>
              </a:defRPr>
            </a:pPr>
            <a:r>
              <a:t>LeakGuard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260604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0" y="3337560"/>
            <a:ext cx="274320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0880" y="35204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4DA3FF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388620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DCE6F5"/>
                </a:solidFill>
                <a:latin typeface="Calibri"/>
              </a:defRPr>
            </a:pPr>
            <a:r>
              <a:t>Team Lead: Sachin.N (CCE)</a:t>
            </a:r>
            <a:br/>
            <a:r>
              <a:t>Rithish.P (CCE)  •  Dharun.V (MECH)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4526280"/>
            <a:ext cx="640080" cy="640080"/>
          </a:xfrm>
          <a:prstGeom prst="rect">
            <a:avLst/>
          </a:prstGeom>
          <a:solidFill>
            <a:srgbClr val="14234B"/>
          </a:solidFill>
          <a:ln w="1270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45262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D4FF"/>
                </a:solidFill>
                <a:latin typeface="Calibri"/>
              </a:defRPr>
            </a:pPr>
            <a:r>
              <a:t>QR</a:t>
            </a:r>
            <a:br/>
            <a:r>
              <a:t>CODE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486400"/>
            <a:ext cx="10698480" cy="12700"/>
          </a:xfrm>
          <a:prstGeom prst="rect">
            <a:avLst/>
          </a:prstGeom>
          <a:solidFill>
            <a:srgbClr val="1E3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56235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A0AFC3"/>
                </a:solidFill>
                <a:latin typeface="Calibri"/>
              </a:defRPr>
            </a:pPr>
            <a:r>
              <a:t>LeakGuard | Autonomous Edge-AI Robot for Compressed-Air Leak Detection | Sachin.N (CCE) | Rithish.P (CCE) | Dharun.V (MECH)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594360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A6E8C"/>
                </a:solidFill>
                <a:latin typeface="Calibri"/>
              </a:defRPr>
            </a:pPr>
            <a:r>
              <a:t>Smart Industrial Energy Monitoring System  •  Industry 4.0  •  Edge AI  •  LoRa Communication</a:t>
            </a:r>
          </a:p>
        </p:txBody>
      </p:sp>
      <p:sp>
        <p:nvSpPr>
          <p:cNvPr id="42" name="Oval 41"/>
          <p:cNvSpPr/>
          <p:nvPr/>
        </p:nvSpPr>
        <p:spPr>
          <a:xfrm>
            <a:off x="731520" y="6446520"/>
            <a:ext cx="50800" cy="50800"/>
          </a:xfrm>
          <a:prstGeom prst="ellipse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51560" y="6446520"/>
            <a:ext cx="50800" cy="508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371600" y="6446520"/>
            <a:ext cx="50800" cy="50800"/>
          </a:xfrm>
          <a:prstGeom prst="ellipse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691639" y="6446520"/>
            <a:ext cx="50800" cy="50800"/>
          </a:xfrm>
          <a:prstGeom prst="ellipse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011680" y="6446520"/>
            <a:ext cx="50800" cy="508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331720" y="6446520"/>
            <a:ext cx="50800" cy="50800"/>
          </a:xfrm>
          <a:prstGeom prst="ellipse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651759" y="6446520"/>
            <a:ext cx="50800" cy="50800"/>
          </a:xfrm>
          <a:prstGeom prst="ellipse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971800" y="6446520"/>
            <a:ext cx="50800" cy="508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291839" y="6446520"/>
            <a:ext cx="50800" cy="50800"/>
          </a:xfrm>
          <a:prstGeom prst="ellipse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611880" y="6446520"/>
            <a:ext cx="50800" cy="50800"/>
          </a:xfrm>
          <a:prstGeom prst="ellipse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931920" y="6446520"/>
            <a:ext cx="50800" cy="508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51959" y="6446520"/>
            <a:ext cx="50800" cy="50800"/>
          </a:xfrm>
          <a:prstGeom prst="ellipse">
            <a:avLst/>
          </a:prstGeom>
          <a:solidFill>
            <a:srgbClr val="3C50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