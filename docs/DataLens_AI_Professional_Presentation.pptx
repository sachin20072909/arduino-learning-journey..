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Aurora Pro</c:v>
                  </c:pt>
                  <c:pt idx="1">
                    <c:v>Nimbus X</c:v>
                  </c:pt>
                  <c:pt idx="2">
                    <c:v>Pulse Mini</c:v>
                  </c:pt>
                  <c:pt idx="3">
                    <c:v>Vertex Hub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482.4</c:v>
                </c:pt>
                <c:pt idx="1">
                  <c:v>430.8</c:v>
                </c:pt>
                <c:pt idx="2">
                  <c:v>389.7</c:v>
                </c:pt>
                <c:pt idx="3">
                  <c:v>352.1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trend</c:v>
                </c:pt>
              </c:strCache>
            </c:strRef>
          </c:tx>
          <c:spPr>
            <a:solidFill>
              <a:srgbClr val="06B6D4"/>
            </a:solidFill>
            <a:ln w="25400" cap="flat">
              <a:solidFill>
                <a:srgbClr val="06B6D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6B6D4"/>
              </a:solidFill>
              <a:ln w="9525" cap="flat">
                <a:solidFill>
                  <a:srgbClr val="06B6D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W1</c:v>
                  </c:pt>
                  <c:pt idx="1">
                    <c:v>W2</c:v>
                  </c:pt>
                  <c:pt idx="2">
                    <c:v>W3</c:v>
                  </c:pt>
                  <c:pt idx="3">
                    <c:v>W4</c:v>
                  </c:pt>
                  <c:pt idx="4">
                    <c:v>W5</c:v>
                  </c:pt>
                  <c:pt idx="5">
                    <c:v>W6</c:v>
                  </c:pt>
                  <c:pt idx="6">
                    <c:v>W7</c:v>
                  </c:pt>
                  <c:pt idx="7">
                    <c:v>W8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78</c:v>
                </c:pt>
                <c:pt idx="1">
                  <c:v>92</c:v>
                </c:pt>
                <c:pt idx="2">
                  <c:v>88</c:v>
                </c:pt>
                <c:pt idx="3">
                  <c:v>104</c:v>
                </c:pt>
                <c:pt idx="4">
                  <c:v>116</c:v>
                </c:pt>
                <c:pt idx="5">
                  <c:v>123</c:v>
                </c:pt>
                <c:pt idx="6">
                  <c:v>119</c:v>
                </c:pt>
                <c:pt idx="7">
                  <c:v>134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Channels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4B8A6"/>
              </a:solidFill>
              <a:effectLst/>
            </c:spPr>
          </c:dPt>
          <c:dPt>
            <c:idx val="1"/>
            <c:bubble3D val="0"/>
            <c:spPr>
              <a:solidFill>
                <a:srgbClr val="7C3AED"/>
              </a:solidFill>
              <a:effectLst/>
            </c:spPr>
          </c:dPt>
          <c:dPt>
            <c:idx val="2"/>
            <c:bubble3D val="0"/>
            <c:spPr>
              <a:solidFill>
                <a:srgbClr val="0EA5E9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Online</c:v>
                </c:pt>
                <c:pt idx="1">
                  <c:v>Retail</c:v>
                </c:pt>
                <c:pt idx="2">
                  <c:v>Partners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48</c:v>
                </c:pt>
                <c:pt idx="1">
                  <c:v>32</c:v>
                </c:pt>
                <c:pt idx="2">
                  <c:v>20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Aurora Pro</c:v>
                  </c:pt>
                  <c:pt idx="1">
                    <c:v>Nimbus X</c:v>
                  </c:pt>
                  <c:pt idx="2">
                    <c:v>Pulse Mini</c:v>
                  </c:pt>
                  <c:pt idx="3">
                    <c:v>Vertex Hub</c:v>
                  </c:pt>
                  <c:pt idx="4">
                    <c:v>Nova Lite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482.4</c:v>
                </c:pt>
                <c:pt idx="1">
                  <c:v>430.8</c:v>
                </c:pt>
                <c:pt idx="2">
                  <c:v>389.7</c:v>
                </c:pt>
                <c:pt idx="3">
                  <c:v>352.1</c:v>
                </c:pt>
                <c:pt idx="4">
                  <c:v>319.6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731520"/>
            <a:ext cx="3749040" cy="3749040"/>
          </a:xfrm>
          <a:prstGeom prst="ellipse">
            <a:avLst/>
          </a:prstGeom>
          <a:solidFill>
            <a:srgbClr val="8B5CF6">
              <a:alpha val="3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84080" y="4206240"/>
            <a:ext cx="2194560" cy="2194560"/>
          </a:xfrm>
          <a:prstGeom prst="ellipse">
            <a:avLst/>
          </a:prstGeom>
          <a:solidFill>
            <a:srgbClr val="06B6D4">
              <a:alpha val="30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640080" y="4663440"/>
            <a:ext cx="2011680" cy="2011680"/>
          </a:xfrm>
          <a:prstGeom prst="ellipse">
            <a:avLst/>
          </a:prstGeom>
          <a:solidFill>
            <a:srgbClr val="14B8A6">
              <a:alpha val="22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548640"/>
            <a:ext cx="2651760" cy="310896"/>
          </a:xfrm>
          <a:prstGeom prst="roundRect">
            <a:avLst>
              <a:gd name="adj" fmla="val 235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594360"/>
            <a:ext cx="25420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AI-powered database intelligence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58368" y="132588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DataLens AI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658368" y="1993392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5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Building Intelligent LLM Agents for</a:t>
            </a:r>
            <a:endParaRPr lang="en-US" sz="1850" dirty="0"/>
          </a:p>
          <a:p>
            <a:pPr indent="0" marL="0">
              <a:buNone/>
            </a:pPr>
            <a:r>
              <a:rPr lang="en-US" sz="185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 Interaction &amp; Visualization</a:t>
            </a:r>
            <a:endParaRPr lang="en-US" sz="1850" dirty="0"/>
          </a:p>
        </p:txBody>
      </p:sp>
      <p:sp>
        <p:nvSpPr>
          <p:cNvPr id="9" name="Text 7"/>
          <p:cNvSpPr/>
          <p:nvPr/>
        </p:nvSpPr>
        <p:spPr>
          <a:xfrm>
            <a:off x="658368" y="31272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5E7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 in Natural Language. Query Data. Visualize Insights.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58368" y="3767328"/>
            <a:ext cx="1645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5B4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 Members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8368" y="4096512"/>
            <a:ext cx="2331720" cy="493776"/>
          </a:xfrm>
          <a:prstGeom prst="roundRect">
            <a:avLst>
              <a:gd name="adj" fmla="val 14815"/>
            </a:avLst>
          </a:prstGeom>
          <a:solidFill>
            <a:srgbClr val="172036"/>
          </a:solidFill>
          <a:ln w="12700">
            <a:solidFill>
              <a:srgbClr val="2A365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76656" y="411480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4672" y="426110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 Member 1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64408" y="4096512"/>
            <a:ext cx="2331720" cy="493776"/>
          </a:xfrm>
          <a:prstGeom prst="roundRect">
            <a:avLst>
              <a:gd name="adj" fmla="val 14815"/>
            </a:avLst>
          </a:prstGeom>
          <a:solidFill>
            <a:srgbClr val="172036"/>
          </a:solidFill>
          <a:ln w="12700">
            <a:solidFill>
              <a:srgbClr val="2A365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82696" y="4114800"/>
            <a:ext cx="73152" cy="457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10712" y="4261104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 Member 2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" y="4754880"/>
            <a:ext cx="2331720" cy="493776"/>
          </a:xfrm>
          <a:prstGeom prst="roundRect">
            <a:avLst>
              <a:gd name="adj" fmla="val 14815"/>
            </a:avLst>
          </a:prstGeom>
          <a:solidFill>
            <a:srgbClr val="172036"/>
          </a:solidFill>
          <a:ln w="12700">
            <a:solidFill>
              <a:srgbClr val="2A365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76656" y="4773168"/>
            <a:ext cx="73152" cy="4572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672" y="4919472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 Member 3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64408" y="4754880"/>
            <a:ext cx="2331720" cy="493776"/>
          </a:xfrm>
          <a:prstGeom prst="roundRect">
            <a:avLst>
              <a:gd name="adj" fmla="val 14815"/>
            </a:avLst>
          </a:prstGeom>
          <a:solidFill>
            <a:srgbClr val="172036"/>
          </a:solidFill>
          <a:ln w="12700">
            <a:solidFill>
              <a:srgbClr val="2A365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2696" y="4773168"/>
            <a:ext cx="73152" cy="4572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10712" y="4919472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Team Member 4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03720" y="4709160"/>
            <a:ext cx="1783080" cy="310896"/>
          </a:xfrm>
          <a:prstGeom prst="roundRect">
            <a:avLst>
              <a:gd name="adj" fmla="val 235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958584" y="4754880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/ LLM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52560" y="4709160"/>
            <a:ext cx="1783080" cy="310896"/>
          </a:xfrm>
          <a:prstGeom prst="roundRect">
            <a:avLst>
              <a:gd name="adj" fmla="val 23529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07424" y="4754880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03720" y="5221224"/>
            <a:ext cx="1783080" cy="310896"/>
          </a:xfrm>
          <a:prstGeom prst="roundRect">
            <a:avLst>
              <a:gd name="adj" fmla="val 23529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58584" y="5266944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052560" y="5221224"/>
            <a:ext cx="1783080" cy="310896"/>
          </a:xfrm>
          <a:prstGeom prst="roundRect">
            <a:avLst>
              <a:gd name="adj" fmla="val 23529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07424" y="5266944"/>
            <a:ext cx="1673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 Visualization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03720" y="4224528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5B4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Technology stack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2280" y="1097280"/>
            <a:ext cx="4663440" cy="2514600"/>
          </a:xfrm>
          <a:prstGeom prst="roundRect">
            <a:avLst>
              <a:gd name="adj" fmla="val 5091"/>
            </a:avLst>
          </a:prstGeom>
          <a:solidFill>
            <a:srgbClr val="111C31"/>
          </a:solidFill>
          <a:ln w="12700">
            <a:solidFill>
              <a:srgbClr val="31416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78040" y="1417320"/>
            <a:ext cx="3931920" cy="1783080"/>
          </a:xfrm>
          <a:prstGeom prst="roundRect">
            <a:avLst>
              <a:gd name="adj" fmla="val 6154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406640" y="164592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Natural Language Query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406640" y="1883664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“Show me the top 5 products by revenue this quarter.”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452360" y="2487168"/>
            <a:ext cx="3017520" cy="0"/>
          </a:xfrm>
          <a:prstGeom prst="line">
            <a:avLst/>
          </a:prstGeom>
          <a:noFill/>
          <a:ln w="12700">
            <a:solidFill>
              <a:srgbClr val="33415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06640" y="267004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7DD3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Schema  →  SQL  →  Charts  →  Insights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8368" y="6327648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Professional project presentation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1045952" y="6291072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Problem Statement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natural-language database interaction matters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40080" y="1325880"/>
            <a:ext cx="4023360" cy="420624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1344168"/>
            <a:ext cx="73152" cy="416966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" y="1453896"/>
            <a:ext cx="310896" cy="310896"/>
          </a:xfrm>
          <a:prstGeom prst="ellipse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86384" y="15087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!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70432" y="1472184"/>
            <a:ext cx="33649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access is still too technical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86384" y="2331720"/>
            <a:ext cx="3730752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business users depend on SQL experts or analysts to answer everyday questions. This slows down decisions and creates friction between curiosity and insight.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83480" y="1371600"/>
            <a:ext cx="2834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01768" y="1389888"/>
            <a:ext cx="73152" cy="110642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29784" y="1499616"/>
            <a:ext cx="310896" cy="310896"/>
          </a:xfrm>
          <a:prstGeom prst="ellipse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9784" y="15544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513832" y="1517904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 dependency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129784" y="1847088"/>
            <a:ext cx="2542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Database analysis usually starts with query-writing skills.</a:t>
            </a:r>
            <a:endParaRPr lang="en-US" sz="910" dirty="0"/>
          </a:p>
        </p:txBody>
      </p:sp>
      <p:sp>
        <p:nvSpPr>
          <p:cNvPr id="27" name="Shape 25"/>
          <p:cNvSpPr/>
          <p:nvPr/>
        </p:nvSpPr>
        <p:spPr>
          <a:xfrm>
            <a:off x="8138160" y="1371600"/>
            <a:ext cx="2834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6448" y="1389888"/>
            <a:ext cx="73152" cy="110642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84464" y="1499616"/>
            <a:ext cx="310896" cy="310896"/>
          </a:xfrm>
          <a:prstGeom prst="ellipse">
            <a:avLst/>
          </a:prstGeom>
          <a:solidFill>
            <a:srgbClr val="ECFEFF"/>
          </a:solidFill>
          <a:ln w="12700">
            <a:solidFill>
              <a:srgbClr val="ECFE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84464" y="15544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668512" y="1517904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User friction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284464" y="1847088"/>
            <a:ext cx="2542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Non-technical users struggle to retrieve and understand data.</a:t>
            </a:r>
            <a:endParaRPr lang="en-US" sz="910" dirty="0"/>
          </a:p>
        </p:txBody>
      </p:sp>
      <p:sp>
        <p:nvSpPr>
          <p:cNvPr id="33" name="Shape 31"/>
          <p:cNvSpPr/>
          <p:nvPr/>
        </p:nvSpPr>
        <p:spPr>
          <a:xfrm>
            <a:off x="4983480" y="2880360"/>
            <a:ext cx="2834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01768" y="2898648"/>
            <a:ext cx="73152" cy="110642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29784" y="3008376"/>
            <a:ext cx="310896" cy="310896"/>
          </a:xfrm>
          <a:prstGeom prst="ellipse">
            <a:avLst/>
          </a:prstGeom>
          <a:solidFill>
            <a:srgbClr val="F0FDFA"/>
          </a:solidFill>
          <a:ln w="12700">
            <a:solidFill>
              <a:srgbClr val="F0FDF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29784" y="306324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513832" y="3026664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Fragmented workflow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129784" y="3355848"/>
            <a:ext cx="2542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Querying, charting, and reporting often happen in separate tools.</a:t>
            </a:r>
            <a:endParaRPr lang="en-US" sz="910" dirty="0"/>
          </a:p>
        </p:txBody>
      </p:sp>
      <p:sp>
        <p:nvSpPr>
          <p:cNvPr id="39" name="Shape 37"/>
          <p:cNvSpPr/>
          <p:nvPr/>
        </p:nvSpPr>
        <p:spPr>
          <a:xfrm>
            <a:off x="8138160" y="2880360"/>
            <a:ext cx="283464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56448" y="2898648"/>
            <a:ext cx="73152" cy="110642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84464" y="3008376"/>
            <a:ext cx="310896" cy="310896"/>
          </a:xfrm>
          <a:prstGeom prst="ellipse">
            <a:avLst/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284464" y="306324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668512" y="3026664"/>
            <a:ext cx="21762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Time-consuming analysis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8284464" y="3355848"/>
            <a:ext cx="254203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1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Manual steps make exploration slower and less interactive.</a:t>
            </a:r>
            <a:endParaRPr lang="en-US" sz="910" dirty="0"/>
          </a:p>
        </p:txBody>
      </p:sp>
      <p:sp>
        <p:nvSpPr>
          <p:cNvPr id="45" name="Shape 43"/>
          <p:cNvSpPr/>
          <p:nvPr/>
        </p:nvSpPr>
        <p:spPr>
          <a:xfrm>
            <a:off x="4983480" y="4480560"/>
            <a:ext cx="5897880" cy="1051560"/>
          </a:xfrm>
          <a:prstGeom prst="roundRect">
            <a:avLst>
              <a:gd name="adj" fmla="val 6957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01768" y="4498848"/>
            <a:ext cx="73152" cy="10149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129784" y="4626864"/>
            <a:ext cx="5623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One-line explanation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5129784" y="4864608"/>
            <a:ext cx="560527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 bridges the gap between natural-language users and complex databases.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Existing System &amp; Limitations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workflows depend on technical skill and multiple disconnected steps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58368" y="146304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1481328"/>
            <a:ext cx="73152" cy="832104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176479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057400" y="1709928"/>
            <a:ext cx="256032" cy="36576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98648" y="146304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F3E8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16936" y="1481328"/>
            <a:ext cx="73152" cy="8321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44952" y="176479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 Knowledge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97680" y="1709928"/>
            <a:ext cx="256032" cy="36576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38928" y="146304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157216" y="1481328"/>
            <a:ext cx="73152" cy="83210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85232" y="176479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537960" y="1709928"/>
            <a:ext cx="256032" cy="36576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79208" y="146304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97496" y="1481328"/>
            <a:ext cx="73152" cy="83210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25512" y="176479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Manual Analysis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778240" y="1709928"/>
            <a:ext cx="256032" cy="365760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619488" y="1463040"/>
            <a:ext cx="1737360" cy="868680"/>
          </a:xfrm>
          <a:prstGeom prst="roundRect">
            <a:avLst>
              <a:gd name="adj" fmla="val 8421"/>
            </a:avLst>
          </a:prstGeom>
          <a:solidFill>
            <a:srgbClr val="FFF1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637776" y="1481328"/>
            <a:ext cx="73152" cy="832104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65792" y="176479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Visualization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85800" y="2971800"/>
            <a:ext cx="33375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04088" y="2990088"/>
            <a:ext cx="73152" cy="78638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2104" y="3099816"/>
            <a:ext cx="310896" cy="310896"/>
          </a:xfrm>
          <a:prstGeom prst="ellipse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2104" y="31546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216152" y="3227832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Requires SQL expertise</a:t>
            </a:r>
            <a:endParaRPr lang="en-US" sz="1220" dirty="0"/>
          </a:p>
        </p:txBody>
      </p:sp>
      <p:sp>
        <p:nvSpPr>
          <p:cNvPr id="39" name="Shape 37"/>
          <p:cNvSpPr/>
          <p:nvPr/>
        </p:nvSpPr>
        <p:spPr>
          <a:xfrm>
            <a:off x="4526280" y="2971800"/>
            <a:ext cx="33375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44568" y="2990088"/>
            <a:ext cx="73152" cy="7863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672584" y="3099816"/>
            <a:ext cx="310896" cy="310896"/>
          </a:xfrm>
          <a:prstGeom prst="ellipse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72584" y="31546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5056632" y="3227832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Manual query writing</a:t>
            </a:r>
            <a:endParaRPr lang="en-US" sz="1220" dirty="0"/>
          </a:p>
        </p:txBody>
      </p:sp>
      <p:sp>
        <p:nvSpPr>
          <p:cNvPr id="44" name="Shape 42"/>
          <p:cNvSpPr/>
          <p:nvPr/>
        </p:nvSpPr>
        <p:spPr>
          <a:xfrm>
            <a:off x="8366760" y="2971800"/>
            <a:ext cx="33375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85048" y="2990088"/>
            <a:ext cx="73152" cy="7863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513064" y="3099816"/>
            <a:ext cx="310896" cy="310896"/>
          </a:xfrm>
          <a:prstGeom prst="ellipse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513064" y="31546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8897112" y="3227832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Separate visualization tools</a:t>
            </a:r>
            <a:endParaRPr lang="en-US" sz="1220" dirty="0"/>
          </a:p>
        </p:txBody>
      </p:sp>
      <p:sp>
        <p:nvSpPr>
          <p:cNvPr id="49" name="Shape 47"/>
          <p:cNvSpPr/>
          <p:nvPr/>
        </p:nvSpPr>
        <p:spPr>
          <a:xfrm>
            <a:off x="685800" y="4069080"/>
            <a:ext cx="33375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04088" y="4087368"/>
            <a:ext cx="73152" cy="78638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32104" y="4197096"/>
            <a:ext cx="310896" cy="310896"/>
          </a:xfrm>
          <a:prstGeom prst="ellipse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32104" y="42519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1216152" y="4325112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Difficult for non-technical users</a:t>
            </a:r>
            <a:endParaRPr lang="en-US" sz="1220" dirty="0"/>
          </a:p>
        </p:txBody>
      </p:sp>
      <p:sp>
        <p:nvSpPr>
          <p:cNvPr id="54" name="Shape 52"/>
          <p:cNvSpPr/>
          <p:nvPr/>
        </p:nvSpPr>
        <p:spPr>
          <a:xfrm>
            <a:off x="4526280" y="4069080"/>
            <a:ext cx="33375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544568" y="4087368"/>
            <a:ext cx="73152" cy="7863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672584" y="4197096"/>
            <a:ext cx="310896" cy="310896"/>
          </a:xfrm>
          <a:prstGeom prst="ellipse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672584" y="42519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5056632" y="4325112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More time spent on analysis</a:t>
            </a:r>
            <a:endParaRPr lang="en-US" sz="1220" dirty="0"/>
          </a:p>
        </p:txBody>
      </p:sp>
      <p:sp>
        <p:nvSpPr>
          <p:cNvPr id="59" name="Shape 57"/>
          <p:cNvSpPr/>
          <p:nvPr/>
        </p:nvSpPr>
        <p:spPr>
          <a:xfrm>
            <a:off x="8366760" y="4069080"/>
            <a:ext cx="3337560" cy="82296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385048" y="4087368"/>
            <a:ext cx="73152" cy="7863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13064" y="4197096"/>
            <a:ext cx="310896" cy="310896"/>
          </a:xfrm>
          <a:prstGeom prst="ellipse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513064" y="42519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8897112" y="4325112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Limited conversational interaction</a:t>
            </a:r>
            <a:endParaRPr lang="en-US" sz="1220" dirty="0"/>
          </a:p>
        </p:txBody>
      </p:sp>
      <p:sp>
        <p:nvSpPr>
          <p:cNvPr id="64" name="Shape 62"/>
          <p:cNvSpPr/>
          <p:nvPr/>
        </p:nvSpPr>
        <p:spPr>
          <a:xfrm>
            <a:off x="658368" y="5394960"/>
            <a:ext cx="10241280" cy="594360"/>
          </a:xfrm>
          <a:prstGeom prst="roundRect">
            <a:avLst>
              <a:gd name="adj" fmla="val 1230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76656" y="5413248"/>
            <a:ext cx="73152" cy="557784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4672" y="5577840"/>
            <a:ext cx="9966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Gap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04672" y="5596128"/>
            <a:ext cx="99486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6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Existing systems provide data tools, but not a complete conversational AI-driven workflow.</a:t>
            </a:r>
            <a:endParaRPr lang="en-US" sz="12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Proposed Solution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 turns a plain-language question into a full analytics workflow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58368" y="1325880"/>
            <a:ext cx="3108960" cy="1874520"/>
          </a:xfrm>
          <a:prstGeom prst="roundRect">
            <a:avLst>
              <a:gd name="adj" fmla="val 3902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1344168"/>
            <a:ext cx="73152" cy="183794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1453896"/>
            <a:ext cx="310896" cy="310896"/>
          </a:xfrm>
          <a:prstGeom prst="ellipse">
            <a:avLst/>
          </a:prstGeom>
          <a:solidFill>
            <a:srgbClr val="E0E7FF"/>
          </a:solidFill>
          <a:ln w="12700">
            <a:solidFill>
              <a:srgbClr val="E0E7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15087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88720" y="1472184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4F46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ChatGPT-like data analyst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04672" y="2148840"/>
            <a:ext cx="2816352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simply ask a question such as “Show me the top 5 products by revenue this quarter.”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160520" y="1828800"/>
            <a:ext cx="10515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33672" y="2103120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Understand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17136" y="1938528"/>
            <a:ext cx="329184" cy="10972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248656" y="2212848"/>
            <a:ext cx="164592" cy="25603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40680" y="1828800"/>
            <a:ext cx="10515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513832" y="2103120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Inspect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Schema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797296" y="1938528"/>
            <a:ext cx="329184" cy="10972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28816" y="2212848"/>
            <a:ext cx="164592" cy="25603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20840" y="1828800"/>
            <a:ext cx="10515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93992" y="2103120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077456" y="1938528"/>
            <a:ext cx="329184" cy="10972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08976" y="2212848"/>
            <a:ext cx="164592" cy="25603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001000" y="1828800"/>
            <a:ext cx="10515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74152" y="2103120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Query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357616" y="1938528"/>
            <a:ext cx="329184" cy="10972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089136" y="2212848"/>
            <a:ext cx="164592" cy="25603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81160" y="1828800"/>
            <a:ext cx="10515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54312" y="2103120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Visualize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637776" y="1938528"/>
            <a:ext cx="329184" cy="10972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369296" y="2212848"/>
            <a:ext cx="164592" cy="25603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561320" y="1828800"/>
            <a:ext cx="10515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634472" y="2103120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Explain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0917936" y="1938528"/>
            <a:ext cx="329184" cy="10972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58368" y="3794760"/>
            <a:ext cx="1024128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76656" y="3813048"/>
            <a:ext cx="73152" cy="92354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4672" y="3977640"/>
            <a:ext cx="9966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Main Idea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804672" y="3995928"/>
            <a:ext cx="994867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SQL expertise is required from the user. DataLens AI handles intent understanding, schema discovery, query generation, execution, visualization, and explanation in one continuous flow.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868680" y="5166360"/>
            <a:ext cx="1737360" cy="310896"/>
          </a:xfrm>
          <a:prstGeom prst="roundRect">
            <a:avLst>
              <a:gd name="adj" fmla="val 235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23544" y="5212080"/>
            <a:ext cx="1627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Natural language in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743200" y="5166360"/>
            <a:ext cx="1920240" cy="310896"/>
          </a:xfrm>
          <a:prstGeom prst="roundRect">
            <a:avLst>
              <a:gd name="adj" fmla="val 23529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798064" y="5212080"/>
            <a:ext cx="18105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+ insights out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846320" y="5166360"/>
            <a:ext cx="2331720" cy="310896"/>
          </a:xfrm>
          <a:prstGeom prst="roundRect">
            <a:avLst>
              <a:gd name="adj" fmla="val 23529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01184" y="5212080"/>
            <a:ext cx="2221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Single intelligent workspace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Objectives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DataLens AI is designed to achieve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58368" y="1417320"/>
            <a:ext cx="2487168" cy="1508760"/>
          </a:xfrm>
          <a:prstGeom prst="roundRect">
            <a:avLst>
              <a:gd name="adj" fmla="val 4848"/>
            </a:avLst>
          </a:prstGeom>
          <a:solidFill>
            <a:srgbClr val="F3E8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1435608"/>
            <a:ext cx="73152" cy="147218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4672" y="15453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16002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88720" y="1563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Conversational interface</a:t>
            </a:r>
            <a:endParaRPr lang="en-US" sz="1220" dirty="0"/>
          </a:p>
        </p:txBody>
      </p:sp>
      <p:sp>
        <p:nvSpPr>
          <p:cNvPr id="20" name="Text 18"/>
          <p:cNvSpPr/>
          <p:nvPr/>
        </p:nvSpPr>
        <p:spPr>
          <a:xfrm>
            <a:off x="804672" y="1892808"/>
            <a:ext cx="21945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a chat-based interface for database interaction.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3401568" y="1417320"/>
            <a:ext cx="2487168" cy="1508760"/>
          </a:xfrm>
          <a:prstGeom prst="roundRect">
            <a:avLst>
              <a:gd name="adj" fmla="val 4848"/>
            </a:avLst>
          </a:prstGeom>
          <a:solidFill>
            <a:srgbClr val="ECFE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19856" y="1435608"/>
            <a:ext cx="73152" cy="14721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47872" y="15453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47872" y="16002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931920" y="1563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Natural language to SQL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3547872" y="1892808"/>
            <a:ext cx="21945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 user questions into accurate database queries.</a:t>
            </a:r>
            <a:endParaRPr lang="en-US" sz="920" dirty="0"/>
          </a:p>
        </p:txBody>
      </p:sp>
      <p:sp>
        <p:nvSpPr>
          <p:cNvPr id="27" name="Shape 25"/>
          <p:cNvSpPr/>
          <p:nvPr/>
        </p:nvSpPr>
        <p:spPr>
          <a:xfrm>
            <a:off x="6144768" y="1417320"/>
            <a:ext cx="2487168" cy="1508760"/>
          </a:xfrm>
          <a:prstGeom prst="roundRect">
            <a:avLst>
              <a:gd name="adj" fmla="val 4848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63056" y="1435608"/>
            <a:ext cx="73152" cy="14721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91072" y="15453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91072" y="16002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675120" y="1563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Schema discovery</a:t>
            </a:r>
            <a:endParaRPr lang="en-US" sz="1220" dirty="0"/>
          </a:p>
        </p:txBody>
      </p:sp>
      <p:sp>
        <p:nvSpPr>
          <p:cNvPr id="32" name="Text 30"/>
          <p:cNvSpPr/>
          <p:nvPr/>
        </p:nvSpPr>
        <p:spPr>
          <a:xfrm>
            <a:off x="6291072" y="1892808"/>
            <a:ext cx="21945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Automatically understand tables, columns, and relationships.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8887968" y="1417320"/>
            <a:ext cx="2487168" cy="1508760"/>
          </a:xfrm>
          <a:prstGeom prst="roundRect">
            <a:avLst>
              <a:gd name="adj" fmla="val 4848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06256" y="1435608"/>
            <a:ext cx="73152" cy="1472184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034272" y="15453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34272" y="16002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418320" y="156362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Query execution</a:t>
            </a:r>
            <a:endParaRPr lang="en-US" sz="1220" dirty="0"/>
          </a:p>
        </p:txBody>
      </p:sp>
      <p:sp>
        <p:nvSpPr>
          <p:cNvPr id="38" name="Text 36"/>
          <p:cNvSpPr/>
          <p:nvPr/>
        </p:nvSpPr>
        <p:spPr>
          <a:xfrm>
            <a:off x="9034272" y="1892808"/>
            <a:ext cx="21945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SQL and return structured results safely.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658368" y="3337560"/>
            <a:ext cx="2487168" cy="1508760"/>
          </a:xfrm>
          <a:prstGeom prst="roundRect">
            <a:avLst>
              <a:gd name="adj" fmla="val 4848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76656" y="3355848"/>
            <a:ext cx="73152" cy="14721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346557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4672" y="352044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88720" y="34838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charts</a:t>
            </a:r>
            <a:endParaRPr lang="en-US" sz="1220" dirty="0"/>
          </a:p>
        </p:txBody>
      </p:sp>
      <p:sp>
        <p:nvSpPr>
          <p:cNvPr id="44" name="Text 42"/>
          <p:cNvSpPr/>
          <p:nvPr/>
        </p:nvSpPr>
        <p:spPr>
          <a:xfrm>
            <a:off x="804672" y="3813048"/>
            <a:ext cx="21945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Generate visual analytics from query outputs.</a:t>
            </a:r>
            <a:endParaRPr lang="en-US" sz="920" dirty="0"/>
          </a:p>
        </p:txBody>
      </p:sp>
      <p:sp>
        <p:nvSpPr>
          <p:cNvPr id="45" name="Shape 43"/>
          <p:cNvSpPr/>
          <p:nvPr/>
        </p:nvSpPr>
        <p:spPr>
          <a:xfrm>
            <a:off x="3401568" y="3337560"/>
            <a:ext cx="2487168" cy="1508760"/>
          </a:xfrm>
          <a:prstGeom prst="roundRect">
            <a:avLst>
              <a:gd name="adj" fmla="val 4848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419856" y="3355848"/>
            <a:ext cx="73152" cy="147218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47872" y="346557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547872" y="352044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3931920" y="34838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insights</a:t>
            </a:r>
            <a:endParaRPr lang="en-US" sz="1220" dirty="0"/>
          </a:p>
        </p:txBody>
      </p:sp>
      <p:sp>
        <p:nvSpPr>
          <p:cNvPr id="50" name="Text 48"/>
          <p:cNvSpPr/>
          <p:nvPr/>
        </p:nvSpPr>
        <p:spPr>
          <a:xfrm>
            <a:off x="3547872" y="3813048"/>
            <a:ext cx="21945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results in language users can understand.</a:t>
            </a:r>
            <a:endParaRPr lang="en-US" sz="920" dirty="0"/>
          </a:p>
        </p:txBody>
      </p:sp>
      <p:sp>
        <p:nvSpPr>
          <p:cNvPr id="51" name="Shape 49"/>
          <p:cNvSpPr/>
          <p:nvPr/>
        </p:nvSpPr>
        <p:spPr>
          <a:xfrm>
            <a:off x="6144768" y="3337560"/>
            <a:ext cx="2487168" cy="1508760"/>
          </a:xfrm>
          <a:prstGeom prst="roundRect">
            <a:avLst>
              <a:gd name="adj" fmla="val 4848"/>
            </a:avLst>
          </a:prstGeom>
          <a:solidFill>
            <a:srgbClr val="FFFBE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163056" y="3355848"/>
            <a:ext cx="73152" cy="1472184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91072" y="346557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291072" y="352044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6675120" y="34838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Conversation context</a:t>
            </a:r>
            <a:endParaRPr lang="en-US" sz="1220" dirty="0"/>
          </a:p>
        </p:txBody>
      </p:sp>
      <p:sp>
        <p:nvSpPr>
          <p:cNvPr id="56" name="Text 54"/>
          <p:cNvSpPr/>
          <p:nvPr/>
        </p:nvSpPr>
        <p:spPr>
          <a:xfrm>
            <a:off x="6291072" y="3813048"/>
            <a:ext cx="21945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Remember prior questions for follow-up analysis.</a:t>
            </a:r>
            <a:endParaRPr lang="en-US" sz="920" dirty="0"/>
          </a:p>
        </p:txBody>
      </p:sp>
      <p:sp>
        <p:nvSpPr>
          <p:cNvPr id="57" name="Shape 55"/>
          <p:cNvSpPr/>
          <p:nvPr/>
        </p:nvSpPr>
        <p:spPr>
          <a:xfrm>
            <a:off x="8887968" y="3337560"/>
            <a:ext cx="2487168" cy="1508760"/>
          </a:xfrm>
          <a:prstGeom prst="roundRect">
            <a:avLst>
              <a:gd name="adj" fmla="val 4848"/>
            </a:avLst>
          </a:prstGeom>
          <a:solidFill>
            <a:srgbClr val="FFF1F2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8906256" y="3355848"/>
            <a:ext cx="73152" cy="1472184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034272" y="346557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9034272" y="352044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3F5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✓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9418320" y="348386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Transparency &amp; errors</a:t>
            </a:r>
            <a:endParaRPr lang="en-US" sz="1220" dirty="0"/>
          </a:p>
        </p:txBody>
      </p:sp>
      <p:sp>
        <p:nvSpPr>
          <p:cNvPr id="62" name="Text 60"/>
          <p:cNvSpPr/>
          <p:nvPr/>
        </p:nvSpPr>
        <p:spPr>
          <a:xfrm>
            <a:off x="9034272" y="3813048"/>
            <a:ext cx="219456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SQL and handle failures clearly.</a:t>
            </a:r>
            <a:endParaRPr lang="en-US" sz="9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System Architecture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LLM agent acts as the decision-maker and selects the right tool for each request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49808" y="2011680"/>
            <a:ext cx="1554480" cy="1051560"/>
          </a:xfrm>
          <a:prstGeom prst="roundRect">
            <a:avLst>
              <a:gd name="adj" fmla="val 6957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" y="2029968"/>
            <a:ext cx="73152" cy="1014984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21396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21945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2157984"/>
            <a:ext cx="896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User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96112" y="2487168"/>
            <a:ext cx="12618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Asks a question in natural language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2450592" y="2331720"/>
            <a:ext cx="256032" cy="29260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88920" y="2011680"/>
            <a:ext cx="182880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807208" y="2029968"/>
            <a:ext cx="73152" cy="101498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35224" y="2139696"/>
            <a:ext cx="310896" cy="310896"/>
          </a:xfrm>
          <a:prstGeom prst="ellipse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35224" y="21945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319272" y="2157984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Chat Interface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935224" y="2487168"/>
            <a:ext cx="153619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Collects intent, context, and follow-up prompts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4754880" y="2331720"/>
            <a:ext cx="256032" cy="292608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02352" y="1508760"/>
            <a:ext cx="2148840" cy="1737360"/>
          </a:xfrm>
          <a:prstGeom prst="roundRect">
            <a:avLst>
              <a:gd name="adj" fmla="val 4211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20640" y="1527048"/>
            <a:ext cx="73152" cy="17007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48656" y="163677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48656" y="169164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632704" y="1655064"/>
            <a:ext cx="1490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LLM / AI Agent</a:t>
            </a:r>
            <a:endParaRPr lang="en-US" sz="1700" dirty="0"/>
          </a:p>
        </p:txBody>
      </p:sp>
      <p:sp>
        <p:nvSpPr>
          <p:cNvPr id="34" name="Text 32"/>
          <p:cNvSpPr/>
          <p:nvPr/>
        </p:nvSpPr>
        <p:spPr>
          <a:xfrm>
            <a:off x="5248656" y="2350008"/>
            <a:ext cx="18562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Understands the question, chooses tools, plans actions, and explains outputs to the user.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2834640" y="3794760"/>
            <a:ext cx="15727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813048"/>
            <a:ext cx="73152" cy="80467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80944" y="4078224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get_schema</a:t>
            </a:r>
            <a:endParaRPr lang="en-US" sz="1040" dirty="0"/>
          </a:p>
        </p:txBody>
      </p:sp>
      <p:sp>
        <p:nvSpPr>
          <p:cNvPr id="38" name="Shape 36"/>
          <p:cNvSpPr/>
          <p:nvPr/>
        </p:nvSpPr>
        <p:spPr>
          <a:xfrm>
            <a:off x="4590288" y="3794760"/>
            <a:ext cx="15727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608576" y="3813048"/>
            <a:ext cx="73152" cy="804672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36592" y="4078224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execute_query</a:t>
            </a:r>
            <a:endParaRPr lang="en-US" sz="1040" dirty="0"/>
          </a:p>
        </p:txBody>
      </p:sp>
      <p:sp>
        <p:nvSpPr>
          <p:cNvPr id="41" name="Shape 39"/>
          <p:cNvSpPr/>
          <p:nvPr/>
        </p:nvSpPr>
        <p:spPr>
          <a:xfrm>
            <a:off x="6345936" y="3794760"/>
            <a:ext cx="15727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4224" y="3813048"/>
            <a:ext cx="73152" cy="804672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92240" y="4078224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generate_chart</a:t>
            </a:r>
            <a:endParaRPr lang="en-US" sz="1040" dirty="0"/>
          </a:p>
        </p:txBody>
      </p:sp>
      <p:sp>
        <p:nvSpPr>
          <p:cNvPr id="44" name="Shape 42"/>
          <p:cNvSpPr/>
          <p:nvPr/>
        </p:nvSpPr>
        <p:spPr>
          <a:xfrm>
            <a:off x="8101584" y="3794760"/>
            <a:ext cx="15727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119872" y="3813048"/>
            <a:ext cx="73152" cy="804672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47888" y="4078224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generate_flowchart</a:t>
            </a:r>
            <a:endParaRPr lang="en-US" sz="1040" dirty="0"/>
          </a:p>
        </p:txBody>
      </p:sp>
      <p:sp>
        <p:nvSpPr>
          <p:cNvPr id="47" name="Shape 45"/>
          <p:cNvSpPr/>
          <p:nvPr/>
        </p:nvSpPr>
        <p:spPr>
          <a:xfrm>
            <a:off x="9857232" y="3794760"/>
            <a:ext cx="1572768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875520" y="3813048"/>
            <a:ext cx="73152" cy="80467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03536" y="4078224"/>
            <a:ext cx="12984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4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explain_data</a:t>
            </a:r>
            <a:endParaRPr lang="en-US" sz="1040" dirty="0"/>
          </a:p>
        </p:txBody>
      </p:sp>
      <p:sp>
        <p:nvSpPr>
          <p:cNvPr id="50" name="Shape 48"/>
          <p:cNvSpPr/>
          <p:nvPr/>
        </p:nvSpPr>
        <p:spPr>
          <a:xfrm>
            <a:off x="6172200" y="3291840"/>
            <a:ext cx="0" cy="475488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39312" y="3767328"/>
            <a:ext cx="5266944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796528" y="1783080"/>
            <a:ext cx="1920240" cy="1097280"/>
          </a:xfrm>
          <a:prstGeom prst="roundRect">
            <a:avLst>
              <a:gd name="adj" fmla="val 6667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814816" y="1801368"/>
            <a:ext cx="73152" cy="106070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942832" y="191109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42832" y="196596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DB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9326880" y="1929384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8942832" y="2258568"/>
            <a:ext cx="16276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 or another structured data source</a:t>
            </a:r>
            <a:endParaRPr lang="en-US" sz="920" dirty="0"/>
          </a:p>
        </p:txBody>
      </p:sp>
      <p:sp>
        <p:nvSpPr>
          <p:cNvPr id="58" name="Shape 56"/>
          <p:cNvSpPr/>
          <p:nvPr/>
        </p:nvSpPr>
        <p:spPr>
          <a:xfrm>
            <a:off x="8796528" y="3822192"/>
            <a:ext cx="1920240" cy="1051560"/>
          </a:xfrm>
          <a:prstGeom prst="roundRect">
            <a:avLst>
              <a:gd name="adj" fmla="val 6957"/>
            </a:avLst>
          </a:prstGeom>
          <a:solidFill>
            <a:srgbClr val="ECFE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814816" y="3840480"/>
            <a:ext cx="73152" cy="10149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942832" y="395020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942832" y="4005072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9326880" y="3968496"/>
            <a:ext cx="1261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Results &amp; Visuals</a:t>
            </a:r>
            <a:endParaRPr lang="en-US" sz="1350" dirty="0"/>
          </a:p>
        </p:txBody>
      </p:sp>
      <p:sp>
        <p:nvSpPr>
          <p:cNvPr id="63" name="Text 61"/>
          <p:cNvSpPr/>
          <p:nvPr/>
        </p:nvSpPr>
        <p:spPr>
          <a:xfrm>
            <a:off x="8942832" y="4297680"/>
            <a:ext cx="16276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Tables, charts, ER diagrams, and insights</a:t>
            </a:r>
            <a:endParaRPr lang="en-US" sz="9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Intelligent Agent &amp; Tools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 does not just answer — it performs data operations through tools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13232" y="1645920"/>
            <a:ext cx="1993392" cy="2880360"/>
          </a:xfrm>
          <a:prstGeom prst="roundRect">
            <a:avLst>
              <a:gd name="adj" fmla="val 3670"/>
            </a:avLst>
          </a:prstGeom>
          <a:solidFill>
            <a:srgbClr val="F3E8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1664208"/>
            <a:ext cx="73152" cy="284378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9536" y="17739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9536" y="18288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43584" y="1792224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get_schema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59536" y="2514600"/>
            <a:ext cx="1700784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Understands tables, columns, primary keys, foreign keys, and relationships.</a:t>
            </a:r>
            <a:endParaRPr lang="en-US" sz="1010" dirty="0"/>
          </a:p>
        </p:txBody>
      </p:sp>
      <p:sp>
        <p:nvSpPr>
          <p:cNvPr id="21" name="Shape 19"/>
          <p:cNvSpPr/>
          <p:nvPr/>
        </p:nvSpPr>
        <p:spPr>
          <a:xfrm>
            <a:off x="2980944" y="1645920"/>
            <a:ext cx="1993392" cy="2880360"/>
          </a:xfrm>
          <a:prstGeom prst="roundRect">
            <a:avLst>
              <a:gd name="adj" fmla="val 3670"/>
            </a:avLst>
          </a:prstGeom>
          <a:solidFill>
            <a:srgbClr val="ECFE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99232" y="1664208"/>
            <a:ext cx="73152" cy="284378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27248" y="17739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27248" y="18288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11296" y="1792224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execute_query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27248" y="2514600"/>
            <a:ext cx="1700784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Runs generated SQL against the database and returns structured output.</a:t>
            </a:r>
            <a:endParaRPr lang="en-US" sz="1010" dirty="0"/>
          </a:p>
        </p:txBody>
      </p:sp>
      <p:sp>
        <p:nvSpPr>
          <p:cNvPr id="27" name="Shape 25"/>
          <p:cNvSpPr/>
          <p:nvPr/>
        </p:nvSpPr>
        <p:spPr>
          <a:xfrm>
            <a:off x="5248656" y="1645920"/>
            <a:ext cx="1993392" cy="2880360"/>
          </a:xfrm>
          <a:prstGeom prst="roundRect">
            <a:avLst>
              <a:gd name="adj" fmla="val 3670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66944" y="1664208"/>
            <a:ext cx="73152" cy="284378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394960" y="17739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18288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779008" y="1792224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generate_chart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394960" y="2514600"/>
            <a:ext cx="1700784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Transforms query results into visual comparisons, trends, and distributions.</a:t>
            </a:r>
            <a:endParaRPr lang="en-US" sz="1010" dirty="0"/>
          </a:p>
        </p:txBody>
      </p:sp>
      <p:sp>
        <p:nvSpPr>
          <p:cNvPr id="33" name="Shape 31"/>
          <p:cNvSpPr/>
          <p:nvPr/>
        </p:nvSpPr>
        <p:spPr>
          <a:xfrm>
            <a:off x="7516368" y="1645920"/>
            <a:ext cx="1993392" cy="2880360"/>
          </a:xfrm>
          <a:prstGeom prst="roundRect">
            <a:avLst>
              <a:gd name="adj" fmla="val 367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34656" y="1664208"/>
            <a:ext cx="73152" cy="2843784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62672" y="17739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62672" y="18288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046720" y="1792224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generate_flowchart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662672" y="2514600"/>
            <a:ext cx="1700784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Creates ER diagrams or process flows for better schema understanding.</a:t>
            </a:r>
            <a:endParaRPr lang="en-US" sz="1010" dirty="0"/>
          </a:p>
        </p:txBody>
      </p:sp>
      <p:sp>
        <p:nvSpPr>
          <p:cNvPr id="39" name="Shape 37"/>
          <p:cNvSpPr/>
          <p:nvPr/>
        </p:nvSpPr>
        <p:spPr>
          <a:xfrm>
            <a:off x="9784080" y="1645920"/>
            <a:ext cx="1993392" cy="2880360"/>
          </a:xfrm>
          <a:prstGeom prst="roundRect">
            <a:avLst>
              <a:gd name="adj" fmla="val 367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802368" y="1664208"/>
            <a:ext cx="73152" cy="284378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930384" y="17739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930384" y="18288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314432" y="1792224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explain_data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930384" y="2514600"/>
            <a:ext cx="1700784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Converts raw results into business-friendly insights and narratives.</a:t>
            </a:r>
            <a:endParaRPr lang="en-US" sz="1010" dirty="0"/>
          </a:p>
        </p:txBody>
      </p:sp>
      <p:sp>
        <p:nvSpPr>
          <p:cNvPr id="45" name="Shape 43"/>
          <p:cNvSpPr/>
          <p:nvPr/>
        </p:nvSpPr>
        <p:spPr>
          <a:xfrm>
            <a:off x="1005840" y="4919472"/>
            <a:ext cx="9875520" cy="676656"/>
          </a:xfrm>
          <a:prstGeom prst="roundRect">
            <a:avLst>
              <a:gd name="adj" fmla="val 10811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24128" y="4937760"/>
            <a:ext cx="73152" cy="64008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152144" y="5102352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Advantage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152144" y="5120640"/>
            <a:ext cx="9582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does not stop at text generation. It actively inspects the schema, executes SQL, creates visuals, and explains results using dedicated tools.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How DataLens AI Works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step-by-step view of the intelligent analytics workflow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30352" y="182880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1956816"/>
            <a:ext cx="384048" cy="384048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204825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152144" y="195681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User Query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76656" y="2432304"/>
            <a:ext cx="112471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user asks a question in natural language.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1993392" y="2724912"/>
            <a:ext cx="164592" cy="25603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194560" y="182880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0864" y="1956816"/>
            <a:ext cx="384048" cy="38404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40864" y="204825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816352" y="195681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Intent Understanding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2340864" y="2432304"/>
            <a:ext cx="112471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identifies what information is needed.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3657600" y="2724912"/>
            <a:ext cx="164592" cy="25603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58768" y="182880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5072" y="1956816"/>
            <a:ext cx="384048" cy="384048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05072" y="204825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480560" y="195681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Schema Discovery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4005072" y="2432304"/>
            <a:ext cx="112471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Relevant tables and columns are selected with get_schema.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5321808" y="2724912"/>
            <a:ext cx="164592" cy="25603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522976" y="182880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69280" y="1956816"/>
            <a:ext cx="384048" cy="384048"/>
          </a:xfrm>
          <a:prstGeom prst="ellipse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69280" y="204825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144768" y="195681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 Generation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669280" y="2432304"/>
            <a:ext cx="112471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writes the appropriate SQL query.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6986016" y="2724912"/>
            <a:ext cx="164592" cy="25603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187184" y="182880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333488" y="1956816"/>
            <a:ext cx="384048" cy="384048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33488" y="204825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7808976" y="195681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Query Execution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7333488" y="2432304"/>
            <a:ext cx="112471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execute_query retrieves structured data.</a:t>
            </a:r>
            <a:endParaRPr lang="en-US" sz="920" dirty="0"/>
          </a:p>
        </p:txBody>
      </p:sp>
      <p:sp>
        <p:nvSpPr>
          <p:cNvPr id="44" name="Shape 42"/>
          <p:cNvSpPr/>
          <p:nvPr/>
        </p:nvSpPr>
        <p:spPr>
          <a:xfrm>
            <a:off x="8650224" y="2724912"/>
            <a:ext cx="164592" cy="25603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851392" y="182880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997696" y="1956816"/>
            <a:ext cx="384048" cy="384048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997696" y="204825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9473184" y="195681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Visualization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8997696" y="2432304"/>
            <a:ext cx="112471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Charts and diagrams are created from the result.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10314432" y="2724912"/>
            <a:ext cx="164592" cy="256032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515600" y="1828800"/>
            <a:ext cx="1417320" cy="21488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661904" y="1956816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661904" y="2048256"/>
            <a:ext cx="384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1137392" y="1956816"/>
            <a:ext cx="667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Explanation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10661904" y="2432304"/>
            <a:ext cx="112471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converts output into business insights.</a:t>
            </a:r>
            <a:endParaRPr lang="en-US" sz="9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User Interface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 workspace for querying, visualization, SQL transparency, and business insights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49808" y="1417320"/>
            <a:ext cx="7635240" cy="452628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1417320"/>
            <a:ext cx="1572768" cy="4526280"/>
          </a:xfrm>
          <a:prstGeom prst="roundRect">
            <a:avLst>
              <a:gd name="adj" fmla="val 5814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1719072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Missions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914400" y="2011680"/>
            <a:ext cx="1225296" cy="420624"/>
          </a:xfrm>
          <a:prstGeom prst="roundRect">
            <a:avLst>
              <a:gd name="adj" fmla="val 13043"/>
            </a:avLst>
          </a:prstGeom>
          <a:solidFill>
            <a:srgbClr val="182941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2157984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E2E8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Sales Q4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914400" y="2633472"/>
            <a:ext cx="1225296" cy="420624"/>
          </a:xfrm>
          <a:prstGeom prst="roundRect">
            <a:avLst>
              <a:gd name="adj" fmla="val 13043"/>
            </a:avLst>
          </a:prstGeom>
          <a:solidFill>
            <a:srgbClr val="111C31"/>
          </a:solidFill>
          <a:ln w="12700">
            <a:solidFill>
              <a:srgbClr val="2432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2779776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E2E8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Channel Mix</a:t>
            </a:r>
            <a:endParaRPr lang="en-US" sz="880" dirty="0"/>
          </a:p>
        </p:txBody>
      </p:sp>
      <p:sp>
        <p:nvSpPr>
          <p:cNvPr id="22" name="Shape 20"/>
          <p:cNvSpPr/>
          <p:nvPr/>
        </p:nvSpPr>
        <p:spPr>
          <a:xfrm>
            <a:off x="914400" y="3255264"/>
            <a:ext cx="1225296" cy="420624"/>
          </a:xfrm>
          <a:prstGeom prst="roundRect">
            <a:avLst>
              <a:gd name="adj" fmla="val 13043"/>
            </a:avLst>
          </a:prstGeom>
          <a:solidFill>
            <a:srgbClr val="111C31"/>
          </a:solidFill>
          <a:ln w="12700">
            <a:solidFill>
              <a:srgbClr val="2432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3401568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E2E8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 Check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914400" y="3877056"/>
            <a:ext cx="1225296" cy="420624"/>
          </a:xfrm>
          <a:prstGeom prst="roundRect">
            <a:avLst>
              <a:gd name="adj" fmla="val 13043"/>
            </a:avLst>
          </a:prstGeom>
          <a:solidFill>
            <a:srgbClr val="111C31"/>
          </a:solidFill>
          <a:ln w="12700">
            <a:solidFill>
              <a:srgbClr val="24324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5840" y="4023360"/>
            <a:ext cx="10241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E2E8F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Inventory</a:t>
            </a:r>
            <a:endParaRPr lang="en-US" sz="880" dirty="0"/>
          </a:p>
        </p:txBody>
      </p:sp>
      <p:sp>
        <p:nvSpPr>
          <p:cNvPr id="26" name="Shape 24"/>
          <p:cNvSpPr/>
          <p:nvPr/>
        </p:nvSpPr>
        <p:spPr>
          <a:xfrm>
            <a:off x="2322576" y="1417320"/>
            <a:ext cx="6062472" cy="475488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78608" y="1591056"/>
            <a:ext cx="1920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 workspace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50608" y="1517904"/>
            <a:ext cx="877824" cy="310896"/>
          </a:xfrm>
          <a:prstGeom prst="roundRect">
            <a:avLst>
              <a:gd name="adj" fmla="val 23529"/>
            </a:avLst>
          </a:prstGeom>
          <a:solidFill>
            <a:srgbClr val="ECFEFF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05472" y="1563624"/>
            <a:ext cx="7680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Processing…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578608" y="2066544"/>
            <a:ext cx="2697480" cy="1536192"/>
          </a:xfrm>
          <a:prstGeom prst="roundRect">
            <a:avLst>
              <a:gd name="adj" fmla="val 3571"/>
            </a:avLst>
          </a:prstGeom>
          <a:solidFill>
            <a:srgbClr val="FCFC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0" y="2240280"/>
            <a:ext cx="914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Conversation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2743200" y="2487168"/>
            <a:ext cx="2103120" cy="384048"/>
          </a:xfrm>
          <a:prstGeom prst="roundRect">
            <a:avLst>
              <a:gd name="adj" fmla="val 14286"/>
            </a:avLst>
          </a:prstGeom>
          <a:solidFill>
            <a:srgbClr val="EFF6FF"/>
          </a:solidFill>
          <a:ln w="12700">
            <a:solidFill>
              <a:srgbClr val="D6E4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852928" y="2615184"/>
            <a:ext cx="1847088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 top 5 products by revenue.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3072384" y="2926080"/>
            <a:ext cx="1965960" cy="420624"/>
          </a:xfrm>
          <a:prstGeom prst="roundRect">
            <a:avLst>
              <a:gd name="adj" fmla="val 13043"/>
            </a:avLst>
          </a:prstGeom>
          <a:solidFill>
            <a:srgbClr val="ECFDF5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182112" y="3063240"/>
            <a:ext cx="178308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Generating SQL, chart, and insight.</a:t>
            </a:r>
            <a:endParaRPr lang="en-US" sz="870" dirty="0"/>
          </a:p>
        </p:txBody>
      </p:sp>
      <p:sp>
        <p:nvSpPr>
          <p:cNvPr id="36" name="Shape 34"/>
          <p:cNvSpPr/>
          <p:nvPr/>
        </p:nvSpPr>
        <p:spPr>
          <a:xfrm>
            <a:off x="5468112" y="2066544"/>
            <a:ext cx="2578608" cy="1536192"/>
          </a:xfrm>
          <a:prstGeom prst="roundRect">
            <a:avLst>
              <a:gd name="adj" fmla="val 3571"/>
            </a:avLst>
          </a:prstGeom>
          <a:solidFill>
            <a:srgbClr val="0B122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650992" y="2240280"/>
            <a:ext cx="9144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 Terminal</a:t>
            </a:r>
            <a:endParaRPr lang="en-US" sz="930" dirty="0"/>
          </a:p>
        </p:txBody>
      </p:sp>
      <p:sp>
        <p:nvSpPr>
          <p:cNvPr id="38" name="Text 36"/>
          <p:cNvSpPr/>
          <p:nvPr/>
        </p:nvSpPr>
        <p:spPr>
          <a:xfrm>
            <a:off x="5632704" y="2514600"/>
            <a:ext cx="22128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4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product_name,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SUM(revenue) AS total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sales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product_name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total DESC</a:t>
            </a:r>
            <a:endParaRPr lang="en-US" sz="840" dirty="0"/>
          </a:p>
          <a:p>
            <a:pPr indent="0" marL="0">
              <a:buNone/>
            </a:pPr>
            <a:r>
              <a:rPr lang="en-US" sz="84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5;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2578608" y="3822192"/>
            <a:ext cx="1627632" cy="1700784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596896" y="3840480"/>
            <a:ext cx="73152" cy="16642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24912" y="3968496"/>
            <a:ext cx="1353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Schema Browser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2724912" y="4297680"/>
            <a:ext cx="1335024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6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Tables</a:t>
            </a:r>
            <a:endParaRPr lang="en-US" sz="960" dirty="0"/>
          </a:p>
          <a:p>
            <a:pPr indent="0" marL="0">
              <a:buNone/>
            </a:pPr>
            <a:r>
              <a:rPr lang="en-US" sz="96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Columns</a:t>
            </a:r>
            <a:endParaRPr lang="en-US" sz="960" dirty="0"/>
          </a:p>
          <a:p>
            <a:pPr indent="0" marL="0">
              <a:buNone/>
            </a:pPr>
            <a:r>
              <a:rPr lang="en-US" sz="96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Keys</a:t>
            </a:r>
            <a:endParaRPr lang="en-US" sz="960" dirty="0"/>
          </a:p>
          <a:p>
            <a:pPr indent="0" marL="0">
              <a:buNone/>
            </a:pPr>
            <a:r>
              <a:rPr lang="en-US" sz="96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Relationships</a:t>
            </a:r>
            <a:endParaRPr lang="en-US" sz="960" dirty="0"/>
          </a:p>
        </p:txBody>
      </p:sp>
      <p:sp>
        <p:nvSpPr>
          <p:cNvPr id="43" name="Shape 41"/>
          <p:cNvSpPr/>
          <p:nvPr/>
        </p:nvSpPr>
        <p:spPr>
          <a:xfrm>
            <a:off x="4407408" y="3822192"/>
            <a:ext cx="1920240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425696" y="3840480"/>
            <a:ext cx="73152" cy="1664208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553712" y="396849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Matrix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53712" y="4297680"/>
            <a:ext cx="162763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Structured query output in tabular format for validation and export.</a:t>
            </a:r>
            <a:endParaRPr lang="en-US" sz="920" dirty="0"/>
          </a:p>
        </p:txBody>
      </p:sp>
      <p:sp>
        <p:nvSpPr>
          <p:cNvPr id="47" name="Shape 45"/>
          <p:cNvSpPr/>
          <p:nvPr/>
        </p:nvSpPr>
        <p:spPr>
          <a:xfrm>
            <a:off x="6510528" y="3822192"/>
            <a:ext cx="1883664" cy="1700784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28816" y="3840480"/>
            <a:ext cx="73152" cy="16642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656832" y="3968496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Insights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656832" y="4297680"/>
            <a:ext cx="1591056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product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Trend summary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Channel mix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Follow-up suggestions</a:t>
            </a:r>
            <a:endParaRPr lang="en-US" sz="940" dirty="0"/>
          </a:p>
        </p:txBody>
      </p:sp>
      <p:sp>
        <p:nvSpPr>
          <p:cNvPr id="51" name="Text 49"/>
          <p:cNvSpPr/>
          <p:nvPr/>
        </p:nvSpPr>
        <p:spPr>
          <a:xfrm>
            <a:off x="8778240" y="157276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Integrated modules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778240" y="1828800"/>
            <a:ext cx="182880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796528" y="1847088"/>
            <a:ext cx="73152" cy="389534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924544" y="197510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Interface highlights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8924544" y="2340864"/>
            <a:ext cx="1536192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ChatGPT-style conversational interface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Mission / conversation history sidebar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Natural-language query composer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Processing indicator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SQL terminal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Schema browser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Data matrix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Embedded charts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 diagram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Business insights panel</a:t>
            </a:r>
            <a:endParaRPr lang="en-US" sz="940" dirty="0"/>
          </a:p>
          <a:p>
            <a:pPr indent="0" marL="0">
              <a:buNone/>
            </a:pPr>
            <a:r>
              <a:rPr lang="en-US" sz="9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Export options</a:t>
            </a:r>
            <a:endParaRPr lang="en-US" sz="9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Visual Analytics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 supports multiple chart types for faster understanding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658368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1554480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Bar Chart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04672" y="1719072"/>
            <a:ext cx="2450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/ revenue comparison</a:t>
            </a:r>
            <a:endParaRPr lang="en-US" sz="840" dirty="0"/>
          </a:p>
        </p:txBody>
      </p:sp>
      <p:sp>
        <p:nvSpPr>
          <p:cNvPr id="18" name="Shape 16"/>
          <p:cNvSpPr/>
          <p:nvPr/>
        </p:nvSpPr>
        <p:spPr>
          <a:xfrm>
            <a:off x="361188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58184" y="1554480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 Chart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758184" y="1719072"/>
            <a:ext cx="24505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trends over time</a:t>
            </a:r>
            <a:endParaRPr lang="en-US" sz="840" dirty="0"/>
          </a:p>
        </p:txBody>
      </p:sp>
      <p:sp>
        <p:nvSpPr>
          <p:cNvPr id="21" name="Shape 19"/>
          <p:cNvSpPr/>
          <p:nvPr/>
        </p:nvSpPr>
        <p:spPr>
          <a:xfrm>
            <a:off x="6565392" y="1417320"/>
            <a:ext cx="269748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11696" y="1554480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Donut Chart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11696" y="1719072"/>
            <a:ext cx="2404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by channel</a:t>
            </a:r>
            <a:endParaRPr lang="en-US" sz="840" dirty="0"/>
          </a:p>
        </p:txBody>
      </p:sp>
      <p:sp>
        <p:nvSpPr>
          <p:cNvPr id="24" name="Shape 22"/>
          <p:cNvSpPr/>
          <p:nvPr/>
        </p:nvSpPr>
        <p:spPr>
          <a:xfrm>
            <a:off x="9473184" y="1417320"/>
            <a:ext cx="20574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19488" y="1554480"/>
            <a:ext cx="10972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Scatter Plot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619488" y="1719072"/>
            <a:ext cx="1764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Discount vs margin</a:t>
            </a:r>
            <a:endParaRPr lang="en-US" sz="840" dirty="0"/>
          </a:p>
        </p:txBody>
      </p:sp>
      <p:graphicFrame>
        <p:nvGraphicFramePr>
          <p:cNvPr id="27" name="Chart 0" descr=""/>
          <p:cNvGraphicFramePr/>
          <p:nvPr/>
        </p:nvGraphicFramePr>
        <p:xfrm>
          <a:off x="868680" y="1810512"/>
          <a:ext cx="2331720" cy="1261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8" name="Chart 1" descr=""/>
          <p:cNvGraphicFramePr/>
          <p:nvPr/>
        </p:nvGraphicFramePr>
        <p:xfrm>
          <a:off x="3794760" y="1810512"/>
          <a:ext cx="2395728" cy="1261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9" name="Chart 2" descr=""/>
          <p:cNvGraphicFramePr/>
          <p:nvPr/>
        </p:nvGraphicFramePr>
        <p:xfrm>
          <a:off x="6729984" y="1792224"/>
          <a:ext cx="2331720" cy="12984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0" name="Shape 25"/>
          <p:cNvSpPr/>
          <p:nvPr/>
        </p:nvSpPr>
        <p:spPr>
          <a:xfrm>
            <a:off x="9765792" y="2907792"/>
            <a:ext cx="12344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9802368" y="2907792"/>
            <a:ext cx="0" cy="-91440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10314432" y="2944368"/>
            <a:ext cx="50292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Discount</a:t>
            </a:r>
            <a:endParaRPr lang="en-US" sz="750" dirty="0"/>
          </a:p>
        </p:txBody>
      </p:sp>
      <p:sp>
        <p:nvSpPr>
          <p:cNvPr id="33" name="Text 28"/>
          <p:cNvSpPr/>
          <p:nvPr/>
        </p:nvSpPr>
        <p:spPr>
          <a:xfrm rot="16200000">
            <a:off x="9528048" y="1938528"/>
            <a:ext cx="43891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Margin</a:t>
            </a:r>
            <a:endParaRPr lang="en-US" sz="750" dirty="0"/>
          </a:p>
        </p:txBody>
      </p:sp>
      <p:sp>
        <p:nvSpPr>
          <p:cNvPr id="34" name="Shape 29"/>
          <p:cNvSpPr/>
          <p:nvPr/>
        </p:nvSpPr>
        <p:spPr>
          <a:xfrm>
            <a:off x="9985248" y="2651760"/>
            <a:ext cx="82296" cy="8229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10204704" y="2331720"/>
            <a:ext cx="82296" cy="82296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10405872" y="2487168"/>
            <a:ext cx="82296" cy="82296"/>
          </a:xfrm>
          <a:prstGeom prst="ellipse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10716768" y="2176272"/>
            <a:ext cx="82296" cy="82296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10881360" y="2542032"/>
            <a:ext cx="82296" cy="8229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822960" y="3822192"/>
            <a:ext cx="10744200" cy="1051560"/>
          </a:xfrm>
          <a:prstGeom prst="roundRect">
            <a:avLst>
              <a:gd name="adj" fmla="val 6957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841248" y="3840480"/>
            <a:ext cx="73152" cy="101498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969264" y="4005072"/>
            <a:ext cx="10469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visual analytics?</a:t>
            </a:r>
            <a:endParaRPr lang="en-US" sz="1200" dirty="0"/>
          </a:p>
        </p:txBody>
      </p:sp>
      <p:sp>
        <p:nvSpPr>
          <p:cNvPr id="42" name="Text 37"/>
          <p:cNvSpPr/>
          <p:nvPr/>
        </p:nvSpPr>
        <p:spPr>
          <a:xfrm>
            <a:off x="969264" y="4023360"/>
            <a:ext cx="1045159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data can be understood much faster through visual representation. Your frontend already demonstrates bar, line, donut, and scatter visualizations using Recharts.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Schema Intelligence &amp; ER Diagram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AI understands database structure before generating queries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22960" y="1600200"/>
            <a:ext cx="205740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600200"/>
            <a:ext cx="2057400" cy="32918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1700784"/>
            <a:ext cx="1837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CUSTOMERS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50976" y="2039112"/>
            <a:ext cx="1801368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customer_id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customer_name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region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3200400" y="1600200"/>
            <a:ext cx="2057400" cy="1572768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1600200"/>
            <a:ext cx="2057400" cy="32918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0128" y="1700784"/>
            <a:ext cx="1837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328416" y="2039112"/>
            <a:ext cx="180136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order_id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FK customer_id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order_date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3200400" y="3657600"/>
            <a:ext cx="2057400" cy="16459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3657600"/>
            <a:ext cx="2057400" cy="329184"/>
          </a:xfrm>
          <a:prstGeom prst="rect">
            <a:avLst/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10128" y="3758184"/>
            <a:ext cx="1837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ORDER_ITEMS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328416" y="4096512"/>
            <a:ext cx="1801368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item_id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FK order_id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FK product_id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quantity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unit_price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15000" y="2743200"/>
            <a:ext cx="205740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15000" y="2743200"/>
            <a:ext cx="2057400" cy="329184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824728" y="2843784"/>
            <a:ext cx="1837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PRODUCTS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843016" y="3182112"/>
            <a:ext cx="180136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product_id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product_name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</a:t>
            </a:r>
            <a:endParaRPr lang="en-US" sz="880" dirty="0"/>
          </a:p>
          <a:p>
            <a:pPr indent="0" marL="0">
              <a:buNone/>
            </a:pPr>
            <a:r>
              <a:rPr lang="en-US" sz="88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list_price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2880360" y="2286000"/>
            <a:ext cx="320040" cy="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24528" y="3172968"/>
            <a:ext cx="0" cy="484632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266944" y="4407408"/>
            <a:ext cx="448056" cy="-411480"/>
          </a:xfrm>
          <a:prstGeom prst="line">
            <a:avLst/>
          </a:prstGeom>
          <a:noFill/>
          <a:ln w="12700">
            <a:solidFill>
              <a:srgbClr val="94A3B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44368" y="2103120"/>
            <a:ext cx="4754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→ many</a:t>
            </a:r>
            <a:endParaRPr lang="en-US" sz="780" dirty="0"/>
          </a:p>
        </p:txBody>
      </p:sp>
      <p:sp>
        <p:nvSpPr>
          <p:cNvPr id="35" name="Text 33"/>
          <p:cNvSpPr/>
          <p:nvPr/>
        </p:nvSpPr>
        <p:spPr>
          <a:xfrm>
            <a:off x="4334256" y="3328416"/>
            <a:ext cx="5120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→ many</a:t>
            </a:r>
            <a:endParaRPr lang="en-US" sz="780" dirty="0"/>
          </a:p>
        </p:txBody>
      </p:sp>
      <p:sp>
        <p:nvSpPr>
          <p:cNvPr id="36" name="Text 34"/>
          <p:cNvSpPr/>
          <p:nvPr/>
        </p:nvSpPr>
        <p:spPr>
          <a:xfrm>
            <a:off x="5340096" y="3950208"/>
            <a:ext cx="51206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many → 1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8366760" y="1600200"/>
            <a:ext cx="2743200" cy="324612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385048" y="1618488"/>
            <a:ext cx="73152" cy="320954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513064" y="1728216"/>
            <a:ext cx="310896" cy="310896"/>
          </a:xfrm>
          <a:prstGeom prst="ellipse">
            <a:avLst/>
          </a:prstGeom>
          <a:solidFill>
            <a:srgbClr val="F3E8FF"/>
          </a:solidFill>
          <a:ln w="12700">
            <a:solidFill>
              <a:srgbClr val="F3E8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513064" y="17830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897112" y="1746504"/>
            <a:ext cx="20848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DataLens identifies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8513064" y="2167128"/>
            <a:ext cx="2450592" cy="2569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Tables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Columns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Primary keys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Foreign keys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Relationships</a:t>
            </a:r>
            <a:endParaRPr lang="en-US" sz="1040" dirty="0"/>
          </a:p>
          <a:p>
            <a:pPr indent="0" marL="0">
              <a:buNone/>
            </a:pPr>
            <a:r>
              <a:rPr lang="en-US" sz="104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Relevant entities for a query</a:t>
            </a:r>
            <a:endParaRPr lang="en-US" sz="1040" dirty="0"/>
          </a:p>
        </p:txBody>
      </p:sp>
      <p:sp>
        <p:nvSpPr>
          <p:cNvPr id="43" name="Shape 41"/>
          <p:cNvSpPr/>
          <p:nvPr/>
        </p:nvSpPr>
        <p:spPr>
          <a:xfrm>
            <a:off x="868680" y="5486400"/>
            <a:ext cx="10241280" cy="530352"/>
          </a:xfrm>
          <a:prstGeom prst="roundRect">
            <a:avLst>
              <a:gd name="adj" fmla="val 13793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86968" y="5504688"/>
            <a:ext cx="73152" cy="49377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14984" y="5669280"/>
            <a:ext cx="9966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4B8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Example relationship path: CUSTOMERS → ORDERS → ORDER_ITEMS ← PRODUCTS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SQL Transparency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 shows the generated SQL instead of hiding it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804672" y="1600200"/>
            <a:ext cx="21031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1618488"/>
            <a:ext cx="73152" cy="67665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0976" y="185623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Natural Language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 rot="5400000">
            <a:off x="1737360" y="2331720"/>
            <a:ext cx="201168" cy="219456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2532888"/>
            <a:ext cx="21031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2551176"/>
            <a:ext cx="73152" cy="676656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" y="27889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Generated SQL</a:t>
            </a:r>
            <a:endParaRPr lang="en-US" sz="1220" dirty="0"/>
          </a:p>
        </p:txBody>
      </p:sp>
      <p:sp>
        <p:nvSpPr>
          <p:cNvPr id="22" name="Shape 20"/>
          <p:cNvSpPr/>
          <p:nvPr/>
        </p:nvSpPr>
        <p:spPr>
          <a:xfrm rot="5400000">
            <a:off x="1737360" y="3264408"/>
            <a:ext cx="201168" cy="219456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4672" y="3465576"/>
            <a:ext cx="21031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22960" y="3483864"/>
            <a:ext cx="73152" cy="67665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0976" y="37216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Query Execution</a:t>
            </a:r>
            <a:endParaRPr lang="en-US" sz="1220" dirty="0"/>
          </a:p>
        </p:txBody>
      </p:sp>
      <p:sp>
        <p:nvSpPr>
          <p:cNvPr id="26" name="Shape 24"/>
          <p:cNvSpPr/>
          <p:nvPr/>
        </p:nvSpPr>
        <p:spPr>
          <a:xfrm rot="5400000">
            <a:off x="1737360" y="4197096"/>
            <a:ext cx="201168" cy="219456"/>
          </a:xfrm>
          <a:prstGeom prst="chevron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04672" y="4398264"/>
            <a:ext cx="210312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" y="4416552"/>
            <a:ext cx="73152" cy="67665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50976" y="465429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</a:t>
            </a:r>
            <a:endParaRPr lang="en-US" sz="1220" dirty="0"/>
          </a:p>
        </p:txBody>
      </p:sp>
      <p:sp>
        <p:nvSpPr>
          <p:cNvPr id="30" name="Shape 28"/>
          <p:cNvSpPr/>
          <p:nvPr/>
        </p:nvSpPr>
        <p:spPr>
          <a:xfrm>
            <a:off x="3337560" y="1600200"/>
            <a:ext cx="5440680" cy="3611880"/>
          </a:xfrm>
          <a:prstGeom prst="roundRect">
            <a:avLst>
              <a:gd name="adj" fmla="val 2025"/>
            </a:avLst>
          </a:prstGeom>
          <a:solidFill>
            <a:srgbClr val="0B1220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66160" y="1828800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8E6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 SQL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84448" y="2139696"/>
            <a:ext cx="4956048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p.product_name,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SUM(oi.quantity * oi.unit_price) AS revenue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orders o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order_items oi ON o.order_id = oi.order_id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JOIN products p ON oi.product_id = p.product_id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o.order_date &gt;= DATE_TRUNC('quarter', CURRENT_DATE)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p.product_name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BY revenue DESC</a:t>
            </a:r>
            <a:endParaRPr lang="en-US" sz="1020" dirty="0"/>
          </a:p>
          <a:p>
            <a:pPr indent="0" marL="0">
              <a:buNone/>
            </a:pPr>
            <a:r>
              <a:rPr lang="en-US" sz="1020" dirty="0">
                <a:solidFill>
                  <a:srgbClr val="A7F3D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LIMIT 5;</a:t>
            </a:r>
            <a:endParaRPr lang="en-US" sz="1020" dirty="0"/>
          </a:p>
        </p:txBody>
      </p:sp>
      <p:sp>
        <p:nvSpPr>
          <p:cNvPr id="33" name="Shape 31"/>
          <p:cNvSpPr/>
          <p:nvPr/>
        </p:nvSpPr>
        <p:spPr>
          <a:xfrm>
            <a:off x="9070848" y="1600200"/>
            <a:ext cx="2267712" cy="361188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89136" y="1618488"/>
            <a:ext cx="73152" cy="357530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17152" y="1728216"/>
            <a:ext cx="310896" cy="310896"/>
          </a:xfrm>
          <a:prstGeom prst="ellipse">
            <a:avLst/>
          </a:prstGeom>
          <a:solidFill>
            <a:srgbClr val="EEF2FF"/>
          </a:solidFill>
          <a:ln w="12700">
            <a:solidFill>
              <a:srgbClr val="EEF2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17152" y="17830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01200" y="1746504"/>
            <a:ext cx="16093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Benefits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217152" y="2148840"/>
            <a:ext cx="1975104" cy="2953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Builds user trust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Makes AI decisions understandable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Helps developers verify queries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Supports debugging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Creates SQL learning opportunities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4672" y="5486400"/>
            <a:ext cx="10533888" cy="530352"/>
          </a:xfrm>
          <a:prstGeom prst="roundRect">
            <a:avLst>
              <a:gd name="adj" fmla="val 1379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" y="5504688"/>
            <a:ext cx="73152" cy="493776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50976" y="5669280"/>
            <a:ext cx="10259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4F46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Important point: DataLens AI combines AI convenience with query transparency.</a:t>
            </a:r>
            <a:endParaRPr lang="en-US" sz="11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Sample Use Case — Sales Analysis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Example prompt: “Show me the top 5 products by revenue this quarter.”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49808" y="141732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" y="1435608"/>
            <a:ext cx="73152" cy="87782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1563624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Workflow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96112" y="1783080"/>
            <a:ext cx="33649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Natural Language → Schema → SQL → Database → Chart → Insights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49808" y="2633472"/>
            <a:ext cx="1783080" cy="987552"/>
          </a:xfrm>
          <a:prstGeom prst="roundRect">
            <a:avLst>
              <a:gd name="adj" fmla="val 7407"/>
            </a:avLst>
          </a:prstGeom>
          <a:solidFill>
            <a:srgbClr val="F3E8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2761488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 Product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96112" y="2980944"/>
            <a:ext cx="1490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Aurora Pro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2670048" y="2633472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ECFEFF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816352" y="2761488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816352" y="2980944"/>
            <a:ext cx="1444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$482.4K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49808" y="3822192"/>
            <a:ext cx="1783080" cy="987552"/>
          </a:xfrm>
          <a:prstGeom prst="roundRect">
            <a:avLst>
              <a:gd name="adj" fmla="val 7407"/>
            </a:avLst>
          </a:prstGeom>
          <a:solidFill>
            <a:srgbClr val="F0FDFA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96112" y="3950208"/>
            <a:ext cx="14904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4B8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Channels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896112" y="4169664"/>
            <a:ext cx="149047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Online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670048" y="3822192"/>
            <a:ext cx="1737360" cy="987552"/>
          </a:xfrm>
          <a:prstGeom prst="round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16352" y="3950208"/>
            <a:ext cx="14447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46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Follow-up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2816352" y="4169664"/>
            <a:ext cx="14447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Trend view</a:t>
            </a:r>
            <a:endParaRPr lang="en-US" sz="1800" dirty="0"/>
          </a:p>
        </p:txBody>
      </p:sp>
      <p:graphicFrame>
        <p:nvGraphicFramePr>
          <p:cNvPr id="31" name="Chart 0" descr=""/>
          <p:cNvGraphicFramePr/>
          <p:nvPr/>
        </p:nvGraphicFramePr>
        <p:xfrm>
          <a:off x="4846320" y="1691640"/>
          <a:ext cx="6080760" cy="3337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2" name="Shape 29"/>
          <p:cNvSpPr/>
          <p:nvPr/>
        </p:nvSpPr>
        <p:spPr>
          <a:xfrm>
            <a:off x="749808" y="5138928"/>
            <a:ext cx="10177272" cy="676656"/>
          </a:xfrm>
          <a:prstGeom prst="roundRect">
            <a:avLst>
              <a:gd name="adj" fmla="val 10811"/>
            </a:avLst>
          </a:prstGeom>
          <a:solidFill>
            <a:srgbClr val="F0FDFA"/>
          </a:solidFill>
          <a:ln w="12700">
            <a:solidFill>
              <a:srgbClr val="99F6E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68096" y="5157216"/>
            <a:ext cx="73152" cy="640080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96112" y="5321808"/>
            <a:ext cx="9902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4B8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query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96112" y="5340096"/>
            <a:ext cx="9884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0F17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“Now show me the trend for these products over the last year.” This demonstrates conversational data exploration with context retention.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Features &amp; Innovation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DataLens AI stands out from conventional dashboards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49808" y="150876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3E8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" y="1527048"/>
            <a:ext cx="73152" cy="87782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96112" y="179222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LLM-powered database agent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721608" y="150876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ECFE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39896" y="1527048"/>
            <a:ext cx="73152" cy="87782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67912" y="1792224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Natural-language database querying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49808" y="2734056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" y="2752344"/>
            <a:ext cx="73152" cy="87782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96112" y="301752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Automatic schema understanding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721608" y="2734056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39896" y="2752344"/>
            <a:ext cx="73152" cy="877824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67912" y="301752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Function / tool calling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49808" y="39593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8096" y="3977640"/>
            <a:ext cx="73152" cy="87782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96112" y="4242816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Automatic SQL generation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21608" y="3959352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39896" y="3977640"/>
            <a:ext cx="73152" cy="87782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67912" y="4242816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Dynamic visualizations + insights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995160" y="1572768"/>
            <a:ext cx="4251960" cy="4160520"/>
          </a:xfrm>
          <a:prstGeom prst="roundRect">
            <a:avLst>
              <a:gd name="adj" fmla="val 2637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96912" y="182880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A5B4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Innovation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7296912" y="2212848"/>
            <a:ext cx="358444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Instead of building another dashboard, DataLens AI adds an intelligent conversational layer over databases.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7296912" y="3401568"/>
            <a:ext cx="340156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5E7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unifies question answering, tool usage, SQL generation, visualization, and explanation in a single decision-driven system.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7315200" y="4572000"/>
            <a:ext cx="1371600" cy="310896"/>
          </a:xfrm>
          <a:prstGeom prst="roundRect">
            <a:avLst>
              <a:gd name="adj" fmla="val 235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70064" y="4617720"/>
            <a:ext cx="12618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Conversational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8869680" y="4572000"/>
            <a:ext cx="1280160" cy="310896"/>
          </a:xfrm>
          <a:prstGeom prst="roundRect">
            <a:avLst>
              <a:gd name="adj" fmla="val 23529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24544" y="4617720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Transparent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315200" y="5010912"/>
            <a:ext cx="1234440" cy="310896"/>
          </a:xfrm>
          <a:prstGeom prst="roundRect">
            <a:avLst>
              <a:gd name="adj" fmla="val 23529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0064" y="5056632"/>
            <a:ext cx="11247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Actionable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705088" y="5010912"/>
            <a:ext cx="960120" cy="310896"/>
          </a:xfrm>
          <a:prstGeom prst="roundRect">
            <a:avLst>
              <a:gd name="adj" fmla="val 23529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59952" y="5056632"/>
            <a:ext cx="850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Technology Stack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application combines modern frontend, AI agent, database, and visualization technologies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77240" y="1508760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5528" y="1527048"/>
            <a:ext cx="73152" cy="713232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544" y="166420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Frontend</a:t>
            </a:r>
            <a:endParaRPr lang="en-US" sz="1220" dirty="0"/>
          </a:p>
        </p:txBody>
      </p:sp>
      <p:sp>
        <p:nvSpPr>
          <p:cNvPr id="18" name="Text 16"/>
          <p:cNvSpPr/>
          <p:nvPr/>
        </p:nvSpPr>
        <p:spPr>
          <a:xfrm>
            <a:off x="923544" y="178308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React + TypeScript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" y="2468880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5528" y="2487168"/>
            <a:ext cx="73152" cy="713232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23544" y="262432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UI</a:t>
            </a:r>
            <a:endParaRPr lang="en-US" sz="1220" dirty="0"/>
          </a:p>
        </p:txBody>
      </p:sp>
      <p:sp>
        <p:nvSpPr>
          <p:cNvPr id="22" name="Text 20"/>
          <p:cNvSpPr/>
          <p:nvPr/>
        </p:nvSpPr>
        <p:spPr>
          <a:xfrm>
            <a:off x="923544" y="274320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Tailwind CSS + UI Components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77240" y="3429000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" y="3447288"/>
            <a:ext cx="73152" cy="713232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3544" y="358444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/ Agent</a:t>
            </a:r>
            <a:endParaRPr lang="en-US" sz="1220" dirty="0"/>
          </a:p>
        </p:txBody>
      </p:sp>
      <p:sp>
        <p:nvSpPr>
          <p:cNvPr id="26" name="Text 24"/>
          <p:cNvSpPr/>
          <p:nvPr/>
        </p:nvSpPr>
        <p:spPr>
          <a:xfrm>
            <a:off x="923544" y="370332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 + AI SDK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777240" y="4389120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5528" y="4407408"/>
            <a:ext cx="73152" cy="713232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3544" y="45445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Visualization</a:t>
            </a:r>
            <a:endParaRPr lang="en-US" sz="1220" dirty="0"/>
          </a:p>
        </p:txBody>
      </p:sp>
      <p:sp>
        <p:nvSpPr>
          <p:cNvPr id="30" name="Text 28"/>
          <p:cNvSpPr/>
          <p:nvPr/>
        </p:nvSpPr>
        <p:spPr>
          <a:xfrm>
            <a:off x="923544" y="466344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Recharts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925312" y="1508760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1527048"/>
            <a:ext cx="73152" cy="71323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71616" y="166420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Database</a:t>
            </a:r>
            <a:endParaRPr lang="en-US" sz="1220" dirty="0"/>
          </a:p>
        </p:txBody>
      </p:sp>
      <p:sp>
        <p:nvSpPr>
          <p:cNvPr id="34" name="Text 32"/>
          <p:cNvSpPr/>
          <p:nvPr/>
        </p:nvSpPr>
        <p:spPr>
          <a:xfrm>
            <a:off x="6071616" y="178308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PostgreSQL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925312" y="2468880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487168"/>
            <a:ext cx="73152" cy="713232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71616" y="262432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Query Language</a:t>
            </a:r>
            <a:endParaRPr lang="en-US" sz="1220" dirty="0"/>
          </a:p>
        </p:txBody>
      </p:sp>
      <p:sp>
        <p:nvSpPr>
          <p:cNvPr id="38" name="Text 36"/>
          <p:cNvSpPr/>
          <p:nvPr/>
        </p:nvSpPr>
        <p:spPr>
          <a:xfrm>
            <a:off x="6071616" y="274320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25312" y="3429000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447288"/>
            <a:ext cx="73152" cy="713232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071616" y="358444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Tool</a:t>
            </a:r>
            <a:endParaRPr lang="en-US" sz="1220" dirty="0"/>
          </a:p>
        </p:txBody>
      </p:sp>
      <p:sp>
        <p:nvSpPr>
          <p:cNvPr id="42" name="Text 40"/>
          <p:cNvSpPr/>
          <p:nvPr/>
        </p:nvSpPr>
        <p:spPr>
          <a:xfrm>
            <a:off x="6071616" y="370332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Vite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925312" y="4389120"/>
            <a:ext cx="4846320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4407408"/>
            <a:ext cx="73152" cy="713232"/>
          </a:xfrm>
          <a:prstGeom prst="roundRect">
            <a:avLst>
              <a:gd name="adj" fmla="val 50000"/>
            </a:avLst>
          </a:prstGeom>
          <a:solidFill>
            <a:srgbClr val="F43F5E"/>
          </a:solidFill>
          <a:ln w="12700">
            <a:solidFill>
              <a:srgbClr val="F43F5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071616" y="45445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Routing</a:t>
            </a:r>
            <a:endParaRPr lang="en-US" sz="1220" dirty="0"/>
          </a:p>
        </p:txBody>
      </p:sp>
      <p:sp>
        <p:nvSpPr>
          <p:cNvPr id="46" name="Text 44"/>
          <p:cNvSpPr/>
          <p:nvPr/>
        </p:nvSpPr>
        <p:spPr>
          <a:xfrm>
            <a:off x="6071616" y="4663440"/>
            <a:ext cx="4553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TanStack Router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051560" y="5440680"/>
            <a:ext cx="10058400" cy="566928"/>
          </a:xfrm>
          <a:prstGeom prst="roundRect">
            <a:avLst>
              <a:gd name="adj" fmla="val 12903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69848" y="5458968"/>
            <a:ext cx="73152" cy="530352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197864" y="5623560"/>
            <a:ext cx="9784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4F46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flow: Frontend → AI Agent → Tools → Database → Visualization</a:t>
            </a:r>
            <a:endParaRPr lang="en-US" sz="11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Advantages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DataLens AI improves speed, usability, and decision-making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49808" y="16002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3E8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68096" y="1618488"/>
            <a:ext cx="73152" cy="119786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172821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17830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1746504"/>
            <a:ext cx="2587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Easy to use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96112" y="2075688"/>
            <a:ext cx="29535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SQL expertise required.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4407408" y="16002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ECFE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25696" y="1618488"/>
            <a:ext cx="73152" cy="119786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53712" y="172821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553712" y="17830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937760" y="1746504"/>
            <a:ext cx="2587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Faster analysis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53712" y="2075688"/>
            <a:ext cx="29535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Reduces manual query creation.</a:t>
            </a:r>
            <a:endParaRPr lang="en-US" sz="980" dirty="0"/>
          </a:p>
        </p:txBody>
      </p:sp>
      <p:sp>
        <p:nvSpPr>
          <p:cNvPr id="27" name="Shape 25"/>
          <p:cNvSpPr/>
          <p:nvPr/>
        </p:nvSpPr>
        <p:spPr>
          <a:xfrm>
            <a:off x="8065008" y="160020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083296" y="1618488"/>
            <a:ext cx="73152" cy="119786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11312" y="172821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11312" y="178308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595360" y="1746504"/>
            <a:ext cx="2587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Interactive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11312" y="2075688"/>
            <a:ext cx="29535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Supports conversational follow-up questions.</a:t>
            </a:r>
            <a:endParaRPr lang="en-US" sz="980" dirty="0"/>
          </a:p>
        </p:txBody>
      </p:sp>
      <p:sp>
        <p:nvSpPr>
          <p:cNvPr id="33" name="Shape 31"/>
          <p:cNvSpPr/>
          <p:nvPr/>
        </p:nvSpPr>
        <p:spPr>
          <a:xfrm>
            <a:off x="749808" y="324612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8096" y="3264408"/>
            <a:ext cx="73152" cy="1197864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96112" y="33741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6112" y="34290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1280160" y="3392424"/>
            <a:ext cx="2587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Visual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96112" y="3721608"/>
            <a:ext cx="29535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Converts results into charts and diagrams.</a:t>
            </a:r>
            <a:endParaRPr lang="en-US" sz="980" dirty="0"/>
          </a:p>
        </p:txBody>
      </p:sp>
      <p:sp>
        <p:nvSpPr>
          <p:cNvPr id="39" name="Shape 37"/>
          <p:cNvSpPr/>
          <p:nvPr/>
        </p:nvSpPr>
        <p:spPr>
          <a:xfrm>
            <a:off x="4407408" y="324612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EEF2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25696" y="3264408"/>
            <a:ext cx="73152" cy="1197864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53712" y="33741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553712" y="34290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937760" y="3392424"/>
            <a:ext cx="2587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Transparent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4553712" y="3721608"/>
            <a:ext cx="29535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Shows generated SQL to the user.</a:t>
            </a:r>
            <a:endParaRPr lang="en-US" sz="980" dirty="0"/>
          </a:p>
        </p:txBody>
      </p:sp>
      <p:sp>
        <p:nvSpPr>
          <p:cNvPr id="45" name="Shape 43"/>
          <p:cNvSpPr/>
          <p:nvPr/>
        </p:nvSpPr>
        <p:spPr>
          <a:xfrm>
            <a:off x="8065008" y="324612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ECFDF5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083296" y="3264408"/>
            <a:ext cx="73152" cy="1197864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211312" y="33741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211312" y="34290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B98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595360" y="3392424"/>
            <a:ext cx="2587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Business-friendly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8211312" y="3721608"/>
            <a:ext cx="29535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8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Turns raw data into understandable insights.</a:t>
            </a:r>
            <a:endParaRPr lang="en-US" sz="980" dirty="0"/>
          </a:p>
        </p:txBody>
      </p:sp>
      <p:sp>
        <p:nvSpPr>
          <p:cNvPr id="51" name="Shape 49"/>
          <p:cNvSpPr/>
          <p:nvPr/>
        </p:nvSpPr>
        <p:spPr>
          <a:xfrm>
            <a:off x="960120" y="5257800"/>
            <a:ext cx="10058400" cy="640080"/>
          </a:xfrm>
          <a:prstGeom prst="roundRect">
            <a:avLst>
              <a:gd name="adj" fmla="val 11429"/>
            </a:avLst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8408" y="5276088"/>
            <a:ext cx="73152" cy="603504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06424" y="5477256"/>
            <a:ext cx="9784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6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Scalable concept: the same intelligent layer can be extended to other databases and business domains.</a:t>
            </a:r>
            <a:endParaRPr lang="en-US" sz="116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98080" y="109728"/>
            <a:ext cx="4693615" cy="36576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-685800"/>
            <a:ext cx="3291840" cy="3291840"/>
          </a:xfrm>
          <a:prstGeom prst="ellipse">
            <a:avLst/>
          </a:prstGeom>
          <a:solidFill>
            <a:srgbClr val="8B5CF6">
              <a:alpha val="22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685800" y="4663440"/>
            <a:ext cx="2468880" cy="2468880"/>
          </a:xfrm>
          <a:prstGeom prst="ellipse">
            <a:avLst/>
          </a:prstGeom>
          <a:solidFill>
            <a:srgbClr val="06B6D4">
              <a:alpha val="18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966960" y="4251960"/>
            <a:ext cx="1874520" cy="1874520"/>
          </a:xfrm>
          <a:prstGeom prst="ellipse">
            <a:avLst/>
          </a:prstGeom>
          <a:solidFill>
            <a:srgbClr val="14B8A6">
              <a:alpha val="16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1170432"/>
            <a:ext cx="11411712" cy="5029200"/>
          </a:xfrm>
          <a:prstGeom prst="roundRect">
            <a:avLst>
              <a:gd name="adj" fmla="val 2909"/>
            </a:avLst>
          </a:prstGeom>
          <a:solidFill>
            <a:srgbClr val="111C31">
              <a:alpha val="88000"/>
            </a:srgbClr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201168"/>
            <a:ext cx="1481328" cy="310896"/>
          </a:xfrm>
          <a:prstGeom prst="roundRect">
            <a:avLst>
              <a:gd name="adj" fmla="val 23529"/>
            </a:avLst>
          </a:prstGeom>
          <a:solidFill>
            <a:srgbClr val="0F1B33"/>
          </a:solidFill>
          <a:ln w="12700">
            <a:solidFill>
              <a:srgbClr val="2332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01752"/>
            <a:ext cx="1097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AF2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66928" y="65836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Scope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566928" y="1005840"/>
            <a:ext cx="9875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7D6E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roadmap toward a universal AI interface for enterprise data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2920" y="6446520"/>
            <a:ext cx="11155680" cy="0"/>
          </a:xfrm>
          <a:prstGeom prst="line">
            <a:avLst/>
          </a:prstGeom>
          <a:noFill/>
          <a:ln w="12700">
            <a:solidFill>
              <a:srgbClr val="2332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647395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DataLens AI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064240" y="6455664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3B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77240" y="1645920"/>
            <a:ext cx="3154680" cy="3383280"/>
          </a:xfrm>
          <a:prstGeom prst="roundRect">
            <a:avLst>
              <a:gd name="adj" fmla="val 2319"/>
            </a:avLst>
          </a:prstGeom>
          <a:solidFill>
            <a:srgbClr val="F3E8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95528" y="1664208"/>
            <a:ext cx="73152" cy="33467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23544" y="17739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23544" y="18288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307592" y="1792224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Platform Expansion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23544" y="2249424"/>
            <a:ext cx="2862072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Support MySQL, MongoDB, and other databases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Multi-database connections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Dashboard generation from conversation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480560" y="1645920"/>
            <a:ext cx="3154680" cy="3383280"/>
          </a:xfrm>
          <a:prstGeom prst="roundRect">
            <a:avLst>
              <a:gd name="adj" fmla="val 2319"/>
            </a:avLst>
          </a:prstGeom>
          <a:solidFill>
            <a:srgbClr val="ECFE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498848" y="1664208"/>
            <a:ext cx="73152" cy="3346704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26864" y="17739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26864" y="18288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010912" y="1792224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Smarter Intelligence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626864" y="2249424"/>
            <a:ext cx="2862072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More advanced AI agents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Predictive analytics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Advanced anomaly detection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Voice-based interaction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183880" y="1645920"/>
            <a:ext cx="3154680" cy="3383280"/>
          </a:xfrm>
          <a:prstGeom prst="roundRect">
            <a:avLst>
              <a:gd name="adj" fmla="val 2319"/>
            </a:avLst>
          </a:prstGeom>
          <a:solidFill>
            <a:srgbClr val="F0FDFA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02168" y="1664208"/>
            <a:ext cx="73152" cy="3346704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30184" y="1773936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30184" y="1828800"/>
            <a:ext cx="3108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B8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714232" y="1792224"/>
            <a:ext cx="24963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Enterprise Readiness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330184" y="2249424"/>
            <a:ext cx="2862072" cy="2670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Automated report generation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Role-based access and authentication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9FB0C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Real-time database monitoring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14400" y="5413248"/>
            <a:ext cx="10058400" cy="585216"/>
          </a:xfrm>
          <a:prstGeom prst="roundRect">
            <a:avLst>
              <a:gd name="adj" fmla="val 12500"/>
            </a:avLst>
          </a:prstGeom>
          <a:solidFill>
            <a:srgbClr val="EEF2FF"/>
          </a:solidFill>
          <a:ln w="12700">
            <a:solidFill>
              <a:srgbClr val="C7D2F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32688" y="5431536"/>
            <a:ext cx="73152" cy="5486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60704" y="5614416"/>
            <a:ext cx="9784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80" b="1" dirty="0">
                <a:solidFill>
                  <a:srgbClr val="4F46E5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Future vision: A universal AI interface for interacting with enterprise data.</a:t>
            </a:r>
            <a:endParaRPr lang="en-US" sz="11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548640"/>
            <a:ext cx="3383280" cy="3383280"/>
          </a:xfrm>
          <a:prstGeom prst="ellipse">
            <a:avLst/>
          </a:prstGeom>
          <a:solidFill>
            <a:srgbClr val="8B5CF6">
              <a:alpha val="28000"/>
            </a:srgbClr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4297680"/>
            <a:ext cx="2286000" cy="2286000"/>
          </a:xfrm>
          <a:prstGeom prst="ellipse">
            <a:avLst/>
          </a:prstGeom>
          <a:solidFill>
            <a:srgbClr val="14B8A6">
              <a:alpha val="22000"/>
            </a:srgbClr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749808"/>
            <a:ext cx="1097280" cy="310896"/>
          </a:xfrm>
          <a:prstGeom prst="roundRect">
            <a:avLst>
              <a:gd name="adj" fmla="val 235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795528"/>
            <a:ext cx="987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Conclusion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3716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DataLens AI transforms database interaction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a technical task into a natural conversation.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749808" y="2761488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D5E7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 combines LLMs, agent tools, SQL, databases, visualization, and insights to deliver an end-to-end intelligent analytics experience.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3886200"/>
            <a:ext cx="1261872" cy="310896"/>
          </a:xfrm>
          <a:prstGeom prst="roundRect">
            <a:avLst>
              <a:gd name="adj" fmla="val 23529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393192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LLM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304288" y="3886200"/>
            <a:ext cx="1261872" cy="310896"/>
          </a:xfrm>
          <a:prstGeom prst="roundRect">
            <a:avLst>
              <a:gd name="adj" fmla="val 23529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59152" y="393192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785616" y="3886200"/>
            <a:ext cx="1261872" cy="310896"/>
          </a:xfrm>
          <a:prstGeom prst="roundRect">
            <a:avLst>
              <a:gd name="adj" fmla="val 23529"/>
            </a:avLst>
          </a:prstGeom>
          <a:solidFill>
            <a:srgbClr val="14B8A6"/>
          </a:solidFill>
          <a:ln w="1270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40480" y="393192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SQL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266944" y="3886200"/>
            <a:ext cx="1261872" cy="310896"/>
          </a:xfrm>
          <a:prstGeom prst="roundRect">
            <a:avLst>
              <a:gd name="adj" fmla="val 23529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21808" y="393192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Visualization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48272" y="3886200"/>
            <a:ext cx="1261872" cy="310896"/>
          </a:xfrm>
          <a:prstGeom prst="roundRect">
            <a:avLst>
              <a:gd name="adj" fmla="val 23529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03136" y="3931920"/>
            <a:ext cx="11521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Insights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057400" y="3950208"/>
            <a:ext cx="10972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529584" y="3950208"/>
            <a:ext cx="10972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10912" y="3950208"/>
            <a:ext cx="10972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92240" y="3950208"/>
            <a:ext cx="10972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269480" y="1481328"/>
            <a:ext cx="4023360" cy="2788920"/>
          </a:xfrm>
          <a:prstGeom prst="roundRect">
            <a:avLst>
              <a:gd name="adj" fmla="val 4590"/>
            </a:avLst>
          </a:prstGeom>
          <a:solidFill>
            <a:srgbClr val="111C31"/>
          </a:solidFill>
          <a:ln w="12700">
            <a:solidFill>
              <a:srgbClr val="3141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71232" y="1792224"/>
            <a:ext cx="9144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5B4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line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571232" y="2176272"/>
            <a:ext cx="3154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“Instead of learning how to query the data, users can simply ask the data.”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571232" y="36758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5E7F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1064240" y="6291072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Arena.ai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DataLens AI — Professional PPT</dc:title>
  <dc:subject>DataLens AI professional presentation</dc:subject>
  <dc:creator>Arena.ai Agent Mode</dc:creator>
  <cp:lastModifiedBy>Arena.ai Agent Mode</cp:lastModifiedBy>
  <cp:revision>1</cp:revision>
  <dcterms:created xsi:type="dcterms:W3CDTF">2026-09-15T17:15:54Z</dcterms:created>
  <dcterms:modified xsi:type="dcterms:W3CDTF">2026-09-15T17:15:54Z</dcterms:modified>
</cp:coreProperties>
</file>