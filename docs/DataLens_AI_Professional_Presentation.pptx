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Aurora Pro</c:v>
                  </c:pt>
                  <c:pt idx="1">
                    <c:v>Nimbus X</c:v>
                  </c:pt>
                  <c:pt idx="2">
                    <c:v>Pulse Mini</c:v>
                  </c:pt>
                  <c:pt idx="3">
                    <c:v>Vertex Hub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482.4</c:v>
                </c:pt>
                <c:pt idx="1">
                  <c:v>430.8</c:v>
                </c:pt>
                <c:pt idx="2">
                  <c:v>389.7</c:v>
                </c:pt>
                <c:pt idx="3">
                  <c:v>352.1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trend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92</c:v>
                </c:pt>
                <c:pt idx="2">
                  <c:v>88</c:v>
                </c:pt>
                <c:pt idx="3">
                  <c:v>104</c:v>
                </c:pt>
                <c:pt idx="4">
                  <c:v>116</c:v>
                </c:pt>
                <c:pt idx="5">
                  <c:v>123</c:v>
                </c:pt>
                <c:pt idx="6">
                  <c:v>119</c:v>
                </c:pt>
                <c:pt idx="7">
                  <c:v>134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Retail</c:v>
                </c:pt>
                <c:pt idx="2">
                  <c:v>Partners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Aurora Pro</c:v>
                  </c:pt>
                  <c:pt idx="1">
                    <c:v>Nimbus X</c:v>
                  </c:pt>
                  <c:pt idx="2">
                    <c:v>Pulse Mini</c:v>
                  </c:pt>
                  <c:pt idx="3">
                    <c:v>Vertex Hub</c:v>
                  </c:pt>
                  <c:pt idx="4">
                    <c:v>Nova Lite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482.4</c:v>
                </c:pt>
                <c:pt idx="1">
                  <c:v>430.8</c:v>
                </c:pt>
                <c:pt idx="2">
                  <c:v>389.7</c:v>
                </c:pt>
                <c:pt idx="3">
                  <c:v>352.1</c:v>
                </c:pt>
                <c:pt idx="4">
                  <c:v>319.6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731520"/>
            <a:ext cx="3749040" cy="3749040"/>
          </a:xfrm>
          <a:prstGeom prst="ellipse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206240"/>
            <a:ext cx="2194560" cy="21945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40080" y="4663440"/>
            <a:ext cx="2011680" cy="201168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4864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943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database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DataLens AI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Intelligent LLM Agents for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Interaction &amp; Visualization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8368" y="3127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in Natural Language. Query Data. Visualize Insights.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3767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4096512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172036"/>
          </a:solidFill>
          <a:ln w="12700">
            <a:solidFill>
              <a:srgbClr val="2A36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411480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611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Member 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64408" y="4096512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172036"/>
          </a:solidFill>
          <a:ln w="12700">
            <a:solidFill>
              <a:srgbClr val="2A36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411480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42611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Member 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7548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172036"/>
          </a:solidFill>
          <a:ln w="12700">
            <a:solidFill>
              <a:srgbClr val="2A3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77316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19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Member 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64408" y="47548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172036"/>
          </a:solidFill>
          <a:ln w="12700">
            <a:solidFill>
              <a:srgbClr val="2A36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477316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4919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Member 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470916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47548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LLM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0" y="470916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7424" y="475488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5221224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52669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52560" y="5221224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07424" y="52669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4224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1097280"/>
            <a:ext cx="4663440" cy="2514600"/>
          </a:xfrm>
          <a:prstGeom prst="roundRect">
            <a:avLst>
              <a:gd name="adj" fmla="val 5091"/>
            </a:avLst>
          </a:prstGeom>
          <a:solidFill>
            <a:srgbClr val="111C31"/>
          </a:solidFill>
          <a:ln w="12700">
            <a:solidFill>
              <a:srgbClr val="3141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14173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6459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Query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188366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“Show me the top 5 products by revenue this quarter.”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2487168"/>
            <a:ext cx="3017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26700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 →  SQL  →  Charts  →  Insights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63276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project presentation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045952" y="6291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natural-language database interaction matters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344168"/>
            <a:ext cx="73152" cy="41696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45389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5087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147218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access is still too technical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6384" y="2331720"/>
            <a:ext cx="37307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business users depend on SQL experts or analysts to answer everyday questions. This slows down decisions and creates friction between curiosity and insight.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3716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01768" y="1389888"/>
            <a:ext cx="73152" cy="11064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9784" y="149961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15544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13832" y="15179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dependency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9784" y="1847088"/>
            <a:ext cx="2542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analysis usually starts with query-writing skills.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8138160" y="13716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6448" y="1389888"/>
            <a:ext cx="73152" cy="110642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1499616"/>
            <a:ext cx="310896" cy="310896"/>
          </a:xfrm>
          <a:prstGeom prst="ellipse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15544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68512" y="151790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friction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84464" y="1847088"/>
            <a:ext cx="2542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Non-technical users struggle to retrieve and understand data.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4983480" y="28803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01768" y="2898648"/>
            <a:ext cx="73152" cy="110642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9784" y="3008376"/>
            <a:ext cx="310896" cy="310896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9784" y="3063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302666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Fragmented workflow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29784" y="3355848"/>
            <a:ext cx="2542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Querying, charting, and reporting often happen in separate tools.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8138160" y="28803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448" y="2898648"/>
            <a:ext cx="73152" cy="110642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3008376"/>
            <a:ext cx="310896" cy="31089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4464" y="3063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302666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Time-consuming analysis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84464" y="3355848"/>
            <a:ext cx="2542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steps make exploration slower and less interactive.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4983480" y="4480560"/>
            <a:ext cx="589788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01768" y="4498848"/>
            <a:ext cx="73152" cy="10149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462686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One-line explanation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29784" y="4864608"/>
            <a:ext cx="56052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bridges the gap between natural-language users and complex databases.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 &amp; Limitations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workflows depend on technical skill and multiple disconnected steps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463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481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1709928"/>
            <a:ext cx="256032" cy="3657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8648" y="1463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6936" y="1481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Knowledge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709928"/>
            <a:ext cx="256032" cy="3657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1463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57216" y="1481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1709928"/>
            <a:ext cx="256032" cy="3657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9208" y="1463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7496" y="1481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0" y="1709928"/>
            <a:ext cx="256032" cy="36576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19488" y="1463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7776" y="1481328"/>
            <a:ext cx="73152" cy="83210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29718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299008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" y="309981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31546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16152" y="322783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Requires SQL expertise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526280" y="29718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4568" y="299008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2584" y="309981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31546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56632" y="322783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query writing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366760" y="29718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85048" y="299008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13064" y="309981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13064" y="31546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97112" y="322783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visualization tools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685800" y="406908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" y="408736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" y="419709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" y="42519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16152" y="432511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 for non-technical users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4526280" y="406908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44568" y="408736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72584" y="419709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72584" y="42519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56632" y="432511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time spent on analysis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8366760" y="406908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85048" y="4087368"/>
            <a:ext cx="73152" cy="7863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13064" y="419709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13064" y="42519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97112" y="432511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Limited conversational interaction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658368" y="539496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" y="5413248"/>
            <a:ext cx="73152" cy="55778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4672" y="557784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Gap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04672" y="5596128"/>
            <a:ext cx="9948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systems provide data tools, but not a complete conversational AI-driven workflow.</a:t>
            </a:r>
            <a:endParaRPr lang="en-US" sz="12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turns a plain-language question into a full analytics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310896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344168"/>
            <a:ext cx="73152" cy="183794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453896"/>
            <a:ext cx="310896" cy="310896"/>
          </a:xfrm>
          <a:prstGeom prst="ellipse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5087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47218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ChatGPT-like data analyst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" y="2148840"/>
            <a:ext cx="28163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simply ask a question such as “Show me the top 5 products by revenue this quarter.”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17136" y="1938528"/>
            <a:ext cx="329184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48656" y="2212848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97296" y="1938528"/>
            <a:ext cx="329184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2212848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77456" y="1938528"/>
            <a:ext cx="329184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08976" y="2212848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57616" y="1938528"/>
            <a:ext cx="329184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136" y="2212848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5431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37776" y="1938528"/>
            <a:ext cx="329184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69296" y="2212848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18288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34472" y="210312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17936" y="1938528"/>
            <a:ext cx="329184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37947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" y="3813048"/>
            <a:ext cx="73152" cy="92354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397764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Idea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" y="3995928"/>
            <a:ext cx="9948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SQL expertise is required from the user. DataLens AI handles intent understanding, schema discovery, query generation, execution, visualization, and explanation in one continuous flow.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" y="516636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" y="52120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516636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98064" y="5212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+ insights out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51663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521208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intelligent workspace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DataLens AI is designed to achieve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43560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453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002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Conversational interface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04672" y="189280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chat-based interface for database interaction.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01568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9856" y="143560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7872" y="15453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6002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 to SQL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547872" y="189280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user questions into accurate database queries.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144768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43560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5453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6002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discovery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291072" y="189280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Automatically understand tables, columns, and relationships.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887968" y="1417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6256" y="143560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4272" y="15453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4272" y="16002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execution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9034272" y="189280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SQL and return structured results safely.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58368" y="33375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335584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34655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35204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charts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804672" y="381304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visual analytics from query outputs.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3401568" y="33375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19856" y="335584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7872" y="34655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35204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insights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3547872" y="381304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results in language users can understand.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144768" y="33375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63056" y="335584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1072" y="34655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5204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7512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context</a:t>
            </a:r>
            <a:endParaRPr lang="en-US" sz="1220" dirty="0"/>
          </a:p>
        </p:txBody>
      </p:sp>
      <p:sp>
        <p:nvSpPr>
          <p:cNvPr id="50" name="Text 48"/>
          <p:cNvSpPr/>
          <p:nvPr/>
        </p:nvSpPr>
        <p:spPr>
          <a:xfrm>
            <a:off x="6291072" y="381304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prior questions for follow-up analysis.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887968" y="33375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06256" y="3355848"/>
            <a:ext cx="73152" cy="147218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34272" y="34655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34272" y="35204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41832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Transparency &amp; errors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9034272" y="3813048"/>
            <a:ext cx="21945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SQL and handle failures clearly.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agent acts as the decision-maker and selects the right tool for each request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029968"/>
            <a:ext cx="73152" cy="10149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1396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15798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487168"/>
            <a:ext cx="1261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a question in natural language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450592" y="2331720"/>
            <a:ext cx="256032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01168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07208" y="2029968"/>
            <a:ext cx="73152" cy="10149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35224" y="213969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2157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 Interface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35224" y="2487168"/>
            <a:ext cx="15361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intent, context, and follow-up prompts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256032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02352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527048"/>
            <a:ext cx="73152" cy="17007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8656" y="163677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48656" y="16916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2704" y="1655064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/ AI Agent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48656" y="2350008"/>
            <a:ext cx="1856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the question, chooses tools, plans actions, and explains outputs to the user.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34640" y="37947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2928" y="381304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get_schema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4590288" y="37947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381304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execute_query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345936" y="37947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381304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generate_chart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8101584" y="37947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381304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generate_flowchart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857232" y="37947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75520" y="381304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03536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explain_data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6172200" y="3291840"/>
            <a:ext cx="0" cy="47548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312" y="3767328"/>
            <a:ext cx="52669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6528" y="17830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14816" y="1801368"/>
            <a:ext cx="73152" cy="106070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42832" y="19110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42832" y="19659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26880" y="192938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42832" y="22585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or another structured data source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796528" y="382219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14816" y="3840480"/>
            <a:ext cx="73152" cy="10149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42832" y="395020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40050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326880" y="39684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Visuals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942832" y="4297680"/>
            <a:ext cx="1627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Tables, charts, ER diagrams, and insights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 Agent &amp; Tools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does not just answer — it performs data operations through tools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64592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64208"/>
            <a:ext cx="73152" cy="28437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43584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get_schema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" y="2514600"/>
            <a:ext cx="17007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tables, columns, primary keys, foreign keys, and relationships.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2980944" y="164592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9232" y="1664208"/>
            <a:ext cx="73152" cy="28437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27248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11296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execute_query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27248" y="2514600"/>
            <a:ext cx="17007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generated SQL against the database and returns structured output.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248656" y="164592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664208"/>
            <a:ext cx="73152" cy="28437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generate_chart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514600"/>
            <a:ext cx="17007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query results into visual comparisons, trends, and distributions.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7516368" y="164592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4656" y="1664208"/>
            <a:ext cx="73152" cy="28437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generate_flowchart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62672" y="2514600"/>
            <a:ext cx="17007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ER diagrams or process flows for better schema understanding.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9784080" y="1645920"/>
            <a:ext cx="1993392" cy="2880360"/>
          </a:xfrm>
          <a:prstGeom prst="roundRect">
            <a:avLst>
              <a:gd name="adj" fmla="val 367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2368" y="1664208"/>
            <a:ext cx="73152" cy="28437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30384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30384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14432" y="179222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explain_data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30384" y="2514600"/>
            <a:ext cx="170078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raw results into business-friendly insights and narratives.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1005840" y="4919472"/>
            <a:ext cx="9875520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49377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52144" y="510235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Advantage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52144" y="5120640"/>
            <a:ext cx="9582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does not stop at text generation. It actively inspects the schema, executes SQL, creates visuals, and explains results using dedicated tools.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DataLens AI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step-by-step view of the intelligent analytics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9568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asks a question in natural language.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993392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0864" y="19568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16352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 Understanding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40864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identifies what information is needed.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57600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8768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5072" y="195681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Discovery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05072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tables and columns are selected with get_schema.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321808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95681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44768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Generation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0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writes the appropriate SQL query.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986016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7184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1956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08976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Execution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33488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execute_query retrieves structured data.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650224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51392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7696" y="19568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97696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73184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97696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and diagrams are created from the result.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10314432" y="2724912"/>
            <a:ext cx="164592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0" y="182880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61904" y="19568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61904" y="2048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137392" y="195681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661904" y="2432304"/>
            <a:ext cx="11247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converts output into business insights.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Interface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workspace for querying, visualization, SQL transparency, and business insights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417320"/>
            <a:ext cx="7635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17320"/>
            <a:ext cx="1572768" cy="4526280"/>
          </a:xfrm>
          <a:prstGeom prst="roundRect">
            <a:avLst>
              <a:gd name="adj" fmla="val 58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190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011680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8294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57984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Q4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14400" y="2633472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11C31"/>
          </a:solidFill>
          <a:ln w="12700">
            <a:solidFill>
              <a:srgbClr val="243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7977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Mix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4400" y="3255264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11C31"/>
          </a:solidFill>
          <a:ln w="12700">
            <a:solidFill>
              <a:srgbClr val="243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015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Check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14400" y="3877056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11C31"/>
          </a:solidFill>
          <a:ln w="12700">
            <a:solidFill>
              <a:srgbClr val="243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322576" y="1417320"/>
            <a:ext cx="606247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15910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workspace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0608" y="1517904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1563624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Processing…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78608" y="2066544"/>
            <a:ext cx="2697480" cy="1536192"/>
          </a:xfrm>
          <a:prstGeom prst="roundRect">
            <a:avLst>
              <a:gd name="adj" fmla="val 3571"/>
            </a:avLst>
          </a:prstGeom>
          <a:solidFill>
            <a:srgbClr val="FCFC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2402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743200" y="248716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615184"/>
            <a:ext cx="18470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top 5 products by revenue.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072384" y="2926080"/>
            <a:ext cx="1965960" cy="420624"/>
          </a:xfrm>
          <a:prstGeom prst="roundRect">
            <a:avLst>
              <a:gd name="adj" fmla="val 13043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3063240"/>
            <a:ext cx="1783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Generating SQL, chart, and insight.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468112" y="2066544"/>
            <a:ext cx="2578608" cy="1536192"/>
          </a:xfrm>
          <a:prstGeom prst="roundRect">
            <a:avLst>
              <a:gd name="adj" fmla="val 3571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22402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Terminal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32704" y="251460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SUM(revenue) AS total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product_name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2578608" y="3822192"/>
            <a:ext cx="1627632" cy="1700784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96896" y="3840480"/>
            <a:ext cx="73152" cy="16642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24912" y="39684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Browser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24912" y="4297680"/>
            <a:ext cx="1335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407408" y="3822192"/>
            <a:ext cx="192024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5696" y="3840480"/>
            <a:ext cx="73152" cy="16642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Matrix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53712" y="4297680"/>
            <a:ext cx="1627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query output in tabular format for validation and export.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510528" y="3822192"/>
            <a:ext cx="1883664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3840480"/>
            <a:ext cx="73152" cy="16642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9684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56832" y="4297680"/>
            <a:ext cx="1591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summary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mix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suggestions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8778240" y="1572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modules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778240" y="1828800"/>
            <a:ext cx="18288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6528" y="1847088"/>
            <a:ext cx="73152" cy="389534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4544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highlights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924544" y="2340864"/>
            <a:ext cx="153619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ChatGPT-style conversational interface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Mission / conversation history sidebar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Natural-language query composer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Processing indicator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 terminal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Schema browser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matrix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Embedded charts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 diagram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 insights panel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options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Visual Analytics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supports multiple chart types for faster understanding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54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719072"/>
            <a:ext cx="2450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revenue comparison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611880" y="14173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554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58184" y="1719072"/>
            <a:ext cx="2450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trends over time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565392" y="14173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1554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11696" y="1719072"/>
            <a:ext cx="2404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channel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473184" y="14173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9488" y="1554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19488" y="1719072"/>
            <a:ext cx="1764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vs margin</a:t>
            </a:r>
            <a:endParaRPr lang="en-US" sz="84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68680" y="1810512"/>
          <a:ext cx="2331720" cy="1261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3794760" y="1810512"/>
          <a:ext cx="2395728" cy="1261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" descr=""/>
          <p:cNvGraphicFramePr/>
          <p:nvPr/>
        </p:nvGraphicFramePr>
        <p:xfrm>
          <a:off x="6729984" y="1792224"/>
          <a:ext cx="233172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Shape 19"/>
          <p:cNvSpPr/>
          <p:nvPr/>
        </p:nvSpPr>
        <p:spPr>
          <a:xfrm>
            <a:off x="9765792" y="2907792"/>
            <a:ext cx="1234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802368" y="2907792"/>
            <a:ext cx="0" cy="-914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314432" y="294436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 rot="16200000">
            <a:off x="9528048" y="193852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9985248" y="265176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204704" y="2331720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405872" y="24871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716768" y="21762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881360" y="25420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22960" y="3822192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41248" y="3840480"/>
            <a:ext cx="73152" cy="10149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69264" y="40050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visual analytics?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969264" y="4023360"/>
            <a:ext cx="10451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can be understood much faster through visual representation. Your frontend already demonstrates bar, line, donut, and scatter visualizations using Recharts.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Intelligence &amp; ER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understands database structure before generating queries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00200"/>
            <a:ext cx="20574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700784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0976" y="2039112"/>
            <a:ext cx="18013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customer_id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0574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600200"/>
            <a:ext cx="205740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700784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8416" y="2039112"/>
            <a:ext cx="1801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order_id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customer_id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200400" y="3657600"/>
            <a:ext cx="20574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657600"/>
            <a:ext cx="205740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758184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ORDER_ITEMS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8416" y="4096512"/>
            <a:ext cx="1801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item_id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order_id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product_id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715000" y="2743200"/>
            <a:ext cx="2057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2743200"/>
            <a:ext cx="2057400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4728" y="2843784"/>
            <a:ext cx="1837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43016" y="3182112"/>
            <a:ext cx="1801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product_id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list_price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880360" y="228600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3172968"/>
            <a:ext cx="0" cy="4846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66944" y="4407408"/>
            <a:ext cx="448056" cy="-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21031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many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334256" y="3328416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many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340096" y="395020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→ 1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366760" y="160020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5048" y="1618488"/>
            <a:ext cx="73152" cy="32095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13064" y="1728216"/>
            <a:ext cx="310896" cy="310896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13064" y="1783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97112" y="17465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DataLens identifies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13064" y="2167128"/>
            <a:ext cx="2450592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Tables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Columns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Primary keys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Foreign keys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Relationships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Relevant entities for a query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868680" y="5486400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" y="5504688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984" y="56692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relationship path: CUSTOMERS → ORDERS → ORDER_ITEMS ← PRODUCTS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Transparency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 shows the generated SQL instead of hiding it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4672" y="16002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18488"/>
            <a:ext cx="73152" cy="6766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 rot="5400000">
            <a:off x="1737360" y="2331720"/>
            <a:ext cx="20116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532888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551176"/>
            <a:ext cx="73152" cy="67665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SQL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 rot="5400000">
            <a:off x="1737360" y="3264408"/>
            <a:ext cx="20116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465576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483864"/>
            <a:ext cx="73152" cy="67665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721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Execution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 rot="5400000">
            <a:off x="1737360" y="4197096"/>
            <a:ext cx="201168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398264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416552"/>
            <a:ext cx="73152" cy="67665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6542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3337560" y="160020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82880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84448" y="2139696"/>
            <a:ext cx="4956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SUM(oi.quantity * oi.unit_price) AS revenue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order_items oi ON o.order_id = oi.order_id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p ON oi.product_id = p.product_id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o.order_date &gt;= DATE_TRUNC('quarter', CURRENT_DATE)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p.product_name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070848" y="16002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89136" y="1618488"/>
            <a:ext cx="73152" cy="3575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17152" y="1728216"/>
            <a:ext cx="310896" cy="31089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1783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0" y="174650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17152" y="2148840"/>
            <a:ext cx="197510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Builds user trust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Makes AI decisions understandable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Helps developers verify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debugging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Creates SQL learning opportunities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" y="5486400"/>
            <a:ext cx="10533888" cy="530352"/>
          </a:xfrm>
          <a:prstGeom prst="roundRect">
            <a:avLst>
              <a:gd name="adj" fmla="val 1379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504688"/>
            <a:ext cx="73152" cy="49377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5669280"/>
            <a:ext cx="10259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point: DataLens AI combines AI convenience with query transparency.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Use Case — Sales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prompt: “Show me the top 5 products by revenue this quarter.”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4173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43560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5636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→ Schema → SQL → Database → Chart → Insights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633472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761488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2980944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Aurora Pro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70048" y="2633472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16352" y="298094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$482.4K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" y="3822192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950208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4169664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70048" y="3822192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3950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16352" y="416966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Trend view</a:t>
            </a:r>
            <a:endParaRPr lang="en-US" sz="1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846320" y="1691640"/>
          <a:ext cx="6080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749808" y="5138928"/>
            <a:ext cx="10177272" cy="676656"/>
          </a:xfrm>
          <a:prstGeom prst="roundRect">
            <a:avLst>
              <a:gd name="adj" fmla="val 1081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" y="5157216"/>
            <a:ext cx="73152" cy="640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6112" y="5321808"/>
            <a:ext cx="9902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query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96112" y="5340096"/>
            <a:ext cx="9884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“Now show me the trend for these products over the last year.” This demonstrates conversational data exploration with context retention.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 &amp; Innovation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DataLens AI stands out from conventional dashboards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52704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792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LLM-powered database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21608" y="1508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9896" y="1527048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7912" y="1792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Natural-language database querying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2734056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2752344"/>
            <a:ext cx="73152" cy="87782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0175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schema understanding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21608" y="2734056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2752344"/>
            <a:ext cx="73152" cy="8778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30175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/ tool calling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39593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977640"/>
            <a:ext cx="73152" cy="87782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SQL generation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21608" y="39593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9896" y="3977640"/>
            <a:ext cx="73152" cy="87782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42428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visualizations + insights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95160" y="1572768"/>
            <a:ext cx="4251960" cy="4160520"/>
          </a:xfrm>
          <a:prstGeom prst="roundRect">
            <a:avLst>
              <a:gd name="adj" fmla="val 263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828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96912" y="2212848"/>
            <a:ext cx="35844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Instead of building another dashboard, DataLens AI adds an intelligent conversational layer over databases.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96912" y="340156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5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unifies question answering, tool usage, SQL generation, visualization, and explanation in a single decision-driven system.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15200" y="45720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4617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69680" y="45720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24544" y="4617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501091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70064" y="505663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05088" y="50109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59952" y="505663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combines modern frontend, AI agent, database, and visualization technologies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52704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664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23544" y="178308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46888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48716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2624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23544" y="274320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 + UI Components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42900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44728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584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/ Agent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23544" y="37033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AI SDK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38912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40740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4544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Visualization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23544" y="466344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25312" y="150876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52704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664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071616" y="178308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25312" y="246888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48716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2624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Language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6071616" y="274320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25312" y="342900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4728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3584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Tool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6071616" y="37033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25312" y="438912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440740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4544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071616" y="466344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TanStack Router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51560" y="544068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9848" y="5458968"/>
            <a:ext cx="73152" cy="53035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97864" y="5623560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flow: Frontend → AI Agent → Tools → Database → Visualization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DataLens AI improves speed, usability, and decision-making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600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61848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282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783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17465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to 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07568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SQL expertise required.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1600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5696" y="161848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17282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783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465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207568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manual query creation.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065008" y="1600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161848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17282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1783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174650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11312" y="207568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conversational follow-up questions.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49808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326440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33741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34290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339242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372160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results into charts and diagrams.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407408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5696" y="326440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3712" y="33741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4290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39242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53712" y="372160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generated SQL to the user.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065008" y="32461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83296" y="3264408"/>
            <a:ext cx="73152" cy="1197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11312" y="33741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11312" y="34290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95360" y="339242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Business-friendly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11312" y="3721608"/>
            <a:ext cx="29535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raw data into understandable insights.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60120" y="525780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" y="5276088"/>
            <a:ext cx="73152" cy="60350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6424" y="5477256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Scalable concept: the same intelligent layer can be extended to other databases and business domains.</a:t>
            </a:r>
            <a:endParaRPr lang="en-US" sz="11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roadmap toward a universal AI interface for enterprise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DataLens AI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55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64592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664208"/>
            <a:ext cx="73152" cy="33467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07592" y="179222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" y="2249424"/>
            <a:ext cx="286207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 MySQL, MongoDB, and other databases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Multi-database connections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generation from conversation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64592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1664208"/>
            <a:ext cx="73152" cy="334670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179222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Smarter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6864" y="2249424"/>
            <a:ext cx="286207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advanced AI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Predictive analytics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Advanced anomaly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Voice-based interaction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164592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2168" y="1664208"/>
            <a:ext cx="73152" cy="334670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0184" y="17739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828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14232" y="179222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Readiness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30184" y="2249424"/>
            <a:ext cx="286207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Automated report generation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Role-based access and authentication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Real-time database monitoring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5413248"/>
            <a:ext cx="10058400" cy="585216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" y="5431536"/>
            <a:ext cx="73152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5614416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4F46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vision: A universal AI interface for interacting with enterprise data.</a:t>
            </a:r>
            <a:endParaRPr lang="en-US" sz="11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548640"/>
            <a:ext cx="3383280" cy="3383280"/>
          </a:xfrm>
          <a:prstGeom prst="ellipse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297680"/>
            <a:ext cx="2286000" cy="228600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4980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955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DataLens AI transforms database interaction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technical task into a natural conversation.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76148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5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LLMs, agent tools, SQL, databases, visualization, and insights to deliver an end-to-end intelligent analytics experience.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931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388620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3931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85616" y="388620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931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66944" y="388620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3931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48272" y="388620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3931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395020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9584" y="395020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10912" y="395020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95020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69480" y="1481328"/>
            <a:ext cx="4023360" cy="2788920"/>
          </a:xfrm>
          <a:prstGeom prst="roundRect">
            <a:avLst>
              <a:gd name="adj" fmla="val 4590"/>
            </a:avLst>
          </a:prstGeom>
          <a:solidFill>
            <a:srgbClr val="111C31"/>
          </a:solidFill>
          <a:ln w="12700">
            <a:solidFill>
              <a:srgbClr val="3141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17922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71232" y="217627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“Instead of learning how to query the data, users can simply ask the data.”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71232" y="36758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0" y="62910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Arena.ai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DataLens AI — Professional PPT</dc:title>
  <dc:subject>DataLens AI professional presentation</dc:subject>
  <dc:creator>Arena.ai Agent Mode</dc:creator>
  <cp:lastModifiedBy>Arena.ai Agent Mode</cp:lastModifiedBy>
  <cp:revision>1</cp:revision>
  <dcterms:created xsi:type="dcterms:W3CDTF">2026-09-15T17:10:42Z</dcterms:created>
  <dcterms:modified xsi:type="dcterms:W3CDTF">2026-09-15T17:10:42Z</dcterms:modified>
</cp:coreProperties>
</file>