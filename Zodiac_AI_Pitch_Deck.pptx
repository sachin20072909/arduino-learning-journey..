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Near-black canvas with a soft violet-indigo aurora bleeding in from the right. 'ZODIAC AI' set as large gradient display type (white → lavender → indigo) with a thin gradient rule beneath. Terminal status line on top; feature pills along the bottom.</a:t>
            </a:r>
          </a:p>
          <a:p/>
          <a:p>
            <a:r>
              <a:t>SPEAKER NOTES — Open with the one-liner: 'Every company runs on data — almost nobody can talk to it directly.' Introduce Zodiac AI as a conversational agent between humans and the relational database: ask in plain English, get the exact SQL, the chart, the diagram, and the numbers — every figure traceable to an executed query. Set the hook fast; promise the architecture tour.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Two quiet glass panels divided by a thin vertical violet light. Left: the old world in neutral grey with soft-red ✕ markers. Right: the Zodiac world in violet with ▸ markers. Restrained, editorial, high-contrast typography.</a:t>
            </a:r>
          </a:p>
          <a:p/>
          <a:p>
            <a:r>
              <a:t>SPEAKER NOTES — Frame it as economics: the real cost of BI is the latency between question and answer. When latency is days, people stop asking. Generic chatbots feel instant but fabricate — speed without trust. Zodiac collapses the loop to seconds while keeping every number traceable to an executed query. Position carefully: 'We're not replacing analysts — we're unblocking everyone else.'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Four flat glass rows for the stack layers, violet and indigo alternating, with a soft 3D render of the four-layer frosted-glass stack beside them. Thin dividers, monospace spec tags on the right edge.</a:t>
            </a:r>
          </a:p>
          <a:p/>
          <a:p>
            <a:r>
              <a:t>SPEAKER NOTES — Two reasons for these choices: iteration velocity and architectural portability. React + TanStack handles the chat-plus-live-chart pattern. FastAPI gives async Python with strict validation. SQLite makes the demo infinitely portable. Most important: the AI layer is deliberately abstracted — the agent never talks to a vendor, it talks to the router.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Left panel: minimal 3D render — a glowing glass cube (the router) with two light paths: a violet path that dissolves halfway (Groq, mid-failover) and an indigo path carrying particles onward (Gemini). Right panel: the 8-step loop as a clean numbered grid with outlined violet badges.</a:t>
            </a:r>
          </a:p>
          <a:p/>
          <a:p>
            <a:r>
              <a:t>SPEAKER NOTES — Two ideas. First, resilience: LLM providers are utilities, and utilities go down — the router treats Groq and Gemini as interchangeable, so when Groq rate-limits mid-session the user never notices. Second, the loop: this is not one-shot prompt → answer. The agent reasons, acts, observes, iterates — if the first query errors or returns partial data, it self-corrects. Answers are earned through iteration.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Two quiet dark terminals. Left (get_schema): the schema tree in soft indigo and white monospace. Right (execute_query): the SQL in lavender, a violet READ-ONLY badge, and beneath it a soft-red rejected 'DROP TABLE orders;' stamped BLOCKED — WRITE GUARD.</a:t>
            </a:r>
          </a:p>
          <a:p/>
          <a:p>
            <a:r>
              <a:t>SPEAKER NOTES — Trust is the product, and these two tools are its foundation. The agent reads the schema fresh at runtime — it cannot reference a column that doesn't exist — and it executes real SQL, so answers come from the database, not the model's memory. The read-only guard means the worst-case interaction is an empty result set. Users always see the exact SQL behind every number.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Two stacked glass panels for the Plotly and Mermaid tools on the left; on the right, a soft hologram render — a violet line chart above an indigo node graph, light particles drifting between them.</a:t>
            </a:r>
          </a:p>
          <a:p/>
          <a:p>
            <a:r>
              <a:t>SPEAKER NOTES — Text-only answers waste an LLM's real strength: structured generation. Zodiac treats visuals as first-class outputs — the model doesn't describe a chart, it writes the chart definition, and Plotly and Mermaid render it deterministically. Because the spec is generated from executed query results, the visual carries the same grounding as the SQL behind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A restrained pipeline motif — QUERY → COMPUTE → NARRATE — with a soft render of a violet-rimmed lens over a faint indigo data grid on the right, points of light lifting from the cells. The anti-hallucination quote sits in a quiet violet-tinted bar.</a:t>
            </a:r>
          </a:p>
          <a:p/>
          <a:p>
            <a:r>
              <a:t>SPEAKER NOTES — This slide separates Zodiac from a wrapped chat API. Generic LLMs interpolate plausible-sounding statistics; Zodiac computes the statistics first and writes the narrative around them. The pipeline is strict: query → compute → narrate. If a number can't be traced to a result set, it doesn't make it into the answer. Say it plainly: 'We don't ask the model to remember your revenue. We ask your database.'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Four quiet glass cards for the tables with thin violet/indigo top rules, connected by delicate cardinality labels (1 — ∞). Editorial and schematic rather than decorative.</a:t>
            </a:r>
          </a:p>
          <a:p/>
          <a:p>
            <a:r>
              <a:t>SPEAKER NOTES — The demo dataset is deliberately canonical e-commerce: instantly understandable, and join-heavy — exactly where naive text-to-SQL breaks. Every interesting question (top customers, revenue per product, average order value) crosses at least one join. If the agent is correct on this schema, it generalizes. And the schema is never baked into prompts — it's discovered live.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Six quiet glass cards, each with a thin accent edge, a small monospace category label, and an italic sample prompt in white. Beneath, the answer-bundle formula and a terminal input field: '&gt; ask anything_'</a:t>
            </a:r>
          </a:p>
          <a:p/>
          <a:p>
            <a:r>
              <a:t>SPEAKER NOTES — Walk one or two cards aloud, then let the audience read the rest. Point out the data-quality category last — it proves the agent can reason about the database, not just retrieve from it. Close on the bundle: a single prompt yields the SQL, a rendered chart, and a grounded explanation. That triple — query, visual, narrative — is the product experience.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A clean dark terminal with the boot sequence — clone, .env with masked keys, installs, a slim progress bar, and the final 'open the local URL' line. Run Notes panel beside it.</a:t>
            </a:r>
          </a:p>
          <a:p/>
          <a:p>
            <a:r>
              <a:t>SPEAKER NOTES — The pitch of this slide is friction — or its absence. SQLite means no database server to stand up: the schema ships inside the repo. One API key is enough to run; the second is optional insurance that activates failover. From git clone to first grounded answer: under five minutes. Invite the audience to do it live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VISUAL DIRECTION — Closing frame mirrors the title: near-black canvas, the minimal violet constellation with its indigo reflection on the right, clean dark space on the left for the recap. 'Q&amp;A' set as large gradient display type (white → lavender → indigo).</a:t>
            </a:r>
          </a:p>
          <a:p/>
          <a:p>
            <a:r>
              <a:t>SPEAKER NOTES — Close the loop with the opening line: databases used to be things you queried — now they're things you talk to. Recap the four pillars in one breath: exact SQL, live visuals, grounded numbers, resilient architecture. Open the floor — and if the room is quiet, seed the first question: 'Ask me what happens when Groq goes down mid-query.'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5.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6.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7.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title.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7680960" cy="6858000"/>
          </a:xfrm>
          <a:prstGeom prst="rect">
            <a:avLst/>
          </a:prstGeom>
          <a:gradFill rotWithShape="1">
            <a:gsLst>
              <a:gs pos="0">
                <a:srgbClr val="0A0B10">
                  <a:alpha val="96000"/>
                </a:srgbClr>
              </a:gs>
              <a:gs pos="55000">
                <a:srgbClr val="0A0B10">
                  <a:alpha val="80000"/>
                </a:srgbClr>
              </a:gs>
              <a:gs pos="100000">
                <a:srgbClr val="0A0B10">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27432"/>
          </a:xfrm>
          <a:prstGeom prst="rect">
            <a:avLst/>
          </a:prstGeom>
          <a:gradFill rotWithShape="1">
            <a:gsLst>
              <a:gs pos="0">
                <a:srgbClr val="A78BFA">
                  <a:alpha val="75000"/>
                </a:srgbClr>
              </a:gs>
              <a:gs pos="45000">
                <a:srgbClr val="818CF8">
                  <a:alpha val="5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75488"/>
            <a:ext cx="8229600" cy="274320"/>
          </a:xfrm>
          <a:prstGeom prst="rect">
            <a:avLst/>
          </a:prstGeom>
          <a:noFill/>
        </p:spPr>
        <p:txBody>
          <a:bodyPr wrap="square" anchor="t" lIns="0" rIns="0" tIns="0" bIns="0">
            <a:spAutoFit/>
          </a:bodyPr>
          <a:lstStyle/>
          <a:p>
            <a:pPr algn="l">
              <a:lnSpc>
                <a:spcPct val="100000"/>
              </a:lnSpc>
            </a:pPr>
            <a:r>
              <a:rPr sz="1050" b="0" i="0">
                <a:solidFill>
                  <a:srgbClr val="9AA3B8"/>
                </a:solidFill>
                <a:latin typeface="Consolas"/>
              </a:rPr>
              <a:t>ZODIAC OS v1.0 // TEXT-TO-SQL AGENT // STATUS: </a:t>
            </a:r>
            <a:r>
              <a:rPr sz="1050" b="1" i="0">
                <a:solidFill>
                  <a:srgbClr val="A78BFA"/>
                </a:solidFill>
                <a:latin typeface="Consolas"/>
              </a:rPr>
              <a:t>ONLINE</a:t>
            </a:r>
            <a:r>
              <a:rPr sz="1050" b="0" i="0">
                <a:solidFill>
                  <a:srgbClr val="A78BFA"/>
                </a:solidFill>
                <a:latin typeface="Consolas"/>
              </a:rPr>
              <a:t>  ▮</a:t>
            </a:r>
          </a:p>
        </p:txBody>
      </p:sp>
      <p:sp>
        <p:nvSpPr>
          <p:cNvPr id="6" name="TextBox 5"/>
          <p:cNvSpPr txBox="1"/>
          <p:nvPr/>
        </p:nvSpPr>
        <p:spPr>
          <a:xfrm>
            <a:off x="502920" y="1261872"/>
            <a:ext cx="7863840" cy="1554480"/>
          </a:xfrm>
          <a:prstGeom prst="rect">
            <a:avLst/>
          </a:prstGeom>
          <a:noFill/>
        </p:spPr>
        <p:txBody>
          <a:bodyPr wrap="square" anchor="t" lIns="0" rIns="0" tIns="0" bIns="0">
            <a:spAutoFit/>
          </a:bodyPr>
          <a:lstStyle/>
          <a:p>
            <a:pPr algn="l">
              <a:lnSpc>
                <a:spcPct val="100000"/>
              </a:lnSpc>
            </a:pPr>
            <a:r>
              <a:rPr sz="9200" b="1" i="0">
                <a:gradFill>
                  <a:gsLst>
                    <a:gs pos="0">
                      <a:srgbClr val="FFFFFF"/>
                    </a:gs>
                    <a:gs pos="55000">
                      <a:srgbClr val="C4B5FD"/>
                    </a:gs>
                    <a:gs pos="100000">
                      <a:srgbClr val="818CF8"/>
                    </a:gs>
                  </a:gsLst>
                  <a:lin ang="0"/>
                </a:gradFill>
                <a:latin typeface="Segoe UI"/>
              </a:rPr>
              <a:t>ZODIAC AI</a:t>
            </a:r>
          </a:p>
        </p:txBody>
      </p:sp>
      <p:sp>
        <p:nvSpPr>
          <p:cNvPr id="7" name="TextBox 6"/>
          <p:cNvSpPr txBox="1"/>
          <p:nvPr/>
        </p:nvSpPr>
        <p:spPr>
          <a:xfrm>
            <a:off x="576072" y="2926080"/>
            <a:ext cx="7315200" cy="502920"/>
          </a:xfrm>
          <a:prstGeom prst="rect">
            <a:avLst/>
          </a:prstGeom>
          <a:noFill/>
        </p:spPr>
        <p:txBody>
          <a:bodyPr wrap="square" anchor="t" lIns="0" rIns="0" tIns="0" bIns="0">
            <a:spAutoFit/>
          </a:bodyPr>
          <a:lstStyle/>
          <a:p>
            <a:pPr algn="l">
              <a:lnSpc>
                <a:spcPct val="100000"/>
              </a:lnSpc>
            </a:pPr>
            <a:r>
              <a:rPr sz="2600" b="0" i="0">
                <a:solidFill>
                  <a:srgbClr val="F4F6FB"/>
                </a:solidFill>
                <a:latin typeface="Segoe UI Light"/>
              </a:rPr>
              <a:t>Chat with Your Database</a:t>
            </a:r>
          </a:p>
        </p:txBody>
      </p:sp>
      <p:sp>
        <p:nvSpPr>
          <p:cNvPr id="8" name="Rectangle 7"/>
          <p:cNvSpPr/>
          <p:nvPr/>
        </p:nvSpPr>
        <p:spPr>
          <a:xfrm>
            <a:off x="594360" y="3529584"/>
            <a:ext cx="237744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76072" y="3749039"/>
            <a:ext cx="6858000" cy="914400"/>
          </a:xfrm>
          <a:prstGeom prst="rect">
            <a:avLst/>
          </a:prstGeom>
          <a:noFill/>
        </p:spPr>
        <p:txBody>
          <a:bodyPr wrap="square" anchor="t" lIns="0" rIns="0" tIns="0" bIns="0">
            <a:spAutoFit/>
          </a:bodyPr>
          <a:lstStyle/>
          <a:p>
            <a:pPr algn="l">
              <a:lnSpc>
                <a:spcPct val="118000"/>
              </a:lnSpc>
              <a:spcAft>
                <a:spcPts val="300"/>
              </a:spcAft>
            </a:pPr>
            <a:r>
              <a:rPr sz="1300" b="0" i="0">
                <a:solidFill>
                  <a:srgbClr val="9AA3B8"/>
                </a:solidFill>
                <a:latin typeface="Segoe UI"/>
              </a:rPr>
              <a:t>A conversational agent that talks directly to relational databases —</a:t>
            </a:r>
          </a:p>
          <a:p>
            <a:pPr algn="l">
              <a:lnSpc>
                <a:spcPct val="118000"/>
              </a:lnSpc>
              <a:spcAft>
                <a:spcPts val="300"/>
              </a:spcAft>
            </a:pPr>
            <a:r>
              <a:rPr sz="1300" b="0" i="0">
                <a:solidFill>
                  <a:srgbClr val="9AA3B8"/>
                </a:solidFill>
                <a:latin typeface="Segoe UI"/>
              </a:rPr>
              <a:t>answering with </a:t>
            </a:r>
            <a:r>
              <a:rPr sz="1300" b="1" i="0">
                <a:solidFill>
                  <a:srgbClr val="A78BFA"/>
                </a:solidFill>
                <a:latin typeface="Segoe UI"/>
              </a:rPr>
              <a:t>exact SQL</a:t>
            </a:r>
            <a:r>
              <a:rPr sz="1300" b="0" i="0">
                <a:solidFill>
                  <a:srgbClr val="9AA3B8"/>
                </a:solidFill>
                <a:latin typeface="Segoe UI"/>
              </a:rPr>
              <a:t>, </a:t>
            </a:r>
            <a:r>
              <a:rPr sz="1300" b="1" i="0">
                <a:solidFill>
                  <a:srgbClr val="818CF8"/>
                </a:solidFill>
                <a:latin typeface="Segoe UI"/>
              </a:rPr>
              <a:t>interactive Plotly charts</a:t>
            </a:r>
            <a:r>
              <a:rPr sz="1300" b="0" i="0">
                <a:solidFill>
                  <a:srgbClr val="9AA3B8"/>
                </a:solidFill>
                <a:latin typeface="Segoe UI"/>
              </a:rPr>
              <a:t>, </a:t>
            </a:r>
            <a:r>
              <a:rPr sz="1300" b="1" i="0">
                <a:solidFill>
                  <a:srgbClr val="818CF8"/>
                </a:solidFill>
                <a:latin typeface="Segoe UI"/>
              </a:rPr>
              <a:t>live Mermaid diagrams</a:t>
            </a:r>
            <a:r>
              <a:rPr sz="1300" b="0" i="0">
                <a:solidFill>
                  <a:srgbClr val="9AA3B8"/>
                </a:solidFill>
                <a:latin typeface="Segoe UI"/>
              </a:rPr>
              <a:t> and</a:t>
            </a:r>
          </a:p>
          <a:p>
            <a:pPr algn="l">
              <a:lnSpc>
                <a:spcPct val="118000"/>
              </a:lnSpc>
            </a:pPr>
            <a:r>
              <a:rPr sz="1300" b="1" i="0">
                <a:solidFill>
                  <a:srgbClr val="A78BFA"/>
                </a:solidFill>
                <a:latin typeface="Segoe UI"/>
              </a:rPr>
              <a:t>mathematically grounded explanations</a:t>
            </a:r>
            <a:r>
              <a:rPr sz="1300" b="0" i="0">
                <a:solidFill>
                  <a:srgbClr val="9AA3B8"/>
                </a:solidFill>
                <a:latin typeface="Segoe UI"/>
              </a:rPr>
              <a:t>.</a:t>
            </a:r>
          </a:p>
        </p:txBody>
      </p:sp>
      <p:sp>
        <p:nvSpPr>
          <p:cNvPr id="10" name="Rounded Rectangle 9"/>
          <p:cNvSpPr/>
          <p:nvPr/>
        </p:nvSpPr>
        <p:spPr>
          <a:xfrm>
            <a:off x="576072" y="4901184"/>
            <a:ext cx="4709160" cy="493776"/>
          </a:xfrm>
          <a:prstGeom prst="roundRect">
            <a:avLst>
              <a:gd name="adj" fmla="val 50000"/>
            </a:avLst>
          </a:prstGeom>
          <a:solidFill>
            <a:srgbClr val="0A0B10">
              <a:alpha val="60000"/>
            </a:srgbClr>
          </a:solidFill>
          <a:ln w="13970">
            <a:solidFill>
              <a:srgbClr val="3B31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4901184"/>
            <a:ext cx="4709160" cy="493776"/>
          </a:xfrm>
          <a:prstGeom prst="rect">
            <a:avLst/>
          </a:prstGeom>
          <a:noFill/>
        </p:spPr>
        <p:txBody>
          <a:bodyPr wrap="square" anchor="ctr" lIns="0" rIns="0" tIns="0" bIns="0">
            <a:spAutoFit/>
          </a:bodyPr>
          <a:lstStyle/>
          <a:p>
            <a:pPr algn="ctr">
              <a:lnSpc>
                <a:spcPct val="100000"/>
              </a:lnSpc>
            </a:pPr>
            <a:r>
              <a:rPr sz="1400" b="1" i="0">
                <a:solidFill>
                  <a:srgbClr val="818CF8"/>
                </a:solidFill>
                <a:latin typeface="Consolas"/>
              </a:rPr>
              <a:t>&gt; </a:t>
            </a:r>
            <a:r>
              <a:rPr sz="1350" b="1" i="0" spc="150">
                <a:solidFill>
                  <a:srgbClr val="A78BFA"/>
                </a:solidFill>
                <a:latin typeface="Consolas"/>
              </a:rPr>
              <a:t>NOT GUESSES. GROUND TRUTH.</a:t>
            </a:r>
          </a:p>
        </p:txBody>
      </p:sp>
      <p:sp>
        <p:nvSpPr>
          <p:cNvPr id="12" name="Rounded Rectangle 11"/>
          <p:cNvSpPr/>
          <p:nvPr/>
        </p:nvSpPr>
        <p:spPr>
          <a:xfrm>
            <a:off x="576072" y="5650992"/>
            <a:ext cx="989380" cy="329184"/>
          </a:xfrm>
          <a:prstGeom prst="roundRect">
            <a:avLst>
              <a:gd name="adj" fmla="val 50000"/>
            </a:avLst>
          </a:prstGeom>
          <a:solidFill>
            <a:srgbClr val="0A0B10">
              <a:alpha val="55000"/>
            </a:srgbClr>
          </a:solidFill>
          <a:ln w="12700">
            <a:solidFill>
              <a:srgbClr val="2E33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6072" y="5650992"/>
            <a:ext cx="989380" cy="329184"/>
          </a:xfrm>
          <a:prstGeom prst="rect">
            <a:avLst/>
          </a:prstGeom>
          <a:noFill/>
        </p:spPr>
        <p:txBody>
          <a:bodyPr wrap="square" anchor="ctr" lIns="0" rIns="0" tIns="0" bIns="0">
            <a:spAutoFit/>
          </a:bodyPr>
          <a:lstStyle/>
          <a:p>
            <a:pPr algn="ctr">
              <a:lnSpc>
                <a:spcPct val="100000"/>
              </a:lnSpc>
            </a:pPr>
            <a:r>
              <a:rPr sz="900" b="0" i="0">
                <a:solidFill>
                  <a:srgbClr val="9AA3B8"/>
                </a:solidFill>
                <a:latin typeface="Consolas"/>
              </a:rPr>
              <a:t>TEXT-TO-SQL</a:t>
            </a:r>
          </a:p>
        </p:txBody>
      </p:sp>
      <p:sp>
        <p:nvSpPr>
          <p:cNvPr id="14" name="Rounded Rectangle 13"/>
          <p:cNvSpPr/>
          <p:nvPr/>
        </p:nvSpPr>
        <p:spPr>
          <a:xfrm>
            <a:off x="1720900" y="5650992"/>
            <a:ext cx="1064361" cy="329184"/>
          </a:xfrm>
          <a:prstGeom prst="roundRect">
            <a:avLst>
              <a:gd name="adj" fmla="val 50000"/>
            </a:avLst>
          </a:prstGeom>
          <a:solidFill>
            <a:srgbClr val="0A0B10">
              <a:alpha val="55000"/>
            </a:srgbClr>
          </a:solidFill>
          <a:ln w="12700">
            <a:solidFill>
              <a:srgbClr val="2E33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20900" y="5650992"/>
            <a:ext cx="1064361" cy="329184"/>
          </a:xfrm>
          <a:prstGeom prst="rect">
            <a:avLst/>
          </a:prstGeom>
          <a:noFill/>
        </p:spPr>
        <p:txBody>
          <a:bodyPr wrap="square" anchor="ctr" lIns="0" rIns="0" tIns="0" bIns="0">
            <a:spAutoFit/>
          </a:bodyPr>
          <a:lstStyle/>
          <a:p>
            <a:pPr algn="ctr">
              <a:lnSpc>
                <a:spcPct val="100000"/>
              </a:lnSpc>
            </a:pPr>
            <a:r>
              <a:rPr sz="900" b="0" i="0">
                <a:solidFill>
                  <a:srgbClr val="9AA3B8"/>
                </a:solidFill>
                <a:latin typeface="Consolas"/>
              </a:rPr>
              <a:t>AGENTIC LOOP</a:t>
            </a:r>
          </a:p>
        </p:txBody>
      </p:sp>
      <p:sp>
        <p:nvSpPr>
          <p:cNvPr id="16" name="Rounded Rectangle 15"/>
          <p:cNvSpPr/>
          <p:nvPr/>
        </p:nvSpPr>
        <p:spPr>
          <a:xfrm>
            <a:off x="2940710" y="5650992"/>
            <a:ext cx="1214323" cy="329184"/>
          </a:xfrm>
          <a:prstGeom prst="roundRect">
            <a:avLst>
              <a:gd name="adj" fmla="val 50000"/>
            </a:avLst>
          </a:prstGeom>
          <a:solidFill>
            <a:srgbClr val="0A0B10">
              <a:alpha val="55000"/>
            </a:srgbClr>
          </a:solidFill>
          <a:ln w="12700">
            <a:solidFill>
              <a:srgbClr val="2E33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40710" y="5650992"/>
            <a:ext cx="1214323" cy="329184"/>
          </a:xfrm>
          <a:prstGeom prst="rect">
            <a:avLst/>
          </a:prstGeom>
          <a:noFill/>
        </p:spPr>
        <p:txBody>
          <a:bodyPr wrap="square" anchor="ctr" lIns="0" rIns="0" tIns="0" bIns="0">
            <a:spAutoFit/>
          </a:bodyPr>
          <a:lstStyle/>
          <a:p>
            <a:pPr algn="ctr">
              <a:lnSpc>
                <a:spcPct val="100000"/>
              </a:lnSpc>
            </a:pPr>
            <a:r>
              <a:rPr sz="900" b="0" i="0">
                <a:solidFill>
                  <a:srgbClr val="9AA3B8"/>
                </a:solidFill>
                <a:latin typeface="Consolas"/>
              </a:rPr>
              <a:t>MULTI-PROVIDER</a:t>
            </a:r>
          </a:p>
        </p:txBody>
      </p:sp>
      <p:sp>
        <p:nvSpPr>
          <p:cNvPr id="18" name="Rounded Rectangle 17"/>
          <p:cNvSpPr/>
          <p:nvPr/>
        </p:nvSpPr>
        <p:spPr>
          <a:xfrm>
            <a:off x="4310481" y="5650992"/>
            <a:ext cx="1364284" cy="329184"/>
          </a:xfrm>
          <a:prstGeom prst="roundRect">
            <a:avLst>
              <a:gd name="adj" fmla="val 50000"/>
            </a:avLst>
          </a:prstGeom>
          <a:solidFill>
            <a:srgbClr val="0A0B10">
              <a:alpha val="55000"/>
            </a:srgbClr>
          </a:solidFill>
          <a:ln w="12700">
            <a:solidFill>
              <a:srgbClr val="2E33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10481" y="5650992"/>
            <a:ext cx="1364284" cy="329184"/>
          </a:xfrm>
          <a:prstGeom prst="rect">
            <a:avLst/>
          </a:prstGeom>
          <a:noFill/>
        </p:spPr>
        <p:txBody>
          <a:bodyPr wrap="square" anchor="ctr" lIns="0" rIns="0" tIns="0" bIns="0">
            <a:spAutoFit/>
          </a:bodyPr>
          <a:lstStyle/>
          <a:p>
            <a:pPr algn="ctr">
              <a:lnSpc>
                <a:spcPct val="100000"/>
              </a:lnSpc>
            </a:pPr>
            <a:r>
              <a:rPr sz="900" b="0" i="0">
                <a:solidFill>
                  <a:srgbClr val="9AA3B8"/>
                </a:solidFill>
                <a:latin typeface="Consolas"/>
              </a:rPr>
              <a:t>8-STEP REASONING</a:t>
            </a:r>
          </a:p>
        </p:txBody>
      </p:sp>
      <p:sp>
        <p:nvSpPr>
          <p:cNvPr id="20" name="TextBox 19"/>
          <p:cNvSpPr txBox="1"/>
          <p:nvPr/>
        </p:nvSpPr>
        <p:spPr>
          <a:xfrm>
            <a:off x="576072" y="6345936"/>
            <a:ext cx="7315200" cy="274320"/>
          </a:xfrm>
          <a:prstGeom prst="rect">
            <a:avLst/>
          </a:prstGeom>
          <a:noFill/>
        </p:spPr>
        <p:txBody>
          <a:bodyPr wrap="square" anchor="t" lIns="0" rIns="0" tIns="0" bIns="0">
            <a:spAutoFit/>
          </a:bodyPr>
          <a:lstStyle/>
          <a:p>
            <a:pPr algn="l">
              <a:lnSpc>
                <a:spcPct val="100000"/>
              </a:lnSpc>
            </a:pPr>
            <a:r>
              <a:rPr sz="850" b="0" i="0" spc="300">
                <a:solidFill>
                  <a:srgbClr val="5D6578"/>
                </a:solidFill>
                <a:latin typeface="Segoe UI"/>
              </a:rPr>
              <a:t>PITCH DECK &amp; TECHNICAL OVERVIEW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02</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EXECUTIVE VISION</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02</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02 — EXECUTIVE VISION</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The Wall Between </a:t>
            </a:r>
            <a:r>
              <a:rPr sz="3000" b="1" i="0">
                <a:solidFill>
                  <a:srgbClr val="A78BFA"/>
                </a:solidFill>
                <a:latin typeface="Segoe UI"/>
              </a:rPr>
              <a:t>You and Your Data</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053328" y="1691640"/>
            <a:ext cx="27432" cy="3931920"/>
          </a:xfrm>
          <a:prstGeom prst="rect">
            <a:avLst/>
          </a:prstGeom>
          <a:gradFill rotWithShape="1">
            <a:gsLst>
              <a:gs pos="0">
                <a:srgbClr val="0A0B10">
                  <a:alpha val="0"/>
                </a:srgbClr>
              </a:gs>
              <a:gs pos="50000">
                <a:srgbClr val="A78BFA">
                  <a:alpha val="85000"/>
                </a:srgbClr>
              </a:gs>
              <a:gs pos="100000">
                <a:srgbClr val="0A0B10">
                  <a:alpha val="0"/>
                </a:srgbClr>
              </a:gs>
            </a:gsLst>
            <a:lin ang="54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627632"/>
            <a:ext cx="5349240" cy="411480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740664" y="1833372"/>
            <a:ext cx="82296" cy="82296"/>
          </a:xfrm>
          <a:prstGeom prst="roundRect">
            <a:avLst>
              <a:gd name="adj" fmla="val 50000"/>
            </a:avLst>
          </a:prstGeom>
          <a:solidFill>
            <a:srgbClr val="9AA3B8"/>
          </a:solidFill>
          <a:ln>
            <a:noFill/>
          </a:ln>
          <a:effectLst>
            <a:glow rad="38100">
              <a:srgbClr val="9AA3B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41832" y="1783080"/>
            <a:ext cx="4663440" cy="274320"/>
          </a:xfrm>
          <a:prstGeom prst="rect">
            <a:avLst/>
          </a:prstGeom>
          <a:noFill/>
        </p:spPr>
        <p:txBody>
          <a:bodyPr wrap="square" anchor="t" lIns="0" rIns="0" tIns="0" bIns="0">
            <a:spAutoFit/>
          </a:bodyPr>
          <a:lstStyle/>
          <a:p>
            <a:pPr algn="l">
              <a:lnSpc>
                <a:spcPct val="100000"/>
              </a:lnSpc>
            </a:pPr>
            <a:r>
              <a:rPr sz="1050" b="0" i="0" spc="150">
                <a:solidFill>
                  <a:srgbClr val="9AA3B8"/>
                </a:solidFill>
                <a:latin typeface="Segoe UI"/>
              </a:rPr>
              <a:t>THE OLD WAY — TRADITIONAL BI</a:t>
            </a:r>
          </a:p>
        </p:txBody>
      </p:sp>
      <p:sp>
        <p:nvSpPr>
          <p:cNvPr id="27" name="TextBox 26"/>
          <p:cNvSpPr txBox="1"/>
          <p:nvPr/>
        </p:nvSpPr>
        <p:spPr>
          <a:xfrm>
            <a:off x="804672" y="2304288"/>
            <a:ext cx="4800600" cy="3291840"/>
          </a:xfrm>
          <a:prstGeom prst="rect">
            <a:avLst/>
          </a:prstGeom>
          <a:noFill/>
        </p:spPr>
        <p:txBody>
          <a:bodyPr wrap="square" anchor="t" lIns="0" rIns="0" tIns="0" bIns="0">
            <a:spAutoFit/>
          </a:bodyPr>
          <a:lstStyle/>
          <a:p>
            <a:pPr algn="l" marL="237744" indent="-237744">
              <a:lnSpc>
                <a:spcPct val="112000"/>
              </a:lnSpc>
              <a:spcAft>
                <a:spcPts val="1400"/>
              </a:spcAft>
            </a:pPr>
            <a:r>
              <a:rPr sz="1300" b="1" i="0">
                <a:solidFill>
                  <a:srgbClr val="F87171"/>
                </a:solidFill>
                <a:latin typeface="Consolas"/>
              </a:rPr>
              <a:t>✕  </a:t>
            </a:r>
            <a:r>
              <a:rPr sz="1300" b="1" i="0">
                <a:solidFill>
                  <a:srgbClr val="F4F6FB"/>
                </a:solidFill>
                <a:latin typeface="Segoe UI"/>
              </a:rPr>
              <a:t>Every question becomes a ticket</a:t>
            </a:r>
            <a:r>
              <a:rPr sz="1300" b="0" i="0">
                <a:solidFill>
                  <a:srgbClr val="9AA3B8"/>
                </a:solidFill>
                <a:latin typeface="Segoe UI"/>
              </a:rPr>
              <a:t> — analysts queue, answers ship days later</a:t>
            </a:r>
          </a:p>
          <a:p>
            <a:pPr algn="l" marL="237744" indent="-237744">
              <a:lnSpc>
                <a:spcPct val="112000"/>
              </a:lnSpc>
              <a:spcAft>
                <a:spcPts val="1400"/>
              </a:spcAft>
            </a:pPr>
            <a:r>
              <a:rPr sz="1300" b="1" i="0">
                <a:solidFill>
                  <a:srgbClr val="F87171"/>
                </a:solidFill>
                <a:latin typeface="Consolas"/>
              </a:rPr>
              <a:t>✕  </a:t>
            </a:r>
            <a:r>
              <a:rPr sz="1300" b="1" i="0">
                <a:solidFill>
                  <a:srgbClr val="F4F6FB"/>
                </a:solidFill>
                <a:latin typeface="Segoe UI"/>
              </a:rPr>
              <a:t>Static dashboards</a:t>
            </a:r>
            <a:r>
              <a:rPr sz="1300" b="0" i="0">
                <a:solidFill>
                  <a:srgbClr val="9AA3B8"/>
                </a:solidFill>
                <a:latin typeface="Segoe UI"/>
              </a:rPr>
              <a:t> — answer yesterday's questions, not today's</a:t>
            </a:r>
          </a:p>
          <a:p>
            <a:pPr algn="l" marL="237744" indent="-237744">
              <a:lnSpc>
                <a:spcPct val="112000"/>
              </a:lnSpc>
              <a:spcAft>
                <a:spcPts val="1400"/>
              </a:spcAft>
            </a:pPr>
            <a:r>
              <a:rPr sz="1300" b="1" i="0">
                <a:solidFill>
                  <a:srgbClr val="F87171"/>
                </a:solidFill>
                <a:latin typeface="Consolas"/>
              </a:rPr>
              <a:t>✕  </a:t>
            </a:r>
            <a:r>
              <a:rPr sz="1300" b="1" i="0">
                <a:solidFill>
                  <a:srgbClr val="F4F6FB"/>
                </a:solidFill>
                <a:latin typeface="Segoe UI"/>
              </a:rPr>
              <a:t>SQL fluency is the bottleneck</a:t>
            </a:r>
            <a:r>
              <a:rPr sz="1300" b="0" i="0">
                <a:solidFill>
                  <a:srgbClr val="9AA3B8"/>
                </a:solidFill>
                <a:latin typeface="Segoe UI"/>
              </a:rPr>
              <a:t> — the data exists; direct access doesn't</a:t>
            </a:r>
          </a:p>
          <a:p>
            <a:pPr algn="l" marL="237744" indent="-237744">
              <a:lnSpc>
                <a:spcPct val="112000"/>
              </a:lnSpc>
              <a:spcAft>
                <a:spcPts val="1400"/>
              </a:spcAft>
            </a:pPr>
            <a:r>
              <a:rPr sz="1300" b="1" i="0">
                <a:solidFill>
                  <a:srgbClr val="F87171"/>
                </a:solidFill>
                <a:latin typeface="Consolas"/>
              </a:rPr>
              <a:t>✕  </a:t>
            </a:r>
            <a:r>
              <a:rPr sz="1300" b="1" i="0">
                <a:solidFill>
                  <a:srgbClr val="F4F6FB"/>
                </a:solidFill>
                <a:latin typeface="Segoe UI"/>
              </a:rPr>
              <a:t>Naive LLM chatbots</a:t>
            </a:r>
            <a:r>
              <a:rPr sz="1300" b="0" i="0">
                <a:solidFill>
                  <a:srgbClr val="9AA3B8"/>
                </a:solidFill>
                <a:latin typeface="Segoe UI"/>
              </a:rPr>
              <a:t> — hallucinate numbers with total confidence</a:t>
            </a:r>
          </a:p>
        </p:txBody>
      </p:sp>
      <p:sp>
        <p:nvSpPr>
          <p:cNvPr id="28" name="Rounded Rectangle 27"/>
          <p:cNvSpPr/>
          <p:nvPr/>
        </p:nvSpPr>
        <p:spPr>
          <a:xfrm>
            <a:off x="6382512" y="1627632"/>
            <a:ext cx="5349240" cy="411480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620256" y="183337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21424" y="1783080"/>
            <a:ext cx="4663440" cy="274320"/>
          </a:xfrm>
          <a:prstGeom prst="rect">
            <a:avLst/>
          </a:prstGeom>
          <a:noFill/>
        </p:spPr>
        <p:txBody>
          <a:bodyPr wrap="square" anchor="t" lIns="0" rIns="0" tIns="0" bIns="0">
            <a:spAutoFit/>
          </a:bodyPr>
          <a:lstStyle/>
          <a:p>
            <a:pPr algn="l">
              <a:lnSpc>
                <a:spcPct val="100000"/>
              </a:lnSpc>
            </a:pPr>
            <a:r>
              <a:rPr sz="1050" b="0" i="0" spc="150">
                <a:solidFill>
                  <a:srgbClr val="A78BFA"/>
                </a:solidFill>
                <a:latin typeface="Segoe UI"/>
              </a:rPr>
              <a:t>THE ZODIAC WAY</a:t>
            </a:r>
          </a:p>
        </p:txBody>
      </p:sp>
      <p:sp>
        <p:nvSpPr>
          <p:cNvPr id="31" name="TextBox 30"/>
          <p:cNvSpPr txBox="1"/>
          <p:nvPr/>
        </p:nvSpPr>
        <p:spPr>
          <a:xfrm>
            <a:off x="6684264" y="2304288"/>
            <a:ext cx="4800600" cy="3291840"/>
          </a:xfrm>
          <a:prstGeom prst="rect">
            <a:avLst/>
          </a:prstGeom>
          <a:noFill/>
        </p:spPr>
        <p:txBody>
          <a:bodyPr wrap="square" anchor="t" lIns="0" rIns="0" tIns="0" bIns="0">
            <a:spAutoFit/>
          </a:bodyPr>
          <a:lstStyle/>
          <a:p>
            <a:pPr algn="l" marL="237744" indent="-237744">
              <a:lnSpc>
                <a:spcPct val="112000"/>
              </a:lnSpc>
              <a:spcAft>
                <a:spcPts val="1400"/>
              </a:spcAft>
            </a:pPr>
            <a:r>
              <a:rPr sz="1300" b="1" i="0">
                <a:solidFill>
                  <a:srgbClr val="A78BFA"/>
                </a:solidFill>
                <a:latin typeface="Consolas"/>
              </a:rPr>
              <a:t>▸  </a:t>
            </a:r>
            <a:r>
              <a:rPr sz="1300" b="1" i="0">
                <a:solidFill>
                  <a:srgbClr val="F4F6FB"/>
                </a:solidFill>
                <a:latin typeface="Segoe UI"/>
              </a:rPr>
              <a:t>Ask in plain English</a:t>
            </a:r>
            <a:r>
              <a:rPr sz="1300" b="0" i="0">
                <a:solidFill>
                  <a:srgbClr val="9AA3B8"/>
                </a:solidFill>
                <a:latin typeface="Segoe UI"/>
              </a:rPr>
              <a:t> — get the exact SQL, executed live</a:t>
            </a:r>
          </a:p>
          <a:p>
            <a:pPr algn="l" marL="237744" indent="-237744">
              <a:lnSpc>
                <a:spcPct val="112000"/>
              </a:lnSpc>
              <a:spcAft>
                <a:spcPts val="1400"/>
              </a:spcAft>
            </a:pPr>
            <a:r>
              <a:rPr sz="1300" b="1" i="0">
                <a:solidFill>
                  <a:srgbClr val="A78BFA"/>
                </a:solidFill>
                <a:latin typeface="Consolas"/>
              </a:rPr>
              <a:t>▸  </a:t>
            </a:r>
            <a:r>
              <a:rPr sz="1300" b="1" i="0">
                <a:solidFill>
                  <a:srgbClr val="F4F6FB"/>
                </a:solidFill>
                <a:latin typeface="Segoe UI"/>
              </a:rPr>
              <a:t>Visual answers</a:t>
            </a:r>
            <a:r>
              <a:rPr sz="1300" b="0" i="0">
                <a:solidFill>
                  <a:srgbClr val="9AA3B8"/>
                </a:solidFill>
                <a:latin typeface="Segoe UI"/>
              </a:rPr>
              <a:t> — interactive Plotly charts + live Mermaid diagrams</a:t>
            </a:r>
          </a:p>
          <a:p>
            <a:pPr algn="l" marL="237744" indent="-237744">
              <a:lnSpc>
                <a:spcPct val="112000"/>
              </a:lnSpc>
              <a:spcAft>
                <a:spcPts val="1400"/>
              </a:spcAft>
            </a:pPr>
            <a:r>
              <a:rPr sz="1300" b="1" i="0">
                <a:solidFill>
                  <a:srgbClr val="A78BFA"/>
                </a:solidFill>
                <a:latin typeface="Consolas"/>
              </a:rPr>
              <a:t>▸  </a:t>
            </a:r>
            <a:r>
              <a:rPr sz="1300" b="1" i="0">
                <a:solidFill>
                  <a:srgbClr val="F4F6FB"/>
                </a:solidFill>
                <a:latin typeface="Segoe UI"/>
              </a:rPr>
              <a:t>Grounded numbers</a:t>
            </a:r>
            <a:r>
              <a:rPr sz="1300" b="0" i="0">
                <a:solidFill>
                  <a:srgbClr val="9AA3B8"/>
                </a:solidFill>
                <a:latin typeface="Segoe UI"/>
              </a:rPr>
              <a:t> — every figure computed from real result sets</a:t>
            </a:r>
          </a:p>
          <a:p>
            <a:pPr algn="l" marL="237744" indent="-237744">
              <a:lnSpc>
                <a:spcPct val="112000"/>
              </a:lnSpc>
              <a:spcAft>
                <a:spcPts val="1400"/>
              </a:spcAft>
            </a:pPr>
            <a:r>
              <a:rPr sz="1300" b="1" i="0">
                <a:solidFill>
                  <a:srgbClr val="A78BFA"/>
                </a:solidFill>
                <a:latin typeface="Consolas"/>
              </a:rPr>
              <a:t>▸  </a:t>
            </a:r>
            <a:r>
              <a:rPr sz="1300" b="1" i="0">
                <a:solidFill>
                  <a:srgbClr val="F4F6FB"/>
                </a:solidFill>
                <a:latin typeface="Segoe UI"/>
              </a:rPr>
              <a:t>Zero-latency analytics</a:t>
            </a:r>
            <a:r>
              <a:rPr sz="1300" b="0" i="0">
                <a:solidFill>
                  <a:srgbClr val="9AA3B8"/>
                </a:solidFill>
                <a:latin typeface="Segoe UI"/>
              </a:rPr>
              <a:t> — answers at the speed of conversation</a:t>
            </a:r>
          </a:p>
        </p:txBody>
      </p:sp>
      <p:sp>
        <p:nvSpPr>
          <p:cNvPr id="32" name="Rounded Rectangle 31"/>
          <p:cNvSpPr/>
          <p:nvPr/>
        </p:nvSpPr>
        <p:spPr>
          <a:xfrm>
            <a:off x="502920" y="594360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13232" y="6112764"/>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32688" y="594360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ANALYTICS AT THE SPEED OF CONVERSATION — WITHOUT THE HALLUCINATION TAX</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03</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TECH STACK</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03</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03 — TECH STACK</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The Stack — </a:t>
            </a:r>
            <a:r>
              <a:rPr sz="3000" b="1" i="0">
                <a:solidFill>
                  <a:srgbClr val="A78BFA"/>
                </a:solidFill>
                <a:latin typeface="Segoe UI"/>
              </a:rPr>
              <a:t>Engineered for Speed, Built to Swap</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27632"/>
            <a:ext cx="6858000" cy="932688"/>
          </a:xfrm>
          <a:prstGeom prst="roundRect">
            <a:avLst>
              <a:gd name="adj" fmla="val 12000"/>
            </a:avLst>
          </a:prstGeom>
          <a:solidFill>
            <a:srgbClr val="10131C">
              <a:alpha val="88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1627632"/>
            <a:ext cx="2103120" cy="932688"/>
          </a:xfrm>
          <a:prstGeom prst="roundRect">
            <a:avLst>
              <a:gd name="adj" fmla="val 12000"/>
            </a:avLst>
          </a:prstGeom>
          <a:solidFill>
            <a:srgbClr val="1D1737">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87752" y="1737360"/>
            <a:ext cx="21945" cy="71323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1627632"/>
            <a:ext cx="2103120" cy="932688"/>
          </a:xfrm>
          <a:prstGeom prst="rect">
            <a:avLst/>
          </a:prstGeom>
          <a:noFill/>
        </p:spPr>
        <p:txBody>
          <a:bodyPr wrap="square" anchor="ctr" lIns="0" rIns="0" tIns="0" bIns="0">
            <a:spAutoFit/>
          </a:bodyPr>
          <a:lstStyle/>
          <a:p>
            <a:pPr algn="ctr">
              <a:lnSpc>
                <a:spcPct val="100000"/>
              </a:lnSpc>
            </a:pPr>
            <a:r>
              <a:rPr sz="1350" b="1" i="0" spc="110">
                <a:solidFill>
                  <a:srgbClr val="A78BFA"/>
                </a:solidFill>
                <a:latin typeface="Consolas"/>
              </a:rPr>
              <a:t>FRONTEND</a:t>
            </a:r>
          </a:p>
        </p:txBody>
      </p:sp>
      <p:sp>
        <p:nvSpPr>
          <p:cNvPr id="27" name="TextBox 26"/>
          <p:cNvSpPr txBox="1"/>
          <p:nvPr/>
        </p:nvSpPr>
        <p:spPr>
          <a:xfrm>
            <a:off x="2834640" y="1764792"/>
            <a:ext cx="5120640" cy="347472"/>
          </a:xfrm>
          <a:prstGeom prst="rect">
            <a:avLst/>
          </a:prstGeom>
          <a:noFill/>
        </p:spPr>
        <p:txBody>
          <a:bodyPr wrap="square" anchor="t" lIns="0" rIns="0" tIns="0" bIns="0">
            <a:spAutoFit/>
          </a:bodyPr>
          <a:lstStyle/>
          <a:p>
            <a:pPr algn="l">
              <a:lnSpc>
                <a:spcPct val="100000"/>
              </a:lnSpc>
            </a:pPr>
            <a:r>
              <a:rPr sz="1450" b="1" i="0">
                <a:solidFill>
                  <a:srgbClr val="F4F6FB"/>
                </a:solidFill>
                <a:latin typeface="Segoe UI"/>
              </a:rPr>
              <a:t>React + TanStack Query</a:t>
            </a:r>
          </a:p>
        </p:txBody>
      </p:sp>
      <p:sp>
        <p:nvSpPr>
          <p:cNvPr id="28" name="TextBox 27"/>
          <p:cNvSpPr txBox="1"/>
          <p:nvPr/>
        </p:nvSpPr>
        <p:spPr>
          <a:xfrm>
            <a:off x="2834640" y="2121408"/>
            <a:ext cx="4480560" cy="384048"/>
          </a:xfrm>
          <a:prstGeom prst="rect">
            <a:avLst/>
          </a:prstGeom>
          <a:noFill/>
        </p:spPr>
        <p:txBody>
          <a:bodyPr wrap="square" anchor="t" lIns="0" rIns="0" tIns="0" bIns="0">
            <a:spAutoFit/>
          </a:bodyPr>
          <a:lstStyle/>
          <a:p>
            <a:pPr algn="l">
              <a:lnSpc>
                <a:spcPct val="100000"/>
              </a:lnSpc>
            </a:pPr>
            <a:r>
              <a:rPr sz="950" b="0" i="0">
                <a:solidFill>
                  <a:srgbClr val="9AA3B8"/>
                </a:solidFill>
                <a:latin typeface="Segoe UI"/>
              </a:rPr>
              <a:t>Declarative UI · async server-state · smart caching &amp; live refetch</a:t>
            </a:r>
          </a:p>
        </p:txBody>
      </p:sp>
      <p:sp>
        <p:nvSpPr>
          <p:cNvPr id="29" name="TextBox 28"/>
          <p:cNvSpPr txBox="1"/>
          <p:nvPr/>
        </p:nvSpPr>
        <p:spPr>
          <a:xfrm>
            <a:off x="8138160" y="1627632"/>
            <a:ext cx="566928" cy="932688"/>
          </a:xfrm>
          <a:prstGeom prst="rect">
            <a:avLst/>
          </a:prstGeom>
          <a:noFill/>
        </p:spPr>
        <p:txBody>
          <a:bodyPr wrap="square" anchor="ctr" lIns="0" rIns="0" tIns="0" bIns="0">
            <a:spAutoFit/>
          </a:bodyPr>
          <a:lstStyle/>
          <a:p>
            <a:pPr algn="r">
              <a:lnSpc>
                <a:spcPct val="100000"/>
              </a:lnSpc>
            </a:pPr>
            <a:r>
              <a:rPr sz="750" b="0" i="0">
                <a:solidFill>
                  <a:srgbClr val="A78BFA"/>
                </a:solidFill>
                <a:latin typeface="Consolas"/>
              </a:rPr>
              <a:t>async · cached · live</a:t>
            </a:r>
          </a:p>
        </p:txBody>
      </p:sp>
      <p:sp>
        <p:nvSpPr>
          <p:cNvPr id="30" name="Rounded Rectangle 29"/>
          <p:cNvSpPr/>
          <p:nvPr/>
        </p:nvSpPr>
        <p:spPr>
          <a:xfrm>
            <a:off x="502920" y="2697480"/>
            <a:ext cx="6858000" cy="932688"/>
          </a:xfrm>
          <a:prstGeom prst="roundRect">
            <a:avLst>
              <a:gd name="adj" fmla="val 12000"/>
            </a:avLst>
          </a:prstGeom>
          <a:solidFill>
            <a:srgbClr val="10131C">
              <a:alpha val="88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02920" y="2697480"/>
            <a:ext cx="2103120" cy="932688"/>
          </a:xfrm>
          <a:prstGeom prst="roundRect">
            <a:avLst>
              <a:gd name="adj" fmla="val 12000"/>
            </a:avLst>
          </a:prstGeom>
          <a:solidFill>
            <a:srgbClr val="151B36">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587752" y="2807208"/>
            <a:ext cx="21945" cy="713232"/>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02920" y="2697480"/>
            <a:ext cx="2103120" cy="932688"/>
          </a:xfrm>
          <a:prstGeom prst="rect">
            <a:avLst/>
          </a:prstGeom>
          <a:noFill/>
        </p:spPr>
        <p:txBody>
          <a:bodyPr wrap="square" anchor="ctr" lIns="0" rIns="0" tIns="0" bIns="0">
            <a:spAutoFit/>
          </a:bodyPr>
          <a:lstStyle/>
          <a:p>
            <a:pPr algn="ctr">
              <a:lnSpc>
                <a:spcPct val="100000"/>
              </a:lnSpc>
            </a:pPr>
            <a:r>
              <a:rPr sz="1350" b="1" i="0" spc="110">
                <a:solidFill>
                  <a:srgbClr val="818CF8"/>
                </a:solidFill>
                <a:latin typeface="Consolas"/>
              </a:rPr>
              <a:t>BACKEND</a:t>
            </a:r>
          </a:p>
        </p:txBody>
      </p:sp>
      <p:sp>
        <p:nvSpPr>
          <p:cNvPr id="34" name="TextBox 33"/>
          <p:cNvSpPr txBox="1"/>
          <p:nvPr/>
        </p:nvSpPr>
        <p:spPr>
          <a:xfrm>
            <a:off x="2834640" y="2834640"/>
            <a:ext cx="5120640" cy="347472"/>
          </a:xfrm>
          <a:prstGeom prst="rect">
            <a:avLst/>
          </a:prstGeom>
          <a:noFill/>
        </p:spPr>
        <p:txBody>
          <a:bodyPr wrap="square" anchor="t" lIns="0" rIns="0" tIns="0" bIns="0">
            <a:spAutoFit/>
          </a:bodyPr>
          <a:lstStyle/>
          <a:p>
            <a:pPr algn="l">
              <a:lnSpc>
                <a:spcPct val="100000"/>
              </a:lnSpc>
            </a:pPr>
            <a:r>
              <a:rPr sz="1450" b="1" i="0">
                <a:solidFill>
                  <a:srgbClr val="F4F6FB"/>
                </a:solidFill>
                <a:latin typeface="Segoe UI"/>
              </a:rPr>
              <a:t>FastAPI (Python)</a:t>
            </a:r>
          </a:p>
        </p:txBody>
      </p:sp>
      <p:sp>
        <p:nvSpPr>
          <p:cNvPr id="35" name="TextBox 34"/>
          <p:cNvSpPr txBox="1"/>
          <p:nvPr/>
        </p:nvSpPr>
        <p:spPr>
          <a:xfrm>
            <a:off x="2834640" y="3191256"/>
            <a:ext cx="4480560" cy="384048"/>
          </a:xfrm>
          <a:prstGeom prst="rect">
            <a:avLst/>
          </a:prstGeom>
          <a:noFill/>
        </p:spPr>
        <p:txBody>
          <a:bodyPr wrap="square" anchor="t" lIns="0" rIns="0" tIns="0" bIns="0">
            <a:spAutoFit/>
          </a:bodyPr>
          <a:lstStyle/>
          <a:p>
            <a:pPr algn="l">
              <a:lnSpc>
                <a:spcPct val="100000"/>
              </a:lnSpc>
            </a:pPr>
            <a:r>
              <a:rPr sz="950" b="0" i="0">
                <a:solidFill>
                  <a:srgbClr val="9AA3B8"/>
                </a:solidFill>
                <a:latin typeface="Segoe UI"/>
              </a:rPr>
              <a:t>Async endpoints · Pydantic-validated payloads · native streaming</a:t>
            </a:r>
          </a:p>
        </p:txBody>
      </p:sp>
      <p:sp>
        <p:nvSpPr>
          <p:cNvPr id="36" name="TextBox 35"/>
          <p:cNvSpPr txBox="1"/>
          <p:nvPr/>
        </p:nvSpPr>
        <p:spPr>
          <a:xfrm>
            <a:off x="8138160" y="2697480"/>
            <a:ext cx="566928" cy="932688"/>
          </a:xfrm>
          <a:prstGeom prst="rect">
            <a:avLst/>
          </a:prstGeom>
          <a:noFill/>
        </p:spPr>
        <p:txBody>
          <a:bodyPr wrap="square" anchor="ctr" lIns="0" rIns="0" tIns="0" bIns="0">
            <a:spAutoFit/>
          </a:bodyPr>
          <a:lstStyle/>
          <a:p>
            <a:pPr algn="r">
              <a:lnSpc>
                <a:spcPct val="100000"/>
              </a:lnSpc>
            </a:pPr>
            <a:r>
              <a:rPr sz="750" b="0" i="0">
                <a:solidFill>
                  <a:srgbClr val="818CF8"/>
                </a:solidFill>
                <a:latin typeface="Consolas"/>
              </a:rPr>
              <a:t>fast · typed · streams</a:t>
            </a:r>
          </a:p>
        </p:txBody>
      </p:sp>
      <p:sp>
        <p:nvSpPr>
          <p:cNvPr id="37" name="Rounded Rectangle 36"/>
          <p:cNvSpPr/>
          <p:nvPr/>
        </p:nvSpPr>
        <p:spPr>
          <a:xfrm>
            <a:off x="502920" y="3767328"/>
            <a:ext cx="6858000" cy="932688"/>
          </a:xfrm>
          <a:prstGeom prst="roundRect">
            <a:avLst>
              <a:gd name="adj" fmla="val 12000"/>
            </a:avLst>
          </a:prstGeom>
          <a:solidFill>
            <a:srgbClr val="10131C">
              <a:alpha val="88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02920" y="3767328"/>
            <a:ext cx="2103120" cy="932688"/>
          </a:xfrm>
          <a:prstGeom prst="roundRect">
            <a:avLst>
              <a:gd name="adj" fmla="val 12000"/>
            </a:avLst>
          </a:prstGeom>
          <a:solidFill>
            <a:srgbClr val="1D1737">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587752" y="3877056"/>
            <a:ext cx="21945" cy="71323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02920" y="3767328"/>
            <a:ext cx="2103120" cy="932688"/>
          </a:xfrm>
          <a:prstGeom prst="rect">
            <a:avLst/>
          </a:prstGeom>
          <a:noFill/>
        </p:spPr>
        <p:txBody>
          <a:bodyPr wrap="square" anchor="ctr" lIns="0" rIns="0" tIns="0" bIns="0">
            <a:spAutoFit/>
          </a:bodyPr>
          <a:lstStyle/>
          <a:p>
            <a:pPr algn="ctr">
              <a:lnSpc>
                <a:spcPct val="100000"/>
              </a:lnSpc>
            </a:pPr>
            <a:r>
              <a:rPr sz="1350" b="1" i="0" spc="110">
                <a:solidFill>
                  <a:srgbClr val="A78BFA"/>
                </a:solidFill>
                <a:latin typeface="Consolas"/>
              </a:rPr>
              <a:t>AI LAYER</a:t>
            </a:r>
          </a:p>
        </p:txBody>
      </p:sp>
      <p:sp>
        <p:nvSpPr>
          <p:cNvPr id="41" name="TextBox 40"/>
          <p:cNvSpPr txBox="1"/>
          <p:nvPr/>
        </p:nvSpPr>
        <p:spPr>
          <a:xfrm>
            <a:off x="2834640" y="3904488"/>
            <a:ext cx="5120640" cy="347472"/>
          </a:xfrm>
          <a:prstGeom prst="rect">
            <a:avLst/>
          </a:prstGeom>
          <a:noFill/>
        </p:spPr>
        <p:txBody>
          <a:bodyPr wrap="square" anchor="t" lIns="0" rIns="0" tIns="0" bIns="0">
            <a:spAutoFit/>
          </a:bodyPr>
          <a:lstStyle/>
          <a:p>
            <a:pPr algn="l">
              <a:lnSpc>
                <a:spcPct val="100000"/>
              </a:lnSpc>
            </a:pPr>
            <a:r>
              <a:rPr sz="1450" b="1" i="0">
                <a:solidFill>
                  <a:srgbClr val="F4F6FB"/>
                </a:solidFill>
                <a:latin typeface="Segoe UI"/>
              </a:rPr>
              <a:t>Groq + Gemini</a:t>
            </a:r>
          </a:p>
        </p:txBody>
      </p:sp>
      <p:sp>
        <p:nvSpPr>
          <p:cNvPr id="42" name="TextBox 41"/>
          <p:cNvSpPr txBox="1"/>
          <p:nvPr/>
        </p:nvSpPr>
        <p:spPr>
          <a:xfrm>
            <a:off x="2834640" y="4261104"/>
            <a:ext cx="4480560" cy="384048"/>
          </a:xfrm>
          <a:prstGeom prst="rect">
            <a:avLst/>
          </a:prstGeom>
          <a:noFill/>
        </p:spPr>
        <p:txBody>
          <a:bodyPr wrap="square" anchor="t" lIns="0" rIns="0" tIns="0" bIns="0">
            <a:spAutoFit/>
          </a:bodyPr>
          <a:lstStyle/>
          <a:p>
            <a:pPr algn="l">
              <a:lnSpc>
                <a:spcPct val="100000"/>
              </a:lnSpc>
            </a:pPr>
            <a:r>
              <a:rPr sz="950" b="0" i="0">
                <a:solidFill>
                  <a:srgbClr val="9AA3B8"/>
                </a:solidFill>
                <a:latin typeface="Segoe UI"/>
              </a:rPr>
              <a:t>Dual LLM providers behind a single router interface</a:t>
            </a:r>
          </a:p>
        </p:txBody>
      </p:sp>
      <p:sp>
        <p:nvSpPr>
          <p:cNvPr id="43" name="TextBox 42"/>
          <p:cNvSpPr txBox="1"/>
          <p:nvPr/>
        </p:nvSpPr>
        <p:spPr>
          <a:xfrm>
            <a:off x="8138160" y="3767328"/>
            <a:ext cx="566928" cy="932688"/>
          </a:xfrm>
          <a:prstGeom prst="rect">
            <a:avLst/>
          </a:prstGeom>
          <a:noFill/>
        </p:spPr>
        <p:txBody>
          <a:bodyPr wrap="square" anchor="ctr" lIns="0" rIns="0" tIns="0" bIns="0">
            <a:spAutoFit/>
          </a:bodyPr>
          <a:lstStyle/>
          <a:p>
            <a:pPr algn="r">
              <a:lnSpc>
                <a:spcPct val="100000"/>
              </a:lnSpc>
            </a:pPr>
            <a:r>
              <a:rPr sz="750" b="0" i="0">
                <a:solidFill>
                  <a:srgbClr val="A78BFA"/>
                </a:solidFill>
                <a:latin typeface="Consolas"/>
              </a:rPr>
              <a:t>fallback-ready</a:t>
            </a:r>
          </a:p>
        </p:txBody>
      </p:sp>
      <p:sp>
        <p:nvSpPr>
          <p:cNvPr id="44" name="Rounded Rectangle 43"/>
          <p:cNvSpPr/>
          <p:nvPr/>
        </p:nvSpPr>
        <p:spPr>
          <a:xfrm>
            <a:off x="502920" y="4837176"/>
            <a:ext cx="6858000" cy="932688"/>
          </a:xfrm>
          <a:prstGeom prst="roundRect">
            <a:avLst>
              <a:gd name="adj" fmla="val 12000"/>
            </a:avLst>
          </a:prstGeom>
          <a:solidFill>
            <a:srgbClr val="10131C">
              <a:alpha val="88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02920" y="4837176"/>
            <a:ext cx="2103120" cy="932688"/>
          </a:xfrm>
          <a:prstGeom prst="roundRect">
            <a:avLst>
              <a:gd name="adj" fmla="val 12000"/>
            </a:avLst>
          </a:prstGeom>
          <a:solidFill>
            <a:srgbClr val="151B36">
              <a:alpha val="9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2587752" y="4946904"/>
            <a:ext cx="21945" cy="713232"/>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4837176"/>
            <a:ext cx="2103120" cy="932688"/>
          </a:xfrm>
          <a:prstGeom prst="rect">
            <a:avLst/>
          </a:prstGeom>
          <a:noFill/>
        </p:spPr>
        <p:txBody>
          <a:bodyPr wrap="square" anchor="ctr" lIns="0" rIns="0" tIns="0" bIns="0">
            <a:spAutoFit/>
          </a:bodyPr>
          <a:lstStyle/>
          <a:p>
            <a:pPr algn="ctr">
              <a:lnSpc>
                <a:spcPct val="100000"/>
              </a:lnSpc>
            </a:pPr>
            <a:r>
              <a:rPr sz="1350" b="1" i="0" spc="110">
                <a:solidFill>
                  <a:srgbClr val="818CF8"/>
                </a:solidFill>
                <a:latin typeface="Consolas"/>
              </a:rPr>
              <a:t>DATA</a:t>
            </a:r>
          </a:p>
        </p:txBody>
      </p:sp>
      <p:sp>
        <p:nvSpPr>
          <p:cNvPr id="48" name="TextBox 47"/>
          <p:cNvSpPr txBox="1"/>
          <p:nvPr/>
        </p:nvSpPr>
        <p:spPr>
          <a:xfrm>
            <a:off x="2834640" y="4974336"/>
            <a:ext cx="5120640" cy="347472"/>
          </a:xfrm>
          <a:prstGeom prst="rect">
            <a:avLst/>
          </a:prstGeom>
          <a:noFill/>
        </p:spPr>
        <p:txBody>
          <a:bodyPr wrap="square" anchor="t" lIns="0" rIns="0" tIns="0" bIns="0">
            <a:spAutoFit/>
          </a:bodyPr>
          <a:lstStyle/>
          <a:p>
            <a:pPr algn="l">
              <a:lnSpc>
                <a:spcPct val="100000"/>
              </a:lnSpc>
            </a:pPr>
            <a:r>
              <a:rPr sz="1450" b="1" i="0">
                <a:solidFill>
                  <a:srgbClr val="F4F6FB"/>
                </a:solidFill>
                <a:latin typeface="Segoe UI"/>
              </a:rPr>
              <a:t>SQLite</a:t>
            </a:r>
          </a:p>
        </p:txBody>
      </p:sp>
      <p:sp>
        <p:nvSpPr>
          <p:cNvPr id="49" name="TextBox 48"/>
          <p:cNvSpPr txBox="1"/>
          <p:nvPr/>
        </p:nvSpPr>
        <p:spPr>
          <a:xfrm>
            <a:off x="2834640" y="5330952"/>
            <a:ext cx="4480560" cy="384048"/>
          </a:xfrm>
          <a:prstGeom prst="rect">
            <a:avLst/>
          </a:prstGeom>
          <a:noFill/>
        </p:spPr>
        <p:txBody>
          <a:bodyPr wrap="square" anchor="t" lIns="0" rIns="0" tIns="0" bIns="0">
            <a:spAutoFit/>
          </a:bodyPr>
          <a:lstStyle/>
          <a:p>
            <a:pPr algn="l">
              <a:lnSpc>
                <a:spcPct val="100000"/>
              </a:lnSpc>
            </a:pPr>
            <a:r>
              <a:rPr sz="950" b="0" i="0">
                <a:solidFill>
                  <a:srgbClr val="9AA3B8"/>
                </a:solidFill>
                <a:latin typeface="Segoe UI"/>
              </a:rPr>
              <a:t>Zero-config · file-based · instantly portable — swap for Postgres/MySQL</a:t>
            </a:r>
          </a:p>
        </p:txBody>
      </p:sp>
      <p:sp>
        <p:nvSpPr>
          <p:cNvPr id="50" name="TextBox 49"/>
          <p:cNvSpPr txBox="1"/>
          <p:nvPr/>
        </p:nvSpPr>
        <p:spPr>
          <a:xfrm>
            <a:off x="8138160" y="4837176"/>
            <a:ext cx="566928" cy="932688"/>
          </a:xfrm>
          <a:prstGeom prst="rect">
            <a:avLst/>
          </a:prstGeom>
          <a:noFill/>
        </p:spPr>
        <p:txBody>
          <a:bodyPr wrap="square" anchor="ctr" lIns="0" rIns="0" tIns="0" bIns="0">
            <a:spAutoFit/>
          </a:bodyPr>
          <a:lstStyle/>
          <a:p>
            <a:pPr algn="r">
              <a:lnSpc>
                <a:spcPct val="100000"/>
              </a:lnSpc>
            </a:pPr>
            <a:r>
              <a:rPr sz="750" b="0" i="0">
                <a:solidFill>
                  <a:srgbClr val="818CF8"/>
                </a:solidFill>
                <a:latin typeface="Consolas"/>
              </a:rPr>
              <a:t>ships in the repo</a:t>
            </a:r>
          </a:p>
        </p:txBody>
      </p:sp>
      <p:sp>
        <p:nvSpPr>
          <p:cNvPr id="51" name="Rounded Rectangle 50"/>
          <p:cNvSpPr/>
          <p:nvPr/>
        </p:nvSpPr>
        <p:spPr>
          <a:xfrm>
            <a:off x="7635240" y="1627632"/>
            <a:ext cx="4050791" cy="416052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7872983" y="1833372"/>
            <a:ext cx="82296" cy="82296"/>
          </a:xfrm>
          <a:prstGeom prst="roundRect">
            <a:avLst>
              <a:gd name="adj" fmla="val 50000"/>
            </a:avLst>
          </a:prstGeom>
          <a:solidFill>
            <a:srgbClr val="818CF8"/>
          </a:solidFill>
          <a:ln>
            <a:noFill/>
          </a:ln>
          <a:effectLst>
            <a:glow rad="38100">
              <a:srgbClr val="818CF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074152" y="1783080"/>
            <a:ext cx="3364991" cy="274320"/>
          </a:xfrm>
          <a:prstGeom prst="rect">
            <a:avLst/>
          </a:prstGeom>
          <a:noFill/>
        </p:spPr>
        <p:txBody>
          <a:bodyPr wrap="square" anchor="t" lIns="0" rIns="0" tIns="0" bIns="0">
            <a:spAutoFit/>
          </a:bodyPr>
          <a:lstStyle/>
          <a:p>
            <a:pPr algn="l">
              <a:lnSpc>
                <a:spcPct val="100000"/>
              </a:lnSpc>
            </a:pPr>
            <a:r>
              <a:rPr sz="1050" b="0" i="0" spc="150">
                <a:solidFill>
                  <a:srgbClr val="818CF8"/>
                </a:solidFill>
                <a:latin typeface="Segoe UI"/>
              </a:rPr>
              <a:t>SYSTEM CROSS-SECTION</a:t>
            </a:r>
          </a:p>
        </p:txBody>
      </p:sp>
      <p:pic>
        <p:nvPicPr>
          <p:cNvPr id="54" name="Picture 53" descr="stack-visual.jpg"/>
          <p:cNvPicPr>
            <a:picLocks noChangeAspect="1"/>
          </p:cNvPicPr>
          <p:nvPr/>
        </p:nvPicPr>
        <p:blipFill>
          <a:blip r:embed="rId3"/>
          <a:stretch>
            <a:fillRect/>
          </a:stretch>
        </p:blipFill>
        <p:spPr>
          <a:xfrm>
            <a:off x="7818120" y="2611443"/>
            <a:ext cx="3685032" cy="2010017"/>
          </a:xfrm>
          <a:prstGeom prst="rect">
            <a:avLst/>
          </a:prstGeom>
          <a:effectLst>
            <a:outerShdw blurRad="201168" dist="45720" dir="5400000" rotWithShape="0">
              <a:srgbClr val="000000">
                <a:alpha val="55000"/>
              </a:srgbClr>
            </a:outerShdw>
          </a:effectLst>
        </p:spPr>
      </p:pic>
      <p:sp>
        <p:nvSpPr>
          <p:cNvPr id="55" name="TextBox 54"/>
          <p:cNvSpPr txBox="1"/>
          <p:nvPr/>
        </p:nvSpPr>
        <p:spPr>
          <a:xfrm>
            <a:off x="7818120" y="5212079"/>
            <a:ext cx="3685032" cy="274320"/>
          </a:xfrm>
          <a:prstGeom prst="rect">
            <a:avLst/>
          </a:prstGeom>
          <a:noFill/>
        </p:spPr>
        <p:txBody>
          <a:bodyPr wrap="square" anchor="t" lIns="0" rIns="0" tIns="0" bIns="0">
            <a:spAutoFit/>
          </a:bodyPr>
          <a:lstStyle/>
          <a:p>
            <a:pPr algn="ctr">
              <a:lnSpc>
                <a:spcPct val="100000"/>
              </a:lnSpc>
            </a:pPr>
            <a:r>
              <a:rPr sz="800" b="0" i="0" spc="60">
                <a:solidFill>
                  <a:srgbClr val="818CF8"/>
                </a:solidFill>
                <a:latin typeface="Consolas"/>
              </a:rPr>
              <a:t>SWAP ANY LAYER — THE AGENT DOESN'T CARE</a:t>
            </a:r>
          </a:p>
        </p:txBody>
      </p:sp>
      <p:sp>
        <p:nvSpPr>
          <p:cNvPr id="56" name="Rounded Rectangle 55"/>
          <p:cNvSpPr/>
          <p:nvPr/>
        </p:nvSpPr>
        <p:spPr>
          <a:xfrm>
            <a:off x="502920" y="598932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713232" y="6158483"/>
            <a:ext cx="82296" cy="82296"/>
          </a:xfrm>
          <a:prstGeom prst="roundRect">
            <a:avLst>
              <a:gd name="adj" fmla="val 50000"/>
            </a:avLst>
          </a:prstGeom>
          <a:solidFill>
            <a:srgbClr val="818CF8"/>
          </a:solidFill>
          <a:ln>
            <a:noFill/>
          </a:ln>
          <a:effectLst>
            <a:glow rad="38100">
              <a:srgbClr val="818CF8">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32688" y="598932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DESIGN PRINCIPLE — EVERY LAYER IS MODULAR. SWAP ANY COMPONENT WITHOUT REWRITING THE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04</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AI ARCHITECTURE</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04</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04 — MULTI-PROVIDER AI ARCHITECTURE</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Two Brains, One Loop — </a:t>
            </a:r>
            <a:r>
              <a:rPr sz="3000" b="1" i="0">
                <a:solidFill>
                  <a:srgbClr val="A78BFA"/>
                </a:solidFill>
                <a:latin typeface="Segoe UI"/>
              </a:rPr>
              <a:t>Never Offline</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27632"/>
            <a:ext cx="4892040" cy="416052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0664" y="1833372"/>
            <a:ext cx="82296" cy="82296"/>
          </a:xfrm>
          <a:prstGeom prst="roundRect">
            <a:avLst>
              <a:gd name="adj" fmla="val 50000"/>
            </a:avLst>
          </a:prstGeom>
          <a:solidFill>
            <a:srgbClr val="818CF8"/>
          </a:solidFill>
          <a:ln>
            <a:noFill/>
          </a:ln>
          <a:effectLst>
            <a:glow rad="38100">
              <a:srgbClr val="818CF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1783080"/>
            <a:ext cx="4206240" cy="274320"/>
          </a:xfrm>
          <a:prstGeom prst="rect">
            <a:avLst/>
          </a:prstGeom>
          <a:noFill/>
        </p:spPr>
        <p:txBody>
          <a:bodyPr wrap="square" anchor="t" lIns="0" rIns="0" tIns="0" bIns="0">
            <a:spAutoFit/>
          </a:bodyPr>
          <a:lstStyle/>
          <a:p>
            <a:pPr algn="l">
              <a:lnSpc>
                <a:spcPct val="100000"/>
              </a:lnSpc>
            </a:pPr>
            <a:r>
              <a:rPr sz="1050" b="0" i="0" spc="150">
                <a:solidFill>
                  <a:srgbClr val="818CF8"/>
                </a:solidFill>
                <a:latin typeface="Segoe UI"/>
              </a:rPr>
              <a:t>PROVIDER FALLBACK ROUTER</a:t>
            </a:r>
          </a:p>
        </p:txBody>
      </p:sp>
      <p:sp>
        <p:nvSpPr>
          <p:cNvPr id="26" name="TextBox 25"/>
          <p:cNvSpPr txBox="1"/>
          <p:nvPr/>
        </p:nvSpPr>
        <p:spPr>
          <a:xfrm>
            <a:off x="786384" y="2231136"/>
            <a:ext cx="4343400" cy="1920240"/>
          </a:xfrm>
          <a:prstGeom prst="rect">
            <a:avLst/>
          </a:prstGeom>
          <a:noFill/>
        </p:spPr>
        <p:txBody>
          <a:bodyPr wrap="square" anchor="t" lIns="0" rIns="0" tIns="0" bIns="0">
            <a:spAutoFit/>
          </a:bodyPr>
          <a:lstStyle/>
          <a:p>
            <a:pPr algn="l" marL="237744" indent="-237744">
              <a:lnSpc>
                <a:spcPct val="112000"/>
              </a:lnSpc>
              <a:spcAft>
                <a:spcPts val="700"/>
              </a:spcAft>
            </a:pPr>
            <a:r>
              <a:rPr sz="1100" b="1" i="0">
                <a:solidFill>
                  <a:srgbClr val="818CF8"/>
                </a:solidFill>
                <a:latin typeface="Consolas"/>
              </a:rPr>
              <a:t>▸  </a:t>
            </a:r>
            <a:r>
              <a:rPr sz="1100" b="1" i="0">
                <a:solidFill>
                  <a:srgbClr val="F4F6FB"/>
                </a:solidFill>
                <a:latin typeface="Segoe UI"/>
              </a:rPr>
              <a:t>One unified LLM interface</a:t>
            </a:r>
            <a:r>
              <a:rPr sz="1100" b="0" i="0">
                <a:solidFill>
                  <a:srgbClr val="9AA3B8"/>
                </a:solidFill>
                <a:latin typeface="Segoe UI"/>
              </a:rPr>
              <a:t> — provider-agnostic by design</a:t>
            </a:r>
          </a:p>
          <a:p>
            <a:pPr algn="l" marL="237744" indent="-237744">
              <a:lnSpc>
                <a:spcPct val="112000"/>
              </a:lnSpc>
              <a:spcAft>
                <a:spcPts val="700"/>
              </a:spcAft>
            </a:pPr>
            <a:r>
              <a:rPr sz="1100" b="1" i="0">
                <a:solidFill>
                  <a:srgbClr val="818CF8"/>
                </a:solidFill>
                <a:latin typeface="Consolas"/>
              </a:rPr>
              <a:t>▸  </a:t>
            </a:r>
            <a:r>
              <a:rPr sz="1100" b="1" i="0">
                <a:solidFill>
                  <a:srgbClr val="F4F6FB"/>
                </a:solidFill>
                <a:latin typeface="Segoe UI"/>
              </a:rPr>
              <a:t>Primary: Groq</a:t>
            </a:r>
            <a:r>
              <a:rPr sz="1100" b="0" i="0">
                <a:solidFill>
                  <a:srgbClr val="9AA3B8"/>
                </a:solidFill>
                <a:latin typeface="Segoe UI"/>
              </a:rPr>
              <a:t> — near-instant Llama-class inference</a:t>
            </a:r>
          </a:p>
          <a:p>
            <a:pPr algn="l" marL="237744" indent="-237744">
              <a:lnSpc>
                <a:spcPct val="112000"/>
              </a:lnSpc>
              <a:spcAft>
                <a:spcPts val="700"/>
              </a:spcAft>
            </a:pPr>
            <a:r>
              <a:rPr sz="1100" b="1" i="0">
                <a:solidFill>
                  <a:srgbClr val="818CF8"/>
                </a:solidFill>
                <a:latin typeface="Consolas"/>
              </a:rPr>
              <a:t>▸  </a:t>
            </a:r>
            <a:r>
              <a:rPr sz="1100" b="1" i="0">
                <a:solidFill>
                  <a:srgbClr val="F4F6FB"/>
                </a:solidFill>
                <a:latin typeface="Segoe UI"/>
              </a:rPr>
              <a:t>Auto-failover to Gemini</a:t>
            </a:r>
            <a:r>
              <a:rPr sz="1100" b="0" i="0">
                <a:solidFill>
                  <a:srgbClr val="9AA3B8"/>
                </a:solidFill>
                <a:latin typeface="Segoe UI"/>
              </a:rPr>
              <a:t> — on rate limits, timeouts, outages</a:t>
            </a:r>
          </a:p>
          <a:p>
            <a:pPr algn="l" marL="237744" indent="-237744">
              <a:lnSpc>
                <a:spcPct val="112000"/>
              </a:lnSpc>
              <a:spcAft>
                <a:spcPts val="700"/>
              </a:spcAft>
            </a:pPr>
            <a:r>
              <a:rPr sz="1100" b="1" i="0">
                <a:solidFill>
                  <a:srgbClr val="818CF8"/>
                </a:solidFill>
                <a:latin typeface="Consolas"/>
              </a:rPr>
              <a:t>▸  </a:t>
            </a:r>
            <a:r>
              <a:rPr sz="1100" b="1" i="0">
                <a:solidFill>
                  <a:srgbClr val="F4F6FB"/>
                </a:solidFill>
                <a:latin typeface="Segoe UI"/>
              </a:rPr>
              <a:t>Zero single points of failure</a:t>
            </a:r>
            <a:r>
              <a:rPr sz="1100" b="0" i="0">
                <a:solidFill>
                  <a:srgbClr val="9AA3B8"/>
                </a:solidFill>
                <a:latin typeface="Segoe UI"/>
              </a:rPr>
              <a:t> — run with one key or both</a:t>
            </a:r>
          </a:p>
        </p:txBody>
      </p:sp>
      <p:pic>
        <p:nvPicPr>
          <p:cNvPr id="27" name="Picture 26" descr="router-visual.jpg"/>
          <p:cNvPicPr>
            <a:picLocks noChangeAspect="1"/>
          </p:cNvPicPr>
          <p:nvPr/>
        </p:nvPicPr>
        <p:blipFill>
          <a:blip r:embed="rId3"/>
          <a:stretch>
            <a:fillRect/>
          </a:stretch>
        </p:blipFill>
        <p:spPr>
          <a:xfrm>
            <a:off x="1203089" y="4224527"/>
            <a:ext cx="3491701" cy="1481328"/>
          </a:xfrm>
          <a:prstGeom prst="rect">
            <a:avLst/>
          </a:prstGeom>
          <a:effectLst>
            <a:outerShdw blurRad="201168" dist="45720" dir="5400000" rotWithShape="0">
              <a:srgbClr val="000000">
                <a:alpha val="55000"/>
              </a:srgbClr>
            </a:outerShdw>
          </a:effectLst>
        </p:spPr>
      </p:pic>
      <p:sp>
        <p:nvSpPr>
          <p:cNvPr id="28" name="Rounded Rectangle 27"/>
          <p:cNvSpPr/>
          <p:nvPr/>
        </p:nvSpPr>
        <p:spPr>
          <a:xfrm>
            <a:off x="5577840" y="1627632"/>
            <a:ext cx="6108192" cy="416052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815583" y="183337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016752" y="1783080"/>
            <a:ext cx="5422392" cy="274320"/>
          </a:xfrm>
          <a:prstGeom prst="rect">
            <a:avLst/>
          </a:prstGeom>
          <a:noFill/>
        </p:spPr>
        <p:txBody>
          <a:bodyPr wrap="square" anchor="t" lIns="0" rIns="0" tIns="0" bIns="0">
            <a:spAutoFit/>
          </a:bodyPr>
          <a:lstStyle/>
          <a:p>
            <a:pPr algn="l">
              <a:lnSpc>
                <a:spcPct val="100000"/>
              </a:lnSpc>
            </a:pPr>
            <a:r>
              <a:rPr sz="1050" b="0" i="0" spc="150">
                <a:solidFill>
                  <a:srgbClr val="A78BFA"/>
                </a:solidFill>
                <a:latin typeface="Segoe UI"/>
              </a:rPr>
              <a:t>THE 8-STEP AGENT LOOP</a:t>
            </a:r>
          </a:p>
        </p:txBody>
      </p:sp>
      <p:sp>
        <p:nvSpPr>
          <p:cNvPr id="31" name="Rounded Rectangle 30"/>
          <p:cNvSpPr/>
          <p:nvPr/>
        </p:nvSpPr>
        <p:spPr>
          <a:xfrm>
            <a:off x="5852159" y="224942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852159" y="224942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1</a:t>
            </a:r>
          </a:p>
        </p:txBody>
      </p:sp>
      <p:sp>
        <p:nvSpPr>
          <p:cNvPr id="33" name="TextBox 32"/>
          <p:cNvSpPr txBox="1"/>
          <p:nvPr/>
        </p:nvSpPr>
        <p:spPr>
          <a:xfrm>
            <a:off x="6364223" y="221284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INGEST</a:t>
            </a:r>
          </a:p>
        </p:txBody>
      </p:sp>
      <p:sp>
        <p:nvSpPr>
          <p:cNvPr id="34" name="TextBox 33"/>
          <p:cNvSpPr txBox="1"/>
          <p:nvPr/>
        </p:nvSpPr>
        <p:spPr>
          <a:xfrm>
            <a:off x="6364223" y="246888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parse prompt + context</a:t>
            </a:r>
          </a:p>
        </p:txBody>
      </p:sp>
      <p:sp>
        <p:nvSpPr>
          <p:cNvPr id="35" name="Rounded Rectangle 34"/>
          <p:cNvSpPr/>
          <p:nvPr/>
        </p:nvSpPr>
        <p:spPr>
          <a:xfrm>
            <a:off x="5852159" y="307238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59" y="307238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2</a:t>
            </a:r>
          </a:p>
        </p:txBody>
      </p:sp>
      <p:sp>
        <p:nvSpPr>
          <p:cNvPr id="37" name="TextBox 36"/>
          <p:cNvSpPr txBox="1"/>
          <p:nvPr/>
        </p:nvSpPr>
        <p:spPr>
          <a:xfrm>
            <a:off x="6364223" y="303580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INTROSPECT</a:t>
            </a:r>
          </a:p>
        </p:txBody>
      </p:sp>
      <p:sp>
        <p:nvSpPr>
          <p:cNvPr id="38" name="TextBox 37"/>
          <p:cNvSpPr txBox="1"/>
          <p:nvPr/>
        </p:nvSpPr>
        <p:spPr>
          <a:xfrm>
            <a:off x="6364223" y="3291839"/>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pull live schema</a:t>
            </a:r>
          </a:p>
        </p:txBody>
      </p:sp>
      <p:sp>
        <p:nvSpPr>
          <p:cNvPr id="39" name="Rounded Rectangle 38"/>
          <p:cNvSpPr/>
          <p:nvPr/>
        </p:nvSpPr>
        <p:spPr>
          <a:xfrm>
            <a:off x="5852159" y="389534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852159" y="389534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3</a:t>
            </a:r>
          </a:p>
        </p:txBody>
      </p:sp>
      <p:sp>
        <p:nvSpPr>
          <p:cNvPr id="41" name="TextBox 40"/>
          <p:cNvSpPr txBox="1"/>
          <p:nvPr/>
        </p:nvSpPr>
        <p:spPr>
          <a:xfrm>
            <a:off x="6364223" y="385876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PLAN</a:t>
            </a:r>
          </a:p>
        </p:txBody>
      </p:sp>
      <p:sp>
        <p:nvSpPr>
          <p:cNvPr id="42" name="TextBox 41"/>
          <p:cNvSpPr txBox="1"/>
          <p:nvPr/>
        </p:nvSpPr>
        <p:spPr>
          <a:xfrm>
            <a:off x="6364223" y="411480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decompose, choose tools</a:t>
            </a:r>
          </a:p>
        </p:txBody>
      </p:sp>
      <p:sp>
        <p:nvSpPr>
          <p:cNvPr id="43" name="Rounded Rectangle 42"/>
          <p:cNvSpPr/>
          <p:nvPr/>
        </p:nvSpPr>
        <p:spPr>
          <a:xfrm>
            <a:off x="5852159" y="471830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852159" y="471830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4</a:t>
            </a:r>
          </a:p>
        </p:txBody>
      </p:sp>
      <p:sp>
        <p:nvSpPr>
          <p:cNvPr id="45" name="TextBox 44"/>
          <p:cNvSpPr txBox="1"/>
          <p:nvPr/>
        </p:nvSpPr>
        <p:spPr>
          <a:xfrm>
            <a:off x="6364223" y="468172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ACT</a:t>
            </a:r>
          </a:p>
        </p:txBody>
      </p:sp>
      <p:sp>
        <p:nvSpPr>
          <p:cNvPr id="46" name="TextBox 45"/>
          <p:cNvSpPr txBox="1"/>
          <p:nvPr/>
        </p:nvSpPr>
        <p:spPr>
          <a:xfrm>
            <a:off x="6364223" y="493776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execute next tool call</a:t>
            </a:r>
          </a:p>
        </p:txBody>
      </p:sp>
      <p:sp>
        <p:nvSpPr>
          <p:cNvPr id="47" name="Rounded Rectangle 46"/>
          <p:cNvSpPr/>
          <p:nvPr/>
        </p:nvSpPr>
        <p:spPr>
          <a:xfrm>
            <a:off x="8778240" y="224942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78240" y="224942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5</a:t>
            </a:r>
          </a:p>
        </p:txBody>
      </p:sp>
      <p:sp>
        <p:nvSpPr>
          <p:cNvPr id="49" name="TextBox 48"/>
          <p:cNvSpPr txBox="1"/>
          <p:nvPr/>
        </p:nvSpPr>
        <p:spPr>
          <a:xfrm>
            <a:off x="9290304" y="221284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OBSERVE</a:t>
            </a:r>
          </a:p>
        </p:txBody>
      </p:sp>
      <p:sp>
        <p:nvSpPr>
          <p:cNvPr id="50" name="TextBox 49"/>
          <p:cNvSpPr txBox="1"/>
          <p:nvPr/>
        </p:nvSpPr>
        <p:spPr>
          <a:xfrm>
            <a:off x="9290304" y="246888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inspect results / errors</a:t>
            </a:r>
          </a:p>
        </p:txBody>
      </p:sp>
      <p:sp>
        <p:nvSpPr>
          <p:cNvPr id="51" name="Rounded Rectangle 50"/>
          <p:cNvSpPr/>
          <p:nvPr/>
        </p:nvSpPr>
        <p:spPr>
          <a:xfrm>
            <a:off x="8778240" y="307238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778240" y="307238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6</a:t>
            </a:r>
          </a:p>
        </p:txBody>
      </p:sp>
      <p:sp>
        <p:nvSpPr>
          <p:cNvPr id="53" name="TextBox 52"/>
          <p:cNvSpPr txBox="1"/>
          <p:nvPr/>
        </p:nvSpPr>
        <p:spPr>
          <a:xfrm>
            <a:off x="9290304" y="303580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VALIDATE</a:t>
            </a:r>
          </a:p>
        </p:txBody>
      </p:sp>
      <p:sp>
        <p:nvSpPr>
          <p:cNvPr id="54" name="TextBox 53"/>
          <p:cNvSpPr txBox="1"/>
          <p:nvPr/>
        </p:nvSpPr>
        <p:spPr>
          <a:xfrm>
            <a:off x="9290304" y="3291839"/>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complete &amp; grounded?</a:t>
            </a:r>
          </a:p>
        </p:txBody>
      </p:sp>
      <p:sp>
        <p:nvSpPr>
          <p:cNvPr id="55" name="Rounded Rectangle 54"/>
          <p:cNvSpPr/>
          <p:nvPr/>
        </p:nvSpPr>
        <p:spPr>
          <a:xfrm>
            <a:off x="8778240" y="389534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778240" y="389534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7</a:t>
            </a:r>
          </a:p>
        </p:txBody>
      </p:sp>
      <p:sp>
        <p:nvSpPr>
          <p:cNvPr id="57" name="TextBox 56"/>
          <p:cNvSpPr txBox="1"/>
          <p:nvPr/>
        </p:nvSpPr>
        <p:spPr>
          <a:xfrm>
            <a:off x="9290304" y="385876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ITERATE</a:t>
            </a:r>
          </a:p>
        </p:txBody>
      </p:sp>
      <p:sp>
        <p:nvSpPr>
          <p:cNvPr id="58" name="TextBox 57"/>
          <p:cNvSpPr txBox="1"/>
          <p:nvPr/>
        </p:nvSpPr>
        <p:spPr>
          <a:xfrm>
            <a:off x="9290304" y="411480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loop 3 → 6 until yes</a:t>
            </a:r>
          </a:p>
        </p:txBody>
      </p:sp>
      <p:sp>
        <p:nvSpPr>
          <p:cNvPr id="59" name="Rounded Rectangle 58"/>
          <p:cNvSpPr/>
          <p:nvPr/>
        </p:nvSpPr>
        <p:spPr>
          <a:xfrm>
            <a:off x="8778240" y="4718304"/>
            <a:ext cx="384048" cy="384048"/>
          </a:xfrm>
          <a:prstGeom prst="roundRect">
            <a:avLst>
              <a:gd name="adj" fmla="val 24000"/>
            </a:avLst>
          </a:prstGeom>
          <a:solidFill>
            <a:srgbClr val="1D1737"/>
          </a:solidFill>
          <a:ln w="13970">
            <a:solidFill>
              <a:srgbClr val="A78BFA"/>
            </a:solidFill>
          </a:ln>
          <a:effectLst>
            <a:glow rad="50800">
              <a:srgbClr val="A78BF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778240" y="4718304"/>
            <a:ext cx="384048" cy="384048"/>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8</a:t>
            </a:r>
          </a:p>
        </p:txBody>
      </p:sp>
      <p:sp>
        <p:nvSpPr>
          <p:cNvPr id="61" name="TextBox 60"/>
          <p:cNvSpPr txBox="1"/>
          <p:nvPr/>
        </p:nvSpPr>
        <p:spPr>
          <a:xfrm>
            <a:off x="9290304" y="4681728"/>
            <a:ext cx="2331720" cy="274320"/>
          </a:xfrm>
          <a:prstGeom prst="rect">
            <a:avLst/>
          </a:prstGeom>
          <a:noFill/>
        </p:spPr>
        <p:txBody>
          <a:bodyPr wrap="square" anchor="t" lIns="0" rIns="0" tIns="0" bIns="0">
            <a:spAutoFit/>
          </a:bodyPr>
          <a:lstStyle/>
          <a:p>
            <a:pPr algn="l">
              <a:lnSpc>
                <a:spcPct val="100000"/>
              </a:lnSpc>
            </a:pPr>
            <a:r>
              <a:rPr sz="1200" b="1" i="0" spc="60">
                <a:solidFill>
                  <a:srgbClr val="F4F6FB"/>
                </a:solidFill>
                <a:latin typeface="Consolas"/>
              </a:rPr>
              <a:t>SYNTHESIZE</a:t>
            </a:r>
          </a:p>
        </p:txBody>
      </p:sp>
      <p:sp>
        <p:nvSpPr>
          <p:cNvPr id="62" name="TextBox 61"/>
          <p:cNvSpPr txBox="1"/>
          <p:nvPr/>
        </p:nvSpPr>
        <p:spPr>
          <a:xfrm>
            <a:off x="9290304" y="4937760"/>
            <a:ext cx="2331720" cy="237744"/>
          </a:xfrm>
          <a:prstGeom prst="rect">
            <a:avLst/>
          </a:prstGeom>
          <a:noFill/>
        </p:spPr>
        <p:txBody>
          <a:bodyPr wrap="square" anchor="t" lIns="0" rIns="0" tIns="0" bIns="0">
            <a:spAutoFit/>
          </a:bodyPr>
          <a:lstStyle/>
          <a:p>
            <a:pPr algn="l">
              <a:lnSpc>
                <a:spcPct val="100000"/>
              </a:lnSpc>
            </a:pPr>
            <a:r>
              <a:rPr sz="850" b="0" i="0">
                <a:solidFill>
                  <a:srgbClr val="9AA3B8"/>
                </a:solidFill>
                <a:latin typeface="Consolas"/>
              </a:rPr>
              <a:t>SQL + chart + explanation</a:t>
            </a:r>
          </a:p>
        </p:txBody>
      </p:sp>
      <p:sp>
        <p:nvSpPr>
          <p:cNvPr id="63" name="TextBox 62"/>
          <p:cNvSpPr txBox="1"/>
          <p:nvPr/>
        </p:nvSpPr>
        <p:spPr>
          <a:xfrm>
            <a:off x="5852159" y="5577840"/>
            <a:ext cx="5559552" cy="274320"/>
          </a:xfrm>
          <a:prstGeom prst="rect">
            <a:avLst/>
          </a:prstGeom>
          <a:noFill/>
        </p:spPr>
        <p:txBody>
          <a:bodyPr wrap="square" anchor="t" lIns="0" rIns="0" tIns="0" bIns="0">
            <a:spAutoFit/>
          </a:bodyPr>
          <a:lstStyle/>
          <a:p>
            <a:pPr algn="l">
              <a:lnSpc>
                <a:spcPct val="100000"/>
              </a:lnSpc>
            </a:pPr>
            <a:r>
              <a:rPr sz="950" b="0" i="0">
                <a:solidFill>
                  <a:srgbClr val="818CF8"/>
                </a:solidFill>
                <a:latin typeface="Consolas"/>
              </a:rPr>
              <a:t>▸ steps 3 → 6 repeat until the answer is complete and grounded</a:t>
            </a:r>
          </a:p>
        </p:txBody>
      </p:sp>
      <p:sp>
        <p:nvSpPr>
          <p:cNvPr id="64" name="Rounded Rectangle 63"/>
          <p:cNvSpPr/>
          <p:nvPr/>
        </p:nvSpPr>
        <p:spPr>
          <a:xfrm>
            <a:off x="502920" y="598932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713232" y="6158483"/>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932688" y="598932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ANSWERS ARE EARNED THROUGH ITERATION — NOT GUESSED ON THE FIRST PASS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05</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CORE TOOLS 1/3</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05</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05 — CORE TOOLS · 1 OF 3</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2900" b="1" i="0">
                <a:solidFill>
                  <a:srgbClr val="A78BFA"/>
                </a:solidFill>
                <a:latin typeface="Consolas"/>
              </a:rPr>
              <a:t>get_schema</a:t>
            </a:r>
            <a:r>
              <a:rPr sz="2900" b="1" i="0">
                <a:solidFill>
                  <a:srgbClr val="9AA3B8"/>
                </a:solidFill>
                <a:latin typeface="Segoe UI"/>
              </a:rPr>
              <a:t>  &amp;  </a:t>
            </a:r>
            <a:r>
              <a:rPr sz="2900" b="1" i="0">
                <a:solidFill>
                  <a:srgbClr val="A78BFA"/>
                </a:solidFill>
                <a:latin typeface="Consolas"/>
              </a:rPr>
              <a:t>execute_query</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27632"/>
            <a:ext cx="5349240" cy="3794760"/>
          </a:xfrm>
          <a:prstGeom prst="roundRect">
            <a:avLst>
              <a:gd name="adj" fmla="val 4500"/>
            </a:avLst>
          </a:prstGeom>
          <a:solidFill>
            <a:srgbClr val="0D0F16">
              <a:alpha val="93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512" y="1783080"/>
            <a:ext cx="82296" cy="82296"/>
          </a:xfrm>
          <a:prstGeom prst="ellipse">
            <a:avLst/>
          </a:prstGeom>
          <a:solidFill>
            <a:srgbClr val="D07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1783080"/>
            <a:ext cx="82296" cy="82296"/>
          </a:xfrm>
          <a:prstGeom prst="ellipse">
            <a:avLst/>
          </a:prstGeom>
          <a:solidFill>
            <a:srgbClr val="CFA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8408" y="1783080"/>
            <a:ext cx="82296" cy="82296"/>
          </a:xfrm>
          <a:prstGeom prst="ellipse">
            <a:avLst/>
          </a:prstGeom>
          <a:solidFill>
            <a:srgbClr val="7CB8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2728" y="1746504"/>
            <a:ext cx="4389120" cy="237744"/>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zodiac:~ </a:t>
            </a:r>
            <a:r>
              <a:rPr sz="1000" b="1" i="0">
                <a:solidFill>
                  <a:srgbClr val="A78BFA"/>
                </a:solidFill>
                <a:latin typeface="Consolas"/>
              </a:rPr>
              <a:t>get_schema</a:t>
            </a:r>
          </a:p>
        </p:txBody>
      </p:sp>
      <p:sp>
        <p:nvSpPr>
          <p:cNvPr id="28" name="TextBox 27"/>
          <p:cNvSpPr txBox="1"/>
          <p:nvPr/>
        </p:nvSpPr>
        <p:spPr>
          <a:xfrm>
            <a:off x="822960" y="2231136"/>
            <a:ext cx="4754880" cy="1691640"/>
          </a:xfrm>
          <a:prstGeom prst="rect">
            <a:avLst/>
          </a:prstGeom>
          <a:noFill/>
        </p:spPr>
        <p:txBody>
          <a:bodyPr wrap="square" anchor="t" lIns="0" rIns="0" tIns="0" bIns="0">
            <a:spAutoFit/>
          </a:bodyPr>
          <a:lstStyle/>
          <a:p>
            <a:pPr algn="l">
              <a:lnSpc>
                <a:spcPct val="100000"/>
              </a:lnSpc>
              <a:spcAft>
                <a:spcPts val="300"/>
              </a:spcAft>
            </a:pPr>
            <a:r>
              <a:rPr sz="1250" b="1" i="0">
                <a:solidFill>
                  <a:srgbClr val="818CF8"/>
                </a:solidFill>
                <a:latin typeface="Consolas"/>
              </a:rPr>
              <a:t>sales_db</a:t>
            </a:r>
          </a:p>
          <a:p>
            <a:pPr algn="l">
              <a:lnSpc>
                <a:spcPct val="100000"/>
              </a:lnSpc>
              <a:spcAft>
                <a:spcPts val="300"/>
              </a:spcAft>
            </a:pPr>
            <a:r>
              <a:rPr sz="1250" b="0" i="0">
                <a:solidFill>
                  <a:srgbClr val="5D6578"/>
                </a:solidFill>
                <a:latin typeface="Consolas"/>
              </a:rPr>
              <a:t> ├─ </a:t>
            </a:r>
            <a:r>
              <a:rPr sz="1250" b="0" i="0">
                <a:solidFill>
                  <a:srgbClr val="F4F6FB"/>
                </a:solidFill>
                <a:latin typeface="Consolas"/>
              </a:rPr>
              <a:t>customers</a:t>
            </a:r>
          </a:p>
          <a:p>
            <a:pPr algn="l">
              <a:lnSpc>
                <a:spcPct val="100000"/>
              </a:lnSpc>
              <a:spcAft>
                <a:spcPts val="300"/>
              </a:spcAft>
            </a:pPr>
            <a:r>
              <a:rPr sz="1250" b="0" i="0">
                <a:solidFill>
                  <a:srgbClr val="5D6578"/>
                </a:solidFill>
                <a:latin typeface="Consolas"/>
              </a:rPr>
              <a:t> ├─ </a:t>
            </a:r>
            <a:r>
              <a:rPr sz="1250" b="0" i="0">
                <a:solidFill>
                  <a:srgbClr val="F4F6FB"/>
                </a:solidFill>
                <a:latin typeface="Consolas"/>
              </a:rPr>
              <a:t>products</a:t>
            </a:r>
          </a:p>
          <a:p>
            <a:pPr algn="l">
              <a:lnSpc>
                <a:spcPct val="100000"/>
              </a:lnSpc>
              <a:spcAft>
                <a:spcPts val="300"/>
              </a:spcAft>
            </a:pPr>
            <a:r>
              <a:rPr sz="1250" b="0" i="0">
                <a:solidFill>
                  <a:srgbClr val="5D6578"/>
                </a:solidFill>
                <a:latin typeface="Consolas"/>
              </a:rPr>
              <a:t> ├─ </a:t>
            </a:r>
            <a:r>
              <a:rPr sz="1250" b="0" i="0">
                <a:solidFill>
                  <a:srgbClr val="F4F6FB"/>
                </a:solidFill>
                <a:latin typeface="Consolas"/>
              </a:rPr>
              <a:t>orders</a:t>
            </a:r>
          </a:p>
          <a:p>
            <a:pPr algn="l">
              <a:lnSpc>
                <a:spcPct val="100000"/>
              </a:lnSpc>
              <a:spcAft>
                <a:spcPts val="400"/>
              </a:spcAft>
            </a:pPr>
            <a:r>
              <a:rPr sz="1250" b="0" i="0">
                <a:solidFill>
                  <a:srgbClr val="5D6578"/>
                </a:solidFill>
                <a:latin typeface="Consolas"/>
              </a:rPr>
              <a:t> └─ </a:t>
            </a:r>
            <a:r>
              <a:rPr sz="1250" b="0" i="0">
                <a:solidFill>
                  <a:srgbClr val="F4F6FB"/>
                </a:solidFill>
                <a:latin typeface="Consolas"/>
              </a:rPr>
              <a:t>order_items</a:t>
            </a:r>
          </a:p>
          <a:p>
            <a:pPr algn="l">
              <a:lnSpc>
                <a:spcPct val="100000"/>
              </a:lnSpc>
            </a:pPr>
            <a:r>
              <a:rPr sz="850" b="0" i="0">
                <a:solidFill>
                  <a:srgbClr val="5D6578"/>
                </a:solidFill>
                <a:latin typeface="Consolas"/>
              </a:rPr>
              <a:t>   tables · columns · types · relations</a:t>
            </a:r>
          </a:p>
        </p:txBody>
      </p:sp>
      <p:sp>
        <p:nvSpPr>
          <p:cNvPr id="29" name="TextBox 28"/>
          <p:cNvSpPr txBox="1"/>
          <p:nvPr/>
        </p:nvSpPr>
        <p:spPr>
          <a:xfrm>
            <a:off x="822960" y="4197096"/>
            <a:ext cx="4754880" cy="914400"/>
          </a:xfrm>
          <a:prstGeom prst="rect">
            <a:avLst/>
          </a:prstGeom>
          <a:noFill/>
        </p:spPr>
        <p:txBody>
          <a:bodyPr wrap="square" anchor="t" lIns="0" rIns="0" tIns="0" bIns="0">
            <a:spAutoFit/>
          </a:bodyPr>
          <a:lstStyle/>
          <a:p>
            <a:pPr algn="l" marL="237744" indent="-237744">
              <a:lnSpc>
                <a:spcPct val="112000"/>
              </a:lnSpc>
              <a:spcAft>
                <a:spcPts val="600"/>
              </a:spcAft>
            </a:pPr>
            <a:r>
              <a:rPr sz="1150" b="1" i="0">
                <a:solidFill>
                  <a:srgbClr val="A78BFA"/>
                </a:solidFill>
                <a:latin typeface="Consolas"/>
              </a:rPr>
              <a:t>▸  </a:t>
            </a:r>
            <a:r>
              <a:rPr sz="1150" b="1" i="0">
                <a:solidFill>
                  <a:srgbClr val="F4F6FB"/>
                </a:solidFill>
                <a:latin typeface="Segoe UI"/>
              </a:rPr>
              <a:t>Live runtime introspection</a:t>
            </a:r>
            <a:r>
              <a:rPr sz="1150" b="0" i="0">
                <a:solidFill>
                  <a:srgbClr val="9AA3B8"/>
                </a:solidFill>
                <a:latin typeface="Segoe UI"/>
              </a:rPr>
              <a:t> — no hardcoded, stale schema assumptions</a:t>
            </a:r>
          </a:p>
        </p:txBody>
      </p:sp>
      <p:sp>
        <p:nvSpPr>
          <p:cNvPr id="30" name="Rounded Rectangle 29"/>
          <p:cNvSpPr/>
          <p:nvPr/>
        </p:nvSpPr>
        <p:spPr>
          <a:xfrm>
            <a:off x="6382512" y="1627632"/>
            <a:ext cx="5349240" cy="3794760"/>
          </a:xfrm>
          <a:prstGeom prst="roundRect">
            <a:avLst>
              <a:gd name="adj" fmla="val 4500"/>
            </a:avLst>
          </a:prstGeom>
          <a:solidFill>
            <a:srgbClr val="0D0F16">
              <a:alpha val="93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547104" y="1783080"/>
            <a:ext cx="82296" cy="82296"/>
          </a:xfrm>
          <a:prstGeom prst="ellipse">
            <a:avLst/>
          </a:prstGeom>
          <a:solidFill>
            <a:srgbClr val="D07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702552" y="1783080"/>
            <a:ext cx="82296" cy="82296"/>
          </a:xfrm>
          <a:prstGeom prst="ellipse">
            <a:avLst/>
          </a:prstGeom>
          <a:solidFill>
            <a:srgbClr val="CFA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858000" y="1783080"/>
            <a:ext cx="82296" cy="82296"/>
          </a:xfrm>
          <a:prstGeom prst="ellipse">
            <a:avLst/>
          </a:prstGeom>
          <a:solidFill>
            <a:srgbClr val="7CB8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0" y="1746504"/>
            <a:ext cx="4389120" cy="237744"/>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zodiac:~ </a:t>
            </a:r>
            <a:r>
              <a:rPr sz="1000" b="1" i="0">
                <a:solidFill>
                  <a:srgbClr val="A78BFA"/>
                </a:solidFill>
                <a:latin typeface="Consolas"/>
              </a:rPr>
              <a:t>execute_query</a:t>
            </a:r>
          </a:p>
        </p:txBody>
      </p:sp>
      <p:sp>
        <p:nvSpPr>
          <p:cNvPr id="35" name="TextBox 34"/>
          <p:cNvSpPr txBox="1"/>
          <p:nvPr/>
        </p:nvSpPr>
        <p:spPr>
          <a:xfrm>
            <a:off x="6702552" y="2231136"/>
            <a:ext cx="4754880" cy="1463040"/>
          </a:xfrm>
          <a:prstGeom prst="rect">
            <a:avLst/>
          </a:prstGeom>
          <a:noFill/>
        </p:spPr>
        <p:txBody>
          <a:bodyPr wrap="square" anchor="t" lIns="0" rIns="0" tIns="0" bIns="0">
            <a:spAutoFit/>
          </a:bodyPr>
          <a:lstStyle/>
          <a:p>
            <a:pPr algn="l">
              <a:lnSpc>
                <a:spcPct val="100000"/>
              </a:lnSpc>
              <a:spcAft>
                <a:spcPts val="100"/>
              </a:spcAft>
            </a:pPr>
            <a:r>
              <a:rPr sz="1050" b="0" i="0">
                <a:solidFill>
                  <a:srgbClr val="C4B5FD"/>
                </a:solidFill>
                <a:latin typeface="Consolas"/>
              </a:rPr>
              <a:t>SELECT c.name, SUM(oi.qty*oi.price)</a:t>
            </a:r>
          </a:p>
          <a:p>
            <a:pPr algn="l">
              <a:lnSpc>
                <a:spcPct val="100000"/>
              </a:lnSpc>
              <a:spcAft>
                <a:spcPts val="100"/>
              </a:spcAft>
            </a:pPr>
            <a:r>
              <a:rPr sz="1050" b="0" i="0">
                <a:solidFill>
                  <a:srgbClr val="C4B5FD"/>
                </a:solidFill>
                <a:latin typeface="Consolas"/>
              </a:rPr>
              <a:t>FROM order_items oi</a:t>
            </a:r>
          </a:p>
          <a:p>
            <a:pPr algn="l">
              <a:lnSpc>
                <a:spcPct val="100000"/>
              </a:lnSpc>
              <a:spcAft>
                <a:spcPts val="100"/>
              </a:spcAft>
            </a:pPr>
            <a:r>
              <a:rPr sz="1050" b="0" i="0">
                <a:solidFill>
                  <a:srgbClr val="C4B5FD"/>
                </a:solidFill>
                <a:latin typeface="Consolas"/>
              </a:rPr>
              <a:t>JOIN orders o ON o.id = oi.order_id</a:t>
            </a:r>
          </a:p>
          <a:p>
            <a:pPr algn="l">
              <a:lnSpc>
                <a:spcPct val="100000"/>
              </a:lnSpc>
              <a:spcAft>
                <a:spcPts val="100"/>
              </a:spcAft>
            </a:pPr>
            <a:r>
              <a:rPr sz="1050" b="0" i="0">
                <a:solidFill>
                  <a:srgbClr val="C4B5FD"/>
                </a:solidFill>
                <a:latin typeface="Consolas"/>
              </a:rPr>
              <a:t>JOIN customers c ON c.id = o.customer_id</a:t>
            </a:r>
          </a:p>
          <a:p>
            <a:pPr algn="l">
              <a:lnSpc>
                <a:spcPct val="100000"/>
              </a:lnSpc>
              <a:spcAft>
                <a:spcPts val="500"/>
              </a:spcAft>
            </a:pPr>
            <a:r>
              <a:rPr sz="1050" b="0" i="0">
                <a:solidFill>
                  <a:srgbClr val="C4B5FD"/>
                </a:solidFill>
                <a:latin typeface="Consolas"/>
              </a:rPr>
              <a:t>GROUP BY c.name;</a:t>
            </a:r>
          </a:p>
          <a:p>
            <a:pPr algn="l">
              <a:lnSpc>
                <a:spcPct val="100000"/>
              </a:lnSpc>
            </a:pPr>
            <a:r>
              <a:rPr sz="1000" b="1" i="0">
                <a:solidFill>
                  <a:srgbClr val="818CF8"/>
                </a:solidFill>
                <a:latin typeface="Consolas"/>
              </a:rPr>
              <a:t>✓ 1,284 rows returned</a:t>
            </a:r>
            <a:r>
              <a:rPr sz="1000" b="1" i="0">
                <a:solidFill>
                  <a:srgbClr val="A78BFA"/>
                </a:solidFill>
                <a:latin typeface="Consolas"/>
              </a:rPr>
              <a:t>  [READ-ONLY ✓]</a:t>
            </a:r>
          </a:p>
        </p:txBody>
      </p:sp>
      <p:sp>
        <p:nvSpPr>
          <p:cNvPr id="36" name="TextBox 35"/>
          <p:cNvSpPr txBox="1"/>
          <p:nvPr/>
        </p:nvSpPr>
        <p:spPr>
          <a:xfrm>
            <a:off x="6702552" y="3968496"/>
            <a:ext cx="4754880" cy="640080"/>
          </a:xfrm>
          <a:prstGeom prst="rect">
            <a:avLst/>
          </a:prstGeom>
          <a:noFill/>
        </p:spPr>
        <p:txBody>
          <a:bodyPr wrap="square" anchor="t" lIns="0" rIns="0" tIns="0" bIns="0">
            <a:spAutoFit/>
          </a:bodyPr>
          <a:lstStyle/>
          <a:p>
            <a:pPr algn="l" marL="237744" indent="-237744">
              <a:lnSpc>
                <a:spcPct val="112000"/>
              </a:lnSpc>
              <a:spcAft>
                <a:spcPts val="500"/>
              </a:spcAft>
            </a:pPr>
            <a:r>
              <a:rPr sz="1150" b="1" i="0">
                <a:solidFill>
                  <a:srgbClr val="A78BFA"/>
                </a:solidFill>
                <a:latin typeface="Consolas"/>
              </a:rPr>
              <a:t>▸  </a:t>
            </a:r>
            <a:r>
              <a:rPr sz="1150" b="1" i="0">
                <a:solidFill>
                  <a:srgbClr val="F4F6FB"/>
                </a:solidFill>
                <a:latin typeface="Segoe UI"/>
              </a:rPr>
              <a:t>Exact SQL</a:t>
            </a:r>
            <a:r>
              <a:rPr sz="1150" b="0" i="0">
                <a:solidFill>
                  <a:srgbClr val="9AA3B8"/>
                </a:solidFill>
                <a:latin typeface="Segoe UI"/>
              </a:rPr>
              <a:t> — generated &amp; executed on the real database</a:t>
            </a:r>
          </a:p>
        </p:txBody>
      </p:sp>
      <p:sp>
        <p:nvSpPr>
          <p:cNvPr id="37" name="Rounded Rectangle 36"/>
          <p:cNvSpPr/>
          <p:nvPr/>
        </p:nvSpPr>
        <p:spPr>
          <a:xfrm>
            <a:off x="6702552" y="4626864"/>
            <a:ext cx="4709160" cy="475488"/>
          </a:xfrm>
          <a:prstGeom prst="roundRect">
            <a:avLst>
              <a:gd name="adj" fmla="val 28000"/>
            </a:avLst>
          </a:prstGeom>
          <a:solidFill>
            <a:srgbClr val="2A161C"/>
          </a:solidFill>
          <a:ln w="12700">
            <a:solidFill>
              <a:srgbClr val="F8717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0" y="4626864"/>
            <a:ext cx="4480560" cy="475488"/>
          </a:xfrm>
          <a:prstGeom prst="rect">
            <a:avLst/>
          </a:prstGeom>
          <a:noFill/>
        </p:spPr>
        <p:txBody>
          <a:bodyPr wrap="square" anchor="ctr" lIns="0" rIns="0" tIns="0" bIns="0">
            <a:spAutoFit/>
          </a:bodyPr>
          <a:lstStyle/>
          <a:p>
            <a:pPr algn="l">
              <a:lnSpc>
                <a:spcPct val="100000"/>
              </a:lnSpc>
            </a:pPr>
            <a:r>
              <a:rPr sz="1000" b="0" i="0" strike="sngStrike">
                <a:solidFill>
                  <a:srgbClr val="F87171"/>
                </a:solidFill>
                <a:latin typeface="Consolas"/>
              </a:rPr>
              <a:t>DROP TABLE orders;</a:t>
            </a:r>
            <a:r>
              <a:rPr sz="950" b="1" i="0">
                <a:solidFill>
                  <a:srgbClr val="F87171"/>
                </a:solidFill>
                <a:latin typeface="Consolas"/>
              </a:rPr>
              <a:t>  ⚠ BLOCKED — WRITE GUARD</a:t>
            </a:r>
          </a:p>
        </p:txBody>
      </p:sp>
      <p:sp>
        <p:nvSpPr>
          <p:cNvPr id="39" name="Rounded Rectangle 38"/>
          <p:cNvSpPr/>
          <p:nvPr/>
        </p:nvSpPr>
        <p:spPr>
          <a:xfrm>
            <a:off x="502920" y="562356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13232" y="5792724"/>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2688" y="562356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RADICAL TRANSPARENCY — EVERY ANSWER SHIPS WITH THE SQL THAT PRODUCED IT. COPY IT. AUDIT IT. RERUN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06</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CORE TOOLS 2/3</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06</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06 — CORE TOOLS · 2 OF 3</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2900" b="1" i="0">
                <a:solidFill>
                  <a:srgbClr val="818CF8"/>
                </a:solidFill>
                <a:latin typeface="Consolas"/>
              </a:rPr>
              <a:t>generate_chart</a:t>
            </a:r>
            <a:r>
              <a:rPr sz="2900" b="1" i="0">
                <a:solidFill>
                  <a:srgbClr val="9AA3B8"/>
                </a:solidFill>
                <a:latin typeface="Segoe UI"/>
              </a:rPr>
              <a:t>  &amp;  </a:t>
            </a:r>
            <a:r>
              <a:rPr sz="2900" b="1" i="0">
                <a:solidFill>
                  <a:srgbClr val="818CF8"/>
                </a:solidFill>
                <a:latin typeface="Consolas"/>
              </a:rPr>
              <a:t>generate_flowchart</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27632"/>
            <a:ext cx="7132320" cy="2048256"/>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0664" y="1833372"/>
            <a:ext cx="82296" cy="82296"/>
          </a:xfrm>
          <a:prstGeom prst="roundRect">
            <a:avLst>
              <a:gd name="adj" fmla="val 50000"/>
            </a:avLst>
          </a:prstGeom>
          <a:solidFill>
            <a:srgbClr val="818CF8"/>
          </a:solidFill>
          <a:ln>
            <a:noFill/>
          </a:ln>
          <a:effectLst>
            <a:glow rad="38100">
              <a:srgbClr val="818CF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1832" y="1783080"/>
            <a:ext cx="6446520" cy="274320"/>
          </a:xfrm>
          <a:prstGeom prst="rect">
            <a:avLst/>
          </a:prstGeom>
          <a:noFill/>
        </p:spPr>
        <p:txBody>
          <a:bodyPr wrap="square" anchor="t" lIns="0" rIns="0" tIns="0" bIns="0">
            <a:spAutoFit/>
          </a:bodyPr>
          <a:lstStyle/>
          <a:p>
            <a:pPr algn="l">
              <a:lnSpc>
                <a:spcPct val="100000"/>
              </a:lnSpc>
            </a:pPr>
            <a:r>
              <a:rPr sz="1050" b="0" i="0" spc="150">
                <a:solidFill>
                  <a:srgbClr val="818CF8"/>
                </a:solidFill>
                <a:latin typeface="Segoe UI"/>
              </a:rPr>
              <a:t>generate_chart — PLOTLY</a:t>
            </a:r>
          </a:p>
        </p:txBody>
      </p:sp>
      <p:sp>
        <p:nvSpPr>
          <p:cNvPr id="26" name="TextBox 25"/>
          <p:cNvSpPr txBox="1"/>
          <p:nvPr/>
        </p:nvSpPr>
        <p:spPr>
          <a:xfrm>
            <a:off x="804672" y="2212848"/>
            <a:ext cx="6537960" cy="1463040"/>
          </a:xfrm>
          <a:prstGeom prst="rect">
            <a:avLst/>
          </a:prstGeom>
          <a:noFill/>
        </p:spPr>
        <p:txBody>
          <a:bodyPr wrap="square" anchor="t" lIns="0" rIns="0" tIns="0" bIns="0">
            <a:spAutoFit/>
          </a:bodyPr>
          <a:lstStyle/>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Specs authored from real query results</a:t>
            </a:r>
            <a:r>
              <a:rPr sz="1150" b="0" i="0">
                <a:solidFill>
                  <a:srgbClr val="9AA3B8"/>
                </a:solidFill>
                <a:latin typeface="Segoe UI"/>
              </a:rPr>
              <a:t> — the model writes the definition, the browser renders it</a:t>
            </a:r>
          </a:p>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Fully interactive</a:t>
            </a:r>
            <a:r>
              <a:rPr sz="1150" b="0" i="0">
                <a:solidFill>
                  <a:srgbClr val="9AA3B8"/>
                </a:solidFill>
                <a:latin typeface="Segoe UI"/>
              </a:rPr>
              <a:t> — zoom · hover · pan · filter — exploration, not screenshots</a:t>
            </a:r>
          </a:p>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Deterministic rendering</a:t>
            </a:r>
            <a:r>
              <a:rPr sz="1150" b="0" i="0">
                <a:solidFill>
                  <a:srgbClr val="9AA3B8"/>
                </a:solidFill>
                <a:latin typeface="Segoe UI"/>
              </a:rPr>
              <a:t> — bar · line · scatter · pie, matched to the question — no hallucinated visuals</a:t>
            </a:r>
          </a:p>
        </p:txBody>
      </p:sp>
      <p:sp>
        <p:nvSpPr>
          <p:cNvPr id="27" name="Rounded Rectangle 26"/>
          <p:cNvSpPr/>
          <p:nvPr/>
        </p:nvSpPr>
        <p:spPr>
          <a:xfrm>
            <a:off x="502920" y="3877056"/>
            <a:ext cx="7132320" cy="2048256"/>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0664" y="4082796"/>
            <a:ext cx="82296" cy="82296"/>
          </a:xfrm>
          <a:prstGeom prst="roundRect">
            <a:avLst>
              <a:gd name="adj" fmla="val 50000"/>
            </a:avLst>
          </a:prstGeom>
          <a:solidFill>
            <a:srgbClr val="818CF8"/>
          </a:solidFill>
          <a:ln>
            <a:noFill/>
          </a:ln>
          <a:effectLst>
            <a:glow rad="38100">
              <a:srgbClr val="818CF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41832" y="4032504"/>
            <a:ext cx="6446520" cy="274320"/>
          </a:xfrm>
          <a:prstGeom prst="rect">
            <a:avLst/>
          </a:prstGeom>
          <a:noFill/>
        </p:spPr>
        <p:txBody>
          <a:bodyPr wrap="square" anchor="t" lIns="0" rIns="0" tIns="0" bIns="0">
            <a:spAutoFit/>
          </a:bodyPr>
          <a:lstStyle/>
          <a:p>
            <a:pPr algn="l">
              <a:lnSpc>
                <a:spcPct val="100000"/>
              </a:lnSpc>
            </a:pPr>
            <a:r>
              <a:rPr sz="1050" b="0" i="0" spc="150">
                <a:solidFill>
                  <a:srgbClr val="818CF8"/>
                </a:solidFill>
                <a:latin typeface="Segoe UI"/>
              </a:rPr>
              <a:t>generate_flowchart — MERMAID</a:t>
            </a:r>
          </a:p>
        </p:txBody>
      </p:sp>
      <p:sp>
        <p:nvSpPr>
          <p:cNvPr id="30" name="TextBox 29"/>
          <p:cNvSpPr txBox="1"/>
          <p:nvPr/>
        </p:nvSpPr>
        <p:spPr>
          <a:xfrm>
            <a:off x="804672" y="4462272"/>
            <a:ext cx="6537960" cy="1463040"/>
          </a:xfrm>
          <a:prstGeom prst="rect">
            <a:avLst/>
          </a:prstGeom>
          <a:noFill/>
        </p:spPr>
        <p:txBody>
          <a:bodyPr wrap="square" anchor="t" lIns="0" rIns="0" tIns="0" bIns="0">
            <a:spAutoFit/>
          </a:bodyPr>
          <a:lstStyle/>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Mermaid syntax, written live by the agent</a:t>
            </a:r>
            <a:r>
              <a:rPr sz="1150" b="0" i="0">
                <a:solidFill>
                  <a:srgbClr val="9AA3B8"/>
                </a:solidFill>
                <a:latin typeface="Segoe UI"/>
              </a:rPr>
              <a:t> — diagrams render inside the chat</a:t>
            </a:r>
          </a:p>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Schema maps &amp; ER diagrams</a:t>
            </a:r>
            <a:r>
              <a:rPr sz="1150" b="0" i="0">
                <a:solidFill>
                  <a:srgbClr val="9AA3B8"/>
                </a:solidFill>
                <a:latin typeface="Segoe UI"/>
              </a:rPr>
              <a:t> — entity relationships on demand</a:t>
            </a:r>
          </a:p>
          <a:p>
            <a:pPr algn="l" marL="237744" indent="-237744">
              <a:lnSpc>
                <a:spcPct val="112000"/>
              </a:lnSpc>
              <a:spcAft>
                <a:spcPts val="700"/>
              </a:spcAft>
            </a:pPr>
            <a:r>
              <a:rPr sz="1150" b="1" i="0">
                <a:solidFill>
                  <a:srgbClr val="818CF8"/>
                </a:solidFill>
                <a:latin typeface="Consolas"/>
              </a:rPr>
              <a:t>▸  </a:t>
            </a:r>
            <a:r>
              <a:rPr sz="1150" b="1" i="0">
                <a:solidFill>
                  <a:srgbClr val="F4F6FB"/>
                </a:solidFill>
                <a:latin typeface="Segoe UI"/>
              </a:rPr>
              <a:t>Logic &amp; pipeline flows</a:t>
            </a:r>
            <a:r>
              <a:rPr sz="1150" b="0" i="0">
                <a:solidFill>
                  <a:srgbClr val="9AA3B8"/>
                </a:solidFill>
                <a:latin typeface="Segoe UI"/>
              </a:rPr>
              <a:t> — the shape of the system, not just the numbers</a:t>
            </a:r>
          </a:p>
        </p:txBody>
      </p:sp>
      <p:sp>
        <p:nvSpPr>
          <p:cNvPr id="31" name="Rounded Rectangle 30"/>
          <p:cNvSpPr/>
          <p:nvPr/>
        </p:nvSpPr>
        <p:spPr>
          <a:xfrm>
            <a:off x="7863840" y="1627632"/>
            <a:ext cx="3822191" cy="429768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101583" y="183337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02752" y="1783080"/>
            <a:ext cx="3136391" cy="274320"/>
          </a:xfrm>
          <a:prstGeom prst="rect">
            <a:avLst/>
          </a:prstGeom>
          <a:noFill/>
        </p:spPr>
        <p:txBody>
          <a:bodyPr wrap="square" anchor="t" lIns="0" rIns="0" tIns="0" bIns="0">
            <a:spAutoFit/>
          </a:bodyPr>
          <a:lstStyle/>
          <a:p>
            <a:pPr algn="l">
              <a:lnSpc>
                <a:spcPct val="100000"/>
              </a:lnSpc>
            </a:pPr>
            <a:r>
              <a:rPr sz="1050" b="0" i="0" spc="150">
                <a:solidFill>
                  <a:srgbClr val="A78BFA"/>
                </a:solidFill>
                <a:latin typeface="Segoe UI"/>
              </a:rPr>
              <a:t>LIVE RENDER</a:t>
            </a:r>
          </a:p>
        </p:txBody>
      </p:sp>
      <p:pic>
        <p:nvPicPr>
          <p:cNvPr id="34" name="Picture 33" descr="viz-visual-square.jpg"/>
          <p:cNvPicPr>
            <a:picLocks noChangeAspect="1"/>
          </p:cNvPicPr>
          <p:nvPr/>
        </p:nvPicPr>
        <p:blipFill>
          <a:blip r:embed="rId3"/>
          <a:stretch>
            <a:fillRect/>
          </a:stretch>
        </p:blipFill>
        <p:spPr>
          <a:xfrm>
            <a:off x="8211311" y="2194560"/>
            <a:ext cx="3127248" cy="3127248"/>
          </a:xfrm>
          <a:prstGeom prst="rect">
            <a:avLst/>
          </a:prstGeom>
          <a:effectLst>
            <a:outerShdw blurRad="201168" dist="45720" dir="5400000" rotWithShape="0">
              <a:srgbClr val="000000">
                <a:alpha val="55000"/>
              </a:srgbClr>
            </a:outerShdw>
          </a:effectLst>
        </p:spPr>
      </p:pic>
      <p:sp>
        <p:nvSpPr>
          <p:cNvPr id="35" name="TextBox 34"/>
          <p:cNvSpPr txBox="1"/>
          <p:nvPr/>
        </p:nvSpPr>
        <p:spPr>
          <a:xfrm>
            <a:off x="8028431" y="5449824"/>
            <a:ext cx="3493008" cy="274320"/>
          </a:xfrm>
          <a:prstGeom prst="rect">
            <a:avLst/>
          </a:prstGeom>
          <a:noFill/>
        </p:spPr>
        <p:txBody>
          <a:bodyPr wrap="square" anchor="t" lIns="0" rIns="0" tIns="0" bIns="0">
            <a:spAutoFit/>
          </a:bodyPr>
          <a:lstStyle/>
          <a:p>
            <a:pPr algn="ctr">
              <a:lnSpc>
                <a:spcPct val="100000"/>
              </a:lnSpc>
            </a:pPr>
            <a:r>
              <a:rPr sz="800" b="0" i="0" spc="60">
                <a:solidFill>
                  <a:srgbClr val="A78BFA"/>
                </a:solidFill>
                <a:latin typeface="Consolas"/>
              </a:rPr>
              <a:t>PLOTLY × MERMAID — RENDERED LIVE</a:t>
            </a:r>
          </a:p>
        </p:txBody>
      </p:sp>
      <p:sp>
        <p:nvSpPr>
          <p:cNvPr id="36" name="Rounded Rectangle 35"/>
          <p:cNvSpPr/>
          <p:nvPr/>
        </p:nvSpPr>
        <p:spPr>
          <a:xfrm>
            <a:off x="502920" y="6053328"/>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13232" y="6222492"/>
            <a:ext cx="82296" cy="82296"/>
          </a:xfrm>
          <a:prstGeom prst="roundRect">
            <a:avLst>
              <a:gd name="adj" fmla="val 50000"/>
            </a:avLst>
          </a:prstGeom>
          <a:solidFill>
            <a:srgbClr val="818CF8"/>
          </a:solidFill>
          <a:ln>
            <a:noFill/>
          </a:ln>
          <a:effectLst>
            <a:glow rad="38100">
              <a:srgbClr val="818CF8">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2688" y="6053328"/>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ONE PROMPT → THE NUMBERS AND THE PICTURE OF THE NUMBERS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07</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CORE TOOLS 3/3</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07</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07 — CORE TOOLS · 3 OF 3</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2900" b="1" i="0">
                <a:solidFill>
                  <a:srgbClr val="A78BFA"/>
                </a:solidFill>
                <a:latin typeface="Consolas"/>
              </a:rPr>
              <a:t>explain_data</a:t>
            </a:r>
            <a:r>
              <a:rPr sz="2900" b="1" i="0">
                <a:solidFill>
                  <a:srgbClr val="818CF8"/>
                </a:solidFill>
                <a:latin typeface="Segoe UI"/>
              </a:rPr>
              <a:t> — Grounded, Not Guessed</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7240" y="1645920"/>
            <a:ext cx="3063240" cy="914400"/>
          </a:xfrm>
          <a:prstGeom prst="roundRect">
            <a:avLst>
              <a:gd name="adj" fmla="val 14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5256" y="1645920"/>
            <a:ext cx="2807208" cy="3657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1801368"/>
            <a:ext cx="3063240" cy="365760"/>
          </a:xfrm>
          <a:prstGeom prst="rect">
            <a:avLst/>
          </a:prstGeom>
          <a:noFill/>
        </p:spPr>
        <p:txBody>
          <a:bodyPr wrap="square" anchor="t" lIns="0" rIns="0" tIns="0" bIns="0">
            <a:spAutoFit/>
          </a:bodyPr>
          <a:lstStyle/>
          <a:p>
            <a:pPr algn="ctr">
              <a:lnSpc>
                <a:spcPct val="100000"/>
              </a:lnSpc>
            </a:pPr>
            <a:r>
              <a:rPr sz="1450" b="1" i="0">
                <a:solidFill>
                  <a:srgbClr val="A78BFA"/>
                </a:solidFill>
                <a:latin typeface="Consolas"/>
              </a:rPr>
              <a:t>1 · QUERY</a:t>
            </a:r>
          </a:p>
        </p:txBody>
      </p:sp>
      <p:sp>
        <p:nvSpPr>
          <p:cNvPr id="26" name="TextBox 25"/>
          <p:cNvSpPr txBox="1"/>
          <p:nvPr/>
        </p:nvSpPr>
        <p:spPr>
          <a:xfrm>
            <a:off x="868680" y="2176272"/>
            <a:ext cx="2880360" cy="292608"/>
          </a:xfrm>
          <a:prstGeom prst="rect">
            <a:avLst/>
          </a:prstGeom>
          <a:noFill/>
        </p:spPr>
        <p:txBody>
          <a:bodyPr wrap="square" anchor="t" lIns="0" rIns="0" tIns="0" bIns="0">
            <a:spAutoFit/>
          </a:bodyPr>
          <a:lstStyle/>
          <a:p>
            <a:pPr algn="ctr">
              <a:lnSpc>
                <a:spcPct val="100000"/>
              </a:lnSpc>
            </a:pPr>
            <a:r>
              <a:rPr sz="850" b="0" i="0">
                <a:solidFill>
                  <a:srgbClr val="9AA3B8"/>
                </a:solidFill>
                <a:latin typeface="Consolas"/>
              </a:rPr>
              <a:t>against the live database</a:t>
            </a:r>
          </a:p>
        </p:txBody>
      </p:sp>
      <p:sp>
        <p:nvSpPr>
          <p:cNvPr id="27" name="TextBox 26"/>
          <p:cNvSpPr txBox="1"/>
          <p:nvPr/>
        </p:nvSpPr>
        <p:spPr>
          <a:xfrm>
            <a:off x="3867911" y="1645920"/>
            <a:ext cx="658368" cy="914400"/>
          </a:xfrm>
          <a:prstGeom prst="rect">
            <a:avLst/>
          </a:prstGeom>
          <a:noFill/>
        </p:spPr>
        <p:txBody>
          <a:bodyPr wrap="square" anchor="ctr" lIns="0" rIns="0" tIns="0" bIns="0">
            <a:spAutoFit/>
          </a:bodyPr>
          <a:lstStyle/>
          <a:p>
            <a:pPr algn="ctr">
              <a:lnSpc>
                <a:spcPct val="100000"/>
              </a:lnSpc>
            </a:pPr>
            <a:r>
              <a:rPr sz="1600" b="1" i="0">
                <a:solidFill>
                  <a:srgbClr val="818CF8"/>
                </a:solidFill>
                <a:latin typeface="Consolas"/>
              </a:rPr>
              <a:t>→</a:t>
            </a:r>
          </a:p>
        </p:txBody>
      </p:sp>
      <p:sp>
        <p:nvSpPr>
          <p:cNvPr id="28" name="Rounded Rectangle 27"/>
          <p:cNvSpPr/>
          <p:nvPr/>
        </p:nvSpPr>
        <p:spPr>
          <a:xfrm>
            <a:off x="4526279" y="1645920"/>
            <a:ext cx="3063240" cy="914400"/>
          </a:xfrm>
          <a:prstGeom prst="roundRect">
            <a:avLst>
              <a:gd name="adj" fmla="val 14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654295" y="1645920"/>
            <a:ext cx="2807208" cy="3657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26279" y="1801368"/>
            <a:ext cx="3063240" cy="365760"/>
          </a:xfrm>
          <a:prstGeom prst="rect">
            <a:avLst/>
          </a:prstGeom>
          <a:noFill/>
        </p:spPr>
        <p:txBody>
          <a:bodyPr wrap="square" anchor="t" lIns="0" rIns="0" tIns="0" bIns="0">
            <a:spAutoFit/>
          </a:bodyPr>
          <a:lstStyle/>
          <a:p>
            <a:pPr algn="ctr">
              <a:lnSpc>
                <a:spcPct val="100000"/>
              </a:lnSpc>
            </a:pPr>
            <a:r>
              <a:rPr sz="1450" b="1" i="0">
                <a:solidFill>
                  <a:srgbClr val="818CF8"/>
                </a:solidFill>
                <a:latin typeface="Consolas"/>
              </a:rPr>
              <a:t>2 · COMPUTE</a:t>
            </a:r>
          </a:p>
        </p:txBody>
      </p:sp>
      <p:sp>
        <p:nvSpPr>
          <p:cNvPr id="31" name="TextBox 30"/>
          <p:cNvSpPr txBox="1"/>
          <p:nvPr/>
        </p:nvSpPr>
        <p:spPr>
          <a:xfrm>
            <a:off x="4617719" y="2176272"/>
            <a:ext cx="2880360" cy="292608"/>
          </a:xfrm>
          <a:prstGeom prst="rect">
            <a:avLst/>
          </a:prstGeom>
          <a:noFill/>
        </p:spPr>
        <p:txBody>
          <a:bodyPr wrap="square" anchor="t" lIns="0" rIns="0" tIns="0" bIns="0">
            <a:spAutoFit/>
          </a:bodyPr>
          <a:lstStyle/>
          <a:p>
            <a:pPr algn="ctr">
              <a:lnSpc>
                <a:spcPct val="100000"/>
              </a:lnSpc>
            </a:pPr>
            <a:r>
              <a:rPr sz="850" b="0" i="0">
                <a:solidFill>
                  <a:srgbClr val="9AA3B8"/>
                </a:solidFill>
                <a:latin typeface="Consolas"/>
              </a:rPr>
              <a:t>totals · means · min/max · shares</a:t>
            </a:r>
          </a:p>
        </p:txBody>
      </p:sp>
      <p:sp>
        <p:nvSpPr>
          <p:cNvPr id="32" name="TextBox 31"/>
          <p:cNvSpPr txBox="1"/>
          <p:nvPr/>
        </p:nvSpPr>
        <p:spPr>
          <a:xfrm>
            <a:off x="7616951" y="1645920"/>
            <a:ext cx="658368" cy="914400"/>
          </a:xfrm>
          <a:prstGeom prst="rect">
            <a:avLst/>
          </a:prstGeom>
          <a:noFill/>
        </p:spPr>
        <p:txBody>
          <a:bodyPr wrap="square" anchor="ctr" lIns="0" rIns="0" tIns="0" bIns="0">
            <a:spAutoFit/>
          </a:bodyPr>
          <a:lstStyle/>
          <a:p>
            <a:pPr algn="ctr">
              <a:lnSpc>
                <a:spcPct val="100000"/>
              </a:lnSpc>
            </a:pPr>
            <a:r>
              <a:rPr sz="1600" b="1" i="0">
                <a:solidFill>
                  <a:srgbClr val="818CF8"/>
                </a:solidFill>
                <a:latin typeface="Consolas"/>
              </a:rPr>
              <a:t>→</a:t>
            </a:r>
          </a:p>
        </p:txBody>
      </p:sp>
      <p:sp>
        <p:nvSpPr>
          <p:cNvPr id="33" name="Rounded Rectangle 32"/>
          <p:cNvSpPr/>
          <p:nvPr/>
        </p:nvSpPr>
        <p:spPr>
          <a:xfrm>
            <a:off x="8275319" y="1645920"/>
            <a:ext cx="3063240" cy="914400"/>
          </a:xfrm>
          <a:prstGeom prst="roundRect">
            <a:avLst>
              <a:gd name="adj" fmla="val 14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403336" y="1645920"/>
            <a:ext cx="2807208" cy="3657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75319" y="1801368"/>
            <a:ext cx="3063240" cy="365760"/>
          </a:xfrm>
          <a:prstGeom prst="rect">
            <a:avLst/>
          </a:prstGeom>
          <a:noFill/>
        </p:spPr>
        <p:txBody>
          <a:bodyPr wrap="square" anchor="t" lIns="0" rIns="0" tIns="0" bIns="0">
            <a:spAutoFit/>
          </a:bodyPr>
          <a:lstStyle/>
          <a:p>
            <a:pPr algn="ctr">
              <a:lnSpc>
                <a:spcPct val="100000"/>
              </a:lnSpc>
            </a:pPr>
            <a:r>
              <a:rPr sz="1450" b="1" i="0">
                <a:solidFill>
                  <a:srgbClr val="A78BFA"/>
                </a:solidFill>
                <a:latin typeface="Consolas"/>
              </a:rPr>
              <a:t>3 · NARRATE</a:t>
            </a:r>
          </a:p>
        </p:txBody>
      </p:sp>
      <p:sp>
        <p:nvSpPr>
          <p:cNvPr id="36" name="TextBox 35"/>
          <p:cNvSpPr txBox="1"/>
          <p:nvPr/>
        </p:nvSpPr>
        <p:spPr>
          <a:xfrm>
            <a:off x="8366759" y="2176272"/>
            <a:ext cx="2880360" cy="292608"/>
          </a:xfrm>
          <a:prstGeom prst="rect">
            <a:avLst/>
          </a:prstGeom>
          <a:noFill/>
        </p:spPr>
        <p:txBody>
          <a:bodyPr wrap="square" anchor="t" lIns="0" rIns="0" tIns="0" bIns="0">
            <a:spAutoFit/>
          </a:bodyPr>
          <a:lstStyle/>
          <a:p>
            <a:pPr algn="ctr">
              <a:lnSpc>
                <a:spcPct val="100000"/>
              </a:lnSpc>
            </a:pPr>
            <a:r>
              <a:rPr sz="850" b="0" i="0">
                <a:solidFill>
                  <a:srgbClr val="9AA3B8"/>
                </a:solidFill>
                <a:latin typeface="Consolas"/>
              </a:rPr>
              <a:t>prose around proven numbers</a:t>
            </a:r>
          </a:p>
        </p:txBody>
      </p:sp>
      <p:sp>
        <p:nvSpPr>
          <p:cNvPr id="37" name="TextBox 36"/>
          <p:cNvSpPr txBox="1"/>
          <p:nvPr/>
        </p:nvSpPr>
        <p:spPr>
          <a:xfrm>
            <a:off x="804672" y="2971800"/>
            <a:ext cx="6400800" cy="2651760"/>
          </a:xfrm>
          <a:prstGeom prst="rect">
            <a:avLst/>
          </a:prstGeom>
          <a:noFill/>
        </p:spPr>
        <p:txBody>
          <a:bodyPr wrap="square" anchor="t" lIns="0" rIns="0" tIns="0" bIns="0">
            <a:spAutoFit/>
          </a:bodyPr>
          <a:lstStyle/>
          <a:p>
            <a:pPr algn="l" marL="237744" indent="-237744">
              <a:lnSpc>
                <a:spcPct val="112000"/>
              </a:lnSpc>
              <a:spcAft>
                <a:spcPts val="1300"/>
              </a:spcAft>
            </a:pPr>
            <a:r>
              <a:rPr sz="1250" b="1" i="0">
                <a:solidFill>
                  <a:srgbClr val="A78BFA"/>
                </a:solidFill>
                <a:latin typeface="Consolas"/>
              </a:rPr>
              <a:t>▸  </a:t>
            </a:r>
            <a:r>
              <a:rPr sz="1250" b="1" i="0">
                <a:solidFill>
                  <a:srgbClr val="F4F6FB"/>
                </a:solidFill>
                <a:latin typeface="Segoe UI"/>
              </a:rPr>
              <a:t>Numeric summaries from executed result sets</a:t>
            </a:r>
            <a:r>
              <a:rPr sz="1250" b="0" i="0">
                <a:solidFill>
                  <a:srgbClr val="9AA3B8"/>
                </a:solidFill>
                <a:latin typeface="Segoe UI"/>
              </a:rPr>
              <a:t> — totals, averages, min/max, distributions, shares — computed, not recalled</a:t>
            </a:r>
          </a:p>
          <a:p>
            <a:pPr algn="l" marL="237744" indent="-237744">
              <a:lnSpc>
                <a:spcPct val="112000"/>
              </a:lnSpc>
              <a:spcAft>
                <a:spcPts val="1300"/>
              </a:spcAft>
            </a:pPr>
            <a:r>
              <a:rPr sz="1250" b="1" i="0">
                <a:solidFill>
                  <a:srgbClr val="A78BFA"/>
                </a:solidFill>
                <a:latin typeface="Consolas"/>
              </a:rPr>
              <a:t>▸  </a:t>
            </a:r>
            <a:r>
              <a:rPr sz="1250" b="1" i="0">
                <a:solidFill>
                  <a:srgbClr val="F4F6FB"/>
                </a:solidFill>
                <a:latin typeface="Segoe UI"/>
              </a:rPr>
              <a:t>Every figure traces to a query result</a:t>
            </a:r>
            <a:r>
              <a:rPr sz="1250" b="0" i="0">
                <a:solidFill>
                  <a:srgbClr val="9AA3B8"/>
                </a:solidFill>
                <a:latin typeface="Segoe UI"/>
              </a:rPr>
              <a:t> — text is generated from computed numbers, never from model memory</a:t>
            </a:r>
          </a:p>
          <a:p>
            <a:pPr algn="l" marL="237744" indent="-237744">
              <a:lnSpc>
                <a:spcPct val="112000"/>
              </a:lnSpc>
              <a:spcAft>
                <a:spcPts val="1300"/>
              </a:spcAft>
            </a:pPr>
            <a:r>
              <a:rPr sz="1250" b="1" i="0">
                <a:solidFill>
                  <a:srgbClr val="A78BFA"/>
                </a:solidFill>
                <a:latin typeface="Consolas"/>
              </a:rPr>
              <a:t>▸  </a:t>
            </a:r>
            <a:r>
              <a:rPr sz="1250" b="1" i="0">
                <a:solidFill>
                  <a:srgbClr val="F4F6FB"/>
                </a:solidFill>
                <a:latin typeface="Segoe UI"/>
              </a:rPr>
              <a:t>The math ships with the story</a:t>
            </a:r>
            <a:r>
              <a:rPr sz="1250" b="0" i="0">
                <a:solidFill>
                  <a:srgbClr val="9AA3B8"/>
                </a:solidFill>
                <a:latin typeface="Segoe UI"/>
              </a:rPr>
              <a:t> — growth rates, proportions, outliers — derived first, then narrated</a:t>
            </a:r>
          </a:p>
          <a:p>
            <a:pPr algn="l" marL="237744" indent="-237744">
              <a:lnSpc>
                <a:spcPct val="112000"/>
              </a:lnSpc>
              <a:spcAft>
                <a:spcPts val="1300"/>
              </a:spcAft>
            </a:pPr>
            <a:r>
              <a:rPr sz="1250" b="1" i="0">
                <a:solidFill>
                  <a:srgbClr val="A78BFA"/>
                </a:solidFill>
                <a:latin typeface="Consolas"/>
              </a:rPr>
              <a:t>▸  </a:t>
            </a:r>
            <a:r>
              <a:rPr sz="1250" b="1" i="0">
                <a:solidFill>
                  <a:srgbClr val="F4F6FB"/>
                </a:solidFill>
                <a:latin typeface="Segoe UI"/>
              </a:rPr>
              <a:t>Anti-hallucination by architecture</a:t>
            </a:r>
            <a:r>
              <a:rPr sz="1250" b="0" i="0">
                <a:solidFill>
                  <a:srgbClr val="9AA3B8"/>
                </a:solidFill>
                <a:latin typeface="Segoe UI"/>
              </a:rPr>
              <a:t> — untraceable numbers don't make the answer</a:t>
            </a:r>
          </a:p>
        </p:txBody>
      </p:sp>
      <p:sp>
        <p:nvSpPr>
          <p:cNvPr id="38" name="Rounded Rectangle 37"/>
          <p:cNvSpPr/>
          <p:nvPr/>
        </p:nvSpPr>
        <p:spPr>
          <a:xfrm>
            <a:off x="7635240" y="2788920"/>
            <a:ext cx="4050791" cy="288036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872983" y="2994660"/>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74152" y="2944368"/>
            <a:ext cx="3364991" cy="274320"/>
          </a:xfrm>
          <a:prstGeom prst="rect">
            <a:avLst/>
          </a:prstGeom>
          <a:noFill/>
        </p:spPr>
        <p:txBody>
          <a:bodyPr wrap="square" anchor="t" lIns="0" rIns="0" tIns="0" bIns="0">
            <a:spAutoFit/>
          </a:bodyPr>
          <a:lstStyle/>
          <a:p>
            <a:pPr algn="l">
              <a:lnSpc>
                <a:spcPct val="100000"/>
              </a:lnSpc>
            </a:pPr>
            <a:r>
              <a:rPr sz="1050" b="0" i="0" spc="150">
                <a:solidFill>
                  <a:srgbClr val="A78BFA"/>
                </a:solidFill>
                <a:latin typeface="Segoe UI"/>
              </a:rPr>
              <a:t>GROUNDING LENS</a:t>
            </a:r>
          </a:p>
        </p:txBody>
      </p:sp>
      <p:pic>
        <p:nvPicPr>
          <p:cNvPr id="41" name="Picture 40" descr="lens-visual.jpg"/>
          <p:cNvPicPr>
            <a:picLocks noChangeAspect="1"/>
          </p:cNvPicPr>
          <p:nvPr/>
        </p:nvPicPr>
        <p:blipFill>
          <a:blip r:embed="rId3"/>
          <a:stretch>
            <a:fillRect/>
          </a:stretch>
        </p:blipFill>
        <p:spPr>
          <a:xfrm>
            <a:off x="7858506" y="3337560"/>
            <a:ext cx="3604260" cy="1965960"/>
          </a:xfrm>
          <a:prstGeom prst="rect">
            <a:avLst/>
          </a:prstGeom>
          <a:effectLst>
            <a:outerShdw blurRad="201168" dist="45720" dir="5400000" rotWithShape="0">
              <a:srgbClr val="000000">
                <a:alpha val="55000"/>
              </a:srgbClr>
            </a:outerShdw>
          </a:effectLst>
        </p:spPr>
      </p:pic>
      <p:sp>
        <p:nvSpPr>
          <p:cNvPr id="42" name="TextBox 41"/>
          <p:cNvSpPr txBox="1"/>
          <p:nvPr/>
        </p:nvSpPr>
        <p:spPr>
          <a:xfrm>
            <a:off x="7799831" y="5385816"/>
            <a:ext cx="3721608" cy="274320"/>
          </a:xfrm>
          <a:prstGeom prst="rect">
            <a:avLst/>
          </a:prstGeom>
          <a:noFill/>
        </p:spPr>
        <p:txBody>
          <a:bodyPr wrap="square" anchor="t" lIns="0" rIns="0" tIns="0" bIns="0">
            <a:spAutoFit/>
          </a:bodyPr>
          <a:lstStyle/>
          <a:p>
            <a:pPr algn="ctr">
              <a:lnSpc>
                <a:spcPct val="100000"/>
              </a:lnSpc>
            </a:pPr>
            <a:r>
              <a:rPr sz="800" b="0" i="0" spc="60">
                <a:solidFill>
                  <a:srgbClr val="A78BFA"/>
                </a:solidFill>
                <a:latin typeface="Consolas"/>
              </a:rPr>
              <a:t>EVERY NUMBER TRACED TO A ROW</a:t>
            </a:r>
          </a:p>
        </p:txBody>
      </p:sp>
      <p:sp>
        <p:nvSpPr>
          <p:cNvPr id="43" name="Rounded Rectangle 42"/>
          <p:cNvSpPr/>
          <p:nvPr/>
        </p:nvSpPr>
        <p:spPr>
          <a:xfrm>
            <a:off x="502920" y="5943600"/>
            <a:ext cx="11185855" cy="457200"/>
          </a:xfrm>
          <a:prstGeom prst="roundRect">
            <a:avLst>
              <a:gd name="adj" fmla="val 50000"/>
            </a:avLst>
          </a:prstGeom>
          <a:solidFill>
            <a:srgbClr val="1D1737">
              <a:alpha val="85000"/>
            </a:srgbClr>
          </a:solidFill>
          <a:ln w="12700">
            <a:solidFill>
              <a:srgbClr val="3B31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60" y="5943600"/>
            <a:ext cx="10545775" cy="457200"/>
          </a:xfrm>
          <a:prstGeom prst="rect">
            <a:avLst/>
          </a:prstGeom>
          <a:noFill/>
        </p:spPr>
        <p:txBody>
          <a:bodyPr wrap="square" anchor="ctr" lIns="0" rIns="0" tIns="0" bIns="0">
            <a:spAutoFit/>
          </a:bodyPr>
          <a:lstStyle/>
          <a:p>
            <a:pPr algn="l">
              <a:lnSpc>
                <a:spcPct val="100000"/>
              </a:lnSpc>
            </a:pPr>
            <a:r>
              <a:rPr sz="1200" b="1" i="0">
                <a:solidFill>
                  <a:srgbClr val="A78BFA"/>
                </a:solidFill>
                <a:latin typeface="Consolas"/>
              </a:rPr>
              <a:t>&gt; </a:t>
            </a:r>
            <a:r>
              <a:rPr sz="1200" b="0" i="0">
                <a:solidFill>
                  <a:srgbClr val="F4F6FB"/>
                </a:solidFill>
                <a:latin typeface="Consolas"/>
              </a:rPr>
              <a:t>We don't ask the model to remember your revenue. We ask your database.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08</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DATA MODEL</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08</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08 — DATABASE ARCHITECTURE</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Under the Hood — </a:t>
            </a:r>
            <a:r>
              <a:rPr sz="3000" b="1" i="0">
                <a:solidFill>
                  <a:srgbClr val="A78BFA"/>
                </a:solidFill>
                <a:latin typeface="Segoe UI"/>
              </a:rPr>
              <a:t>The Sample Sales Schema</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19072"/>
            <a:ext cx="2487168" cy="1517904"/>
          </a:xfrm>
          <a:prstGeom prst="roundRect">
            <a:avLst>
              <a:gd name="adj" fmla="val 9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 y="1719072"/>
            <a:ext cx="2231136" cy="3657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1865376"/>
            <a:ext cx="2487168" cy="292608"/>
          </a:xfrm>
          <a:prstGeom prst="rect">
            <a:avLst/>
          </a:prstGeom>
          <a:noFill/>
        </p:spPr>
        <p:txBody>
          <a:bodyPr wrap="square" anchor="t" lIns="0" rIns="0" tIns="0" bIns="0">
            <a:spAutoFit/>
          </a:bodyPr>
          <a:lstStyle/>
          <a:p>
            <a:pPr algn="ctr">
              <a:lnSpc>
                <a:spcPct val="100000"/>
              </a:lnSpc>
            </a:pPr>
            <a:r>
              <a:rPr sz="1250" b="1" i="0" spc="70">
                <a:solidFill>
                  <a:srgbClr val="A78BFA"/>
                </a:solidFill>
                <a:latin typeface="Consolas"/>
              </a:rPr>
              <a:t>CUSTOMERS</a:t>
            </a:r>
          </a:p>
        </p:txBody>
      </p:sp>
      <p:sp>
        <p:nvSpPr>
          <p:cNvPr id="26" name="TextBox 25"/>
          <p:cNvSpPr txBox="1"/>
          <p:nvPr/>
        </p:nvSpPr>
        <p:spPr>
          <a:xfrm>
            <a:off x="594360" y="2194560"/>
            <a:ext cx="2304288" cy="256032"/>
          </a:xfrm>
          <a:prstGeom prst="rect">
            <a:avLst/>
          </a:prstGeom>
          <a:noFill/>
        </p:spPr>
        <p:txBody>
          <a:bodyPr wrap="square" anchor="t" lIns="0" rIns="0" tIns="0" bIns="0">
            <a:spAutoFit/>
          </a:bodyPr>
          <a:lstStyle/>
          <a:p>
            <a:pPr algn="ctr">
              <a:lnSpc>
                <a:spcPct val="100000"/>
              </a:lnSpc>
            </a:pPr>
            <a:r>
              <a:rPr sz="950" b="0" i="0">
                <a:solidFill>
                  <a:srgbClr val="F4F6FB"/>
                </a:solidFill>
                <a:latin typeface="Segoe UI"/>
              </a:rPr>
              <a:t>who is buying</a:t>
            </a:r>
          </a:p>
        </p:txBody>
      </p:sp>
      <p:sp>
        <p:nvSpPr>
          <p:cNvPr id="27" name="TextBox 26"/>
          <p:cNvSpPr txBox="1"/>
          <p:nvPr/>
        </p:nvSpPr>
        <p:spPr>
          <a:xfrm>
            <a:off x="576072" y="2487168"/>
            <a:ext cx="2340864" cy="658368"/>
          </a:xfrm>
          <a:prstGeom prst="rect">
            <a:avLst/>
          </a:prstGeom>
          <a:noFill/>
        </p:spPr>
        <p:txBody>
          <a:bodyPr wrap="square" anchor="t" lIns="0" rIns="0" tIns="0" bIns="0">
            <a:spAutoFit/>
          </a:bodyPr>
          <a:lstStyle/>
          <a:p>
            <a:pPr algn="ctr">
              <a:lnSpc>
                <a:spcPct val="100000"/>
              </a:lnSpc>
              <a:spcAft>
                <a:spcPts val="200"/>
              </a:spcAft>
            </a:pPr>
            <a:r>
              <a:rPr sz="800" b="0" i="0">
                <a:solidFill>
                  <a:srgbClr val="9AA3B8"/>
                </a:solidFill>
                <a:latin typeface="Consolas"/>
              </a:rPr>
              <a:t>customer_id · name</a:t>
            </a:r>
          </a:p>
          <a:p>
            <a:pPr algn="ctr">
              <a:lnSpc>
                <a:spcPct val="100000"/>
              </a:lnSpc>
            </a:pPr>
            <a:r>
              <a:rPr sz="800" b="0" i="0">
                <a:solidFill>
                  <a:srgbClr val="9AA3B8"/>
                </a:solidFill>
                <a:latin typeface="Consolas"/>
              </a:rPr>
              <a:t>city · signup_date</a:t>
            </a:r>
          </a:p>
        </p:txBody>
      </p:sp>
      <p:sp>
        <p:nvSpPr>
          <p:cNvPr id="28" name="TextBox 27"/>
          <p:cNvSpPr txBox="1"/>
          <p:nvPr/>
        </p:nvSpPr>
        <p:spPr>
          <a:xfrm>
            <a:off x="2944368" y="2048256"/>
            <a:ext cx="503834" cy="274320"/>
          </a:xfrm>
          <a:prstGeom prst="rect">
            <a:avLst/>
          </a:prstGeom>
          <a:noFill/>
        </p:spPr>
        <p:txBody>
          <a:bodyPr wrap="square" anchor="t" lIns="0" rIns="0" tIns="0" bIns="0">
            <a:spAutoFit/>
          </a:bodyPr>
          <a:lstStyle/>
          <a:p>
            <a:pPr algn="ctr">
              <a:lnSpc>
                <a:spcPct val="100000"/>
              </a:lnSpc>
            </a:pPr>
            <a:r>
              <a:rPr sz="1000" b="0" i="0">
                <a:solidFill>
                  <a:srgbClr val="818CF8"/>
                </a:solidFill>
                <a:latin typeface="Consolas"/>
              </a:rPr>
              <a:t>━━━→</a:t>
            </a:r>
          </a:p>
        </p:txBody>
      </p:sp>
      <p:sp>
        <p:nvSpPr>
          <p:cNvPr id="29" name="TextBox 28"/>
          <p:cNvSpPr txBox="1"/>
          <p:nvPr/>
        </p:nvSpPr>
        <p:spPr>
          <a:xfrm>
            <a:off x="2944368" y="2286000"/>
            <a:ext cx="503834" cy="274320"/>
          </a:xfrm>
          <a:prstGeom prst="rect">
            <a:avLst/>
          </a:prstGeom>
          <a:noFill/>
        </p:spPr>
        <p:txBody>
          <a:bodyPr wrap="square" anchor="t" lIns="0" rIns="0" tIns="0" bIns="0">
            <a:spAutoFit/>
          </a:bodyPr>
          <a:lstStyle/>
          <a:p>
            <a:pPr algn="ctr">
              <a:lnSpc>
                <a:spcPct val="100000"/>
              </a:lnSpc>
            </a:pPr>
            <a:r>
              <a:rPr sz="1100" b="1" i="0">
                <a:solidFill>
                  <a:srgbClr val="818CF8"/>
                </a:solidFill>
                <a:latin typeface="Consolas"/>
              </a:rPr>
              <a:t>1 — ∞</a:t>
            </a:r>
          </a:p>
        </p:txBody>
      </p:sp>
      <p:sp>
        <p:nvSpPr>
          <p:cNvPr id="30" name="Rounded Rectangle 29"/>
          <p:cNvSpPr/>
          <p:nvPr/>
        </p:nvSpPr>
        <p:spPr>
          <a:xfrm>
            <a:off x="3402482" y="1719072"/>
            <a:ext cx="2487168" cy="1517904"/>
          </a:xfrm>
          <a:prstGeom prst="roundRect">
            <a:avLst>
              <a:gd name="adj" fmla="val 9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30498" y="1719072"/>
            <a:ext cx="2231136" cy="3657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402482" y="1865376"/>
            <a:ext cx="2487168" cy="292608"/>
          </a:xfrm>
          <a:prstGeom prst="rect">
            <a:avLst/>
          </a:prstGeom>
          <a:noFill/>
        </p:spPr>
        <p:txBody>
          <a:bodyPr wrap="square" anchor="t" lIns="0" rIns="0" tIns="0" bIns="0">
            <a:spAutoFit/>
          </a:bodyPr>
          <a:lstStyle/>
          <a:p>
            <a:pPr algn="ctr">
              <a:lnSpc>
                <a:spcPct val="100000"/>
              </a:lnSpc>
            </a:pPr>
            <a:r>
              <a:rPr sz="1250" b="1" i="0" spc="70">
                <a:solidFill>
                  <a:srgbClr val="818CF8"/>
                </a:solidFill>
                <a:latin typeface="Consolas"/>
              </a:rPr>
              <a:t>ORDERS</a:t>
            </a:r>
          </a:p>
        </p:txBody>
      </p:sp>
      <p:sp>
        <p:nvSpPr>
          <p:cNvPr id="33" name="TextBox 32"/>
          <p:cNvSpPr txBox="1"/>
          <p:nvPr/>
        </p:nvSpPr>
        <p:spPr>
          <a:xfrm>
            <a:off x="3493922" y="2194560"/>
            <a:ext cx="2304288" cy="256032"/>
          </a:xfrm>
          <a:prstGeom prst="rect">
            <a:avLst/>
          </a:prstGeom>
          <a:noFill/>
        </p:spPr>
        <p:txBody>
          <a:bodyPr wrap="square" anchor="t" lIns="0" rIns="0" tIns="0" bIns="0">
            <a:spAutoFit/>
          </a:bodyPr>
          <a:lstStyle/>
          <a:p>
            <a:pPr algn="ctr">
              <a:lnSpc>
                <a:spcPct val="100000"/>
              </a:lnSpc>
            </a:pPr>
            <a:r>
              <a:rPr sz="950" b="0" i="0">
                <a:solidFill>
                  <a:srgbClr val="F4F6FB"/>
                </a:solidFill>
                <a:latin typeface="Segoe UI"/>
              </a:rPr>
              <a:t>the transaction header</a:t>
            </a:r>
          </a:p>
        </p:txBody>
      </p:sp>
      <p:sp>
        <p:nvSpPr>
          <p:cNvPr id="34" name="TextBox 33"/>
          <p:cNvSpPr txBox="1"/>
          <p:nvPr/>
        </p:nvSpPr>
        <p:spPr>
          <a:xfrm>
            <a:off x="3475634" y="2487168"/>
            <a:ext cx="2340864" cy="658368"/>
          </a:xfrm>
          <a:prstGeom prst="rect">
            <a:avLst/>
          </a:prstGeom>
          <a:noFill/>
        </p:spPr>
        <p:txBody>
          <a:bodyPr wrap="square" anchor="t" lIns="0" rIns="0" tIns="0" bIns="0">
            <a:spAutoFit/>
          </a:bodyPr>
          <a:lstStyle/>
          <a:p>
            <a:pPr algn="ctr">
              <a:lnSpc>
                <a:spcPct val="100000"/>
              </a:lnSpc>
              <a:spcAft>
                <a:spcPts val="200"/>
              </a:spcAft>
            </a:pPr>
            <a:r>
              <a:rPr sz="800" b="0" i="0">
                <a:solidFill>
                  <a:srgbClr val="9AA3B8"/>
                </a:solidFill>
                <a:latin typeface="Consolas"/>
              </a:rPr>
              <a:t>order_id · customer_id</a:t>
            </a:r>
          </a:p>
          <a:p>
            <a:pPr algn="ctr">
              <a:lnSpc>
                <a:spcPct val="100000"/>
              </a:lnSpc>
            </a:pPr>
            <a:r>
              <a:rPr sz="800" b="0" i="0">
                <a:solidFill>
                  <a:srgbClr val="9AA3B8"/>
                </a:solidFill>
                <a:latin typeface="Consolas"/>
              </a:rPr>
              <a:t>date · status</a:t>
            </a:r>
          </a:p>
        </p:txBody>
      </p:sp>
      <p:sp>
        <p:nvSpPr>
          <p:cNvPr id="35" name="TextBox 34"/>
          <p:cNvSpPr txBox="1"/>
          <p:nvPr/>
        </p:nvSpPr>
        <p:spPr>
          <a:xfrm>
            <a:off x="5843930" y="2048256"/>
            <a:ext cx="503834" cy="274320"/>
          </a:xfrm>
          <a:prstGeom prst="rect">
            <a:avLst/>
          </a:prstGeom>
          <a:noFill/>
        </p:spPr>
        <p:txBody>
          <a:bodyPr wrap="square" anchor="t" lIns="0" rIns="0" tIns="0" bIns="0">
            <a:spAutoFit/>
          </a:bodyPr>
          <a:lstStyle/>
          <a:p>
            <a:pPr algn="ctr">
              <a:lnSpc>
                <a:spcPct val="100000"/>
              </a:lnSpc>
            </a:pPr>
            <a:r>
              <a:rPr sz="1000" b="0" i="0">
                <a:solidFill>
                  <a:srgbClr val="818CF8"/>
                </a:solidFill>
                <a:latin typeface="Consolas"/>
              </a:rPr>
              <a:t>━━━→</a:t>
            </a:r>
          </a:p>
        </p:txBody>
      </p:sp>
      <p:sp>
        <p:nvSpPr>
          <p:cNvPr id="36" name="TextBox 35"/>
          <p:cNvSpPr txBox="1"/>
          <p:nvPr/>
        </p:nvSpPr>
        <p:spPr>
          <a:xfrm>
            <a:off x="5843930" y="2286000"/>
            <a:ext cx="503834" cy="274320"/>
          </a:xfrm>
          <a:prstGeom prst="rect">
            <a:avLst/>
          </a:prstGeom>
          <a:noFill/>
        </p:spPr>
        <p:txBody>
          <a:bodyPr wrap="square" anchor="t" lIns="0" rIns="0" tIns="0" bIns="0">
            <a:spAutoFit/>
          </a:bodyPr>
          <a:lstStyle/>
          <a:p>
            <a:pPr algn="ctr">
              <a:lnSpc>
                <a:spcPct val="100000"/>
              </a:lnSpc>
            </a:pPr>
            <a:r>
              <a:rPr sz="1100" b="1" i="0">
                <a:solidFill>
                  <a:srgbClr val="818CF8"/>
                </a:solidFill>
                <a:latin typeface="Consolas"/>
              </a:rPr>
              <a:t>1 — ∞</a:t>
            </a:r>
          </a:p>
        </p:txBody>
      </p:sp>
      <p:sp>
        <p:nvSpPr>
          <p:cNvPr id="37" name="Rounded Rectangle 36"/>
          <p:cNvSpPr/>
          <p:nvPr/>
        </p:nvSpPr>
        <p:spPr>
          <a:xfrm>
            <a:off x="6302044" y="1719072"/>
            <a:ext cx="2487168" cy="1517904"/>
          </a:xfrm>
          <a:prstGeom prst="roundRect">
            <a:avLst>
              <a:gd name="adj" fmla="val 9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430060" y="1719072"/>
            <a:ext cx="2231136" cy="3657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2044" y="1865376"/>
            <a:ext cx="2487168" cy="292608"/>
          </a:xfrm>
          <a:prstGeom prst="rect">
            <a:avLst/>
          </a:prstGeom>
          <a:noFill/>
        </p:spPr>
        <p:txBody>
          <a:bodyPr wrap="square" anchor="t" lIns="0" rIns="0" tIns="0" bIns="0">
            <a:spAutoFit/>
          </a:bodyPr>
          <a:lstStyle/>
          <a:p>
            <a:pPr algn="ctr">
              <a:lnSpc>
                <a:spcPct val="100000"/>
              </a:lnSpc>
            </a:pPr>
            <a:r>
              <a:rPr sz="1250" b="1" i="0" spc="70">
                <a:solidFill>
                  <a:srgbClr val="A78BFA"/>
                </a:solidFill>
                <a:latin typeface="Consolas"/>
              </a:rPr>
              <a:t>ORDER_ITEMS</a:t>
            </a:r>
          </a:p>
        </p:txBody>
      </p:sp>
      <p:sp>
        <p:nvSpPr>
          <p:cNvPr id="40" name="TextBox 39"/>
          <p:cNvSpPr txBox="1"/>
          <p:nvPr/>
        </p:nvSpPr>
        <p:spPr>
          <a:xfrm>
            <a:off x="6393484" y="2194560"/>
            <a:ext cx="2304288" cy="256032"/>
          </a:xfrm>
          <a:prstGeom prst="rect">
            <a:avLst/>
          </a:prstGeom>
          <a:noFill/>
        </p:spPr>
        <p:txBody>
          <a:bodyPr wrap="square" anchor="t" lIns="0" rIns="0" tIns="0" bIns="0">
            <a:spAutoFit/>
          </a:bodyPr>
          <a:lstStyle/>
          <a:p>
            <a:pPr algn="ctr">
              <a:lnSpc>
                <a:spcPct val="100000"/>
              </a:lnSpc>
            </a:pPr>
            <a:r>
              <a:rPr sz="950" b="0" i="0">
                <a:solidFill>
                  <a:srgbClr val="F4F6FB"/>
                </a:solidFill>
                <a:latin typeface="Segoe UI"/>
              </a:rPr>
              <a:t>line-level detail</a:t>
            </a:r>
          </a:p>
        </p:txBody>
      </p:sp>
      <p:sp>
        <p:nvSpPr>
          <p:cNvPr id="41" name="TextBox 40"/>
          <p:cNvSpPr txBox="1"/>
          <p:nvPr/>
        </p:nvSpPr>
        <p:spPr>
          <a:xfrm>
            <a:off x="6375196" y="2487168"/>
            <a:ext cx="2340864" cy="658368"/>
          </a:xfrm>
          <a:prstGeom prst="rect">
            <a:avLst/>
          </a:prstGeom>
          <a:noFill/>
        </p:spPr>
        <p:txBody>
          <a:bodyPr wrap="square" anchor="t" lIns="0" rIns="0" tIns="0" bIns="0">
            <a:spAutoFit/>
          </a:bodyPr>
          <a:lstStyle/>
          <a:p>
            <a:pPr algn="ctr">
              <a:lnSpc>
                <a:spcPct val="100000"/>
              </a:lnSpc>
              <a:spcAft>
                <a:spcPts val="200"/>
              </a:spcAft>
            </a:pPr>
            <a:r>
              <a:rPr sz="800" b="0" i="0">
                <a:solidFill>
                  <a:srgbClr val="9AA3B8"/>
                </a:solidFill>
                <a:latin typeface="Consolas"/>
              </a:rPr>
              <a:t>order_id · product_id</a:t>
            </a:r>
          </a:p>
          <a:p>
            <a:pPr algn="ctr">
              <a:lnSpc>
                <a:spcPct val="100000"/>
              </a:lnSpc>
            </a:pPr>
            <a:r>
              <a:rPr sz="800" b="0" i="0">
                <a:solidFill>
                  <a:srgbClr val="9AA3B8"/>
                </a:solidFill>
                <a:latin typeface="Consolas"/>
              </a:rPr>
              <a:t>qty · price</a:t>
            </a:r>
          </a:p>
        </p:txBody>
      </p:sp>
      <p:sp>
        <p:nvSpPr>
          <p:cNvPr id="42" name="TextBox 41"/>
          <p:cNvSpPr txBox="1"/>
          <p:nvPr/>
        </p:nvSpPr>
        <p:spPr>
          <a:xfrm>
            <a:off x="8743492" y="2048256"/>
            <a:ext cx="503834" cy="274320"/>
          </a:xfrm>
          <a:prstGeom prst="rect">
            <a:avLst/>
          </a:prstGeom>
          <a:noFill/>
        </p:spPr>
        <p:txBody>
          <a:bodyPr wrap="square" anchor="t" lIns="0" rIns="0" tIns="0" bIns="0">
            <a:spAutoFit/>
          </a:bodyPr>
          <a:lstStyle/>
          <a:p>
            <a:pPr algn="ctr">
              <a:lnSpc>
                <a:spcPct val="100000"/>
              </a:lnSpc>
            </a:pPr>
            <a:r>
              <a:rPr sz="1000" b="0" i="0">
                <a:solidFill>
                  <a:srgbClr val="818CF8"/>
                </a:solidFill>
                <a:latin typeface="Consolas"/>
              </a:rPr>
              <a:t>←━━━</a:t>
            </a:r>
          </a:p>
        </p:txBody>
      </p:sp>
      <p:sp>
        <p:nvSpPr>
          <p:cNvPr id="43" name="TextBox 42"/>
          <p:cNvSpPr txBox="1"/>
          <p:nvPr/>
        </p:nvSpPr>
        <p:spPr>
          <a:xfrm>
            <a:off x="8743492" y="2286000"/>
            <a:ext cx="503834" cy="274320"/>
          </a:xfrm>
          <a:prstGeom prst="rect">
            <a:avLst/>
          </a:prstGeom>
          <a:noFill/>
        </p:spPr>
        <p:txBody>
          <a:bodyPr wrap="square" anchor="t" lIns="0" rIns="0" tIns="0" bIns="0">
            <a:spAutoFit/>
          </a:bodyPr>
          <a:lstStyle/>
          <a:p>
            <a:pPr algn="ctr">
              <a:lnSpc>
                <a:spcPct val="100000"/>
              </a:lnSpc>
            </a:pPr>
            <a:r>
              <a:rPr sz="1100" b="1" i="0">
                <a:solidFill>
                  <a:srgbClr val="818CF8"/>
                </a:solidFill>
                <a:latin typeface="Consolas"/>
              </a:rPr>
              <a:t>∞ — 1</a:t>
            </a:r>
          </a:p>
        </p:txBody>
      </p:sp>
      <p:sp>
        <p:nvSpPr>
          <p:cNvPr id="44" name="Rounded Rectangle 43"/>
          <p:cNvSpPr/>
          <p:nvPr/>
        </p:nvSpPr>
        <p:spPr>
          <a:xfrm>
            <a:off x="9201607" y="1719072"/>
            <a:ext cx="2487168" cy="1517904"/>
          </a:xfrm>
          <a:prstGeom prst="roundRect">
            <a:avLst>
              <a:gd name="adj" fmla="val 9000"/>
            </a:avLst>
          </a:prstGeom>
          <a:solidFill>
            <a:srgbClr val="10131C">
              <a:alpha val="90000"/>
            </a:srgbClr>
          </a:solidFill>
          <a:ln w="12700">
            <a:solidFill>
              <a:srgbClr val="262B3D"/>
            </a:solidFill>
          </a:ln>
          <a:effectLst>
            <a:outerShdw blurRad="164592" dist="41148"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329623" y="1719072"/>
            <a:ext cx="2231136" cy="3657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201607" y="1865376"/>
            <a:ext cx="2487168" cy="292608"/>
          </a:xfrm>
          <a:prstGeom prst="rect">
            <a:avLst/>
          </a:prstGeom>
          <a:noFill/>
        </p:spPr>
        <p:txBody>
          <a:bodyPr wrap="square" anchor="t" lIns="0" rIns="0" tIns="0" bIns="0">
            <a:spAutoFit/>
          </a:bodyPr>
          <a:lstStyle/>
          <a:p>
            <a:pPr algn="ctr">
              <a:lnSpc>
                <a:spcPct val="100000"/>
              </a:lnSpc>
            </a:pPr>
            <a:r>
              <a:rPr sz="1250" b="1" i="0" spc="70">
                <a:solidFill>
                  <a:srgbClr val="818CF8"/>
                </a:solidFill>
                <a:latin typeface="Consolas"/>
              </a:rPr>
              <a:t>PRODUCTS</a:t>
            </a:r>
          </a:p>
        </p:txBody>
      </p:sp>
      <p:sp>
        <p:nvSpPr>
          <p:cNvPr id="47" name="TextBox 46"/>
          <p:cNvSpPr txBox="1"/>
          <p:nvPr/>
        </p:nvSpPr>
        <p:spPr>
          <a:xfrm>
            <a:off x="9293047" y="2194560"/>
            <a:ext cx="2304288" cy="256032"/>
          </a:xfrm>
          <a:prstGeom prst="rect">
            <a:avLst/>
          </a:prstGeom>
          <a:noFill/>
        </p:spPr>
        <p:txBody>
          <a:bodyPr wrap="square" anchor="t" lIns="0" rIns="0" tIns="0" bIns="0">
            <a:spAutoFit/>
          </a:bodyPr>
          <a:lstStyle/>
          <a:p>
            <a:pPr algn="ctr">
              <a:lnSpc>
                <a:spcPct val="100000"/>
              </a:lnSpc>
            </a:pPr>
            <a:r>
              <a:rPr sz="950" b="0" i="0">
                <a:solidFill>
                  <a:srgbClr val="F4F6FB"/>
                </a:solidFill>
                <a:latin typeface="Segoe UI"/>
              </a:rPr>
              <a:t>what is being sold</a:t>
            </a:r>
          </a:p>
        </p:txBody>
      </p:sp>
      <p:sp>
        <p:nvSpPr>
          <p:cNvPr id="48" name="TextBox 47"/>
          <p:cNvSpPr txBox="1"/>
          <p:nvPr/>
        </p:nvSpPr>
        <p:spPr>
          <a:xfrm>
            <a:off x="9274759" y="2487168"/>
            <a:ext cx="2340864" cy="658368"/>
          </a:xfrm>
          <a:prstGeom prst="rect">
            <a:avLst/>
          </a:prstGeom>
          <a:noFill/>
        </p:spPr>
        <p:txBody>
          <a:bodyPr wrap="square" anchor="t" lIns="0" rIns="0" tIns="0" bIns="0">
            <a:spAutoFit/>
          </a:bodyPr>
          <a:lstStyle/>
          <a:p>
            <a:pPr algn="ctr">
              <a:lnSpc>
                <a:spcPct val="100000"/>
              </a:lnSpc>
              <a:spcAft>
                <a:spcPts val="200"/>
              </a:spcAft>
            </a:pPr>
            <a:r>
              <a:rPr sz="800" b="0" i="0">
                <a:solidFill>
                  <a:srgbClr val="9AA3B8"/>
                </a:solidFill>
                <a:latin typeface="Consolas"/>
              </a:rPr>
              <a:t>product_id · name</a:t>
            </a:r>
          </a:p>
          <a:p>
            <a:pPr algn="ctr">
              <a:lnSpc>
                <a:spcPct val="100000"/>
              </a:lnSpc>
            </a:pPr>
            <a:r>
              <a:rPr sz="800" b="0" i="0">
                <a:solidFill>
                  <a:srgbClr val="9AA3B8"/>
                </a:solidFill>
                <a:latin typeface="Consolas"/>
              </a:rPr>
              <a:t>category · price</a:t>
            </a:r>
          </a:p>
        </p:txBody>
      </p:sp>
      <p:sp>
        <p:nvSpPr>
          <p:cNvPr id="49" name="TextBox 48"/>
          <p:cNvSpPr txBox="1"/>
          <p:nvPr/>
        </p:nvSpPr>
        <p:spPr>
          <a:xfrm>
            <a:off x="804672" y="3611880"/>
            <a:ext cx="10607040" cy="1691640"/>
          </a:xfrm>
          <a:prstGeom prst="rect">
            <a:avLst/>
          </a:prstGeom>
          <a:noFill/>
        </p:spPr>
        <p:txBody>
          <a:bodyPr wrap="square" anchor="t" lIns="0" rIns="0" tIns="0" bIns="0">
            <a:spAutoFit/>
          </a:bodyPr>
          <a:lstStyle/>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Normalized e-commerce model — four tables, one star</a:t>
            </a:r>
            <a:r>
              <a:rPr sz="1250" b="0" i="0">
                <a:solidFill>
                  <a:srgbClr val="9AA3B8"/>
                </a:solidFill>
                <a:latin typeface="Segoe UI"/>
              </a:rPr>
              <a:t> — join-rich by design: every interesting question crosses at least one join</a:t>
            </a:r>
          </a:p>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The schema that stresses text-to-SQL edge cases</a:t>
            </a:r>
            <a:r>
              <a:rPr sz="1250" b="0" i="0">
                <a:solidFill>
                  <a:srgbClr val="9AA3B8"/>
                </a:solidFill>
                <a:latin typeface="Segoe UI"/>
              </a:rPr>
              <a:t> — if the agent is correct here, it generalizes</a:t>
            </a:r>
          </a:p>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Nothing is hardcoded</a:t>
            </a:r>
            <a:r>
              <a:rPr sz="1250" b="0" i="0">
                <a:solidFill>
                  <a:srgbClr val="9AA3B8"/>
                </a:solidFill>
                <a:latin typeface="Segoe UI"/>
              </a:rPr>
              <a:t> — the agent maps all relationships at runtime via get_schema</a:t>
            </a:r>
          </a:p>
        </p:txBody>
      </p:sp>
      <p:sp>
        <p:nvSpPr>
          <p:cNvPr id="50" name="Rounded Rectangle 49"/>
          <p:cNvSpPr/>
          <p:nvPr/>
        </p:nvSpPr>
        <p:spPr>
          <a:xfrm>
            <a:off x="502920" y="562356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713232" y="5792724"/>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32688" y="562356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SCHEMA DISCOVERED LIVE — NEVER BAKED INTO PROMPTS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b.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09</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SAMPLE PROMPTS</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09</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09 — VALID QUERY CATEGORIES &amp; SAMPLE PROMPTS</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Ask It Anything </a:t>
            </a:r>
            <a:r>
              <a:rPr sz="3000" b="1" i="0">
                <a:solidFill>
                  <a:srgbClr val="A78BFA"/>
                </a:solidFill>
                <a:latin typeface="Segoe UI"/>
              </a:rPr>
              <a:t>(Structured)</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91640"/>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1819656"/>
            <a:ext cx="45720" cy="113385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1847088"/>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A78BFA"/>
                </a:solidFill>
                <a:latin typeface="Consolas"/>
              </a:rPr>
              <a:t>AGGREGATION</a:t>
            </a:r>
          </a:p>
        </p:txBody>
      </p:sp>
      <p:sp>
        <p:nvSpPr>
          <p:cNvPr id="26" name="TextBox 25"/>
          <p:cNvSpPr txBox="1"/>
          <p:nvPr/>
        </p:nvSpPr>
        <p:spPr>
          <a:xfrm>
            <a:off x="740664" y="2167128"/>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"What was total revenue</a:t>
            </a:r>
          </a:p>
          <a:p>
            <a:pPr algn="l">
              <a:lnSpc>
                <a:spcPct val="115000"/>
              </a:lnSpc>
            </a:pPr>
            <a:r>
              <a:rPr sz="1200" b="0" i="1">
                <a:solidFill>
                  <a:srgbClr val="F4F6FB"/>
                </a:solidFill>
                <a:latin typeface="Segoe UI"/>
              </a:rPr>
              <a:t>per month this year?"</a:t>
            </a:r>
          </a:p>
        </p:txBody>
      </p:sp>
      <p:sp>
        <p:nvSpPr>
          <p:cNvPr id="27" name="Rounded Rectangle 26"/>
          <p:cNvSpPr/>
          <p:nvPr/>
        </p:nvSpPr>
        <p:spPr>
          <a:xfrm>
            <a:off x="502920" y="3264408"/>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02920" y="3392424"/>
            <a:ext cx="45720" cy="113385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0664" y="3419856"/>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818CF8"/>
                </a:solidFill>
                <a:latin typeface="Consolas"/>
              </a:rPr>
              <a:t>RANKING</a:t>
            </a:r>
          </a:p>
        </p:txBody>
      </p:sp>
      <p:sp>
        <p:nvSpPr>
          <p:cNvPr id="30" name="TextBox 29"/>
          <p:cNvSpPr txBox="1"/>
          <p:nvPr/>
        </p:nvSpPr>
        <p:spPr>
          <a:xfrm>
            <a:off x="740664" y="3739896"/>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"Show me the top 10 customers</a:t>
            </a:r>
          </a:p>
          <a:p>
            <a:pPr algn="l">
              <a:lnSpc>
                <a:spcPct val="115000"/>
              </a:lnSpc>
            </a:pPr>
            <a:r>
              <a:rPr sz="1200" b="0" i="1">
                <a:solidFill>
                  <a:srgbClr val="F4F6FB"/>
                </a:solidFill>
                <a:latin typeface="Segoe UI"/>
              </a:rPr>
              <a:t>by lifetime value."</a:t>
            </a:r>
          </a:p>
        </p:txBody>
      </p:sp>
      <p:sp>
        <p:nvSpPr>
          <p:cNvPr id="31" name="Rounded Rectangle 30"/>
          <p:cNvSpPr/>
          <p:nvPr/>
        </p:nvSpPr>
        <p:spPr>
          <a:xfrm>
            <a:off x="502920" y="4837176"/>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02920" y="4965192"/>
            <a:ext cx="45720" cy="113385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40664" y="4992624"/>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A78BFA"/>
                </a:solidFill>
                <a:latin typeface="Consolas"/>
              </a:rPr>
              <a:t>TREND</a:t>
            </a:r>
          </a:p>
        </p:txBody>
      </p:sp>
      <p:sp>
        <p:nvSpPr>
          <p:cNvPr id="34" name="TextBox 33"/>
          <p:cNvSpPr txBox="1"/>
          <p:nvPr/>
        </p:nvSpPr>
        <p:spPr>
          <a:xfrm>
            <a:off x="740664" y="5312664"/>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"Plot quarterly sales growth</a:t>
            </a:r>
          </a:p>
          <a:p>
            <a:pPr algn="l">
              <a:lnSpc>
                <a:spcPct val="115000"/>
              </a:lnSpc>
            </a:pPr>
            <a:r>
              <a:rPr sz="1200" b="0" i="1">
                <a:solidFill>
                  <a:srgbClr val="F4F6FB"/>
                </a:solidFill>
                <a:latin typeface="Segoe UI"/>
              </a:rPr>
              <a:t>as a line chart."</a:t>
            </a:r>
          </a:p>
        </p:txBody>
      </p:sp>
      <p:sp>
        <p:nvSpPr>
          <p:cNvPr id="35" name="Rounded Rectangle 34"/>
          <p:cNvSpPr/>
          <p:nvPr/>
        </p:nvSpPr>
        <p:spPr>
          <a:xfrm>
            <a:off x="4298594" y="1691640"/>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98594" y="1819656"/>
            <a:ext cx="45720" cy="113385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36338" y="1847088"/>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818CF8"/>
                </a:solidFill>
                <a:latin typeface="Consolas"/>
              </a:rPr>
              <a:t>JOIN</a:t>
            </a:r>
          </a:p>
        </p:txBody>
      </p:sp>
      <p:sp>
        <p:nvSpPr>
          <p:cNvPr id="38" name="TextBox 37"/>
          <p:cNvSpPr txBox="1"/>
          <p:nvPr/>
        </p:nvSpPr>
        <p:spPr>
          <a:xfrm>
            <a:off x="4536338" y="2167128"/>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"Which products are most</a:t>
            </a:r>
          </a:p>
          <a:p>
            <a:pPr algn="l">
              <a:lnSpc>
                <a:spcPct val="115000"/>
              </a:lnSpc>
            </a:pPr>
            <a:r>
              <a:rPr sz="1200" b="0" i="1">
                <a:solidFill>
                  <a:srgbClr val="F4F6FB"/>
                </a:solidFill>
                <a:latin typeface="Segoe UI"/>
              </a:rPr>
              <a:t>frequently bought together?"</a:t>
            </a:r>
          </a:p>
        </p:txBody>
      </p:sp>
      <p:sp>
        <p:nvSpPr>
          <p:cNvPr id="39" name="Rounded Rectangle 38"/>
          <p:cNvSpPr/>
          <p:nvPr/>
        </p:nvSpPr>
        <p:spPr>
          <a:xfrm>
            <a:off x="4298594" y="3264408"/>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98594" y="3392424"/>
            <a:ext cx="45720" cy="1133856"/>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36338" y="3419856"/>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A78BFA"/>
                </a:solidFill>
                <a:latin typeface="Consolas"/>
              </a:rPr>
              <a:t>SCHEMA</a:t>
            </a:r>
          </a:p>
        </p:txBody>
      </p:sp>
      <p:sp>
        <p:nvSpPr>
          <p:cNvPr id="42" name="TextBox 41"/>
          <p:cNvSpPr txBox="1"/>
          <p:nvPr/>
        </p:nvSpPr>
        <p:spPr>
          <a:xfrm>
            <a:off x="4536338" y="3739896"/>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"Diagram how my tables</a:t>
            </a:r>
          </a:p>
          <a:p>
            <a:pPr algn="l">
              <a:lnSpc>
                <a:spcPct val="115000"/>
              </a:lnSpc>
            </a:pPr>
            <a:r>
              <a:rPr sz="1200" b="0" i="1">
                <a:solidFill>
                  <a:srgbClr val="F4F6FB"/>
                </a:solidFill>
                <a:latin typeface="Segoe UI"/>
              </a:rPr>
              <a:t>relate to each other."</a:t>
            </a:r>
          </a:p>
        </p:txBody>
      </p:sp>
      <p:sp>
        <p:nvSpPr>
          <p:cNvPr id="43" name="Rounded Rectangle 42"/>
          <p:cNvSpPr/>
          <p:nvPr/>
        </p:nvSpPr>
        <p:spPr>
          <a:xfrm>
            <a:off x="4298594" y="4837176"/>
            <a:ext cx="3594506" cy="1389888"/>
          </a:xfrm>
          <a:prstGeom prst="roundRect">
            <a:avLst>
              <a:gd name="adj" fmla="val 9000"/>
            </a:avLst>
          </a:prstGeom>
          <a:solidFill>
            <a:srgbClr val="10131C">
              <a:alpha val="90000"/>
            </a:srgbClr>
          </a:solidFill>
          <a:ln w="12700">
            <a:solidFill>
              <a:srgbClr val="262B3D"/>
            </a:solidFill>
          </a:ln>
          <a:effectLst>
            <a:outerShdw blurRad="146304" dist="36576" dir="5400000" rotWithShape="0">
              <a:srgbClr val="00000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298594" y="4965192"/>
            <a:ext cx="45720" cy="1133856"/>
          </a:xfrm>
          <a:prstGeom prst="rect">
            <a:avLst/>
          </a:prstGeom>
          <a:solidFill>
            <a:srgbClr val="818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36338" y="4992624"/>
            <a:ext cx="3183026" cy="274320"/>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 </a:t>
            </a:r>
            <a:r>
              <a:rPr sz="1000" b="1" i="0" spc="130">
                <a:solidFill>
                  <a:srgbClr val="818CF8"/>
                </a:solidFill>
                <a:latin typeface="Consolas"/>
              </a:rPr>
              <a:t>QUALITY</a:t>
            </a:r>
          </a:p>
        </p:txBody>
      </p:sp>
      <p:sp>
        <p:nvSpPr>
          <p:cNvPr id="46" name="TextBox 45"/>
          <p:cNvSpPr txBox="1"/>
          <p:nvPr/>
        </p:nvSpPr>
        <p:spPr>
          <a:xfrm>
            <a:off x="4536338" y="5312664"/>
            <a:ext cx="3183026" cy="777240"/>
          </a:xfrm>
          <a:prstGeom prst="rect">
            <a:avLst/>
          </a:prstGeom>
          <a:noFill/>
        </p:spPr>
        <p:txBody>
          <a:bodyPr wrap="square" anchor="t" lIns="0" rIns="0" tIns="0" bIns="0">
            <a:spAutoFit/>
          </a:bodyPr>
          <a:lstStyle/>
          <a:p>
            <a:pPr algn="l">
              <a:lnSpc>
                <a:spcPct val="115000"/>
              </a:lnSpc>
              <a:spcAft>
                <a:spcPts val="100"/>
              </a:spcAft>
            </a:pPr>
            <a:r>
              <a:rPr sz="1200" b="0" i="1">
                <a:solidFill>
                  <a:srgbClr val="F4F6FB"/>
                </a:solidFill>
                <a:latin typeface="Segoe UI"/>
              </a:rPr>
              <a:t>"Are there any orders</a:t>
            </a:r>
          </a:p>
          <a:p>
            <a:pPr algn="l">
              <a:lnSpc>
                <a:spcPct val="115000"/>
              </a:lnSpc>
            </a:pPr>
            <a:r>
              <a:rPr sz="1200" b="0" i="1">
                <a:solidFill>
                  <a:srgbClr val="F4F6FB"/>
                </a:solidFill>
                <a:latin typeface="Segoe UI"/>
              </a:rPr>
              <a:t>with no line items?"</a:t>
            </a:r>
          </a:p>
        </p:txBody>
      </p:sp>
      <p:sp>
        <p:nvSpPr>
          <p:cNvPr id="47" name="Rounded Rectangle 46"/>
          <p:cNvSpPr/>
          <p:nvPr/>
        </p:nvSpPr>
        <p:spPr>
          <a:xfrm>
            <a:off x="502920" y="5120640"/>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713232" y="5289803"/>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32688" y="5120640"/>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EVERY ANSWER = EXACT SQL + INTERACTIVE CHART + GROUNDED EXPLANATION</a:t>
            </a:r>
          </a:p>
        </p:txBody>
      </p:sp>
      <p:sp>
        <p:nvSpPr>
          <p:cNvPr id="50" name="Rounded Rectangle 49"/>
          <p:cNvSpPr/>
          <p:nvPr/>
        </p:nvSpPr>
        <p:spPr>
          <a:xfrm>
            <a:off x="502920" y="5742432"/>
            <a:ext cx="3977639" cy="457200"/>
          </a:xfrm>
          <a:prstGeom prst="roundRect">
            <a:avLst>
              <a:gd name="adj" fmla="val 50000"/>
            </a:avLst>
          </a:prstGeom>
          <a:solidFill>
            <a:srgbClr val="0D0F16">
              <a:alpha val="90000"/>
            </a:srgbClr>
          </a:solidFill>
          <a:ln w="12700">
            <a:solidFill>
              <a:srgbClr val="262B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77240" y="5742432"/>
            <a:ext cx="3657600" cy="457200"/>
          </a:xfrm>
          <a:prstGeom prst="rect">
            <a:avLst/>
          </a:prstGeom>
          <a:noFill/>
        </p:spPr>
        <p:txBody>
          <a:bodyPr wrap="square" anchor="ctr" lIns="0" rIns="0" tIns="0" bIns="0">
            <a:spAutoFit/>
          </a:bodyPr>
          <a:lstStyle/>
          <a:p>
            <a:pPr algn="l">
              <a:lnSpc>
                <a:spcPct val="100000"/>
              </a:lnSpc>
            </a:pPr>
            <a:r>
              <a:rPr sz="1300" b="1" i="0">
                <a:solidFill>
                  <a:srgbClr val="A78BFA"/>
                </a:solidFill>
                <a:latin typeface="Consolas"/>
              </a:rPr>
              <a:t>&gt; </a:t>
            </a:r>
            <a:r>
              <a:rPr sz="1300" b="0" i="0">
                <a:solidFill>
                  <a:srgbClr val="F4F6FB"/>
                </a:solidFill>
                <a:latin typeface="Consolas"/>
              </a:rPr>
              <a:t>ask anything</a:t>
            </a:r>
            <a:r>
              <a:rPr sz="1300" b="1" i="0">
                <a:solidFill>
                  <a:srgbClr val="A78BFA"/>
                </a:solidFill>
                <a:latin typeface="Consolas"/>
              </a:rPr>
              <a:t>_</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281160" y="0"/>
            <a:ext cx="2514600" cy="1645920"/>
          </a:xfrm>
          <a:prstGeom prst="rect">
            <a:avLst/>
          </a:prstGeom>
          <a:noFill/>
        </p:spPr>
        <p:txBody>
          <a:bodyPr wrap="square" anchor="t" lIns="0" rIns="0" tIns="0" bIns="0">
            <a:spAutoFit/>
          </a:bodyPr>
          <a:lstStyle/>
          <a:p>
            <a:pPr algn="r">
              <a:lnSpc>
                <a:spcPct val="100000"/>
              </a:lnSpc>
            </a:pPr>
            <a:r>
              <a:rPr sz="11500" b="0" i="0">
                <a:solidFill>
                  <a:srgbClr val="FFFFFF">
                    <a:alpha val="5000"/>
                  </a:srgbClr>
                </a:solidFill>
                <a:latin typeface="Segoe UI Light"/>
              </a:rPr>
              <a:t>10</a:t>
            </a:r>
          </a:p>
        </p:txBody>
      </p:sp>
      <p:sp>
        <p:nvSpPr>
          <p:cNvPr id="4" name="Rectangle 3"/>
          <p:cNvSpPr/>
          <p:nvPr/>
        </p:nvSpPr>
        <p:spPr>
          <a:xfrm>
            <a:off x="0" y="0"/>
            <a:ext cx="12191695" cy="22860"/>
          </a:xfrm>
          <a:prstGeom prst="rect">
            <a:avLst/>
          </a:prstGeom>
          <a:gradFill rotWithShape="1">
            <a:gsLst>
              <a:gs pos="0">
                <a:srgbClr val="A78BFA">
                  <a:alpha val="70000"/>
                </a:srgbClr>
              </a:gs>
              <a:gs pos="45000">
                <a:srgbClr val="818CF8">
                  <a:alpha val="50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6446520"/>
            <a:ext cx="11185855" cy="10058"/>
          </a:xfrm>
          <a:prstGeom prst="rect">
            <a:avLst/>
          </a:prstGeom>
          <a:solidFill>
            <a:srgbClr val="262B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6501384"/>
            <a:ext cx="6035040" cy="201168"/>
          </a:xfrm>
          <a:prstGeom prst="rect">
            <a:avLst/>
          </a:prstGeom>
          <a:noFill/>
        </p:spPr>
        <p:txBody>
          <a:bodyPr wrap="square" anchor="t" lIns="0" rIns="0" tIns="0" bIns="0">
            <a:spAutoFit/>
          </a:bodyPr>
          <a:lstStyle/>
          <a:p>
            <a:pPr algn="l">
              <a:lnSpc>
                <a:spcPct val="100000"/>
              </a:lnSpc>
            </a:pPr>
            <a:r>
              <a:rPr sz="800" b="1" i="0">
                <a:solidFill>
                  <a:srgbClr val="A78BFA"/>
                </a:solidFill>
                <a:latin typeface="Consolas"/>
              </a:rPr>
              <a:t>ZODIAC AI </a:t>
            </a:r>
            <a:r>
              <a:rPr sz="800" b="0" i="0">
                <a:solidFill>
                  <a:srgbClr val="5D6578"/>
                </a:solidFill>
                <a:latin typeface="Consolas"/>
              </a:rPr>
              <a:t>// CHAT WITH YOUR DATABASE // </a:t>
            </a:r>
            <a:r>
              <a:rPr sz="800" b="0" i="0">
                <a:solidFill>
                  <a:srgbClr val="818CF8"/>
                </a:solidFill>
                <a:latin typeface="Consolas"/>
              </a:rPr>
              <a:t>GETTING STARTED</a:t>
            </a:r>
          </a:p>
        </p:txBody>
      </p:sp>
      <p:sp>
        <p:nvSpPr>
          <p:cNvPr id="7" name="TextBox 6"/>
          <p:cNvSpPr txBox="1"/>
          <p:nvPr/>
        </p:nvSpPr>
        <p:spPr>
          <a:xfrm>
            <a:off x="10728655" y="6501384"/>
            <a:ext cx="960120" cy="201168"/>
          </a:xfrm>
          <a:prstGeom prst="rect">
            <a:avLst/>
          </a:prstGeom>
          <a:noFill/>
        </p:spPr>
        <p:txBody>
          <a:bodyPr wrap="square" anchor="t" lIns="0" rIns="0" tIns="0" bIns="0">
            <a:spAutoFit/>
          </a:bodyPr>
          <a:lstStyle/>
          <a:p>
            <a:pPr algn="r">
              <a:lnSpc>
                <a:spcPct val="100000"/>
              </a:lnSpc>
            </a:pPr>
            <a:r>
              <a:rPr sz="800" b="1" i="0">
                <a:solidFill>
                  <a:srgbClr val="A78BFA"/>
                </a:solidFill>
                <a:latin typeface="Consolas"/>
              </a:rPr>
              <a:t>10</a:t>
            </a:r>
            <a:r>
              <a:rPr sz="800" b="0" i="0">
                <a:solidFill>
                  <a:srgbClr val="5D6578"/>
                </a:solidFill>
                <a:latin typeface="Consolas"/>
              </a:rPr>
              <a:t> / 11</a:t>
            </a:r>
          </a:p>
        </p:txBody>
      </p:sp>
      <p:sp>
        <p:nvSpPr>
          <p:cNvPr id="8" name="Rectangle 7"/>
          <p:cNvSpPr/>
          <p:nvPr/>
        </p:nvSpPr>
        <p:spPr>
          <a:xfrm>
            <a:off x="419846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5051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90255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25459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606643"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958687"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10731"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62775"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014819" y="6675120"/>
            <a:ext cx="274320" cy="41148"/>
          </a:xfrm>
          <a:prstGeom prst="rect">
            <a:avLst/>
          </a:prstGeom>
          <a:solidFill>
            <a:srgbClr val="2A2F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6863" y="6675120"/>
            <a:ext cx="274320" cy="41148"/>
          </a:xfrm>
          <a:prstGeom prst="rect">
            <a:avLst/>
          </a:prstGeom>
          <a:solidFill>
            <a:srgbClr val="A78BFA"/>
          </a:solidFill>
          <a:ln>
            <a:noFill/>
          </a:ln>
          <a:effectLst>
            <a:glow rad="50800">
              <a:srgbClr val="A78BFA">
                <a:alpha val="3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18907" y="6675120"/>
            <a:ext cx="274320" cy="41148"/>
          </a:xfrm>
          <a:prstGeom prst="rect">
            <a:avLst/>
          </a:prstGeom>
          <a:solidFill>
            <a:srgbClr val="1A1E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7" y="484632"/>
            <a:ext cx="82296" cy="82296"/>
          </a:xfrm>
          <a:prstGeom prst="roundRect">
            <a:avLst>
              <a:gd name="adj" fmla="val 50000"/>
            </a:avLst>
          </a:prstGeom>
          <a:solidFill>
            <a:srgbClr val="A78BFA"/>
          </a:solidFill>
          <a:ln>
            <a:noFill/>
          </a:ln>
          <a:effectLst>
            <a:glow rad="38100">
              <a:srgbClr val="A78BFA">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3232" y="411480"/>
            <a:ext cx="10515600" cy="274320"/>
          </a:xfrm>
          <a:prstGeom prst="rect">
            <a:avLst/>
          </a:prstGeom>
          <a:noFill/>
        </p:spPr>
        <p:txBody>
          <a:bodyPr wrap="square" anchor="t" lIns="0" rIns="0" tIns="0" bIns="0">
            <a:spAutoFit/>
          </a:bodyPr>
          <a:lstStyle/>
          <a:p>
            <a:pPr algn="l">
              <a:lnSpc>
                <a:spcPct val="100000"/>
              </a:lnSpc>
            </a:pPr>
            <a:r>
              <a:rPr sz="1000" b="0" i="0" spc="230">
                <a:solidFill>
                  <a:srgbClr val="A78BFA"/>
                </a:solidFill>
                <a:latin typeface="Segoe UI"/>
              </a:rPr>
              <a:t>10 — GETTING STARTED</a:t>
            </a:r>
          </a:p>
        </p:txBody>
      </p:sp>
      <p:sp>
        <p:nvSpPr>
          <p:cNvPr id="21" name="TextBox 20"/>
          <p:cNvSpPr txBox="1"/>
          <p:nvPr/>
        </p:nvSpPr>
        <p:spPr>
          <a:xfrm>
            <a:off x="502920" y="694944"/>
            <a:ext cx="11247120" cy="566928"/>
          </a:xfrm>
          <a:prstGeom prst="rect">
            <a:avLst/>
          </a:prstGeom>
          <a:noFill/>
        </p:spPr>
        <p:txBody>
          <a:bodyPr wrap="square" anchor="t" lIns="0" rIns="0" tIns="0" bIns="0">
            <a:spAutoFit/>
          </a:bodyPr>
          <a:lstStyle/>
          <a:p>
            <a:pPr algn="l">
              <a:lnSpc>
                <a:spcPct val="100000"/>
              </a:lnSpc>
            </a:pPr>
            <a:r>
              <a:rPr sz="3000" b="1" i="0">
                <a:solidFill>
                  <a:srgbClr val="F4F6FB"/>
                </a:solidFill>
                <a:latin typeface="Segoe UI"/>
              </a:rPr>
              <a:t>Zero to Query in </a:t>
            </a:r>
            <a:r>
              <a:rPr sz="3000" b="1" i="0">
                <a:solidFill>
                  <a:srgbClr val="A78BFA"/>
                </a:solidFill>
                <a:latin typeface="Segoe UI"/>
              </a:rPr>
              <a:t>Five Minutes</a:t>
            </a:r>
          </a:p>
        </p:txBody>
      </p:sp>
      <p:sp>
        <p:nvSpPr>
          <p:cNvPr id="22" name="Rectangle 21"/>
          <p:cNvSpPr/>
          <p:nvPr/>
        </p:nvSpPr>
        <p:spPr>
          <a:xfrm>
            <a:off x="521207" y="1344168"/>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627632"/>
            <a:ext cx="6903720" cy="4023360"/>
          </a:xfrm>
          <a:prstGeom prst="roundRect">
            <a:avLst>
              <a:gd name="adj" fmla="val 4500"/>
            </a:avLst>
          </a:prstGeom>
          <a:solidFill>
            <a:srgbClr val="0D0F16">
              <a:alpha val="93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512" y="1783080"/>
            <a:ext cx="82296" cy="82296"/>
          </a:xfrm>
          <a:prstGeom prst="ellipse">
            <a:avLst/>
          </a:prstGeom>
          <a:solidFill>
            <a:srgbClr val="D070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2960" y="1783080"/>
            <a:ext cx="82296" cy="82296"/>
          </a:xfrm>
          <a:prstGeom prst="ellipse">
            <a:avLst/>
          </a:prstGeom>
          <a:solidFill>
            <a:srgbClr val="CFA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78408" y="1783080"/>
            <a:ext cx="82296" cy="82296"/>
          </a:xfrm>
          <a:prstGeom prst="ellipse">
            <a:avLst/>
          </a:prstGeom>
          <a:solidFill>
            <a:srgbClr val="7CB8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2728" y="1746504"/>
            <a:ext cx="5943600" cy="237744"/>
          </a:xfrm>
          <a:prstGeom prst="rect">
            <a:avLst/>
          </a:prstGeom>
          <a:noFill/>
        </p:spPr>
        <p:txBody>
          <a:bodyPr wrap="square" anchor="t" lIns="0" rIns="0" tIns="0" bIns="0">
            <a:spAutoFit/>
          </a:bodyPr>
          <a:lstStyle/>
          <a:p>
            <a:pPr algn="l">
              <a:lnSpc>
                <a:spcPct val="100000"/>
              </a:lnSpc>
            </a:pPr>
            <a:r>
              <a:rPr sz="1000" b="0" i="0">
                <a:solidFill>
                  <a:srgbClr val="5D6578"/>
                </a:solidFill>
                <a:latin typeface="Consolas"/>
              </a:rPr>
              <a:t>zodiac:~ </a:t>
            </a:r>
            <a:r>
              <a:rPr sz="1000" b="1" i="0">
                <a:solidFill>
                  <a:srgbClr val="A78BFA"/>
                </a:solidFill>
                <a:latin typeface="Consolas"/>
              </a:rPr>
              <a:t>boot-sequence — zodiac-ai</a:t>
            </a:r>
          </a:p>
        </p:txBody>
      </p:sp>
      <p:sp>
        <p:nvSpPr>
          <p:cNvPr id="28" name="TextBox 27"/>
          <p:cNvSpPr txBox="1"/>
          <p:nvPr/>
        </p:nvSpPr>
        <p:spPr>
          <a:xfrm>
            <a:off x="822960" y="2249424"/>
            <a:ext cx="6355080" cy="3291840"/>
          </a:xfrm>
          <a:prstGeom prst="rect">
            <a:avLst/>
          </a:prstGeom>
          <a:noFill/>
        </p:spPr>
        <p:txBody>
          <a:bodyPr wrap="square" anchor="t" lIns="0" rIns="0" tIns="0" bIns="0">
            <a:spAutoFit/>
          </a:bodyPr>
          <a:lstStyle/>
          <a:p>
            <a:pPr algn="l">
              <a:lnSpc>
                <a:spcPct val="100000"/>
              </a:lnSpc>
              <a:spcAft>
                <a:spcPts val="400"/>
              </a:spcAft>
            </a:pPr>
            <a:r>
              <a:rPr sz="1150" b="1" i="0">
                <a:solidFill>
                  <a:srgbClr val="A78BFA"/>
                </a:solidFill>
                <a:latin typeface="Consolas"/>
              </a:rPr>
              <a:t>$ </a:t>
            </a:r>
            <a:r>
              <a:rPr sz="1150" b="0" i="0">
                <a:solidFill>
                  <a:srgbClr val="F4F6FB"/>
                </a:solidFill>
                <a:latin typeface="Consolas"/>
              </a:rPr>
              <a:t>git clone https://github.com/&lt;org&gt;/zodiac-ai.git</a:t>
            </a:r>
          </a:p>
          <a:p>
            <a:pPr algn="l">
              <a:lnSpc>
                <a:spcPct val="100000"/>
              </a:lnSpc>
              <a:spcAft>
                <a:spcPts val="900"/>
              </a:spcAft>
            </a:pPr>
            <a:r>
              <a:rPr sz="1150" b="1" i="0">
                <a:solidFill>
                  <a:srgbClr val="A78BFA"/>
                </a:solidFill>
                <a:latin typeface="Consolas"/>
              </a:rPr>
              <a:t>$ </a:t>
            </a:r>
            <a:r>
              <a:rPr sz="1150" b="0" i="0">
                <a:solidFill>
                  <a:srgbClr val="F4F6FB"/>
                </a:solidFill>
                <a:latin typeface="Consolas"/>
              </a:rPr>
              <a:t>cd zodiac-ai</a:t>
            </a:r>
          </a:p>
          <a:p>
            <a:pPr algn="l">
              <a:lnSpc>
                <a:spcPct val="100000"/>
              </a:lnSpc>
              <a:spcAft>
                <a:spcPts val="400"/>
              </a:spcAft>
            </a:pPr>
            <a:r>
              <a:rPr sz="1050" b="0" i="0">
                <a:solidFill>
                  <a:srgbClr val="5D6578"/>
                </a:solidFill>
                <a:latin typeface="Consolas"/>
              </a:rPr>
              <a:t># .env</a:t>
            </a:r>
          </a:p>
          <a:p>
            <a:pPr algn="l">
              <a:lnSpc>
                <a:spcPct val="100000"/>
              </a:lnSpc>
              <a:spcAft>
                <a:spcPts val="400"/>
              </a:spcAft>
            </a:pPr>
            <a:r>
              <a:rPr sz="1100" b="1" i="0">
                <a:solidFill>
                  <a:srgbClr val="A78BFA"/>
                </a:solidFill>
                <a:latin typeface="Consolas"/>
              </a:rPr>
              <a:t>GROQ_API_KEY</a:t>
            </a:r>
            <a:r>
              <a:rPr sz="1100" b="0" i="0">
                <a:solidFill>
                  <a:srgbClr val="F4F6FB"/>
                </a:solidFill>
                <a:latin typeface="Consolas"/>
              </a:rPr>
              <a:t>=••••••••••</a:t>
            </a:r>
            <a:r>
              <a:rPr sz="950" b="0" i="0">
                <a:solidFill>
                  <a:srgbClr val="5D6578"/>
                </a:solidFill>
                <a:latin typeface="Consolas"/>
              </a:rPr>
              <a:t>   # primary provider</a:t>
            </a:r>
          </a:p>
          <a:p>
            <a:pPr algn="l">
              <a:lnSpc>
                <a:spcPct val="100000"/>
              </a:lnSpc>
              <a:spcAft>
                <a:spcPts val="900"/>
              </a:spcAft>
            </a:pPr>
            <a:r>
              <a:rPr sz="1100" b="1" i="0">
                <a:solidFill>
                  <a:srgbClr val="818CF8"/>
                </a:solidFill>
                <a:latin typeface="Consolas"/>
              </a:rPr>
              <a:t>GEMINI_API_KEY</a:t>
            </a:r>
            <a:r>
              <a:rPr sz="1100" b="0" i="0">
                <a:solidFill>
                  <a:srgbClr val="F4F6FB"/>
                </a:solidFill>
                <a:latin typeface="Consolas"/>
              </a:rPr>
              <a:t>=••••••••••</a:t>
            </a:r>
            <a:r>
              <a:rPr sz="950" b="0" i="0">
                <a:solidFill>
                  <a:srgbClr val="5D6578"/>
                </a:solidFill>
                <a:latin typeface="Consolas"/>
              </a:rPr>
              <a:t>   # optional fallback</a:t>
            </a:r>
          </a:p>
          <a:p>
            <a:pPr algn="l">
              <a:lnSpc>
                <a:spcPct val="100000"/>
              </a:lnSpc>
              <a:spcAft>
                <a:spcPts val="400"/>
              </a:spcAft>
            </a:pPr>
            <a:r>
              <a:rPr sz="1150" b="1" i="0">
                <a:solidFill>
                  <a:srgbClr val="A78BFA"/>
                </a:solidFill>
                <a:latin typeface="Consolas"/>
              </a:rPr>
              <a:t>$ </a:t>
            </a:r>
            <a:r>
              <a:rPr sz="1150" b="0" i="0">
                <a:solidFill>
                  <a:srgbClr val="F4F6FB"/>
                </a:solidFill>
                <a:latin typeface="Consolas"/>
              </a:rPr>
              <a:t>pip install -r requirements.txt</a:t>
            </a:r>
            <a:r>
              <a:rPr sz="950" b="0" i="0">
                <a:solidFill>
                  <a:srgbClr val="5D6578"/>
                </a:solidFill>
                <a:latin typeface="Consolas"/>
              </a:rPr>
              <a:t>  # backend ✓</a:t>
            </a:r>
          </a:p>
          <a:p>
            <a:pPr algn="l">
              <a:lnSpc>
                <a:spcPct val="100000"/>
              </a:lnSpc>
              <a:spcAft>
                <a:spcPts val="800"/>
              </a:spcAft>
            </a:pPr>
            <a:r>
              <a:rPr sz="1150" b="1" i="0">
                <a:solidFill>
                  <a:srgbClr val="A78BFA"/>
                </a:solidFill>
                <a:latin typeface="Consolas"/>
              </a:rPr>
              <a:t>$ </a:t>
            </a:r>
            <a:r>
              <a:rPr sz="1150" b="0" i="0">
                <a:solidFill>
                  <a:srgbClr val="F4F6FB"/>
                </a:solidFill>
                <a:latin typeface="Consolas"/>
              </a:rPr>
              <a:t>npm install &amp;&amp; npm run dev</a:t>
            </a:r>
            <a:r>
              <a:rPr sz="950" b="0" i="0">
                <a:solidFill>
                  <a:srgbClr val="5D6578"/>
                </a:solidFill>
                <a:latin typeface="Consolas"/>
              </a:rPr>
              <a:t>         # frontend ✓</a:t>
            </a:r>
          </a:p>
          <a:p>
            <a:pPr algn="l">
              <a:lnSpc>
                <a:spcPct val="100000"/>
              </a:lnSpc>
              <a:spcAft>
                <a:spcPts val="800"/>
              </a:spcAft>
            </a:pPr>
            <a:r>
              <a:rPr sz="1100" b="0" i="0">
                <a:solidFill>
                  <a:srgbClr val="5D6578"/>
                </a:solidFill>
                <a:latin typeface="Consolas"/>
              </a:rPr>
              <a:t>[</a:t>
            </a:r>
            <a:r>
              <a:rPr sz="1100" b="0" i="0">
                <a:solidFill>
                  <a:srgbClr val="A78BFA"/>
                </a:solidFill>
                <a:latin typeface="Consolas"/>
              </a:rPr>
              <a:t>██████████░░</a:t>
            </a:r>
            <a:r>
              <a:rPr sz="1100" b="0" i="0">
                <a:solidFill>
                  <a:srgbClr val="5D6578"/>
                </a:solidFill>
                <a:latin typeface="Consolas"/>
              </a:rPr>
              <a:t>]</a:t>
            </a:r>
            <a:r>
              <a:rPr sz="1000" b="0" i="0">
                <a:solidFill>
                  <a:srgbClr val="9AA3B8"/>
                </a:solidFill>
                <a:latin typeface="Consolas"/>
              </a:rPr>
              <a:t> LOADING...</a:t>
            </a:r>
          </a:p>
          <a:p>
            <a:pPr algn="l">
              <a:lnSpc>
                <a:spcPct val="100000"/>
              </a:lnSpc>
            </a:pPr>
            <a:r>
              <a:rPr sz="1200" b="1" i="0">
                <a:solidFill>
                  <a:srgbClr val="818CF8"/>
                </a:solidFill>
                <a:latin typeface="Consolas"/>
              </a:rPr>
              <a:t>▲ </a:t>
            </a:r>
            <a:r>
              <a:rPr sz="1200" b="1" i="0">
                <a:solidFill>
                  <a:srgbClr val="818CF8"/>
                </a:solidFill>
                <a:latin typeface="Consolas"/>
              </a:rPr>
              <a:t>open the local URL  →  start asking</a:t>
            </a:r>
          </a:p>
        </p:txBody>
      </p:sp>
      <p:sp>
        <p:nvSpPr>
          <p:cNvPr id="29" name="Rounded Rectangle 28"/>
          <p:cNvSpPr/>
          <p:nvPr/>
        </p:nvSpPr>
        <p:spPr>
          <a:xfrm>
            <a:off x="7680960" y="1627632"/>
            <a:ext cx="4005072" cy="4023360"/>
          </a:xfrm>
          <a:prstGeom prst="roundRect">
            <a:avLst>
              <a:gd name="adj" fmla="val 5000"/>
            </a:avLst>
          </a:prstGeom>
          <a:solidFill>
            <a:srgbClr val="10131C">
              <a:alpha val="82000"/>
            </a:srgbClr>
          </a:solidFill>
          <a:ln w="12700">
            <a:solidFill>
              <a:srgbClr val="262B3D"/>
            </a:solidFill>
          </a:ln>
          <a:effectLst>
            <a:outerShdw blurRad="182880" dist="45720" dir="5400000" rotWithShape="0">
              <a:srgbClr val="000000">
                <a:alpha val="4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918704" y="1833372"/>
            <a:ext cx="82296" cy="82296"/>
          </a:xfrm>
          <a:prstGeom prst="roundRect">
            <a:avLst>
              <a:gd name="adj" fmla="val 50000"/>
            </a:avLst>
          </a:prstGeom>
          <a:solidFill>
            <a:srgbClr val="818CF8"/>
          </a:solidFill>
          <a:ln>
            <a:noFill/>
          </a:ln>
          <a:effectLst>
            <a:glow rad="38100">
              <a:srgbClr val="818CF8">
                <a:alpha val="3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119872" y="1783080"/>
            <a:ext cx="3319272" cy="274320"/>
          </a:xfrm>
          <a:prstGeom prst="rect">
            <a:avLst/>
          </a:prstGeom>
          <a:noFill/>
        </p:spPr>
        <p:txBody>
          <a:bodyPr wrap="square" anchor="t" lIns="0" rIns="0" tIns="0" bIns="0">
            <a:spAutoFit/>
          </a:bodyPr>
          <a:lstStyle/>
          <a:p>
            <a:pPr algn="l">
              <a:lnSpc>
                <a:spcPct val="100000"/>
              </a:lnSpc>
            </a:pPr>
            <a:r>
              <a:rPr sz="1050" b="0" i="0" spc="150">
                <a:solidFill>
                  <a:srgbClr val="818CF8"/>
                </a:solidFill>
                <a:latin typeface="Segoe UI"/>
              </a:rPr>
              <a:t>RUN NOTES</a:t>
            </a:r>
          </a:p>
        </p:txBody>
      </p:sp>
      <p:sp>
        <p:nvSpPr>
          <p:cNvPr id="32" name="TextBox 31"/>
          <p:cNvSpPr txBox="1"/>
          <p:nvPr/>
        </p:nvSpPr>
        <p:spPr>
          <a:xfrm>
            <a:off x="7955279" y="2240279"/>
            <a:ext cx="3520440" cy="3200400"/>
          </a:xfrm>
          <a:prstGeom prst="rect">
            <a:avLst/>
          </a:prstGeom>
          <a:noFill/>
        </p:spPr>
        <p:txBody>
          <a:bodyPr wrap="square" anchor="t" lIns="0" rIns="0" tIns="0" bIns="0">
            <a:spAutoFit/>
          </a:bodyPr>
          <a:lstStyle/>
          <a:p>
            <a:pPr algn="l" marL="237744" indent="-237744">
              <a:lnSpc>
                <a:spcPct val="112000"/>
              </a:lnSpc>
              <a:spcAft>
                <a:spcPts val="900"/>
              </a:spcAft>
            </a:pPr>
            <a:r>
              <a:rPr sz="1100" b="1" i="0">
                <a:solidFill>
                  <a:srgbClr val="818CF8"/>
                </a:solidFill>
                <a:latin typeface="Consolas"/>
              </a:rPr>
              <a:t>▸  </a:t>
            </a:r>
            <a:r>
              <a:rPr sz="1100" b="1" i="0">
                <a:solidFill>
                  <a:srgbClr val="F4F6FB"/>
                </a:solidFill>
                <a:latin typeface="Segoe UI"/>
              </a:rPr>
              <a:t>Prerequisites</a:t>
            </a:r>
            <a:r>
              <a:rPr sz="1100" b="0" i="0">
                <a:solidFill>
                  <a:srgbClr val="9AA3B8"/>
                </a:solidFill>
                <a:latin typeface="Segoe UI"/>
              </a:rPr>
              <a:t> — Python 3.10+ · Node 18+ · Git · ≥ 1 API key</a:t>
            </a:r>
          </a:p>
          <a:p>
            <a:pPr algn="l" marL="237744" indent="-237744">
              <a:lnSpc>
                <a:spcPct val="112000"/>
              </a:lnSpc>
              <a:spcAft>
                <a:spcPts val="900"/>
              </a:spcAft>
            </a:pPr>
            <a:r>
              <a:rPr sz="1100" b="1" i="0">
                <a:solidFill>
                  <a:srgbClr val="818CF8"/>
                </a:solidFill>
                <a:latin typeface="Consolas"/>
              </a:rPr>
              <a:t>▸  </a:t>
            </a:r>
            <a:r>
              <a:rPr sz="1100" b="1" i="0">
                <a:solidFill>
                  <a:srgbClr val="F4F6FB"/>
                </a:solidFill>
                <a:latin typeface="Segoe UI"/>
              </a:rPr>
              <a:t>No DB server</a:t>
            </a:r>
            <a:r>
              <a:rPr sz="1100" b="0" i="0">
                <a:solidFill>
                  <a:srgbClr val="9AA3B8"/>
                </a:solidFill>
                <a:latin typeface="Segoe UI"/>
              </a:rPr>
              <a:t> — SQLite ships inside the repo</a:t>
            </a:r>
          </a:p>
          <a:p>
            <a:pPr algn="l" marL="237744" indent="-237744">
              <a:lnSpc>
                <a:spcPct val="112000"/>
              </a:lnSpc>
              <a:spcAft>
                <a:spcPts val="900"/>
              </a:spcAft>
            </a:pPr>
            <a:r>
              <a:rPr sz="1100" b="1" i="0">
                <a:solidFill>
                  <a:srgbClr val="818CF8"/>
                </a:solidFill>
                <a:latin typeface="Consolas"/>
              </a:rPr>
              <a:t>▸  </a:t>
            </a:r>
            <a:r>
              <a:rPr sz="1100" b="1" i="0">
                <a:solidFill>
                  <a:srgbClr val="F4F6FB"/>
                </a:solidFill>
                <a:latin typeface="Segoe UI"/>
              </a:rPr>
              <a:t>One key runs it</a:t>
            </a:r>
            <a:r>
              <a:rPr sz="1100" b="0" i="0">
                <a:solidFill>
                  <a:srgbClr val="9AA3B8"/>
                </a:solidFill>
                <a:latin typeface="Segoe UI"/>
              </a:rPr>
              <a:t> — a second key activates the failover router</a:t>
            </a:r>
          </a:p>
          <a:p>
            <a:pPr algn="l" marL="237744" indent="-237744">
              <a:lnSpc>
                <a:spcPct val="112000"/>
              </a:lnSpc>
              <a:spcAft>
                <a:spcPts val="900"/>
              </a:spcAft>
            </a:pPr>
            <a:r>
              <a:rPr sz="1100" b="1" i="0">
                <a:solidFill>
                  <a:srgbClr val="818CF8"/>
                </a:solidFill>
                <a:latin typeface="Consolas"/>
              </a:rPr>
              <a:t>▸  </a:t>
            </a:r>
            <a:r>
              <a:rPr sz="1100" b="1" i="0">
                <a:solidFill>
                  <a:srgbClr val="F4F6FB"/>
                </a:solidFill>
                <a:latin typeface="Segoe UI"/>
              </a:rPr>
              <a:t>&lt; 5 minutes</a:t>
            </a:r>
            <a:r>
              <a:rPr sz="1100" b="0" i="0">
                <a:solidFill>
                  <a:srgbClr val="9AA3B8"/>
                </a:solidFill>
                <a:latin typeface="Segoe UI"/>
              </a:rPr>
              <a:t> — from git clone to first grounded answer</a:t>
            </a:r>
          </a:p>
        </p:txBody>
      </p:sp>
      <p:sp>
        <p:nvSpPr>
          <p:cNvPr id="33" name="Rounded Rectangle 32"/>
          <p:cNvSpPr/>
          <p:nvPr/>
        </p:nvSpPr>
        <p:spPr>
          <a:xfrm>
            <a:off x="502920" y="5870448"/>
            <a:ext cx="11185855" cy="420624"/>
          </a:xfrm>
          <a:prstGeom prst="roundRect">
            <a:avLst>
              <a:gd name="adj" fmla="val 50000"/>
            </a:avLst>
          </a:prstGeom>
          <a:solidFill>
            <a:srgbClr val="10131C">
              <a:alpha val="88000"/>
            </a:srgbClr>
          </a:solidFill>
          <a:ln w="12700">
            <a:solidFill>
              <a:srgbClr val="262B3D"/>
            </a:solidFill>
          </a:ln>
          <a:effectLst>
            <a:outerShdw blurRad="146304" dist="36576" dir="5400000" rotWithShape="0">
              <a:srgbClr val="000000">
                <a:alpha val="4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13232" y="6039612"/>
            <a:ext cx="82296" cy="82296"/>
          </a:xfrm>
          <a:prstGeom prst="roundRect">
            <a:avLst>
              <a:gd name="adj" fmla="val 50000"/>
            </a:avLst>
          </a:prstGeom>
          <a:solidFill>
            <a:srgbClr val="A78BFA"/>
          </a:solidFill>
          <a:ln>
            <a:noFill/>
          </a:ln>
          <a:effectLst>
            <a:glow rad="38100">
              <a:srgbClr val="A78BFA">
                <a:alpha val="4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2688" y="5870448"/>
            <a:ext cx="10180015" cy="420624"/>
          </a:xfrm>
          <a:prstGeom prst="rect">
            <a:avLst/>
          </a:prstGeom>
          <a:noFill/>
        </p:spPr>
        <p:txBody>
          <a:bodyPr wrap="square" anchor="ctr" lIns="0" rIns="0" tIns="0" bIns="0">
            <a:spAutoFit/>
          </a:bodyPr>
          <a:lstStyle/>
          <a:p>
            <a:pPr algn="l">
              <a:lnSpc>
                <a:spcPct val="100000"/>
              </a:lnSpc>
            </a:pPr>
            <a:r>
              <a:rPr sz="1000" b="0" i="0" spc="70">
                <a:solidFill>
                  <a:srgbClr val="F4F6FB"/>
                </a:solidFill>
                <a:latin typeface="Segoe UI"/>
              </a:rPr>
              <a:t>CLONE IT DURING Q&amp;A — THE DEMO IS THE PITCH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hero-closing.jpg"/>
          <p:cNvPicPr>
            <a:picLocks noChangeAspect="1"/>
          </p:cNvPicPr>
          <p:nvPr/>
        </p:nvPicPr>
        <p:blipFill>
          <a:blip r:embed="rId2"/>
          <a:stretch>
            <a:fillRect/>
          </a:stretch>
        </p:blipFill>
        <p:spPr>
          <a:xfrm>
            <a:off x="0" y="0"/>
            <a:ext cx="12191695" cy="6858000"/>
          </a:xfrm>
          <a:prstGeom prst="rect">
            <a:avLst/>
          </a:prstGeom>
        </p:spPr>
      </p:pic>
      <p:sp>
        <p:nvSpPr>
          <p:cNvPr id="3" name="Rectangle 2"/>
          <p:cNvSpPr/>
          <p:nvPr/>
        </p:nvSpPr>
        <p:spPr>
          <a:xfrm>
            <a:off x="0" y="0"/>
            <a:ext cx="8229600" cy="6858000"/>
          </a:xfrm>
          <a:prstGeom prst="rect">
            <a:avLst/>
          </a:prstGeom>
          <a:gradFill rotWithShape="1">
            <a:gsLst>
              <a:gs pos="0">
                <a:srgbClr val="0A0B10">
                  <a:alpha val="95000"/>
                </a:srgbClr>
              </a:gs>
              <a:gs pos="60000">
                <a:srgbClr val="0A0B10">
                  <a:alpha val="78000"/>
                </a:srgbClr>
              </a:gs>
              <a:gs pos="100000">
                <a:srgbClr val="0A0B10">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91695" cy="27432"/>
          </a:xfrm>
          <a:prstGeom prst="rect">
            <a:avLst/>
          </a:prstGeom>
          <a:gradFill rotWithShape="1">
            <a:gsLst>
              <a:gs pos="0">
                <a:srgbClr val="A78BFA">
                  <a:alpha val="75000"/>
                </a:srgbClr>
              </a:gs>
              <a:gs pos="45000">
                <a:srgbClr val="818CF8">
                  <a:alpha val="5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457200"/>
            <a:ext cx="8229600" cy="274320"/>
          </a:xfrm>
          <a:prstGeom prst="rect">
            <a:avLst/>
          </a:prstGeom>
          <a:noFill/>
        </p:spPr>
        <p:txBody>
          <a:bodyPr wrap="square" anchor="t" lIns="0" rIns="0" tIns="0" bIns="0">
            <a:spAutoFit/>
          </a:bodyPr>
          <a:lstStyle/>
          <a:p>
            <a:pPr algn="l">
              <a:lnSpc>
                <a:spcPct val="100000"/>
              </a:lnSpc>
            </a:pPr>
            <a:r>
              <a:rPr sz="1050" b="0" i="0">
                <a:solidFill>
                  <a:srgbClr val="9AA3B8"/>
                </a:solidFill>
                <a:latin typeface="Consolas"/>
              </a:rPr>
              <a:t>$ status: </a:t>
            </a:r>
            <a:r>
              <a:rPr sz="1050" b="1" i="0">
                <a:solidFill>
                  <a:srgbClr val="A78BFA"/>
                </a:solidFill>
                <a:latin typeface="Consolas"/>
              </a:rPr>
              <a:t>ALL SYSTEMS OPERATIONAL</a:t>
            </a:r>
          </a:p>
        </p:txBody>
      </p:sp>
      <p:sp>
        <p:nvSpPr>
          <p:cNvPr id="6" name="TextBox 5"/>
          <p:cNvSpPr txBox="1"/>
          <p:nvPr/>
        </p:nvSpPr>
        <p:spPr>
          <a:xfrm>
            <a:off x="566928" y="896112"/>
            <a:ext cx="8778240" cy="548640"/>
          </a:xfrm>
          <a:prstGeom prst="rect">
            <a:avLst/>
          </a:prstGeom>
          <a:noFill/>
        </p:spPr>
        <p:txBody>
          <a:bodyPr wrap="square" anchor="t" lIns="0" rIns="0" tIns="0" bIns="0">
            <a:spAutoFit/>
          </a:bodyPr>
          <a:lstStyle/>
          <a:p>
            <a:pPr algn="l">
              <a:lnSpc>
                <a:spcPct val="100000"/>
              </a:lnSpc>
            </a:pPr>
            <a:r>
              <a:rPr sz="3100" b="1" i="0">
                <a:solidFill>
                  <a:srgbClr val="F4F6FB"/>
                </a:solidFill>
                <a:latin typeface="Segoe UI"/>
              </a:rPr>
              <a:t>The Database Is Now </a:t>
            </a:r>
            <a:r>
              <a:rPr sz="3100" b="1" i="0">
                <a:solidFill>
                  <a:srgbClr val="A78BFA"/>
                </a:solidFill>
                <a:latin typeface="Segoe UI"/>
              </a:rPr>
              <a:t>a Conversation</a:t>
            </a:r>
          </a:p>
        </p:txBody>
      </p:sp>
      <p:sp>
        <p:nvSpPr>
          <p:cNvPr id="7" name="Rectangle 6"/>
          <p:cNvSpPr/>
          <p:nvPr/>
        </p:nvSpPr>
        <p:spPr>
          <a:xfrm>
            <a:off x="585216" y="1554480"/>
            <a:ext cx="2103120" cy="25603"/>
          </a:xfrm>
          <a:prstGeom prst="rect">
            <a:avLst/>
          </a:prstGeom>
          <a:gradFill rotWithShape="1">
            <a:gsLst>
              <a:gs pos="0">
                <a:srgbClr val="A78BFA">
                  <a:alpha val="95000"/>
                </a:srgbClr>
              </a:gs>
              <a:gs pos="70000">
                <a:srgbClr val="818CF8">
                  <a:alpha val="65000"/>
                </a:srgbClr>
              </a:gs>
              <a:gs pos="100000">
                <a:srgbClr val="818CF8">
                  <a:alpha val="0"/>
                </a:srgbClr>
              </a:gs>
            </a:gsLst>
            <a:lin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847088"/>
            <a:ext cx="7589520" cy="2926080"/>
          </a:xfrm>
          <a:prstGeom prst="rect">
            <a:avLst/>
          </a:prstGeom>
          <a:noFill/>
        </p:spPr>
        <p:txBody>
          <a:bodyPr wrap="square" anchor="t" lIns="0" rIns="0" tIns="0" bIns="0">
            <a:spAutoFit/>
          </a:bodyPr>
          <a:lstStyle/>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What we built</a:t>
            </a:r>
            <a:r>
              <a:rPr sz="1250" b="0" i="0">
                <a:solidFill>
                  <a:srgbClr val="9AA3B8"/>
                </a:solidFill>
                <a:latin typeface="Segoe UI"/>
              </a:rPr>
              <a:t> — exact SQL · interactive Plotly charts · live Mermaid diagrams · grounded explanations</a:t>
            </a:r>
          </a:p>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Why it matters</a:t>
            </a:r>
            <a:r>
              <a:rPr sz="1250" b="0" i="0">
                <a:solidFill>
                  <a:srgbClr val="9AA3B8"/>
                </a:solidFill>
                <a:latin typeface="Segoe UI"/>
              </a:rPr>
              <a:t> — analytics at conversational speed — without the hallucination tax</a:t>
            </a:r>
          </a:p>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How it holds up</a:t>
            </a:r>
            <a:r>
              <a:rPr sz="1250" b="0" i="0">
                <a:solidFill>
                  <a:srgbClr val="9AA3B8"/>
                </a:solidFill>
                <a:latin typeface="Segoe UI"/>
              </a:rPr>
              <a:t> — read-only guardrails · runtime schema awareness · multi-provider failover · 8-step reasoning</a:t>
            </a:r>
          </a:p>
          <a:p>
            <a:pPr algn="l" marL="237744" indent="-237744">
              <a:lnSpc>
                <a:spcPct val="112000"/>
              </a:lnSpc>
              <a:spcAft>
                <a:spcPts val="1200"/>
              </a:spcAft>
            </a:pPr>
            <a:r>
              <a:rPr sz="1250" b="1" i="0">
                <a:solidFill>
                  <a:srgbClr val="A78BFA"/>
                </a:solidFill>
                <a:latin typeface="Consolas"/>
              </a:rPr>
              <a:t>▸  </a:t>
            </a:r>
            <a:r>
              <a:rPr sz="1250" b="1" i="0">
                <a:solidFill>
                  <a:srgbClr val="F4F6FB"/>
                </a:solidFill>
                <a:latin typeface="Segoe UI"/>
              </a:rPr>
              <a:t>What's next</a:t>
            </a:r>
            <a:r>
              <a:rPr sz="1250" b="0" i="0">
                <a:solidFill>
                  <a:srgbClr val="9AA3B8"/>
                </a:solidFill>
                <a:latin typeface="Segoe UI"/>
              </a:rPr>
              <a:t> — Postgres / MySQL connectors · richer chart grammar · conversational follow-ups · shared query memory</a:t>
            </a:r>
          </a:p>
        </p:txBody>
      </p:sp>
      <p:sp>
        <p:nvSpPr>
          <p:cNvPr id="9" name="Rounded Rectangle 8"/>
          <p:cNvSpPr/>
          <p:nvPr/>
        </p:nvSpPr>
        <p:spPr>
          <a:xfrm>
            <a:off x="566928" y="4974336"/>
            <a:ext cx="4114800" cy="493776"/>
          </a:xfrm>
          <a:prstGeom prst="roundRect">
            <a:avLst>
              <a:gd name="adj" fmla="val 50000"/>
            </a:avLst>
          </a:prstGeom>
          <a:solidFill>
            <a:srgbClr val="0A0B10">
              <a:alpha val="60000"/>
            </a:srgbClr>
          </a:solidFill>
          <a:ln w="13970">
            <a:solidFill>
              <a:srgbClr val="3B31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4974336"/>
            <a:ext cx="4114800" cy="493776"/>
          </a:xfrm>
          <a:prstGeom prst="rect">
            <a:avLst/>
          </a:prstGeom>
          <a:noFill/>
        </p:spPr>
        <p:txBody>
          <a:bodyPr wrap="square" anchor="ctr" lIns="0" rIns="0" tIns="0" bIns="0">
            <a:spAutoFit/>
          </a:bodyPr>
          <a:lstStyle/>
          <a:p>
            <a:pPr algn="ctr">
              <a:lnSpc>
                <a:spcPct val="100000"/>
              </a:lnSpc>
            </a:pPr>
            <a:r>
              <a:rPr sz="1300" b="1" i="0">
                <a:solidFill>
                  <a:srgbClr val="A78BFA"/>
                </a:solidFill>
                <a:latin typeface="Consolas"/>
              </a:rPr>
              <a:t>▸ </a:t>
            </a:r>
            <a:r>
              <a:rPr sz="1250" b="1" i="0" spc="100">
                <a:solidFill>
                  <a:srgbClr val="A78BFA"/>
                </a:solidFill>
                <a:latin typeface="Consolas"/>
              </a:rPr>
              <a:t>CLONE IT. QUERY IT. BREAK IT.</a:t>
            </a:r>
          </a:p>
        </p:txBody>
      </p:sp>
      <p:sp>
        <p:nvSpPr>
          <p:cNvPr id="11" name="TextBox 10"/>
          <p:cNvSpPr txBox="1"/>
          <p:nvPr/>
        </p:nvSpPr>
        <p:spPr>
          <a:xfrm>
            <a:off x="8183879" y="3977639"/>
            <a:ext cx="3566160" cy="1554480"/>
          </a:xfrm>
          <a:prstGeom prst="rect">
            <a:avLst/>
          </a:prstGeom>
          <a:noFill/>
        </p:spPr>
        <p:txBody>
          <a:bodyPr wrap="square" anchor="t" lIns="0" rIns="0" tIns="0" bIns="0">
            <a:spAutoFit/>
          </a:bodyPr>
          <a:lstStyle/>
          <a:p>
            <a:pPr algn="l">
              <a:lnSpc>
                <a:spcPct val="100000"/>
              </a:lnSpc>
            </a:pPr>
            <a:r>
              <a:rPr sz="9200" b="1" i="0">
                <a:gradFill>
                  <a:gsLst>
                    <a:gs pos="0">
                      <a:srgbClr val="FFFFFF"/>
                    </a:gs>
                    <a:gs pos="55000">
                      <a:srgbClr val="C4B5FD"/>
                    </a:gs>
                    <a:gs pos="100000">
                      <a:srgbClr val="818CF8"/>
                    </a:gs>
                  </a:gsLst>
                  <a:lin ang="0"/>
                </a:gradFill>
                <a:latin typeface="Segoe UI"/>
              </a:rPr>
              <a:t>Q&amp;A</a:t>
            </a:r>
          </a:p>
        </p:txBody>
      </p:sp>
      <p:sp>
        <p:nvSpPr>
          <p:cNvPr id="12" name="TextBox 11"/>
          <p:cNvSpPr txBox="1"/>
          <p:nvPr/>
        </p:nvSpPr>
        <p:spPr>
          <a:xfrm>
            <a:off x="8229600" y="5614416"/>
            <a:ext cx="3474720" cy="320040"/>
          </a:xfrm>
          <a:prstGeom prst="rect">
            <a:avLst/>
          </a:prstGeom>
          <a:noFill/>
        </p:spPr>
        <p:txBody>
          <a:bodyPr wrap="square" anchor="t" lIns="0" rIns="0" tIns="0" bIns="0">
            <a:spAutoFit/>
          </a:bodyPr>
          <a:lstStyle/>
          <a:p>
            <a:pPr algn="ctr">
              <a:lnSpc>
                <a:spcPct val="100000"/>
              </a:lnSpc>
            </a:pPr>
            <a:r>
              <a:rPr sz="1300" b="0" i="0">
                <a:solidFill>
                  <a:srgbClr val="F4F6FB"/>
                </a:solidFill>
                <a:latin typeface="Consolas"/>
              </a:rPr>
              <a:t>&gt; ask anything</a:t>
            </a:r>
            <a:r>
              <a:rPr sz="1300" b="1" i="0">
                <a:solidFill>
                  <a:srgbClr val="A78BFA"/>
                </a:solidFill>
                <a:latin typeface="Consolas"/>
              </a:rPr>
              <a:t>_</a:t>
            </a:r>
          </a:p>
        </p:txBody>
      </p:sp>
      <p:sp>
        <p:nvSpPr>
          <p:cNvPr id="13" name="TextBox 12"/>
          <p:cNvSpPr txBox="1"/>
          <p:nvPr/>
        </p:nvSpPr>
        <p:spPr>
          <a:xfrm>
            <a:off x="566928" y="6364224"/>
            <a:ext cx="7315200" cy="274320"/>
          </a:xfrm>
          <a:prstGeom prst="rect">
            <a:avLst/>
          </a:prstGeom>
          <a:noFill/>
        </p:spPr>
        <p:txBody>
          <a:bodyPr wrap="square" anchor="t" lIns="0" rIns="0" tIns="0" bIns="0">
            <a:spAutoFit/>
          </a:bodyPr>
          <a:lstStyle/>
          <a:p>
            <a:pPr algn="l">
              <a:lnSpc>
                <a:spcPct val="100000"/>
              </a:lnSpc>
            </a:pPr>
            <a:r>
              <a:rPr sz="850" b="0" i="0" spc="300">
                <a:solidFill>
                  <a:srgbClr val="5D6578"/>
                </a:solidFill>
                <a:latin typeface="Segoe UI"/>
              </a:rPr>
              <a:t>ZODIAC AI // 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Zodiac AI — Pitch Deck &amp; Technical Overview</dc:title>
  <dc:subject>Chat with your Database — text-to-SQL agent</dc:subject>
  <dc:creator>Zodiac AI</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