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Full-bleed cyber-grid scene. Holographic wireframe database cylinder (right) streaming neon-green particles into a floating chat terminal. Electric-blue perspective grid floor, faint 12-star Zodiac constellation overhead. 'ZODIAC' set with chromatic-aberration glitch; terminal status bar at top.</a:t>
            </a:r>
          </a:p>
          <a:p/>
          <a:p>
            <a:r>
              <a:t>SPEAKER NOTES — Open with the one-liner: 'Every company runs on data — almost nobody can talk to it directly.' Introduce Zodiac AI as a conversational agent between humans and the relational database: ask in plain English, get the exact SQL, the chart, the diagram, and the numbers — every figure traceable to an executed query. Set the hook fast; promise the architecture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Split-screen divided by a pulsing electric-blue lightning seam. Left: desaturated grey-blue mosaic of stale BI dashboards, CSV exports, ticket queues, slightly glitching. Right: vivid neon chat exchange — 'What drove revenue last quarter?' answered with a glowing SQL snippet, mini chart and bullet explanation.</a:t>
            </a:r>
          </a:p>
          <a:p/>
          <a:p>
            <a:r>
              <a:t>SPEAKER NOTES — Frame it as economics: the real cost of BI is the latency between question and answer. When latency is days, people stop asking. Generic chatbots feel instant but fabricate — speed without trust. Zodiac collapses the loop to seconds while keeping every number traceable to an executed query. Position carefully: 'We're not replacing analysts — we're unblocking everyone else.'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Vertical layered-architecture diagram rendered as a neon circuit-board cross-section (chip die-shot). Four glowing strata: FRONTEND, API, AI (two chips GROQ/GEMINI through a router switch), DATA (green SQLite cylinder). Data beams travel through vias between layers; monospace spec labels on the right edge.</a:t>
            </a:r>
          </a:p>
          <a:p/>
          <a:p>
            <a:r>
              <a:t>SPEAKER NOTES — Two reasons for these choices: iteration velocity and architectural portability. React + TanStack handles the chat-plus-live-chart pattern. FastAPI gives async Python with strict validation. SQLite makes the demo infinitely portable. Most important: the AI layer is deliberately abstracted — the agent never talks to a vendor, it talks to the router.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Two panels. Left: central PROVIDER ROUTER node; primary path burns neon green (GROQ — ultra-low latency) shown mid-failover with a red glitch-sever, traffic rerouting onto the electric-blue GEMINI path. Right: orbital ring of 8 nodes with a directional energy pulse around an AGENT CONTEXT core; segment 4→7 glows brighter, labeled ITERATE UNTIL GROUNDED.</a:t>
            </a:r>
          </a:p>
          <a:p/>
          <a:p>
            <a:r>
              <a:t>SPEAKER NOTES — Two ideas. First, resilience: LLM providers are utilities, and utilities go down — the router treats Groq and Gemini as interchangeable, so when Groq rate-limits mid-session the user never notices. Second, the loop: this is not one-shot prompt → answer. The agent reasons, acts, observes, iterates — if the first query errors or returns partial data, it self-corrects. Answers are earned through iteration.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Two floating terminals. Left (get_schema): glowing schema tree — sales_db → customers/products/orders/order_items — column types cascading in green monospace. Right (execute_query): a SELECT+JOIN executing with a neon shield icon and green READ-ONLY badge; beneath it, a red-stamped rejected 'DROP TABLE orders;' marked BLOCKED — WRITE GUARD. Results stream below like a matrix cascade.</a:t>
            </a:r>
          </a:p>
          <a:p/>
          <a:p>
            <a:r>
              <a:t>SPEAKER NOTES — Trust is the product, and these two tools are its foundation. The agent reads the schema fresh at runtime — it cannot reference a column that doesn't exist — and it executes real SQL, so answers come from the database, not the model's memory. The read-only guard means the worst-case interaction is an empty result set. Users always see the exact SQL behind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Split dashboard inside a futuristic browser chrome. Left: interactive Plotly chart mid-render — glowing series, neon-gradient fills, hover tooltip caught on a data point. Right: Mermaid relationship diagram as a neon blueprint — nodes and arrows in electric blue with green highlights. Behind both, faint source code (fig = px.bar(...) / graph TD;) streams like a data waterfall and morphs into the visuals.</a:t>
            </a:r>
          </a:p>
          <a:p/>
          <a:p>
            <a:r>
              <a:t>SPEAKER NOTES — Text-only answers waste an LLM's real strength: structured generation. Zodiac treats visuals as first-class outputs — the model doesn't describe a chart, it writes the chart definition, and Plotly and Mermaid render it deterministically. Because the spec is generated from executed query results, the visual carries the same grounding as the SQL behind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A neon magnifying lens hovers over a glowing result-set table; cells illuminate green and lift out, flowing upward into a paragraph where the same numbers appear highlighted — numbers traced to rows. Math glyphs (∑, μ, x̄, Δ%) orbit the lens. In the corner, a ghostly chatbot bubble with a made-up statistic is slashed in red — the anti-hallucination motif.</a:t>
            </a:r>
          </a:p>
          <a:p/>
          <a:p>
            <a:r>
              <a:t>SPEAKER NOTES — This slide separates Zodiac from a wrapped chat API. Generic LLMs interpolate plausible-sounding statistics; Zodiac computes the statistics first and writes the narrative around them. The pipeline is strict: query → compute → narrate. If a number can't be traced to a result set, it doesn't make it into the answer. Say it plainly: 'We don't ask the model to remember your revenue. We ask your database.'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An ERD reimagined as a neon circuit schematic on a dark PCB. Four table-nodes as glowing chips — CUSTOMERS (green), PRODUCTS (blue), ORDERS (green), ORDER_ITEMS (blue) — connected by luminous traces with pulsing cardinality glyphs (1 — ∞) at each junction. Pin-labels expose key columns. Faint grid and ruler ticks frame it like engineering blueprints.</a:t>
            </a:r>
          </a:p>
          <a:p/>
          <a:p>
            <a:r>
              <a:t>SPEAKER NOTES — The demo dataset is deliberately canonical e-commerce: instantly understandable, and join-heavy — exactly where naive text-to-SQL breaks. Every interesting question (top customers, revenue per product, average order value) crosses at least one join. If the agent is correct on this schema, it generalizes. And the schema is never baked into prompts — it's discovered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Dark-mode chat UI with a vertical stack of user message bubbles in neon-green outline, each paired with an electric-blue category chip (AGGREGATION, RANKING, TREND, JOIN, SCHEMA, QUALITY). One exchange expanded to show the full multi-part response: SQL block, mini Plotly chart, explanation paragraph. An empty input field with a blinking cursor: '&gt; ask anything_'</a:t>
            </a:r>
          </a:p>
          <a:p/>
          <a:p>
            <a:r>
              <a:t>SPEAKER NOTES — Walk one or two bubbles aloud, then let the audience read the rest. Point out the data-quality category last — it proves the agent can reason about the database, not just retrieve from it. Close on the bundle: a single prompt yields the SQL, a rendered chart, and a grounded explanation. That triple — query, visual, narrative — is the product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A full terminal window styled as a boot sequence: command lines appearing with a typing cursor, executed lines flashing green with ✓, a progress-bar motif [████████░░] LOADING. The final command launches the app — a small browser thumbnail pops out showing the Zodiac chat UI. At right, a .env file rendered as a glowing document with masked keys.</a:t>
            </a:r>
          </a:p>
          <a:p/>
          <a:p>
            <a:r>
              <a:t>SPEAKER NOTES — The pitch of this slide is friction — or its absence. SQLite means no database server to stand up: the schema ships inside the repo. One API key is enough to run; the second is optional insurance that activates failover. From git clone to first grounded answer: under five minutes. Invite the audience to do it live during Q&amp;A.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Wide cinematic shot of the Zodiac constellation — 12 stars connected by neon lines — reflected on the cyber-grid floor, closing the visual loop with Slide 1. Data streams flow from the constellation down into a small glowing database cylinder. Terminal reads '$ status: ALL SYSTEMS OPERATIONAL' with a blinking '&gt; ask anything_'. Oversized Q&amp;A in glitch typography.</a:t>
            </a:r>
          </a:p>
          <a:p/>
          <a:p>
            <a:r>
              <a:t>SPEAKER NOTES — Close the loop with the opening line: databases used to be things you queried — now they're things you talk to. Recap the four pillars in one breath: exact SQL, live visuals, grounded numbers, resilient architecture. Open the floor — and if the room is quiet, seed the first question: 'Ask me what happens when Groq goes down mid-query.'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bg.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7223760" cy="6858000"/>
          </a:xfrm>
          <a:prstGeom prst="rect">
            <a:avLst/>
          </a:prstGeom>
          <a:solidFill>
            <a:srgbClr val="0A0E1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120511" cy="4572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20511" y="0"/>
            <a:ext cx="7071183" cy="4572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502920"/>
            <a:ext cx="7315200" cy="274320"/>
          </a:xfrm>
          <a:prstGeom prst="rect">
            <a:avLst/>
          </a:prstGeom>
          <a:noFill/>
        </p:spPr>
        <p:txBody>
          <a:bodyPr wrap="square" anchor="t" lIns="0" rIns="0" tIns="0" bIns="0">
            <a:spAutoFit/>
          </a:bodyPr>
          <a:lstStyle/>
          <a:p>
            <a:pPr>
              <a:lnSpc>
                <a:spcPct val="100000"/>
              </a:lnSpc>
            </a:pPr>
            <a:r>
              <a:rPr sz="1100" b="0" i="0">
                <a:solidFill>
                  <a:srgbClr val="8B9BB4"/>
                </a:solidFill>
                <a:latin typeface="Consolas"/>
              </a:rPr>
              <a:t>v1.0 // TEXT-TO-SQL AGENT // STATUS: </a:t>
            </a:r>
            <a:r>
              <a:rPr sz="1100" b="1" i="0">
                <a:solidFill>
                  <a:srgbClr val="00FF41"/>
                </a:solidFill>
                <a:latin typeface="Consolas"/>
              </a:rPr>
              <a:t>ONLINE</a:t>
            </a:r>
            <a:r>
              <a:rPr sz="1100" b="0" i="0">
                <a:solidFill>
                  <a:srgbClr val="00FF41"/>
                </a:solidFill>
                <a:latin typeface="Consolas"/>
              </a:rPr>
              <a:t> ▮</a:t>
            </a:r>
          </a:p>
        </p:txBody>
      </p:sp>
      <p:sp>
        <p:nvSpPr>
          <p:cNvPr id="7" name="TextBox 6"/>
          <p:cNvSpPr txBox="1"/>
          <p:nvPr/>
        </p:nvSpPr>
        <p:spPr>
          <a:xfrm>
            <a:off x="544068" y="1444752"/>
            <a:ext cx="7498079" cy="1371600"/>
          </a:xfrm>
          <a:prstGeom prst="rect">
            <a:avLst/>
          </a:prstGeom>
          <a:noFill/>
        </p:spPr>
        <p:txBody>
          <a:bodyPr wrap="square" anchor="t" lIns="0" rIns="0" tIns="0" bIns="0">
            <a:spAutoFit/>
          </a:bodyPr>
          <a:lstStyle/>
          <a:p>
            <a:pPr algn="l">
              <a:lnSpc>
                <a:spcPct val="100000"/>
              </a:lnSpc>
            </a:pPr>
            <a:r>
              <a:rPr sz="8400" b="1" i="0">
                <a:solidFill>
                  <a:srgbClr val="00D4FF"/>
                </a:solidFill>
                <a:latin typeface="Arial"/>
              </a:rPr>
              <a:t>ZODIAC AI</a:t>
            </a:r>
          </a:p>
        </p:txBody>
      </p:sp>
      <p:sp>
        <p:nvSpPr>
          <p:cNvPr id="8" name="TextBox 7"/>
          <p:cNvSpPr txBox="1"/>
          <p:nvPr/>
        </p:nvSpPr>
        <p:spPr>
          <a:xfrm>
            <a:off x="502920" y="1417320"/>
            <a:ext cx="7498079" cy="1371600"/>
          </a:xfrm>
          <a:prstGeom prst="rect">
            <a:avLst/>
          </a:prstGeom>
          <a:noFill/>
        </p:spPr>
        <p:txBody>
          <a:bodyPr wrap="square" anchor="t" lIns="0" rIns="0" tIns="0" bIns="0">
            <a:spAutoFit/>
          </a:bodyPr>
          <a:lstStyle/>
          <a:p>
            <a:pPr algn="l">
              <a:lnSpc>
                <a:spcPct val="100000"/>
              </a:lnSpc>
            </a:pPr>
            <a:r>
              <a:rPr sz="8400" b="1" i="0">
                <a:solidFill>
                  <a:srgbClr val="00FF41"/>
                </a:solidFill>
                <a:latin typeface="Arial"/>
              </a:rPr>
              <a:t>ZODIAC AI</a:t>
            </a:r>
          </a:p>
        </p:txBody>
      </p:sp>
      <p:sp>
        <p:nvSpPr>
          <p:cNvPr id="9" name="TextBox 8"/>
          <p:cNvSpPr txBox="1"/>
          <p:nvPr/>
        </p:nvSpPr>
        <p:spPr>
          <a:xfrm>
            <a:off x="566928" y="2880360"/>
            <a:ext cx="6949440" cy="502920"/>
          </a:xfrm>
          <a:prstGeom prst="rect">
            <a:avLst/>
          </a:prstGeom>
          <a:noFill/>
        </p:spPr>
        <p:txBody>
          <a:bodyPr wrap="square" anchor="t" lIns="0" rIns="0" tIns="0" bIns="0">
            <a:spAutoFit/>
          </a:bodyPr>
          <a:lstStyle/>
          <a:p>
            <a:pPr>
              <a:lnSpc>
                <a:spcPct val="100000"/>
              </a:lnSpc>
            </a:pPr>
            <a:r>
              <a:rPr sz="2700" b="0" i="0">
                <a:solidFill>
                  <a:srgbClr val="E6F1FF"/>
                </a:solidFill>
                <a:latin typeface="Arial"/>
              </a:rPr>
              <a:t>Chat with Your Database</a:t>
            </a:r>
          </a:p>
        </p:txBody>
      </p:sp>
      <p:sp>
        <p:nvSpPr>
          <p:cNvPr id="10" name="Rectangle 9"/>
          <p:cNvSpPr/>
          <p:nvPr/>
        </p:nvSpPr>
        <p:spPr>
          <a:xfrm>
            <a:off x="585216" y="3456432"/>
            <a:ext cx="219456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79776" y="3456432"/>
            <a:ext cx="7315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657600"/>
            <a:ext cx="6766560" cy="822960"/>
          </a:xfrm>
          <a:prstGeom prst="rect">
            <a:avLst/>
          </a:prstGeom>
          <a:noFill/>
        </p:spPr>
        <p:txBody>
          <a:bodyPr wrap="square" anchor="t" lIns="0" rIns="0" tIns="0" bIns="0">
            <a:spAutoFit/>
          </a:bodyPr>
          <a:lstStyle/>
          <a:p>
            <a:pPr>
              <a:lnSpc>
                <a:spcPct val="115000"/>
              </a:lnSpc>
              <a:spcAft>
                <a:spcPts val="300"/>
              </a:spcAft>
            </a:pPr>
            <a:r>
              <a:rPr sz="1350" b="0" i="0">
                <a:solidFill>
                  <a:srgbClr val="8B9BB4"/>
                </a:solidFill>
                <a:latin typeface="Arial"/>
              </a:rPr>
              <a:t>A conversational agent that talks directly to relational databases —</a:t>
            </a:r>
          </a:p>
          <a:p>
            <a:pPr>
              <a:lnSpc>
                <a:spcPct val="115000"/>
              </a:lnSpc>
              <a:spcAft>
                <a:spcPts val="300"/>
              </a:spcAft>
            </a:pPr>
            <a:r>
              <a:rPr sz="1350" b="0" i="0">
                <a:solidFill>
                  <a:srgbClr val="8B9BB4"/>
                </a:solidFill>
                <a:latin typeface="Arial"/>
              </a:rPr>
              <a:t>answering with </a:t>
            </a:r>
            <a:r>
              <a:rPr sz="1350" b="1" i="0">
                <a:solidFill>
                  <a:srgbClr val="00FF41"/>
                </a:solidFill>
                <a:latin typeface="Arial"/>
              </a:rPr>
              <a:t>exact SQL</a:t>
            </a:r>
            <a:r>
              <a:rPr sz="1350" b="0" i="0">
                <a:solidFill>
                  <a:srgbClr val="8B9BB4"/>
                </a:solidFill>
                <a:latin typeface="Arial"/>
              </a:rPr>
              <a:t>, </a:t>
            </a:r>
            <a:r>
              <a:rPr sz="1350" b="1" i="0">
                <a:solidFill>
                  <a:srgbClr val="00D4FF"/>
                </a:solidFill>
                <a:latin typeface="Arial"/>
              </a:rPr>
              <a:t>interactive Plotly charts</a:t>
            </a:r>
            <a:r>
              <a:rPr sz="1350" b="0" i="0">
                <a:solidFill>
                  <a:srgbClr val="8B9BB4"/>
                </a:solidFill>
                <a:latin typeface="Arial"/>
              </a:rPr>
              <a:t>, </a:t>
            </a:r>
            <a:r>
              <a:rPr sz="1350" b="1" i="0">
                <a:solidFill>
                  <a:srgbClr val="00D4FF"/>
                </a:solidFill>
                <a:latin typeface="Arial"/>
              </a:rPr>
              <a:t>live Mermaid diagrams</a:t>
            </a:r>
            <a:r>
              <a:rPr sz="1350" b="0" i="0">
                <a:solidFill>
                  <a:srgbClr val="8B9BB4"/>
                </a:solidFill>
                <a:latin typeface="Arial"/>
              </a:rPr>
              <a:t> and</a:t>
            </a:r>
          </a:p>
          <a:p>
            <a:pPr>
              <a:lnSpc>
                <a:spcPct val="115000"/>
              </a:lnSpc>
            </a:pPr>
            <a:r>
              <a:rPr sz="1350" b="1" i="0">
                <a:solidFill>
                  <a:srgbClr val="00FF41"/>
                </a:solidFill>
                <a:latin typeface="Arial"/>
              </a:rPr>
              <a:t>mathematically grounded explanations</a:t>
            </a:r>
            <a:r>
              <a:rPr sz="1350" b="0" i="0">
                <a:solidFill>
                  <a:srgbClr val="8B9BB4"/>
                </a:solidFill>
                <a:latin typeface="Arial"/>
              </a:rPr>
              <a:t>.</a:t>
            </a:r>
          </a:p>
        </p:txBody>
      </p:sp>
      <p:sp>
        <p:nvSpPr>
          <p:cNvPr id="13" name="TextBox 12"/>
          <p:cNvSpPr txBox="1"/>
          <p:nvPr/>
        </p:nvSpPr>
        <p:spPr>
          <a:xfrm>
            <a:off x="566928" y="4709160"/>
            <a:ext cx="6766560" cy="365760"/>
          </a:xfrm>
          <a:prstGeom prst="rect">
            <a:avLst/>
          </a:prstGeom>
          <a:noFill/>
        </p:spPr>
        <p:txBody>
          <a:bodyPr wrap="square" anchor="t" lIns="0" rIns="0" tIns="0" bIns="0">
            <a:spAutoFit/>
          </a:bodyPr>
          <a:lstStyle/>
          <a:p>
            <a:pPr>
              <a:lnSpc>
                <a:spcPct val="100000"/>
              </a:lnSpc>
            </a:pPr>
            <a:r>
              <a:rPr sz="1500" b="1" i="0">
                <a:solidFill>
                  <a:srgbClr val="00D4FF"/>
                </a:solidFill>
                <a:latin typeface="Consolas"/>
              </a:rPr>
              <a:t>&gt; </a:t>
            </a:r>
            <a:r>
              <a:rPr sz="1500" b="1" i="0" spc="200">
                <a:solidFill>
                  <a:srgbClr val="00FF41"/>
                </a:solidFill>
                <a:latin typeface="Consolas"/>
              </a:rPr>
              <a:t>NOT GUESSES. GROUND TRUTH.</a:t>
            </a:r>
          </a:p>
        </p:txBody>
      </p:sp>
      <p:sp>
        <p:nvSpPr>
          <p:cNvPr id="14" name="Rounded Rectangle 13"/>
          <p:cNvSpPr/>
          <p:nvPr/>
        </p:nvSpPr>
        <p:spPr>
          <a:xfrm>
            <a:off x="566928" y="5257800"/>
            <a:ext cx="1001268" cy="310896"/>
          </a:xfrm>
          <a:prstGeom prst="roundRect">
            <a:avLst>
              <a:gd name="adj" fmla="val 50000"/>
            </a:avLst>
          </a:prstGeom>
          <a:solidFill>
            <a:srgbClr val="0A0E14"/>
          </a:solidFill>
          <a:ln w="1524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5257800"/>
            <a:ext cx="1001268" cy="310896"/>
          </a:xfrm>
          <a:prstGeom prst="rect">
            <a:avLst/>
          </a:prstGeom>
          <a:noFill/>
        </p:spPr>
        <p:txBody>
          <a:bodyPr wrap="square" anchor="ctr" lIns="0" rIns="0" tIns="0" bIns="0">
            <a:spAutoFit/>
          </a:bodyPr>
          <a:lstStyle/>
          <a:p>
            <a:pPr algn="ctr">
              <a:lnSpc>
                <a:spcPct val="100000"/>
              </a:lnSpc>
            </a:pPr>
            <a:r>
              <a:rPr sz="950" b="1" i="0">
                <a:solidFill>
                  <a:srgbClr val="00D4FF"/>
                </a:solidFill>
                <a:latin typeface="Consolas"/>
              </a:rPr>
              <a:t>TEXT-TO-SQL</a:t>
            </a:r>
          </a:p>
        </p:txBody>
      </p:sp>
      <p:sp>
        <p:nvSpPr>
          <p:cNvPr id="16" name="Rounded Rectangle 15"/>
          <p:cNvSpPr/>
          <p:nvPr/>
        </p:nvSpPr>
        <p:spPr>
          <a:xfrm>
            <a:off x="1732788" y="5257800"/>
            <a:ext cx="1078992" cy="310896"/>
          </a:xfrm>
          <a:prstGeom prst="roundRect">
            <a:avLst>
              <a:gd name="adj" fmla="val 50000"/>
            </a:avLst>
          </a:prstGeom>
          <a:solidFill>
            <a:srgbClr val="0A0E14"/>
          </a:solidFill>
          <a:ln w="1524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32788" y="5257800"/>
            <a:ext cx="1078992" cy="310896"/>
          </a:xfrm>
          <a:prstGeom prst="rect">
            <a:avLst/>
          </a:prstGeom>
          <a:noFill/>
        </p:spPr>
        <p:txBody>
          <a:bodyPr wrap="square" anchor="ctr" lIns="0" rIns="0" tIns="0" bIns="0">
            <a:spAutoFit/>
          </a:bodyPr>
          <a:lstStyle/>
          <a:p>
            <a:pPr algn="ctr">
              <a:lnSpc>
                <a:spcPct val="100000"/>
              </a:lnSpc>
            </a:pPr>
            <a:r>
              <a:rPr sz="950" b="1" i="0">
                <a:solidFill>
                  <a:srgbClr val="00D4FF"/>
                </a:solidFill>
                <a:latin typeface="Consolas"/>
              </a:rPr>
              <a:t>AGENTIC LOOP</a:t>
            </a:r>
          </a:p>
        </p:txBody>
      </p:sp>
      <p:sp>
        <p:nvSpPr>
          <p:cNvPr id="18" name="Rounded Rectangle 17"/>
          <p:cNvSpPr/>
          <p:nvPr/>
        </p:nvSpPr>
        <p:spPr>
          <a:xfrm>
            <a:off x="2976372" y="5257800"/>
            <a:ext cx="1234440" cy="310896"/>
          </a:xfrm>
          <a:prstGeom prst="roundRect">
            <a:avLst>
              <a:gd name="adj" fmla="val 50000"/>
            </a:avLst>
          </a:prstGeom>
          <a:solidFill>
            <a:srgbClr val="0A0E14"/>
          </a:solidFill>
          <a:ln w="1524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6372" y="5257800"/>
            <a:ext cx="1234440" cy="310896"/>
          </a:xfrm>
          <a:prstGeom prst="rect">
            <a:avLst/>
          </a:prstGeom>
          <a:noFill/>
        </p:spPr>
        <p:txBody>
          <a:bodyPr wrap="square" anchor="ctr" lIns="0" rIns="0" tIns="0" bIns="0">
            <a:spAutoFit/>
          </a:bodyPr>
          <a:lstStyle/>
          <a:p>
            <a:pPr algn="ctr">
              <a:lnSpc>
                <a:spcPct val="100000"/>
              </a:lnSpc>
            </a:pPr>
            <a:r>
              <a:rPr sz="950" b="1" i="0">
                <a:solidFill>
                  <a:srgbClr val="00D4FF"/>
                </a:solidFill>
                <a:latin typeface="Consolas"/>
              </a:rPr>
              <a:t>MULTI-PROVIDER</a:t>
            </a:r>
          </a:p>
        </p:txBody>
      </p:sp>
      <p:sp>
        <p:nvSpPr>
          <p:cNvPr id="20" name="Rounded Rectangle 19"/>
          <p:cNvSpPr/>
          <p:nvPr/>
        </p:nvSpPr>
        <p:spPr>
          <a:xfrm>
            <a:off x="4375404" y="5257800"/>
            <a:ext cx="1389888" cy="310896"/>
          </a:xfrm>
          <a:prstGeom prst="roundRect">
            <a:avLst>
              <a:gd name="adj" fmla="val 50000"/>
            </a:avLst>
          </a:prstGeom>
          <a:solidFill>
            <a:srgbClr val="0A0E14"/>
          </a:solidFill>
          <a:ln w="1524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5404" y="5257800"/>
            <a:ext cx="1389888" cy="310896"/>
          </a:xfrm>
          <a:prstGeom prst="rect">
            <a:avLst/>
          </a:prstGeom>
          <a:noFill/>
        </p:spPr>
        <p:txBody>
          <a:bodyPr wrap="square" anchor="ctr" lIns="0" rIns="0" tIns="0" bIns="0">
            <a:spAutoFit/>
          </a:bodyPr>
          <a:lstStyle/>
          <a:p>
            <a:pPr algn="ctr">
              <a:lnSpc>
                <a:spcPct val="100000"/>
              </a:lnSpc>
            </a:pPr>
            <a:r>
              <a:rPr sz="950" b="1" i="0">
                <a:solidFill>
                  <a:srgbClr val="00D4FF"/>
                </a:solidFill>
                <a:latin typeface="Consolas"/>
              </a:rPr>
              <a:t>8-STEP REASONING</a:t>
            </a:r>
          </a:p>
        </p:txBody>
      </p:sp>
      <p:sp>
        <p:nvSpPr>
          <p:cNvPr id="22" name="TextBox 21"/>
          <p:cNvSpPr txBox="1"/>
          <p:nvPr/>
        </p:nvSpPr>
        <p:spPr>
          <a:xfrm>
            <a:off x="566928" y="6263640"/>
            <a:ext cx="7315200" cy="274320"/>
          </a:xfrm>
          <a:prstGeom prst="rect">
            <a:avLst/>
          </a:prstGeom>
          <a:noFill/>
        </p:spPr>
        <p:txBody>
          <a:bodyPr wrap="square" anchor="t" lIns="0" rIns="0" tIns="0" bIns="0">
            <a:spAutoFit/>
          </a:bodyPr>
          <a:lstStyle/>
          <a:p>
            <a:pPr>
              <a:lnSpc>
                <a:spcPct val="100000"/>
              </a:lnSpc>
            </a:pPr>
            <a:r>
              <a:rPr sz="900" b="0" i="0" spc="250">
                <a:solidFill>
                  <a:srgbClr val="56637A"/>
                </a:solidFill>
                <a:latin typeface="Consolas"/>
              </a:rPr>
              <a:t>PITCH DECK &amp; TECHNICAL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02 · EXECUTIVE VISION</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E6F1FF"/>
                </a:solidFill>
                <a:latin typeface="Arial"/>
              </a:rPr>
              <a:t>The Wall Between </a:t>
            </a:r>
            <a:r>
              <a:rPr sz="3000" b="1" i="0">
                <a:solidFill>
                  <a:srgbClr val="00D4FF"/>
                </a:solidFill>
                <a:latin typeface="Arial"/>
              </a:rPr>
              <a:t>You and Your Data</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572768"/>
            <a:ext cx="5440680" cy="4160520"/>
          </a:xfrm>
          <a:prstGeom prst="roundRect">
            <a:avLst>
              <a:gd name="adj" fmla="val 35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1572768"/>
            <a:ext cx="5440680" cy="420624"/>
          </a:xfrm>
          <a:prstGeom prst="roundRect">
            <a:avLst>
              <a:gd name="adj" fmla="val 16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1572768"/>
            <a:ext cx="64008" cy="420624"/>
          </a:xfrm>
          <a:prstGeom prst="rect">
            <a:avLst/>
          </a:prstGeom>
          <a:solidFill>
            <a:srgbClr val="FF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1664208"/>
            <a:ext cx="5074920" cy="274320"/>
          </a:xfrm>
          <a:prstGeom prst="rect">
            <a:avLst/>
          </a:prstGeom>
          <a:noFill/>
        </p:spPr>
        <p:txBody>
          <a:bodyPr wrap="square" anchor="t" lIns="0" rIns="0" tIns="0" bIns="0">
            <a:spAutoFit/>
          </a:bodyPr>
          <a:lstStyle/>
          <a:p>
            <a:pPr>
              <a:lnSpc>
                <a:spcPct val="100000"/>
              </a:lnSpc>
            </a:pPr>
            <a:r>
              <a:rPr sz="1150" b="1" i="0" spc="100">
                <a:solidFill>
                  <a:srgbClr val="FF3355"/>
                </a:solidFill>
                <a:latin typeface="Consolas"/>
              </a:rPr>
              <a:t>THE OLD WAY — TRADITIONAL BI</a:t>
            </a:r>
          </a:p>
        </p:txBody>
      </p:sp>
      <p:sp>
        <p:nvSpPr>
          <p:cNvPr id="28" name="TextBox 27"/>
          <p:cNvSpPr txBox="1"/>
          <p:nvPr/>
        </p:nvSpPr>
        <p:spPr>
          <a:xfrm>
            <a:off x="777240" y="2249424"/>
            <a:ext cx="4892040" cy="3474720"/>
          </a:xfrm>
          <a:prstGeom prst="rect">
            <a:avLst/>
          </a:prstGeom>
          <a:noFill/>
        </p:spPr>
        <p:txBody>
          <a:bodyPr wrap="square" anchor="t" lIns="0" rIns="0" tIns="0" bIns="0">
            <a:spAutoFit/>
          </a:bodyPr>
          <a:lstStyle/>
          <a:p>
            <a:pPr marL="219456" indent="-219456">
              <a:lnSpc>
                <a:spcPct val="108000"/>
              </a:lnSpc>
              <a:spcAft>
                <a:spcPts val="1300"/>
              </a:spcAft>
            </a:pPr>
            <a:r>
              <a:rPr sz="1300" b="1" i="0">
                <a:solidFill>
                  <a:srgbClr val="FF3355"/>
                </a:solidFill>
                <a:latin typeface="Consolas"/>
              </a:rPr>
              <a:t>✕  </a:t>
            </a:r>
            <a:r>
              <a:rPr sz="1300" b="1" i="0">
                <a:solidFill>
                  <a:srgbClr val="E6F1FF"/>
                </a:solidFill>
                <a:latin typeface="Arial"/>
              </a:rPr>
              <a:t>Every question becomes a ticket</a:t>
            </a:r>
            <a:r>
              <a:rPr sz="1300" b="0" i="0">
                <a:solidFill>
                  <a:srgbClr val="E6F1FF"/>
                </a:solidFill>
                <a:latin typeface="Arial"/>
              </a:rPr>
              <a:t> — analysts queue, answers ship days later</a:t>
            </a:r>
          </a:p>
          <a:p>
            <a:pPr marL="219456" indent="-219456">
              <a:lnSpc>
                <a:spcPct val="108000"/>
              </a:lnSpc>
              <a:spcAft>
                <a:spcPts val="1300"/>
              </a:spcAft>
            </a:pPr>
            <a:r>
              <a:rPr sz="1300" b="1" i="0">
                <a:solidFill>
                  <a:srgbClr val="FF3355"/>
                </a:solidFill>
                <a:latin typeface="Consolas"/>
              </a:rPr>
              <a:t>✕  </a:t>
            </a:r>
            <a:r>
              <a:rPr sz="1300" b="1" i="0">
                <a:solidFill>
                  <a:srgbClr val="E6F1FF"/>
                </a:solidFill>
                <a:latin typeface="Arial"/>
              </a:rPr>
              <a:t>Static dashboards</a:t>
            </a:r>
            <a:r>
              <a:rPr sz="1300" b="0" i="0">
                <a:solidFill>
                  <a:srgbClr val="E6F1FF"/>
                </a:solidFill>
                <a:latin typeface="Arial"/>
              </a:rPr>
              <a:t> — answer yesterday's questions, not today's</a:t>
            </a:r>
          </a:p>
          <a:p>
            <a:pPr marL="219456" indent="-219456">
              <a:lnSpc>
                <a:spcPct val="108000"/>
              </a:lnSpc>
              <a:spcAft>
                <a:spcPts val="1300"/>
              </a:spcAft>
            </a:pPr>
            <a:r>
              <a:rPr sz="1300" b="1" i="0">
                <a:solidFill>
                  <a:srgbClr val="FF3355"/>
                </a:solidFill>
                <a:latin typeface="Consolas"/>
              </a:rPr>
              <a:t>✕  </a:t>
            </a:r>
            <a:r>
              <a:rPr sz="1300" b="1" i="0">
                <a:solidFill>
                  <a:srgbClr val="E6F1FF"/>
                </a:solidFill>
                <a:latin typeface="Arial"/>
              </a:rPr>
              <a:t>SQL fluency is the bottleneck</a:t>
            </a:r>
            <a:r>
              <a:rPr sz="1300" b="0" i="0">
                <a:solidFill>
                  <a:srgbClr val="E6F1FF"/>
                </a:solidFill>
                <a:latin typeface="Arial"/>
              </a:rPr>
              <a:t> — the data exists; direct access doesn't</a:t>
            </a:r>
          </a:p>
          <a:p>
            <a:pPr marL="219456" indent="-219456">
              <a:lnSpc>
                <a:spcPct val="108000"/>
              </a:lnSpc>
              <a:spcAft>
                <a:spcPts val="1300"/>
              </a:spcAft>
            </a:pPr>
            <a:r>
              <a:rPr sz="1300" b="1" i="0">
                <a:solidFill>
                  <a:srgbClr val="FF3355"/>
                </a:solidFill>
                <a:latin typeface="Consolas"/>
              </a:rPr>
              <a:t>✕  </a:t>
            </a:r>
            <a:r>
              <a:rPr sz="1300" b="1" i="0">
                <a:solidFill>
                  <a:srgbClr val="E6F1FF"/>
                </a:solidFill>
                <a:latin typeface="Arial"/>
              </a:rPr>
              <a:t>Naive LLM chatbots</a:t>
            </a:r>
            <a:r>
              <a:rPr sz="1300" b="0" i="0">
                <a:solidFill>
                  <a:srgbClr val="E6F1FF"/>
                </a:solidFill>
                <a:latin typeface="Arial"/>
              </a:rPr>
              <a:t> — hallucinate numbers with total confidence</a:t>
            </a:r>
          </a:p>
        </p:txBody>
      </p:sp>
      <p:sp>
        <p:nvSpPr>
          <p:cNvPr id="29" name="Rounded Rectangle 28"/>
          <p:cNvSpPr/>
          <p:nvPr/>
        </p:nvSpPr>
        <p:spPr>
          <a:xfrm>
            <a:off x="6245352" y="1572768"/>
            <a:ext cx="5440680" cy="4160520"/>
          </a:xfrm>
          <a:prstGeom prst="roundRect">
            <a:avLst>
              <a:gd name="adj" fmla="val 35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1572768"/>
            <a:ext cx="5440680" cy="420624"/>
          </a:xfrm>
          <a:prstGeom prst="roundRect">
            <a:avLst>
              <a:gd name="adj" fmla="val 16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352" y="1572768"/>
            <a:ext cx="64008" cy="42062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1664208"/>
            <a:ext cx="5074920" cy="274320"/>
          </a:xfrm>
          <a:prstGeom prst="rect">
            <a:avLst/>
          </a:prstGeom>
          <a:noFill/>
        </p:spPr>
        <p:txBody>
          <a:bodyPr wrap="square" anchor="t" lIns="0" rIns="0" tIns="0" bIns="0">
            <a:spAutoFit/>
          </a:bodyPr>
          <a:lstStyle/>
          <a:p>
            <a:pPr>
              <a:lnSpc>
                <a:spcPct val="100000"/>
              </a:lnSpc>
            </a:pPr>
            <a:r>
              <a:rPr sz="1150" b="1" i="0" spc="100">
                <a:solidFill>
                  <a:srgbClr val="00FF41"/>
                </a:solidFill>
                <a:latin typeface="Consolas"/>
              </a:rPr>
              <a:t>THE ZODIAC WAY</a:t>
            </a:r>
          </a:p>
        </p:txBody>
      </p:sp>
      <p:sp>
        <p:nvSpPr>
          <p:cNvPr id="33" name="TextBox 32"/>
          <p:cNvSpPr txBox="1"/>
          <p:nvPr/>
        </p:nvSpPr>
        <p:spPr>
          <a:xfrm>
            <a:off x="6519672" y="2249424"/>
            <a:ext cx="4892040" cy="3474720"/>
          </a:xfrm>
          <a:prstGeom prst="rect">
            <a:avLst/>
          </a:prstGeom>
          <a:noFill/>
        </p:spPr>
        <p:txBody>
          <a:bodyPr wrap="square" anchor="t" lIns="0" rIns="0" tIns="0" bIns="0">
            <a:spAutoFit/>
          </a:bodyPr>
          <a:lstStyle/>
          <a:p>
            <a:pPr marL="219456" indent="-219456">
              <a:lnSpc>
                <a:spcPct val="108000"/>
              </a:lnSpc>
              <a:spcAft>
                <a:spcPts val="1300"/>
              </a:spcAft>
            </a:pPr>
            <a:r>
              <a:rPr sz="1300" b="1" i="0">
                <a:solidFill>
                  <a:srgbClr val="00FF41"/>
                </a:solidFill>
                <a:latin typeface="Consolas"/>
              </a:rPr>
              <a:t>▸  </a:t>
            </a:r>
            <a:r>
              <a:rPr sz="1300" b="1" i="0">
                <a:solidFill>
                  <a:srgbClr val="E6F1FF"/>
                </a:solidFill>
                <a:latin typeface="Arial"/>
              </a:rPr>
              <a:t>Ask in plain English</a:t>
            </a:r>
            <a:r>
              <a:rPr sz="1300" b="0" i="0">
                <a:solidFill>
                  <a:srgbClr val="E6F1FF"/>
                </a:solidFill>
                <a:latin typeface="Arial"/>
              </a:rPr>
              <a:t> — get the exact SQL, executed live</a:t>
            </a:r>
          </a:p>
          <a:p>
            <a:pPr marL="219456" indent="-219456">
              <a:lnSpc>
                <a:spcPct val="108000"/>
              </a:lnSpc>
              <a:spcAft>
                <a:spcPts val="1300"/>
              </a:spcAft>
            </a:pPr>
            <a:r>
              <a:rPr sz="1300" b="1" i="0">
                <a:solidFill>
                  <a:srgbClr val="00FF41"/>
                </a:solidFill>
                <a:latin typeface="Consolas"/>
              </a:rPr>
              <a:t>▸  </a:t>
            </a:r>
            <a:r>
              <a:rPr sz="1300" b="1" i="0">
                <a:solidFill>
                  <a:srgbClr val="E6F1FF"/>
                </a:solidFill>
                <a:latin typeface="Arial"/>
              </a:rPr>
              <a:t>Visual answers</a:t>
            </a:r>
            <a:r>
              <a:rPr sz="1300" b="0" i="0">
                <a:solidFill>
                  <a:srgbClr val="E6F1FF"/>
                </a:solidFill>
                <a:latin typeface="Arial"/>
              </a:rPr>
              <a:t> — interactive Plotly charts + live Mermaid diagrams</a:t>
            </a:r>
          </a:p>
          <a:p>
            <a:pPr marL="219456" indent="-219456">
              <a:lnSpc>
                <a:spcPct val="108000"/>
              </a:lnSpc>
              <a:spcAft>
                <a:spcPts val="1300"/>
              </a:spcAft>
            </a:pPr>
            <a:r>
              <a:rPr sz="1300" b="1" i="0">
                <a:solidFill>
                  <a:srgbClr val="00FF41"/>
                </a:solidFill>
                <a:latin typeface="Consolas"/>
              </a:rPr>
              <a:t>▸  </a:t>
            </a:r>
            <a:r>
              <a:rPr sz="1300" b="1" i="0">
                <a:solidFill>
                  <a:srgbClr val="E6F1FF"/>
                </a:solidFill>
                <a:latin typeface="Arial"/>
              </a:rPr>
              <a:t>Grounded numbers</a:t>
            </a:r>
            <a:r>
              <a:rPr sz="1300" b="0" i="0">
                <a:solidFill>
                  <a:srgbClr val="E6F1FF"/>
                </a:solidFill>
                <a:latin typeface="Arial"/>
              </a:rPr>
              <a:t> — every figure computed from real result sets</a:t>
            </a:r>
          </a:p>
          <a:p>
            <a:pPr marL="219456" indent="-219456">
              <a:lnSpc>
                <a:spcPct val="108000"/>
              </a:lnSpc>
              <a:spcAft>
                <a:spcPts val="1300"/>
              </a:spcAft>
            </a:pPr>
            <a:r>
              <a:rPr sz="1300" b="1" i="0">
                <a:solidFill>
                  <a:srgbClr val="00FF41"/>
                </a:solidFill>
                <a:latin typeface="Consolas"/>
              </a:rPr>
              <a:t>▸  </a:t>
            </a:r>
            <a:r>
              <a:rPr sz="1300" b="1" i="0">
                <a:solidFill>
                  <a:srgbClr val="E6F1FF"/>
                </a:solidFill>
                <a:latin typeface="Arial"/>
              </a:rPr>
              <a:t>Zero-latency analytics</a:t>
            </a:r>
            <a:r>
              <a:rPr sz="1300" b="0" i="0">
                <a:solidFill>
                  <a:srgbClr val="E6F1FF"/>
                </a:solidFill>
                <a:latin typeface="Arial"/>
              </a:rPr>
              <a:t> — answers at the speed of conversation</a:t>
            </a:r>
          </a:p>
        </p:txBody>
      </p:sp>
      <p:sp>
        <p:nvSpPr>
          <p:cNvPr id="34" name="Rectangle 33"/>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EXECUTIVE VISION</a:t>
            </a:r>
          </a:p>
        </p:txBody>
      </p:sp>
      <p:sp>
        <p:nvSpPr>
          <p:cNvPr id="42" name="TextBox 41"/>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02</a:t>
            </a:r>
            <a:r>
              <a:rPr sz="800" b="0" i="0">
                <a:solidFill>
                  <a:srgbClr val="56637A"/>
                </a:solidFill>
                <a:latin typeface="Consolas"/>
              </a:rPr>
              <a:t>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03 · TECH STACK</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E6F1FF"/>
                </a:solidFill>
                <a:latin typeface="Arial"/>
              </a:rPr>
              <a:t>The Stack — </a:t>
            </a:r>
            <a:r>
              <a:rPr sz="3000" b="1" i="0">
                <a:solidFill>
                  <a:srgbClr val="00D4FF"/>
                </a:solidFill>
                <a:latin typeface="Arial"/>
              </a:rPr>
              <a:t>Engineered for Speed, Built to Swap</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600200"/>
            <a:ext cx="11185855" cy="932688"/>
          </a:xfrm>
          <a:prstGeom prst="roundRect">
            <a:avLst>
              <a:gd name="adj" fmla="val 12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1600200"/>
            <a:ext cx="2148840" cy="932688"/>
          </a:xfrm>
          <a:prstGeom prst="roundRect">
            <a:avLst>
              <a:gd name="adj" fmla="val 12000"/>
            </a:avLst>
          </a:prstGeom>
          <a:solidFill>
            <a:srgbClr val="0D2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615184" y="1600200"/>
            <a:ext cx="27432" cy="93268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1600200"/>
            <a:ext cx="2148840" cy="932688"/>
          </a:xfrm>
          <a:prstGeom prst="rect">
            <a:avLst/>
          </a:prstGeom>
          <a:noFill/>
        </p:spPr>
        <p:txBody>
          <a:bodyPr wrap="square" anchor="ctr" lIns="0" rIns="0" tIns="0" bIns="0">
            <a:spAutoFit/>
          </a:bodyPr>
          <a:lstStyle/>
          <a:p>
            <a:pPr algn="ctr">
              <a:lnSpc>
                <a:spcPct val="100000"/>
              </a:lnSpc>
            </a:pPr>
            <a:r>
              <a:rPr sz="1500" b="1" i="0" spc="120">
                <a:solidFill>
                  <a:srgbClr val="00FF41"/>
                </a:solidFill>
                <a:latin typeface="Consolas"/>
              </a:rPr>
              <a:t>FRONTEND</a:t>
            </a:r>
          </a:p>
        </p:txBody>
      </p:sp>
      <p:sp>
        <p:nvSpPr>
          <p:cNvPr id="28" name="TextBox 27"/>
          <p:cNvSpPr txBox="1"/>
          <p:nvPr/>
        </p:nvSpPr>
        <p:spPr>
          <a:xfrm>
            <a:off x="2880360" y="1728216"/>
            <a:ext cx="6675120" cy="365760"/>
          </a:xfrm>
          <a:prstGeom prst="rect">
            <a:avLst/>
          </a:prstGeom>
          <a:noFill/>
        </p:spPr>
        <p:txBody>
          <a:bodyPr wrap="square" anchor="t" lIns="0" rIns="0" tIns="0" bIns="0">
            <a:spAutoFit/>
          </a:bodyPr>
          <a:lstStyle/>
          <a:p>
            <a:pPr>
              <a:lnSpc>
                <a:spcPct val="100000"/>
              </a:lnSpc>
            </a:pPr>
            <a:r>
              <a:rPr sz="1500" b="1" i="0">
                <a:solidFill>
                  <a:srgbClr val="E6F1FF"/>
                </a:solidFill>
                <a:latin typeface="Arial"/>
              </a:rPr>
              <a:t>React + TanStack Query</a:t>
            </a:r>
          </a:p>
        </p:txBody>
      </p:sp>
      <p:sp>
        <p:nvSpPr>
          <p:cNvPr id="29" name="TextBox 28"/>
          <p:cNvSpPr txBox="1"/>
          <p:nvPr/>
        </p:nvSpPr>
        <p:spPr>
          <a:xfrm>
            <a:off x="2880360" y="2075688"/>
            <a:ext cx="7498079" cy="365760"/>
          </a:xfrm>
          <a:prstGeom prst="rect">
            <a:avLst/>
          </a:prstGeom>
          <a:noFill/>
        </p:spPr>
        <p:txBody>
          <a:bodyPr wrap="square" anchor="t" lIns="0" rIns="0" tIns="0" bIns="0">
            <a:spAutoFit/>
          </a:bodyPr>
          <a:lstStyle/>
          <a:p>
            <a:pPr>
              <a:lnSpc>
                <a:spcPct val="100000"/>
              </a:lnSpc>
            </a:pPr>
            <a:r>
              <a:rPr sz="1050" b="0" i="0">
                <a:solidFill>
                  <a:srgbClr val="8B9BB4"/>
                </a:solidFill>
                <a:latin typeface="Arial"/>
              </a:rPr>
              <a:t>Declarative UI · async server-state · smart caching &amp; live refetching</a:t>
            </a:r>
          </a:p>
        </p:txBody>
      </p:sp>
      <p:sp>
        <p:nvSpPr>
          <p:cNvPr id="30" name="TextBox 29"/>
          <p:cNvSpPr txBox="1"/>
          <p:nvPr/>
        </p:nvSpPr>
        <p:spPr>
          <a:xfrm>
            <a:off x="10058400" y="1600200"/>
            <a:ext cx="1737360" cy="932688"/>
          </a:xfrm>
          <a:prstGeom prst="rect">
            <a:avLst/>
          </a:prstGeom>
          <a:noFill/>
        </p:spPr>
        <p:txBody>
          <a:bodyPr wrap="square" anchor="ctr" lIns="0" rIns="0" tIns="0" bIns="0">
            <a:spAutoFit/>
          </a:bodyPr>
          <a:lstStyle/>
          <a:p>
            <a:pPr algn="r">
              <a:lnSpc>
                <a:spcPct val="100000"/>
              </a:lnSpc>
            </a:pPr>
            <a:r>
              <a:rPr sz="850" b="0" i="0">
                <a:solidFill>
                  <a:srgbClr val="00FF41"/>
                </a:solidFill>
                <a:latin typeface="Consolas"/>
              </a:rPr>
              <a:t>async · cached · live</a:t>
            </a:r>
          </a:p>
        </p:txBody>
      </p:sp>
      <p:sp>
        <p:nvSpPr>
          <p:cNvPr id="31" name="Rounded Rectangle 30"/>
          <p:cNvSpPr/>
          <p:nvPr/>
        </p:nvSpPr>
        <p:spPr>
          <a:xfrm>
            <a:off x="502920" y="2670048"/>
            <a:ext cx="11185855" cy="932688"/>
          </a:xfrm>
          <a:prstGeom prst="roundRect">
            <a:avLst>
              <a:gd name="adj" fmla="val 12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2920" y="2670048"/>
            <a:ext cx="2148840" cy="932688"/>
          </a:xfrm>
          <a:prstGeom prst="roundRect">
            <a:avLst>
              <a:gd name="adj" fmla="val 12000"/>
            </a:avLst>
          </a:prstGeom>
          <a:solidFill>
            <a:srgbClr val="0A2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2670048"/>
            <a:ext cx="27432" cy="9326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2670048"/>
            <a:ext cx="2148840" cy="932688"/>
          </a:xfrm>
          <a:prstGeom prst="rect">
            <a:avLst/>
          </a:prstGeom>
          <a:noFill/>
        </p:spPr>
        <p:txBody>
          <a:bodyPr wrap="square" anchor="ctr" lIns="0" rIns="0" tIns="0" bIns="0">
            <a:spAutoFit/>
          </a:bodyPr>
          <a:lstStyle/>
          <a:p>
            <a:pPr algn="ctr">
              <a:lnSpc>
                <a:spcPct val="100000"/>
              </a:lnSpc>
            </a:pPr>
            <a:r>
              <a:rPr sz="1500" b="1" i="0" spc="120">
                <a:solidFill>
                  <a:srgbClr val="00D4FF"/>
                </a:solidFill>
                <a:latin typeface="Consolas"/>
              </a:rPr>
              <a:t>BACKEND</a:t>
            </a:r>
          </a:p>
        </p:txBody>
      </p:sp>
      <p:sp>
        <p:nvSpPr>
          <p:cNvPr id="35" name="TextBox 34"/>
          <p:cNvSpPr txBox="1"/>
          <p:nvPr/>
        </p:nvSpPr>
        <p:spPr>
          <a:xfrm>
            <a:off x="2880360" y="2798064"/>
            <a:ext cx="6675120" cy="365760"/>
          </a:xfrm>
          <a:prstGeom prst="rect">
            <a:avLst/>
          </a:prstGeom>
          <a:noFill/>
        </p:spPr>
        <p:txBody>
          <a:bodyPr wrap="square" anchor="t" lIns="0" rIns="0" tIns="0" bIns="0">
            <a:spAutoFit/>
          </a:bodyPr>
          <a:lstStyle/>
          <a:p>
            <a:pPr>
              <a:lnSpc>
                <a:spcPct val="100000"/>
              </a:lnSpc>
            </a:pPr>
            <a:r>
              <a:rPr sz="1500" b="1" i="0">
                <a:solidFill>
                  <a:srgbClr val="E6F1FF"/>
                </a:solidFill>
                <a:latin typeface="Arial"/>
              </a:rPr>
              <a:t>FastAPI (Python)</a:t>
            </a:r>
          </a:p>
        </p:txBody>
      </p:sp>
      <p:sp>
        <p:nvSpPr>
          <p:cNvPr id="36" name="TextBox 35"/>
          <p:cNvSpPr txBox="1"/>
          <p:nvPr/>
        </p:nvSpPr>
        <p:spPr>
          <a:xfrm>
            <a:off x="2880360" y="3145536"/>
            <a:ext cx="7498079" cy="365760"/>
          </a:xfrm>
          <a:prstGeom prst="rect">
            <a:avLst/>
          </a:prstGeom>
          <a:noFill/>
        </p:spPr>
        <p:txBody>
          <a:bodyPr wrap="square" anchor="t" lIns="0" rIns="0" tIns="0" bIns="0">
            <a:spAutoFit/>
          </a:bodyPr>
          <a:lstStyle/>
          <a:p>
            <a:pPr>
              <a:lnSpc>
                <a:spcPct val="100000"/>
              </a:lnSpc>
            </a:pPr>
            <a:r>
              <a:rPr sz="1050" b="0" i="0">
                <a:solidFill>
                  <a:srgbClr val="8B9BB4"/>
                </a:solidFill>
                <a:latin typeface="Arial"/>
              </a:rPr>
              <a:t>Async endpoints · Pydantic-validated payloads · native streaming</a:t>
            </a:r>
          </a:p>
        </p:txBody>
      </p:sp>
      <p:sp>
        <p:nvSpPr>
          <p:cNvPr id="37" name="TextBox 36"/>
          <p:cNvSpPr txBox="1"/>
          <p:nvPr/>
        </p:nvSpPr>
        <p:spPr>
          <a:xfrm>
            <a:off x="10058400" y="2670048"/>
            <a:ext cx="1737360" cy="932688"/>
          </a:xfrm>
          <a:prstGeom prst="rect">
            <a:avLst/>
          </a:prstGeom>
          <a:noFill/>
        </p:spPr>
        <p:txBody>
          <a:bodyPr wrap="square" anchor="ctr" lIns="0" rIns="0" tIns="0" bIns="0">
            <a:spAutoFit/>
          </a:bodyPr>
          <a:lstStyle/>
          <a:p>
            <a:pPr algn="r">
              <a:lnSpc>
                <a:spcPct val="100000"/>
              </a:lnSpc>
            </a:pPr>
            <a:r>
              <a:rPr sz="850" b="0" i="0">
                <a:solidFill>
                  <a:srgbClr val="00D4FF"/>
                </a:solidFill>
                <a:latin typeface="Consolas"/>
              </a:rPr>
              <a:t>fast · typed · streams</a:t>
            </a:r>
          </a:p>
        </p:txBody>
      </p:sp>
      <p:sp>
        <p:nvSpPr>
          <p:cNvPr id="38" name="Rounded Rectangle 37"/>
          <p:cNvSpPr/>
          <p:nvPr/>
        </p:nvSpPr>
        <p:spPr>
          <a:xfrm>
            <a:off x="502920" y="3739896"/>
            <a:ext cx="11185855" cy="932688"/>
          </a:xfrm>
          <a:prstGeom prst="roundRect">
            <a:avLst>
              <a:gd name="adj" fmla="val 12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02920" y="3739896"/>
            <a:ext cx="2148840" cy="932688"/>
          </a:xfrm>
          <a:prstGeom prst="roundRect">
            <a:avLst>
              <a:gd name="adj" fmla="val 12000"/>
            </a:avLst>
          </a:prstGeom>
          <a:solidFill>
            <a:srgbClr val="0D2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615184" y="3739896"/>
            <a:ext cx="27432" cy="93268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3739896"/>
            <a:ext cx="2148840" cy="932688"/>
          </a:xfrm>
          <a:prstGeom prst="rect">
            <a:avLst/>
          </a:prstGeom>
          <a:noFill/>
        </p:spPr>
        <p:txBody>
          <a:bodyPr wrap="square" anchor="ctr" lIns="0" rIns="0" tIns="0" bIns="0">
            <a:spAutoFit/>
          </a:bodyPr>
          <a:lstStyle/>
          <a:p>
            <a:pPr algn="ctr">
              <a:lnSpc>
                <a:spcPct val="100000"/>
              </a:lnSpc>
            </a:pPr>
            <a:r>
              <a:rPr sz="1500" b="1" i="0" spc="120">
                <a:solidFill>
                  <a:srgbClr val="00FF41"/>
                </a:solidFill>
                <a:latin typeface="Consolas"/>
              </a:rPr>
              <a:t>AI LAYER</a:t>
            </a:r>
          </a:p>
        </p:txBody>
      </p:sp>
      <p:sp>
        <p:nvSpPr>
          <p:cNvPr id="42" name="TextBox 41"/>
          <p:cNvSpPr txBox="1"/>
          <p:nvPr/>
        </p:nvSpPr>
        <p:spPr>
          <a:xfrm>
            <a:off x="2880360" y="3867911"/>
            <a:ext cx="6675120" cy="365760"/>
          </a:xfrm>
          <a:prstGeom prst="rect">
            <a:avLst/>
          </a:prstGeom>
          <a:noFill/>
        </p:spPr>
        <p:txBody>
          <a:bodyPr wrap="square" anchor="t" lIns="0" rIns="0" tIns="0" bIns="0">
            <a:spAutoFit/>
          </a:bodyPr>
          <a:lstStyle/>
          <a:p>
            <a:pPr>
              <a:lnSpc>
                <a:spcPct val="100000"/>
              </a:lnSpc>
            </a:pPr>
            <a:r>
              <a:rPr sz="1500" b="1" i="0">
                <a:solidFill>
                  <a:srgbClr val="E6F1FF"/>
                </a:solidFill>
                <a:latin typeface="Arial"/>
              </a:rPr>
              <a:t>Groq + Gemini</a:t>
            </a:r>
          </a:p>
        </p:txBody>
      </p:sp>
      <p:sp>
        <p:nvSpPr>
          <p:cNvPr id="43" name="TextBox 42"/>
          <p:cNvSpPr txBox="1"/>
          <p:nvPr/>
        </p:nvSpPr>
        <p:spPr>
          <a:xfrm>
            <a:off x="2880360" y="4215383"/>
            <a:ext cx="7498079" cy="365760"/>
          </a:xfrm>
          <a:prstGeom prst="rect">
            <a:avLst/>
          </a:prstGeom>
          <a:noFill/>
        </p:spPr>
        <p:txBody>
          <a:bodyPr wrap="square" anchor="t" lIns="0" rIns="0" tIns="0" bIns="0">
            <a:spAutoFit/>
          </a:bodyPr>
          <a:lstStyle/>
          <a:p>
            <a:pPr>
              <a:lnSpc>
                <a:spcPct val="100000"/>
              </a:lnSpc>
            </a:pPr>
            <a:r>
              <a:rPr sz="1050" b="0" i="0">
                <a:solidFill>
                  <a:srgbClr val="8B9BB4"/>
                </a:solidFill>
                <a:latin typeface="Arial"/>
              </a:rPr>
              <a:t>Dual LLM providers behind a single router interface</a:t>
            </a:r>
          </a:p>
        </p:txBody>
      </p:sp>
      <p:sp>
        <p:nvSpPr>
          <p:cNvPr id="44" name="TextBox 43"/>
          <p:cNvSpPr txBox="1"/>
          <p:nvPr/>
        </p:nvSpPr>
        <p:spPr>
          <a:xfrm>
            <a:off x="10058400" y="3739896"/>
            <a:ext cx="1737360" cy="932688"/>
          </a:xfrm>
          <a:prstGeom prst="rect">
            <a:avLst/>
          </a:prstGeom>
          <a:noFill/>
        </p:spPr>
        <p:txBody>
          <a:bodyPr wrap="square" anchor="ctr" lIns="0" rIns="0" tIns="0" bIns="0">
            <a:spAutoFit/>
          </a:bodyPr>
          <a:lstStyle/>
          <a:p>
            <a:pPr algn="r">
              <a:lnSpc>
                <a:spcPct val="100000"/>
              </a:lnSpc>
            </a:pPr>
            <a:r>
              <a:rPr sz="850" b="0" i="0">
                <a:solidFill>
                  <a:srgbClr val="00FF41"/>
                </a:solidFill>
                <a:latin typeface="Consolas"/>
              </a:rPr>
              <a:t>fallback-ready</a:t>
            </a:r>
          </a:p>
        </p:txBody>
      </p:sp>
      <p:sp>
        <p:nvSpPr>
          <p:cNvPr id="45" name="Rounded Rectangle 44"/>
          <p:cNvSpPr/>
          <p:nvPr/>
        </p:nvSpPr>
        <p:spPr>
          <a:xfrm>
            <a:off x="502920" y="4809744"/>
            <a:ext cx="11185855" cy="932688"/>
          </a:xfrm>
          <a:prstGeom prst="roundRect">
            <a:avLst>
              <a:gd name="adj" fmla="val 12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502920" y="4809744"/>
            <a:ext cx="2148840" cy="932688"/>
          </a:xfrm>
          <a:prstGeom prst="roundRect">
            <a:avLst>
              <a:gd name="adj" fmla="val 12000"/>
            </a:avLst>
          </a:prstGeom>
          <a:solidFill>
            <a:srgbClr val="0A2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15184" y="4809744"/>
            <a:ext cx="27432" cy="9326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2920" y="4809744"/>
            <a:ext cx="2148840" cy="932688"/>
          </a:xfrm>
          <a:prstGeom prst="rect">
            <a:avLst/>
          </a:prstGeom>
          <a:noFill/>
        </p:spPr>
        <p:txBody>
          <a:bodyPr wrap="square" anchor="ctr" lIns="0" rIns="0" tIns="0" bIns="0">
            <a:spAutoFit/>
          </a:bodyPr>
          <a:lstStyle/>
          <a:p>
            <a:pPr algn="ctr">
              <a:lnSpc>
                <a:spcPct val="100000"/>
              </a:lnSpc>
            </a:pPr>
            <a:r>
              <a:rPr sz="1500" b="1" i="0" spc="120">
                <a:solidFill>
                  <a:srgbClr val="00D4FF"/>
                </a:solidFill>
                <a:latin typeface="Consolas"/>
              </a:rPr>
              <a:t>DATA</a:t>
            </a:r>
          </a:p>
        </p:txBody>
      </p:sp>
      <p:sp>
        <p:nvSpPr>
          <p:cNvPr id="49" name="TextBox 48"/>
          <p:cNvSpPr txBox="1"/>
          <p:nvPr/>
        </p:nvSpPr>
        <p:spPr>
          <a:xfrm>
            <a:off x="2880360" y="4937759"/>
            <a:ext cx="6675120" cy="365760"/>
          </a:xfrm>
          <a:prstGeom prst="rect">
            <a:avLst/>
          </a:prstGeom>
          <a:noFill/>
        </p:spPr>
        <p:txBody>
          <a:bodyPr wrap="square" anchor="t" lIns="0" rIns="0" tIns="0" bIns="0">
            <a:spAutoFit/>
          </a:bodyPr>
          <a:lstStyle/>
          <a:p>
            <a:pPr>
              <a:lnSpc>
                <a:spcPct val="100000"/>
              </a:lnSpc>
            </a:pPr>
            <a:r>
              <a:rPr sz="1500" b="1" i="0">
                <a:solidFill>
                  <a:srgbClr val="E6F1FF"/>
                </a:solidFill>
                <a:latin typeface="Arial"/>
              </a:rPr>
              <a:t>SQLite</a:t>
            </a:r>
          </a:p>
        </p:txBody>
      </p:sp>
      <p:sp>
        <p:nvSpPr>
          <p:cNvPr id="50" name="TextBox 49"/>
          <p:cNvSpPr txBox="1"/>
          <p:nvPr/>
        </p:nvSpPr>
        <p:spPr>
          <a:xfrm>
            <a:off x="2880360" y="5285231"/>
            <a:ext cx="7498079" cy="365760"/>
          </a:xfrm>
          <a:prstGeom prst="rect">
            <a:avLst/>
          </a:prstGeom>
          <a:noFill/>
        </p:spPr>
        <p:txBody>
          <a:bodyPr wrap="square" anchor="t" lIns="0" rIns="0" tIns="0" bIns="0">
            <a:spAutoFit/>
          </a:bodyPr>
          <a:lstStyle/>
          <a:p>
            <a:pPr>
              <a:lnSpc>
                <a:spcPct val="100000"/>
              </a:lnSpc>
            </a:pPr>
            <a:r>
              <a:rPr sz="1050" b="0" i="0">
                <a:solidFill>
                  <a:srgbClr val="8B9BB4"/>
                </a:solidFill>
                <a:latin typeface="Arial"/>
              </a:rPr>
              <a:t>Zero-config · file-based · instantly portable — swappable for Postgres / MySQL</a:t>
            </a:r>
          </a:p>
        </p:txBody>
      </p:sp>
      <p:sp>
        <p:nvSpPr>
          <p:cNvPr id="51" name="TextBox 50"/>
          <p:cNvSpPr txBox="1"/>
          <p:nvPr/>
        </p:nvSpPr>
        <p:spPr>
          <a:xfrm>
            <a:off x="10058400" y="4809744"/>
            <a:ext cx="1737360" cy="932688"/>
          </a:xfrm>
          <a:prstGeom prst="rect">
            <a:avLst/>
          </a:prstGeom>
          <a:noFill/>
        </p:spPr>
        <p:txBody>
          <a:bodyPr wrap="square" anchor="ctr" lIns="0" rIns="0" tIns="0" bIns="0">
            <a:spAutoFit/>
          </a:bodyPr>
          <a:lstStyle/>
          <a:p>
            <a:pPr algn="r">
              <a:lnSpc>
                <a:spcPct val="100000"/>
              </a:lnSpc>
            </a:pPr>
            <a:r>
              <a:rPr sz="850" b="0" i="0">
                <a:solidFill>
                  <a:srgbClr val="00D4FF"/>
                </a:solidFill>
                <a:latin typeface="Consolas"/>
              </a:rPr>
              <a:t>ships in the repo</a:t>
            </a:r>
          </a:p>
        </p:txBody>
      </p:sp>
      <p:sp>
        <p:nvSpPr>
          <p:cNvPr id="52" name="Rounded Rectangle 51"/>
          <p:cNvSpPr/>
          <p:nvPr/>
        </p:nvSpPr>
        <p:spPr>
          <a:xfrm>
            <a:off x="502920" y="5943600"/>
            <a:ext cx="11185855" cy="420624"/>
          </a:xfrm>
          <a:prstGeom prst="roundRect">
            <a:avLst>
              <a:gd name="adj" fmla="val 50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58368" y="6035040"/>
            <a:ext cx="50292" cy="23774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943600"/>
            <a:ext cx="10362895" cy="420624"/>
          </a:xfrm>
          <a:prstGeom prst="rect">
            <a:avLst/>
          </a:prstGeom>
          <a:noFill/>
        </p:spPr>
        <p:txBody>
          <a:bodyPr wrap="square" anchor="ctr" lIns="0" rIns="0" tIns="0" bIns="0">
            <a:spAutoFit/>
          </a:bodyPr>
          <a:lstStyle/>
          <a:p>
            <a:pPr>
              <a:lnSpc>
                <a:spcPct val="100000"/>
              </a:lnSpc>
            </a:pPr>
            <a:r>
              <a:rPr sz="1050" b="1" i="0" spc="60">
                <a:solidFill>
                  <a:srgbClr val="00D4FF"/>
                </a:solidFill>
                <a:latin typeface="Consolas"/>
              </a:rPr>
              <a:t>DESIGN PRINCIPLE — every layer is modular: swap any component without rewriting the agent</a:t>
            </a:r>
          </a:p>
        </p:txBody>
      </p:sp>
      <p:sp>
        <p:nvSpPr>
          <p:cNvPr id="55" name="Rectangle 54"/>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TECH STACK</a:t>
            </a:r>
          </a:p>
        </p:txBody>
      </p:sp>
      <p:sp>
        <p:nvSpPr>
          <p:cNvPr id="63" name="TextBox 62"/>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03</a:t>
            </a:r>
            <a:r>
              <a:rPr sz="800" b="0" i="0">
                <a:solidFill>
                  <a:srgbClr val="56637A"/>
                </a:solidFill>
                <a:latin typeface="Consolas"/>
              </a:rPr>
              <a:t>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04 · MULTI-PROVIDER AI ARCHITECTURE</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E6F1FF"/>
                </a:solidFill>
                <a:latin typeface="Arial"/>
              </a:rPr>
              <a:t>Two Brains, One Loop — </a:t>
            </a:r>
            <a:r>
              <a:rPr sz="3000" b="1" i="0">
                <a:solidFill>
                  <a:srgbClr val="00D4FF"/>
                </a:solidFill>
                <a:latin typeface="Arial"/>
              </a:rPr>
              <a:t>Never Offline</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572768"/>
            <a:ext cx="4800600" cy="4224528"/>
          </a:xfrm>
          <a:prstGeom prst="roundRect">
            <a:avLst>
              <a:gd name="adj" fmla="val 35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1572768"/>
            <a:ext cx="4800600" cy="420624"/>
          </a:xfrm>
          <a:prstGeom prst="roundRect">
            <a:avLst>
              <a:gd name="adj" fmla="val 16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1572768"/>
            <a:ext cx="64008" cy="42062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1664208"/>
            <a:ext cx="4434840" cy="274320"/>
          </a:xfrm>
          <a:prstGeom prst="rect">
            <a:avLst/>
          </a:prstGeom>
          <a:noFill/>
        </p:spPr>
        <p:txBody>
          <a:bodyPr wrap="square" anchor="t" lIns="0" rIns="0" tIns="0" bIns="0">
            <a:spAutoFit/>
          </a:bodyPr>
          <a:lstStyle/>
          <a:p>
            <a:pPr>
              <a:lnSpc>
                <a:spcPct val="100000"/>
              </a:lnSpc>
            </a:pPr>
            <a:r>
              <a:rPr sz="1150" b="1" i="0" spc="100">
                <a:solidFill>
                  <a:srgbClr val="00D4FF"/>
                </a:solidFill>
                <a:latin typeface="Consolas"/>
              </a:rPr>
              <a:t>PROVIDER FALLBACK ROUTER</a:t>
            </a:r>
          </a:p>
        </p:txBody>
      </p:sp>
      <p:sp>
        <p:nvSpPr>
          <p:cNvPr id="28" name="TextBox 27"/>
          <p:cNvSpPr txBox="1"/>
          <p:nvPr/>
        </p:nvSpPr>
        <p:spPr>
          <a:xfrm>
            <a:off x="777240" y="2194560"/>
            <a:ext cx="4251960" cy="2103120"/>
          </a:xfrm>
          <a:prstGeom prst="rect">
            <a:avLst/>
          </a:prstGeom>
          <a:noFill/>
        </p:spPr>
        <p:txBody>
          <a:bodyPr wrap="square" anchor="t" lIns="0" rIns="0" tIns="0" bIns="0">
            <a:spAutoFit/>
          </a:bodyPr>
          <a:lstStyle/>
          <a:p>
            <a:pPr marL="219456" indent="-219456">
              <a:lnSpc>
                <a:spcPct val="108000"/>
              </a:lnSpc>
              <a:spcAft>
                <a:spcPts val="900"/>
              </a:spcAft>
            </a:pPr>
            <a:r>
              <a:rPr sz="1150" b="1" i="0">
                <a:solidFill>
                  <a:srgbClr val="00D4FF"/>
                </a:solidFill>
                <a:latin typeface="Consolas"/>
              </a:rPr>
              <a:t>▸  </a:t>
            </a:r>
            <a:r>
              <a:rPr sz="1150" b="1" i="0">
                <a:solidFill>
                  <a:srgbClr val="E6F1FF"/>
                </a:solidFill>
                <a:latin typeface="Arial"/>
              </a:rPr>
              <a:t>One unified LLM interface</a:t>
            </a:r>
            <a:r>
              <a:rPr sz="1150" b="0" i="0">
                <a:solidFill>
                  <a:srgbClr val="E6F1FF"/>
                </a:solidFill>
                <a:latin typeface="Arial"/>
              </a:rPr>
              <a:t> — provider-agnostic by design</a:t>
            </a:r>
          </a:p>
          <a:p>
            <a:pPr marL="219456" indent="-219456">
              <a:lnSpc>
                <a:spcPct val="108000"/>
              </a:lnSpc>
              <a:spcAft>
                <a:spcPts val="900"/>
              </a:spcAft>
            </a:pPr>
            <a:r>
              <a:rPr sz="1150" b="1" i="0">
                <a:solidFill>
                  <a:srgbClr val="00D4FF"/>
                </a:solidFill>
                <a:latin typeface="Consolas"/>
              </a:rPr>
              <a:t>▸  </a:t>
            </a:r>
            <a:r>
              <a:rPr sz="1150" b="1" i="0">
                <a:solidFill>
                  <a:srgbClr val="E6F1FF"/>
                </a:solidFill>
                <a:latin typeface="Arial"/>
              </a:rPr>
              <a:t>Primary: Groq</a:t>
            </a:r>
            <a:r>
              <a:rPr sz="1150" b="0" i="0">
                <a:solidFill>
                  <a:srgbClr val="E6F1FF"/>
                </a:solidFill>
                <a:latin typeface="Arial"/>
              </a:rPr>
              <a:t> — near-instant Llama-class inference</a:t>
            </a:r>
          </a:p>
          <a:p>
            <a:pPr marL="219456" indent="-219456">
              <a:lnSpc>
                <a:spcPct val="108000"/>
              </a:lnSpc>
              <a:spcAft>
                <a:spcPts val="900"/>
              </a:spcAft>
            </a:pPr>
            <a:r>
              <a:rPr sz="1150" b="1" i="0">
                <a:solidFill>
                  <a:srgbClr val="00D4FF"/>
                </a:solidFill>
                <a:latin typeface="Consolas"/>
              </a:rPr>
              <a:t>▸  </a:t>
            </a:r>
            <a:r>
              <a:rPr sz="1150" b="1" i="0">
                <a:solidFill>
                  <a:srgbClr val="E6F1FF"/>
                </a:solidFill>
                <a:latin typeface="Arial"/>
              </a:rPr>
              <a:t>Auto-failover to Gemini</a:t>
            </a:r>
            <a:r>
              <a:rPr sz="1150" b="0" i="0">
                <a:solidFill>
                  <a:srgbClr val="E6F1FF"/>
                </a:solidFill>
                <a:latin typeface="Arial"/>
              </a:rPr>
              <a:t> — on rate limits, timeouts, outages</a:t>
            </a:r>
          </a:p>
          <a:p>
            <a:pPr marL="219456" indent="-219456">
              <a:lnSpc>
                <a:spcPct val="108000"/>
              </a:lnSpc>
              <a:spcAft>
                <a:spcPts val="900"/>
              </a:spcAft>
            </a:pPr>
            <a:r>
              <a:rPr sz="1150" b="1" i="0">
                <a:solidFill>
                  <a:srgbClr val="00D4FF"/>
                </a:solidFill>
                <a:latin typeface="Consolas"/>
              </a:rPr>
              <a:t>▸  </a:t>
            </a:r>
            <a:r>
              <a:rPr sz="1150" b="1" i="0">
                <a:solidFill>
                  <a:srgbClr val="E6F1FF"/>
                </a:solidFill>
                <a:latin typeface="Arial"/>
              </a:rPr>
              <a:t>Zero single points of AI failure</a:t>
            </a:r>
            <a:r>
              <a:rPr sz="1150" b="0" i="0">
                <a:solidFill>
                  <a:srgbClr val="E6F1FF"/>
                </a:solidFill>
                <a:latin typeface="Arial"/>
              </a:rPr>
              <a:t> — run with one key or both</a:t>
            </a:r>
          </a:p>
        </p:txBody>
      </p:sp>
      <p:sp>
        <p:nvSpPr>
          <p:cNvPr id="29" name="Rounded Rectangle 28"/>
          <p:cNvSpPr/>
          <p:nvPr/>
        </p:nvSpPr>
        <p:spPr>
          <a:xfrm>
            <a:off x="777240" y="4507992"/>
            <a:ext cx="4251960" cy="1234440"/>
          </a:xfrm>
          <a:prstGeom prst="roundRect">
            <a:avLst>
              <a:gd name="adj" fmla="val 10000"/>
            </a:avLst>
          </a:prstGeom>
          <a:solidFill>
            <a:srgbClr val="0A0E14"/>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51560" y="4690872"/>
            <a:ext cx="3703320" cy="402336"/>
          </a:xfrm>
          <a:prstGeom prst="roundRect">
            <a:avLst>
              <a:gd name="adj" fmla="val 50000"/>
            </a:avLst>
          </a:prstGeom>
          <a:solidFill>
            <a:srgbClr val="0D2A18"/>
          </a:solidFill>
          <a:ln w="1524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 y="4690872"/>
            <a:ext cx="3703320" cy="402336"/>
          </a:xfrm>
          <a:prstGeom prst="rect">
            <a:avLst/>
          </a:prstGeom>
          <a:noFill/>
        </p:spPr>
        <p:txBody>
          <a:bodyPr wrap="square" anchor="ctr" lIns="0" rIns="0" tIns="0" bIns="0">
            <a:spAutoFit/>
          </a:bodyPr>
          <a:lstStyle/>
          <a:p>
            <a:pPr algn="ctr">
              <a:lnSpc>
                <a:spcPct val="100000"/>
              </a:lnSpc>
            </a:pPr>
            <a:r>
              <a:rPr sz="1100" b="1" i="0">
                <a:solidFill>
                  <a:srgbClr val="00FF41"/>
                </a:solidFill>
                <a:latin typeface="Consolas"/>
              </a:rPr>
              <a:t>GROQ  //  PRIMARY</a:t>
            </a:r>
          </a:p>
        </p:txBody>
      </p:sp>
      <p:sp>
        <p:nvSpPr>
          <p:cNvPr id="32" name="TextBox 31"/>
          <p:cNvSpPr txBox="1"/>
          <p:nvPr/>
        </p:nvSpPr>
        <p:spPr>
          <a:xfrm>
            <a:off x="1051560" y="5138928"/>
            <a:ext cx="3703320" cy="237744"/>
          </a:xfrm>
          <a:prstGeom prst="rect">
            <a:avLst/>
          </a:prstGeom>
          <a:noFill/>
        </p:spPr>
        <p:txBody>
          <a:bodyPr wrap="square" anchor="t" lIns="0" rIns="0" tIns="0" bIns="0">
            <a:spAutoFit/>
          </a:bodyPr>
          <a:lstStyle/>
          <a:p>
            <a:pPr algn="ctr">
              <a:lnSpc>
                <a:spcPct val="100000"/>
              </a:lnSpc>
            </a:pPr>
            <a:r>
              <a:rPr sz="900" b="0" i="0">
                <a:solidFill>
                  <a:srgbClr val="56637A"/>
                </a:solidFill>
                <a:latin typeface="Consolas"/>
              </a:rPr>
              <a:t>▼  auto-failover · seamless reroute</a:t>
            </a:r>
          </a:p>
        </p:txBody>
      </p:sp>
      <p:sp>
        <p:nvSpPr>
          <p:cNvPr id="33" name="Rounded Rectangle 32"/>
          <p:cNvSpPr/>
          <p:nvPr/>
        </p:nvSpPr>
        <p:spPr>
          <a:xfrm>
            <a:off x="1051560" y="5394960"/>
            <a:ext cx="3703320" cy="402336"/>
          </a:xfrm>
          <a:prstGeom prst="roundRect">
            <a:avLst>
              <a:gd name="adj" fmla="val 50000"/>
            </a:avLst>
          </a:prstGeom>
          <a:solidFill>
            <a:srgbClr val="0A2431"/>
          </a:solidFill>
          <a:ln w="1524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394960"/>
            <a:ext cx="3703320" cy="402336"/>
          </a:xfrm>
          <a:prstGeom prst="rect">
            <a:avLst/>
          </a:prstGeom>
          <a:noFill/>
        </p:spPr>
        <p:txBody>
          <a:bodyPr wrap="square" anchor="ctr" lIns="0" rIns="0" tIns="0" bIns="0">
            <a:spAutoFit/>
          </a:bodyPr>
          <a:lstStyle/>
          <a:p>
            <a:pPr algn="ctr">
              <a:lnSpc>
                <a:spcPct val="100000"/>
              </a:lnSpc>
            </a:pPr>
            <a:r>
              <a:rPr sz="1100" b="1" i="0">
                <a:solidFill>
                  <a:srgbClr val="00D4FF"/>
                </a:solidFill>
                <a:latin typeface="Consolas"/>
              </a:rPr>
              <a:t>GEMINI  //  FALLBACK</a:t>
            </a:r>
          </a:p>
        </p:txBody>
      </p:sp>
      <p:sp>
        <p:nvSpPr>
          <p:cNvPr id="35" name="Rounded Rectangle 34"/>
          <p:cNvSpPr/>
          <p:nvPr/>
        </p:nvSpPr>
        <p:spPr>
          <a:xfrm>
            <a:off x="5532120" y="1572768"/>
            <a:ext cx="6153912" cy="4224528"/>
          </a:xfrm>
          <a:prstGeom prst="roundRect">
            <a:avLst>
              <a:gd name="adj" fmla="val 35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532120" y="1572768"/>
            <a:ext cx="6153912" cy="420624"/>
          </a:xfrm>
          <a:prstGeom prst="roundRect">
            <a:avLst>
              <a:gd name="adj" fmla="val 16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32120" y="1572768"/>
            <a:ext cx="64008" cy="42062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3288" y="1664208"/>
            <a:ext cx="5788152" cy="274320"/>
          </a:xfrm>
          <a:prstGeom prst="rect">
            <a:avLst/>
          </a:prstGeom>
          <a:noFill/>
        </p:spPr>
        <p:txBody>
          <a:bodyPr wrap="square" anchor="t" lIns="0" rIns="0" tIns="0" bIns="0">
            <a:spAutoFit/>
          </a:bodyPr>
          <a:lstStyle/>
          <a:p>
            <a:pPr>
              <a:lnSpc>
                <a:spcPct val="100000"/>
              </a:lnSpc>
            </a:pPr>
            <a:r>
              <a:rPr sz="1150" b="1" i="0" spc="100">
                <a:solidFill>
                  <a:srgbClr val="00FF41"/>
                </a:solidFill>
                <a:latin typeface="Consolas"/>
              </a:rPr>
              <a:t>THE 8-STEP AGENT LOOP</a:t>
            </a:r>
          </a:p>
        </p:txBody>
      </p:sp>
      <p:sp>
        <p:nvSpPr>
          <p:cNvPr id="39" name="Rounded Rectangle 38"/>
          <p:cNvSpPr/>
          <p:nvPr/>
        </p:nvSpPr>
        <p:spPr>
          <a:xfrm>
            <a:off x="5788152" y="2194560"/>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88152" y="2194560"/>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1</a:t>
            </a:r>
          </a:p>
        </p:txBody>
      </p:sp>
      <p:sp>
        <p:nvSpPr>
          <p:cNvPr id="41" name="TextBox 40"/>
          <p:cNvSpPr txBox="1"/>
          <p:nvPr/>
        </p:nvSpPr>
        <p:spPr>
          <a:xfrm>
            <a:off x="6291072" y="2167128"/>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INGEST</a:t>
            </a:r>
          </a:p>
        </p:txBody>
      </p:sp>
      <p:sp>
        <p:nvSpPr>
          <p:cNvPr id="42" name="TextBox 41"/>
          <p:cNvSpPr txBox="1"/>
          <p:nvPr/>
        </p:nvSpPr>
        <p:spPr>
          <a:xfrm>
            <a:off x="6291072" y="2423160"/>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parse prompt + context</a:t>
            </a:r>
          </a:p>
        </p:txBody>
      </p:sp>
      <p:sp>
        <p:nvSpPr>
          <p:cNvPr id="43" name="Rounded Rectangle 42"/>
          <p:cNvSpPr/>
          <p:nvPr/>
        </p:nvSpPr>
        <p:spPr>
          <a:xfrm>
            <a:off x="5788152" y="3035808"/>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88152" y="3035808"/>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2</a:t>
            </a:r>
          </a:p>
        </p:txBody>
      </p:sp>
      <p:sp>
        <p:nvSpPr>
          <p:cNvPr id="45" name="TextBox 44"/>
          <p:cNvSpPr txBox="1"/>
          <p:nvPr/>
        </p:nvSpPr>
        <p:spPr>
          <a:xfrm>
            <a:off x="6291072" y="3008376"/>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INTROSPECT</a:t>
            </a:r>
          </a:p>
        </p:txBody>
      </p:sp>
      <p:sp>
        <p:nvSpPr>
          <p:cNvPr id="46" name="TextBox 45"/>
          <p:cNvSpPr txBox="1"/>
          <p:nvPr/>
        </p:nvSpPr>
        <p:spPr>
          <a:xfrm>
            <a:off x="6291072" y="3264408"/>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pull live schema</a:t>
            </a:r>
          </a:p>
        </p:txBody>
      </p:sp>
      <p:sp>
        <p:nvSpPr>
          <p:cNvPr id="47" name="Rounded Rectangle 46"/>
          <p:cNvSpPr/>
          <p:nvPr/>
        </p:nvSpPr>
        <p:spPr>
          <a:xfrm>
            <a:off x="5788152" y="3877056"/>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88152" y="3877056"/>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3</a:t>
            </a:r>
          </a:p>
        </p:txBody>
      </p:sp>
      <p:sp>
        <p:nvSpPr>
          <p:cNvPr id="49" name="TextBox 48"/>
          <p:cNvSpPr txBox="1"/>
          <p:nvPr/>
        </p:nvSpPr>
        <p:spPr>
          <a:xfrm>
            <a:off x="6291072" y="3849624"/>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PLAN</a:t>
            </a:r>
          </a:p>
        </p:txBody>
      </p:sp>
      <p:sp>
        <p:nvSpPr>
          <p:cNvPr id="50" name="TextBox 49"/>
          <p:cNvSpPr txBox="1"/>
          <p:nvPr/>
        </p:nvSpPr>
        <p:spPr>
          <a:xfrm>
            <a:off x="6291072" y="4105656"/>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decompose, choose tools</a:t>
            </a:r>
          </a:p>
        </p:txBody>
      </p:sp>
      <p:sp>
        <p:nvSpPr>
          <p:cNvPr id="51" name="Rounded Rectangle 50"/>
          <p:cNvSpPr/>
          <p:nvPr/>
        </p:nvSpPr>
        <p:spPr>
          <a:xfrm>
            <a:off x="5788152" y="4718304"/>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788152" y="4718304"/>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4</a:t>
            </a:r>
          </a:p>
        </p:txBody>
      </p:sp>
      <p:sp>
        <p:nvSpPr>
          <p:cNvPr id="53" name="TextBox 52"/>
          <p:cNvSpPr txBox="1"/>
          <p:nvPr/>
        </p:nvSpPr>
        <p:spPr>
          <a:xfrm>
            <a:off x="6291072" y="4690872"/>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ACT</a:t>
            </a:r>
          </a:p>
        </p:txBody>
      </p:sp>
      <p:sp>
        <p:nvSpPr>
          <p:cNvPr id="54" name="TextBox 53"/>
          <p:cNvSpPr txBox="1"/>
          <p:nvPr/>
        </p:nvSpPr>
        <p:spPr>
          <a:xfrm>
            <a:off x="6291072" y="4946904"/>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execute next tool call</a:t>
            </a:r>
          </a:p>
        </p:txBody>
      </p:sp>
      <p:sp>
        <p:nvSpPr>
          <p:cNvPr id="55" name="Rounded Rectangle 54"/>
          <p:cNvSpPr/>
          <p:nvPr/>
        </p:nvSpPr>
        <p:spPr>
          <a:xfrm>
            <a:off x="8732520" y="2194560"/>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732520" y="2194560"/>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5</a:t>
            </a:r>
          </a:p>
        </p:txBody>
      </p:sp>
      <p:sp>
        <p:nvSpPr>
          <p:cNvPr id="57" name="TextBox 56"/>
          <p:cNvSpPr txBox="1"/>
          <p:nvPr/>
        </p:nvSpPr>
        <p:spPr>
          <a:xfrm>
            <a:off x="9235440" y="2167128"/>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OBSERVE</a:t>
            </a:r>
          </a:p>
        </p:txBody>
      </p:sp>
      <p:sp>
        <p:nvSpPr>
          <p:cNvPr id="58" name="TextBox 57"/>
          <p:cNvSpPr txBox="1"/>
          <p:nvPr/>
        </p:nvSpPr>
        <p:spPr>
          <a:xfrm>
            <a:off x="9235440" y="2423160"/>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inspect results / errors</a:t>
            </a:r>
          </a:p>
        </p:txBody>
      </p:sp>
      <p:sp>
        <p:nvSpPr>
          <p:cNvPr id="59" name="Rounded Rectangle 58"/>
          <p:cNvSpPr/>
          <p:nvPr/>
        </p:nvSpPr>
        <p:spPr>
          <a:xfrm>
            <a:off x="8732520" y="3035808"/>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32520" y="3035808"/>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6</a:t>
            </a:r>
          </a:p>
        </p:txBody>
      </p:sp>
      <p:sp>
        <p:nvSpPr>
          <p:cNvPr id="61" name="TextBox 60"/>
          <p:cNvSpPr txBox="1"/>
          <p:nvPr/>
        </p:nvSpPr>
        <p:spPr>
          <a:xfrm>
            <a:off x="9235440" y="3008376"/>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VALIDATE</a:t>
            </a:r>
          </a:p>
        </p:txBody>
      </p:sp>
      <p:sp>
        <p:nvSpPr>
          <p:cNvPr id="62" name="TextBox 61"/>
          <p:cNvSpPr txBox="1"/>
          <p:nvPr/>
        </p:nvSpPr>
        <p:spPr>
          <a:xfrm>
            <a:off x="9235440" y="3264408"/>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complete &amp; grounded?</a:t>
            </a:r>
          </a:p>
        </p:txBody>
      </p:sp>
      <p:sp>
        <p:nvSpPr>
          <p:cNvPr id="63" name="Rounded Rectangle 62"/>
          <p:cNvSpPr/>
          <p:nvPr/>
        </p:nvSpPr>
        <p:spPr>
          <a:xfrm>
            <a:off x="8732520" y="3877056"/>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732520" y="3877056"/>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7</a:t>
            </a:r>
          </a:p>
        </p:txBody>
      </p:sp>
      <p:sp>
        <p:nvSpPr>
          <p:cNvPr id="65" name="TextBox 64"/>
          <p:cNvSpPr txBox="1"/>
          <p:nvPr/>
        </p:nvSpPr>
        <p:spPr>
          <a:xfrm>
            <a:off x="9235440" y="3849624"/>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ITERATE</a:t>
            </a:r>
          </a:p>
        </p:txBody>
      </p:sp>
      <p:sp>
        <p:nvSpPr>
          <p:cNvPr id="66" name="TextBox 65"/>
          <p:cNvSpPr txBox="1"/>
          <p:nvPr/>
        </p:nvSpPr>
        <p:spPr>
          <a:xfrm>
            <a:off x="9235440" y="4105656"/>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loop 3 → 6 until yes</a:t>
            </a:r>
          </a:p>
        </p:txBody>
      </p:sp>
      <p:sp>
        <p:nvSpPr>
          <p:cNvPr id="67" name="Rounded Rectangle 66"/>
          <p:cNvSpPr/>
          <p:nvPr/>
        </p:nvSpPr>
        <p:spPr>
          <a:xfrm>
            <a:off x="8732520" y="4718304"/>
            <a:ext cx="365760" cy="365760"/>
          </a:xfrm>
          <a:prstGeom prst="roundRect">
            <a:avLst>
              <a:gd name="adj" fmla="val 22000"/>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32520" y="4718304"/>
            <a:ext cx="365760" cy="365760"/>
          </a:xfrm>
          <a:prstGeom prst="rect">
            <a:avLst/>
          </a:prstGeom>
          <a:noFill/>
        </p:spPr>
        <p:txBody>
          <a:bodyPr wrap="square" anchor="ctr" lIns="0" rIns="0" tIns="0" bIns="0">
            <a:spAutoFit/>
          </a:bodyPr>
          <a:lstStyle/>
          <a:p>
            <a:pPr algn="ctr">
              <a:lnSpc>
                <a:spcPct val="100000"/>
              </a:lnSpc>
            </a:pPr>
            <a:r>
              <a:rPr sz="1400" b="1" i="0">
                <a:solidFill>
                  <a:srgbClr val="0A0E14"/>
                </a:solidFill>
                <a:latin typeface="Consolas"/>
              </a:rPr>
              <a:t>8</a:t>
            </a:r>
          </a:p>
        </p:txBody>
      </p:sp>
      <p:sp>
        <p:nvSpPr>
          <p:cNvPr id="69" name="TextBox 68"/>
          <p:cNvSpPr txBox="1"/>
          <p:nvPr/>
        </p:nvSpPr>
        <p:spPr>
          <a:xfrm>
            <a:off x="9235440" y="4690872"/>
            <a:ext cx="2377440" cy="274320"/>
          </a:xfrm>
          <a:prstGeom prst="rect">
            <a:avLst/>
          </a:prstGeom>
          <a:noFill/>
        </p:spPr>
        <p:txBody>
          <a:bodyPr wrap="square" anchor="t" lIns="0" rIns="0" tIns="0" bIns="0">
            <a:spAutoFit/>
          </a:bodyPr>
          <a:lstStyle/>
          <a:p>
            <a:pPr>
              <a:lnSpc>
                <a:spcPct val="100000"/>
              </a:lnSpc>
            </a:pPr>
            <a:r>
              <a:rPr sz="1200" b="1" i="0" spc="60">
                <a:solidFill>
                  <a:srgbClr val="E6F1FF"/>
                </a:solidFill>
                <a:latin typeface="Consolas"/>
              </a:rPr>
              <a:t>SYNTHESIZE</a:t>
            </a:r>
          </a:p>
        </p:txBody>
      </p:sp>
      <p:sp>
        <p:nvSpPr>
          <p:cNvPr id="70" name="TextBox 69"/>
          <p:cNvSpPr txBox="1"/>
          <p:nvPr/>
        </p:nvSpPr>
        <p:spPr>
          <a:xfrm>
            <a:off x="9235440" y="4946904"/>
            <a:ext cx="2377440" cy="237744"/>
          </a:xfrm>
          <a:prstGeom prst="rect">
            <a:avLst/>
          </a:prstGeom>
          <a:noFill/>
        </p:spPr>
        <p:txBody>
          <a:bodyPr wrap="square" anchor="t" lIns="0" rIns="0" tIns="0" bIns="0">
            <a:spAutoFit/>
          </a:bodyPr>
          <a:lstStyle/>
          <a:p>
            <a:pPr>
              <a:lnSpc>
                <a:spcPct val="100000"/>
              </a:lnSpc>
            </a:pPr>
            <a:r>
              <a:rPr sz="850" b="0" i="0">
                <a:solidFill>
                  <a:srgbClr val="8B9BB4"/>
                </a:solidFill>
                <a:latin typeface="Consolas"/>
              </a:rPr>
              <a:t>SQL + chart + explanation</a:t>
            </a:r>
          </a:p>
        </p:txBody>
      </p:sp>
      <p:sp>
        <p:nvSpPr>
          <p:cNvPr id="71" name="TextBox 70"/>
          <p:cNvSpPr txBox="1"/>
          <p:nvPr/>
        </p:nvSpPr>
        <p:spPr>
          <a:xfrm>
            <a:off x="5788152" y="5605272"/>
            <a:ext cx="5641848" cy="274320"/>
          </a:xfrm>
          <a:prstGeom prst="rect">
            <a:avLst/>
          </a:prstGeom>
          <a:noFill/>
        </p:spPr>
        <p:txBody>
          <a:bodyPr wrap="square" anchor="t" lIns="0" rIns="0" tIns="0" bIns="0">
            <a:spAutoFit/>
          </a:bodyPr>
          <a:lstStyle/>
          <a:p>
            <a:pPr>
              <a:lnSpc>
                <a:spcPct val="100000"/>
              </a:lnSpc>
            </a:pPr>
            <a:r>
              <a:rPr sz="950" b="0" i="0">
                <a:solidFill>
                  <a:srgbClr val="00D4FF"/>
                </a:solidFill>
                <a:latin typeface="Consolas"/>
              </a:rPr>
              <a:t>▸ steps 3 → 6 repeat until the answer is complete and grounded</a:t>
            </a:r>
          </a:p>
        </p:txBody>
      </p:sp>
      <p:sp>
        <p:nvSpPr>
          <p:cNvPr id="72" name="Rounded Rectangle 71"/>
          <p:cNvSpPr/>
          <p:nvPr/>
        </p:nvSpPr>
        <p:spPr>
          <a:xfrm>
            <a:off x="502920" y="5989320"/>
            <a:ext cx="11185855" cy="420624"/>
          </a:xfrm>
          <a:prstGeom prst="roundRect">
            <a:avLst>
              <a:gd name="adj" fmla="val 50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 y="6080759"/>
            <a:ext cx="50292" cy="23774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8680" y="5989320"/>
            <a:ext cx="10362895" cy="420624"/>
          </a:xfrm>
          <a:prstGeom prst="rect">
            <a:avLst/>
          </a:prstGeom>
          <a:noFill/>
        </p:spPr>
        <p:txBody>
          <a:bodyPr wrap="square" anchor="ctr" lIns="0" rIns="0" tIns="0" bIns="0">
            <a:spAutoFit/>
          </a:bodyPr>
          <a:lstStyle/>
          <a:p>
            <a:pPr>
              <a:lnSpc>
                <a:spcPct val="100000"/>
              </a:lnSpc>
            </a:pPr>
            <a:r>
              <a:rPr sz="1050" b="1" i="0" spc="60">
                <a:solidFill>
                  <a:srgbClr val="00FF41"/>
                </a:solidFill>
                <a:latin typeface="Consolas"/>
              </a:rPr>
              <a:t>ANSWERS ARE EARNED THROUGH ITERATION — not guessed on the first pass</a:t>
            </a:r>
          </a:p>
        </p:txBody>
      </p:sp>
      <p:sp>
        <p:nvSpPr>
          <p:cNvPr id="75" name="Rectangle 74"/>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AI ARCHITECTURE</a:t>
            </a:r>
          </a:p>
        </p:txBody>
      </p:sp>
      <p:sp>
        <p:nvSpPr>
          <p:cNvPr id="83" name="TextBox 82"/>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04</a:t>
            </a:r>
            <a:r>
              <a:rPr sz="800" b="0" i="0">
                <a:solidFill>
                  <a:srgbClr val="56637A"/>
                </a:solidFill>
                <a:latin typeface="Consolas"/>
              </a:rPr>
              <a:t>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05 · CORE TOOLS — 1 OF 3</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00FF41"/>
                </a:solidFill>
                <a:latin typeface="Consolas"/>
              </a:rPr>
              <a:t>get_schema</a:t>
            </a:r>
            <a:r>
              <a:rPr sz="3000" b="1" i="0">
                <a:solidFill>
                  <a:srgbClr val="8B9BB4"/>
                </a:solidFill>
                <a:latin typeface="Arial"/>
              </a:rPr>
              <a:t>  &amp;  </a:t>
            </a:r>
            <a:r>
              <a:rPr sz="3000" b="1" i="0">
                <a:solidFill>
                  <a:srgbClr val="00FF41"/>
                </a:solidFill>
                <a:latin typeface="Consolas"/>
              </a:rPr>
              <a:t>execute_query</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572768"/>
            <a:ext cx="5440680" cy="384048"/>
          </a:xfrm>
          <a:prstGeom prst="roundRect">
            <a:avLst>
              <a:gd name="adj" fmla="val 18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1709928"/>
            <a:ext cx="100584" cy="100584"/>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1709928"/>
            <a:ext cx="100584" cy="100584"/>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60120" y="1709928"/>
            <a:ext cx="100584" cy="100584"/>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16152" y="1655064"/>
            <a:ext cx="4526280" cy="237744"/>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zodiac:~ </a:t>
            </a:r>
            <a:r>
              <a:rPr sz="1000" b="1" i="0">
                <a:solidFill>
                  <a:srgbClr val="00FF41"/>
                </a:solidFill>
                <a:latin typeface="Consolas"/>
              </a:rPr>
              <a:t>get_schema</a:t>
            </a:r>
          </a:p>
        </p:txBody>
      </p:sp>
      <p:sp>
        <p:nvSpPr>
          <p:cNvPr id="29" name="Rectangle 28"/>
          <p:cNvSpPr/>
          <p:nvPr/>
        </p:nvSpPr>
        <p:spPr>
          <a:xfrm>
            <a:off x="502920" y="1956816"/>
            <a:ext cx="5440680" cy="3246120"/>
          </a:xfrm>
          <a:prstGeom prst="rect">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2176272"/>
            <a:ext cx="4937760" cy="1600200"/>
          </a:xfrm>
          <a:prstGeom prst="rect">
            <a:avLst/>
          </a:prstGeom>
          <a:noFill/>
        </p:spPr>
        <p:txBody>
          <a:bodyPr wrap="square" anchor="t" lIns="0" rIns="0" tIns="0" bIns="0">
            <a:spAutoFit/>
          </a:bodyPr>
          <a:lstStyle/>
          <a:p>
            <a:pPr>
              <a:lnSpc>
                <a:spcPct val="100000"/>
              </a:lnSpc>
              <a:spcAft>
                <a:spcPts val="200"/>
              </a:spcAft>
            </a:pPr>
            <a:r>
              <a:rPr sz="1200" b="1" i="0">
                <a:solidFill>
                  <a:srgbClr val="00D4FF"/>
                </a:solidFill>
                <a:latin typeface="Consolas"/>
              </a:rPr>
              <a:t>sales_db</a:t>
            </a:r>
          </a:p>
          <a:p>
            <a:pPr>
              <a:lnSpc>
                <a:spcPct val="100000"/>
              </a:lnSpc>
              <a:spcAft>
                <a:spcPts val="200"/>
              </a:spcAft>
            </a:pPr>
            <a:r>
              <a:rPr sz="1200" b="0" i="0">
                <a:solidFill>
                  <a:srgbClr val="56637A"/>
                </a:solidFill>
                <a:latin typeface="Consolas"/>
              </a:rPr>
              <a:t> ├─ </a:t>
            </a:r>
            <a:r>
              <a:rPr sz="1200" b="0" i="0">
                <a:solidFill>
                  <a:srgbClr val="E6F1FF"/>
                </a:solidFill>
                <a:latin typeface="Consolas"/>
              </a:rPr>
              <a:t>customers</a:t>
            </a:r>
          </a:p>
          <a:p>
            <a:pPr>
              <a:lnSpc>
                <a:spcPct val="100000"/>
              </a:lnSpc>
              <a:spcAft>
                <a:spcPts val="200"/>
              </a:spcAft>
            </a:pPr>
            <a:r>
              <a:rPr sz="1200" b="0" i="0">
                <a:solidFill>
                  <a:srgbClr val="56637A"/>
                </a:solidFill>
                <a:latin typeface="Consolas"/>
              </a:rPr>
              <a:t> ├─ </a:t>
            </a:r>
            <a:r>
              <a:rPr sz="1200" b="0" i="0">
                <a:solidFill>
                  <a:srgbClr val="E6F1FF"/>
                </a:solidFill>
                <a:latin typeface="Consolas"/>
              </a:rPr>
              <a:t>products</a:t>
            </a:r>
          </a:p>
          <a:p>
            <a:pPr>
              <a:lnSpc>
                <a:spcPct val="100000"/>
              </a:lnSpc>
              <a:spcAft>
                <a:spcPts val="200"/>
              </a:spcAft>
            </a:pPr>
            <a:r>
              <a:rPr sz="1200" b="0" i="0">
                <a:solidFill>
                  <a:srgbClr val="56637A"/>
                </a:solidFill>
                <a:latin typeface="Consolas"/>
              </a:rPr>
              <a:t> ├─ </a:t>
            </a:r>
            <a:r>
              <a:rPr sz="1200" b="0" i="0">
                <a:solidFill>
                  <a:srgbClr val="E6F1FF"/>
                </a:solidFill>
                <a:latin typeface="Consolas"/>
              </a:rPr>
              <a:t>orders</a:t>
            </a:r>
          </a:p>
          <a:p>
            <a:pPr>
              <a:lnSpc>
                <a:spcPct val="100000"/>
              </a:lnSpc>
              <a:spcAft>
                <a:spcPts val="200"/>
              </a:spcAft>
            </a:pPr>
            <a:r>
              <a:rPr sz="1200" b="0" i="0">
                <a:solidFill>
                  <a:srgbClr val="56637A"/>
                </a:solidFill>
                <a:latin typeface="Consolas"/>
              </a:rPr>
              <a:t> └─ </a:t>
            </a:r>
            <a:r>
              <a:rPr sz="1200" b="0" i="0">
                <a:solidFill>
                  <a:srgbClr val="E6F1FF"/>
                </a:solidFill>
                <a:latin typeface="Consolas"/>
              </a:rPr>
              <a:t>order_items</a:t>
            </a:r>
          </a:p>
          <a:p>
            <a:pPr>
              <a:lnSpc>
                <a:spcPct val="100000"/>
              </a:lnSpc>
            </a:pPr>
            <a:r>
              <a:rPr sz="850" b="0" i="0">
                <a:solidFill>
                  <a:srgbClr val="56637A"/>
                </a:solidFill>
                <a:latin typeface="Consolas"/>
              </a:rPr>
              <a:t>   tables · columns · types · relations</a:t>
            </a:r>
          </a:p>
        </p:txBody>
      </p:sp>
      <p:sp>
        <p:nvSpPr>
          <p:cNvPr id="31" name="TextBox 30"/>
          <p:cNvSpPr txBox="1"/>
          <p:nvPr/>
        </p:nvSpPr>
        <p:spPr>
          <a:xfrm>
            <a:off x="777240" y="3977639"/>
            <a:ext cx="4937760" cy="1097280"/>
          </a:xfrm>
          <a:prstGeom prst="rect">
            <a:avLst/>
          </a:prstGeom>
          <a:noFill/>
        </p:spPr>
        <p:txBody>
          <a:bodyPr wrap="square" anchor="t" lIns="0" rIns="0" tIns="0" bIns="0">
            <a:spAutoFit/>
          </a:bodyPr>
          <a:lstStyle/>
          <a:p>
            <a:pPr marL="219456" indent="-219456">
              <a:lnSpc>
                <a:spcPct val="108000"/>
              </a:lnSpc>
              <a:spcAft>
                <a:spcPts val="800"/>
              </a:spcAft>
            </a:pPr>
            <a:r>
              <a:rPr sz="1150" b="1" i="0">
                <a:solidFill>
                  <a:srgbClr val="00FF41"/>
                </a:solidFill>
                <a:latin typeface="Consolas"/>
              </a:rPr>
              <a:t>▸  </a:t>
            </a:r>
            <a:r>
              <a:rPr sz="1150" b="1" i="0">
                <a:solidFill>
                  <a:srgbClr val="E6F1FF"/>
                </a:solidFill>
                <a:latin typeface="Arial"/>
              </a:rPr>
              <a:t>Live runtime introspection</a:t>
            </a:r>
            <a:r>
              <a:rPr sz="1150" b="0" i="0">
                <a:solidFill>
                  <a:srgbClr val="E6F1FF"/>
                </a:solidFill>
                <a:latin typeface="Arial"/>
              </a:rPr>
              <a:t> — no hardcoded, stale schema assumptions</a:t>
            </a:r>
          </a:p>
        </p:txBody>
      </p:sp>
      <p:sp>
        <p:nvSpPr>
          <p:cNvPr id="32" name="Rounded Rectangle 31"/>
          <p:cNvSpPr/>
          <p:nvPr/>
        </p:nvSpPr>
        <p:spPr>
          <a:xfrm>
            <a:off x="6245352" y="1572768"/>
            <a:ext cx="5440680" cy="384048"/>
          </a:xfrm>
          <a:prstGeom prst="roundRect">
            <a:avLst>
              <a:gd name="adj" fmla="val 18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91656" y="1709928"/>
            <a:ext cx="100584" cy="100584"/>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547104" y="1709928"/>
            <a:ext cx="100584" cy="100584"/>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702552" y="1709928"/>
            <a:ext cx="100584" cy="100584"/>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58584" y="1655064"/>
            <a:ext cx="4526280" cy="237744"/>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zodiac:~ </a:t>
            </a:r>
            <a:r>
              <a:rPr sz="1000" b="1" i="0">
                <a:solidFill>
                  <a:srgbClr val="00FF41"/>
                </a:solidFill>
                <a:latin typeface="Consolas"/>
              </a:rPr>
              <a:t>execute_query</a:t>
            </a:r>
          </a:p>
        </p:txBody>
      </p:sp>
      <p:sp>
        <p:nvSpPr>
          <p:cNvPr id="37" name="Rectangle 36"/>
          <p:cNvSpPr/>
          <p:nvPr/>
        </p:nvSpPr>
        <p:spPr>
          <a:xfrm>
            <a:off x="6245352" y="1956816"/>
            <a:ext cx="5440680" cy="3246120"/>
          </a:xfrm>
          <a:prstGeom prst="rect">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2176272"/>
            <a:ext cx="4937760" cy="1051560"/>
          </a:xfrm>
          <a:prstGeom prst="rect">
            <a:avLst/>
          </a:prstGeom>
          <a:noFill/>
        </p:spPr>
        <p:txBody>
          <a:bodyPr wrap="square" anchor="t" lIns="0" rIns="0" tIns="0" bIns="0">
            <a:spAutoFit/>
          </a:bodyPr>
          <a:lstStyle/>
          <a:p>
            <a:pPr>
              <a:lnSpc>
                <a:spcPct val="100000"/>
              </a:lnSpc>
              <a:spcAft>
                <a:spcPts val="100"/>
              </a:spcAft>
            </a:pPr>
            <a:r>
              <a:rPr sz="1100" b="0" i="0">
                <a:solidFill>
                  <a:srgbClr val="00FF41"/>
                </a:solidFill>
                <a:latin typeface="Consolas"/>
              </a:rPr>
              <a:t>SELECT c.name, SUM(oi.qty*oi.price)</a:t>
            </a:r>
          </a:p>
          <a:p>
            <a:pPr>
              <a:lnSpc>
                <a:spcPct val="100000"/>
              </a:lnSpc>
              <a:spcAft>
                <a:spcPts val="100"/>
              </a:spcAft>
            </a:pPr>
            <a:r>
              <a:rPr sz="1100" b="0" i="0">
                <a:solidFill>
                  <a:srgbClr val="00FF41"/>
                </a:solidFill>
                <a:latin typeface="Consolas"/>
              </a:rPr>
              <a:t>FROM order_items oi</a:t>
            </a:r>
          </a:p>
          <a:p>
            <a:pPr>
              <a:lnSpc>
                <a:spcPct val="100000"/>
              </a:lnSpc>
              <a:spcAft>
                <a:spcPts val="100"/>
              </a:spcAft>
            </a:pPr>
            <a:r>
              <a:rPr sz="1100" b="0" i="0">
                <a:solidFill>
                  <a:srgbClr val="00FF41"/>
                </a:solidFill>
                <a:latin typeface="Consolas"/>
              </a:rPr>
              <a:t>JOIN orders o ON o.id = oi.order_id</a:t>
            </a:r>
          </a:p>
          <a:p>
            <a:pPr>
              <a:lnSpc>
                <a:spcPct val="100000"/>
              </a:lnSpc>
              <a:spcAft>
                <a:spcPts val="100"/>
              </a:spcAft>
            </a:pPr>
            <a:r>
              <a:rPr sz="1100" b="0" i="0">
                <a:solidFill>
                  <a:srgbClr val="00FF41"/>
                </a:solidFill>
                <a:latin typeface="Consolas"/>
              </a:rPr>
              <a:t>JOIN customers c ON c.id = o.customer_id</a:t>
            </a:r>
          </a:p>
          <a:p>
            <a:pPr>
              <a:lnSpc>
                <a:spcPct val="100000"/>
              </a:lnSpc>
              <a:spcAft>
                <a:spcPts val="400"/>
              </a:spcAft>
            </a:pPr>
            <a:r>
              <a:rPr sz="1100" b="0" i="0">
                <a:solidFill>
                  <a:srgbClr val="00FF41"/>
                </a:solidFill>
                <a:latin typeface="Consolas"/>
              </a:rPr>
              <a:t>GROUP BY c.name;</a:t>
            </a:r>
          </a:p>
          <a:p>
            <a:pPr>
              <a:lnSpc>
                <a:spcPct val="100000"/>
              </a:lnSpc>
            </a:pPr>
            <a:r>
              <a:rPr sz="1000" b="1" i="0">
                <a:solidFill>
                  <a:srgbClr val="00D4FF"/>
                </a:solidFill>
                <a:latin typeface="Consolas"/>
              </a:rPr>
              <a:t>✓ 1,284 rows returned</a:t>
            </a:r>
            <a:r>
              <a:rPr sz="1000" b="1" i="0">
                <a:solidFill>
                  <a:srgbClr val="00FF41"/>
                </a:solidFill>
                <a:latin typeface="Consolas"/>
              </a:rPr>
              <a:t>   [READ-ONLY ✓]</a:t>
            </a:r>
          </a:p>
        </p:txBody>
      </p:sp>
      <p:sp>
        <p:nvSpPr>
          <p:cNvPr id="39" name="TextBox 38"/>
          <p:cNvSpPr txBox="1"/>
          <p:nvPr/>
        </p:nvSpPr>
        <p:spPr>
          <a:xfrm>
            <a:off x="6519672" y="3657600"/>
            <a:ext cx="4937760" cy="685800"/>
          </a:xfrm>
          <a:prstGeom prst="rect">
            <a:avLst/>
          </a:prstGeom>
          <a:noFill/>
        </p:spPr>
        <p:txBody>
          <a:bodyPr wrap="square" anchor="t" lIns="0" rIns="0" tIns="0" bIns="0">
            <a:spAutoFit/>
          </a:bodyPr>
          <a:lstStyle/>
          <a:p>
            <a:pPr marL="219456" indent="-219456">
              <a:lnSpc>
                <a:spcPct val="108000"/>
              </a:lnSpc>
              <a:spcAft>
                <a:spcPts val="600"/>
              </a:spcAft>
            </a:pPr>
            <a:r>
              <a:rPr sz="1150" b="1" i="0">
                <a:solidFill>
                  <a:srgbClr val="00FF41"/>
                </a:solidFill>
                <a:latin typeface="Consolas"/>
              </a:rPr>
              <a:t>▸  </a:t>
            </a:r>
            <a:r>
              <a:rPr sz="1150" b="1" i="0">
                <a:solidFill>
                  <a:srgbClr val="E6F1FF"/>
                </a:solidFill>
                <a:latin typeface="Arial"/>
              </a:rPr>
              <a:t>Exact SQL</a:t>
            </a:r>
            <a:r>
              <a:rPr sz="1150" b="0" i="0">
                <a:solidFill>
                  <a:srgbClr val="E6F1FF"/>
                </a:solidFill>
                <a:latin typeface="Arial"/>
              </a:rPr>
              <a:t> — generated &amp; executed on the real database</a:t>
            </a:r>
          </a:p>
        </p:txBody>
      </p:sp>
      <p:sp>
        <p:nvSpPr>
          <p:cNvPr id="40" name="Rounded Rectangle 39"/>
          <p:cNvSpPr/>
          <p:nvPr/>
        </p:nvSpPr>
        <p:spPr>
          <a:xfrm>
            <a:off x="6519672" y="4315968"/>
            <a:ext cx="4892040" cy="502920"/>
          </a:xfrm>
          <a:prstGeom prst="roundRect">
            <a:avLst>
              <a:gd name="adj" fmla="val 25000"/>
            </a:avLst>
          </a:prstGeom>
          <a:solidFill>
            <a:srgbClr val="2A0F1A"/>
          </a:solidFill>
          <a:ln w="12700">
            <a:solidFill>
              <a:srgbClr val="FF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0" y="4315968"/>
            <a:ext cx="4663440" cy="502920"/>
          </a:xfrm>
          <a:prstGeom prst="rect">
            <a:avLst/>
          </a:prstGeom>
          <a:noFill/>
        </p:spPr>
        <p:txBody>
          <a:bodyPr wrap="square" anchor="ctr" lIns="0" rIns="0" tIns="0" bIns="0">
            <a:spAutoFit/>
          </a:bodyPr>
          <a:lstStyle/>
          <a:p>
            <a:pPr>
              <a:lnSpc>
                <a:spcPct val="100000"/>
              </a:lnSpc>
            </a:pPr>
            <a:r>
              <a:rPr sz="1050" b="0" i="0" strike="sngStrike">
                <a:solidFill>
                  <a:srgbClr val="FF3355"/>
                </a:solidFill>
                <a:latin typeface="Consolas"/>
              </a:rPr>
              <a:t>DROP TABLE orders;</a:t>
            </a:r>
            <a:r>
              <a:rPr sz="1000" b="1" i="0">
                <a:solidFill>
                  <a:srgbClr val="FF3355"/>
                </a:solidFill>
                <a:latin typeface="Consolas"/>
              </a:rPr>
              <a:t>  ⚠ BLOCKED — WRITE GUARD</a:t>
            </a:r>
          </a:p>
        </p:txBody>
      </p:sp>
      <p:sp>
        <p:nvSpPr>
          <p:cNvPr id="42" name="Rounded Rectangle 41"/>
          <p:cNvSpPr/>
          <p:nvPr/>
        </p:nvSpPr>
        <p:spPr>
          <a:xfrm>
            <a:off x="502920" y="5532120"/>
            <a:ext cx="11185855" cy="420624"/>
          </a:xfrm>
          <a:prstGeom prst="roundRect">
            <a:avLst>
              <a:gd name="adj" fmla="val 50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8368" y="5623559"/>
            <a:ext cx="50292" cy="23774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532120"/>
            <a:ext cx="10362895" cy="420624"/>
          </a:xfrm>
          <a:prstGeom prst="rect">
            <a:avLst/>
          </a:prstGeom>
          <a:noFill/>
        </p:spPr>
        <p:txBody>
          <a:bodyPr wrap="square" anchor="ctr" lIns="0" rIns="0" tIns="0" bIns="0">
            <a:spAutoFit/>
          </a:bodyPr>
          <a:lstStyle/>
          <a:p>
            <a:pPr>
              <a:lnSpc>
                <a:spcPct val="100000"/>
              </a:lnSpc>
            </a:pPr>
            <a:r>
              <a:rPr sz="1050" b="1" i="0" spc="60">
                <a:solidFill>
                  <a:srgbClr val="00FF41"/>
                </a:solidFill>
                <a:latin typeface="Consolas"/>
              </a:rPr>
              <a:t>RADICAL TRANSPARENCY — every answer ships with the SQL that produced it. Copy it. Audit it. Rerun it.</a:t>
            </a:r>
          </a:p>
        </p:txBody>
      </p:sp>
      <p:sp>
        <p:nvSpPr>
          <p:cNvPr id="45" name="Rectangle 44"/>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CORE TOOLS 1/3</a:t>
            </a:r>
          </a:p>
        </p:txBody>
      </p:sp>
      <p:sp>
        <p:nvSpPr>
          <p:cNvPr id="53" name="TextBox 52"/>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05</a:t>
            </a:r>
            <a:r>
              <a:rPr sz="800" b="0" i="0">
                <a:solidFill>
                  <a:srgbClr val="56637A"/>
                </a:solidFill>
                <a:latin typeface="Consolas"/>
              </a:rPr>
              <a:t>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06 · CORE TOOLS — 2 OF 3</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00D4FF"/>
                </a:solidFill>
                <a:latin typeface="Consolas"/>
              </a:rPr>
              <a:t>generate_chart</a:t>
            </a:r>
            <a:r>
              <a:rPr sz="3000" b="1" i="0">
                <a:solidFill>
                  <a:srgbClr val="8B9BB4"/>
                </a:solidFill>
                <a:latin typeface="Arial"/>
              </a:rPr>
              <a:t>  &amp;  </a:t>
            </a:r>
            <a:r>
              <a:rPr sz="3000" b="1" i="0">
                <a:solidFill>
                  <a:srgbClr val="00D4FF"/>
                </a:solidFill>
                <a:latin typeface="Consolas"/>
              </a:rPr>
              <a:t>generate_flowchart</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572768"/>
            <a:ext cx="5440680" cy="3749039"/>
          </a:xfrm>
          <a:prstGeom prst="roundRect">
            <a:avLst>
              <a:gd name="adj" fmla="val 35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1572768"/>
            <a:ext cx="5440680" cy="420624"/>
          </a:xfrm>
          <a:prstGeom prst="roundRect">
            <a:avLst>
              <a:gd name="adj" fmla="val 16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1572768"/>
            <a:ext cx="64008" cy="42062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1664208"/>
            <a:ext cx="5074920" cy="274320"/>
          </a:xfrm>
          <a:prstGeom prst="rect">
            <a:avLst/>
          </a:prstGeom>
          <a:noFill/>
        </p:spPr>
        <p:txBody>
          <a:bodyPr wrap="square" anchor="t" lIns="0" rIns="0" tIns="0" bIns="0">
            <a:spAutoFit/>
          </a:bodyPr>
          <a:lstStyle/>
          <a:p>
            <a:pPr>
              <a:lnSpc>
                <a:spcPct val="100000"/>
              </a:lnSpc>
            </a:pPr>
            <a:r>
              <a:rPr sz="1150" b="1" i="0" spc="100">
                <a:solidFill>
                  <a:srgbClr val="00D4FF"/>
                </a:solidFill>
                <a:latin typeface="Consolas"/>
              </a:rPr>
              <a:t>generate_chart — PLOTLY</a:t>
            </a:r>
          </a:p>
        </p:txBody>
      </p:sp>
      <p:sp>
        <p:nvSpPr>
          <p:cNvPr id="28" name="TextBox 27"/>
          <p:cNvSpPr txBox="1"/>
          <p:nvPr/>
        </p:nvSpPr>
        <p:spPr>
          <a:xfrm>
            <a:off x="777240" y="2221992"/>
            <a:ext cx="4892040" cy="3017520"/>
          </a:xfrm>
          <a:prstGeom prst="rect">
            <a:avLst/>
          </a:prstGeom>
          <a:noFill/>
        </p:spPr>
        <p:txBody>
          <a:bodyPr wrap="square" anchor="t" lIns="0" rIns="0" tIns="0" bIns="0">
            <a:spAutoFit/>
          </a:bodyPr>
          <a:lstStyle/>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Chart specs authored from real query results</a:t>
            </a:r>
            <a:r>
              <a:rPr sz="1200" b="0" i="0">
                <a:solidFill>
                  <a:srgbClr val="E6F1FF"/>
                </a:solidFill>
                <a:latin typeface="Arial"/>
              </a:rPr>
              <a:t> — the model writes the definition, the browser renders it</a:t>
            </a:r>
          </a:p>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Fully interactive</a:t>
            </a:r>
            <a:r>
              <a:rPr sz="1200" b="0" i="0">
                <a:solidFill>
                  <a:srgbClr val="E6F1FF"/>
                </a:solidFill>
                <a:latin typeface="Arial"/>
              </a:rPr>
              <a:t> — zoom · hover · pan · filter — exploration, not screenshots</a:t>
            </a:r>
          </a:p>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Type matched to the question</a:t>
            </a:r>
            <a:r>
              <a:rPr sz="1200" b="0" i="0">
                <a:solidFill>
                  <a:srgbClr val="E6F1FF"/>
                </a:solidFill>
                <a:latin typeface="Arial"/>
              </a:rPr>
              <a:t> — bar · line · scatter · pie</a:t>
            </a:r>
          </a:p>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Deterministic rendering</a:t>
            </a:r>
            <a:r>
              <a:rPr sz="1200" b="0" i="0">
                <a:solidFill>
                  <a:srgbClr val="E6F1FF"/>
                </a:solidFill>
                <a:latin typeface="Arial"/>
              </a:rPr>
              <a:t> — no hallucinated visuals</a:t>
            </a:r>
          </a:p>
        </p:txBody>
      </p:sp>
      <p:sp>
        <p:nvSpPr>
          <p:cNvPr id="29" name="Rounded Rectangle 28"/>
          <p:cNvSpPr/>
          <p:nvPr/>
        </p:nvSpPr>
        <p:spPr>
          <a:xfrm>
            <a:off x="6245352" y="1572768"/>
            <a:ext cx="5440680" cy="3749039"/>
          </a:xfrm>
          <a:prstGeom prst="roundRect">
            <a:avLst>
              <a:gd name="adj" fmla="val 35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1572768"/>
            <a:ext cx="5440680" cy="420624"/>
          </a:xfrm>
          <a:prstGeom prst="roundRect">
            <a:avLst>
              <a:gd name="adj" fmla="val 16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352" y="1572768"/>
            <a:ext cx="64008" cy="42062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1664208"/>
            <a:ext cx="5074920" cy="274320"/>
          </a:xfrm>
          <a:prstGeom prst="rect">
            <a:avLst/>
          </a:prstGeom>
          <a:noFill/>
        </p:spPr>
        <p:txBody>
          <a:bodyPr wrap="square" anchor="t" lIns="0" rIns="0" tIns="0" bIns="0">
            <a:spAutoFit/>
          </a:bodyPr>
          <a:lstStyle/>
          <a:p>
            <a:pPr>
              <a:lnSpc>
                <a:spcPct val="100000"/>
              </a:lnSpc>
            </a:pPr>
            <a:r>
              <a:rPr sz="1150" b="1" i="0" spc="100">
                <a:solidFill>
                  <a:srgbClr val="00D4FF"/>
                </a:solidFill>
                <a:latin typeface="Consolas"/>
              </a:rPr>
              <a:t>generate_flowchart — MERMAID</a:t>
            </a:r>
          </a:p>
        </p:txBody>
      </p:sp>
      <p:sp>
        <p:nvSpPr>
          <p:cNvPr id="33" name="TextBox 32"/>
          <p:cNvSpPr txBox="1"/>
          <p:nvPr/>
        </p:nvSpPr>
        <p:spPr>
          <a:xfrm>
            <a:off x="6519672" y="2221992"/>
            <a:ext cx="4892040" cy="3017520"/>
          </a:xfrm>
          <a:prstGeom prst="rect">
            <a:avLst/>
          </a:prstGeom>
          <a:noFill/>
        </p:spPr>
        <p:txBody>
          <a:bodyPr wrap="square" anchor="t" lIns="0" rIns="0" tIns="0" bIns="0">
            <a:spAutoFit/>
          </a:bodyPr>
          <a:lstStyle/>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Mermaid syntax written by the agent</a:t>
            </a:r>
            <a:r>
              <a:rPr sz="1200" b="0" i="0">
                <a:solidFill>
                  <a:srgbClr val="E6F1FF"/>
                </a:solidFill>
                <a:latin typeface="Arial"/>
              </a:rPr>
              <a:t> — diagrams render live inside the chat</a:t>
            </a:r>
          </a:p>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Schema maps &amp; ER diagrams</a:t>
            </a:r>
            <a:r>
              <a:rPr sz="1200" b="0" i="0">
                <a:solidFill>
                  <a:srgbClr val="E6F1FF"/>
                </a:solidFill>
                <a:latin typeface="Arial"/>
              </a:rPr>
              <a:t> — entity relationships on demand</a:t>
            </a:r>
          </a:p>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Logic &amp; pipeline flows</a:t>
            </a:r>
            <a:r>
              <a:rPr sz="1200" b="0" i="0">
                <a:solidFill>
                  <a:srgbClr val="E6F1FF"/>
                </a:solidFill>
                <a:latin typeface="Arial"/>
              </a:rPr>
              <a:t> — the shape of the system, not just the numbers</a:t>
            </a:r>
          </a:p>
          <a:p>
            <a:pPr marL="219456" indent="-219456">
              <a:lnSpc>
                <a:spcPct val="108000"/>
              </a:lnSpc>
              <a:spcAft>
                <a:spcPts val="1100"/>
              </a:spcAft>
            </a:pPr>
            <a:r>
              <a:rPr sz="1200" b="1" i="0">
                <a:solidFill>
                  <a:srgbClr val="00D4FF"/>
                </a:solidFill>
                <a:latin typeface="Consolas"/>
              </a:rPr>
              <a:t>▸  </a:t>
            </a:r>
            <a:r>
              <a:rPr sz="1200" b="1" i="0">
                <a:solidFill>
                  <a:srgbClr val="E6F1FF"/>
                </a:solidFill>
                <a:latin typeface="Arial"/>
              </a:rPr>
              <a:t>Code-to-visual pipeline</a:t>
            </a:r>
            <a:r>
              <a:rPr sz="1200" b="0" i="0">
                <a:solidFill>
                  <a:srgbClr val="E6F1FF"/>
                </a:solidFill>
                <a:latin typeface="Arial"/>
              </a:rPr>
              <a:t> — graph TD; style — generated, then rendered</a:t>
            </a:r>
          </a:p>
        </p:txBody>
      </p:sp>
      <p:sp>
        <p:nvSpPr>
          <p:cNvPr id="34" name="Rounded Rectangle 33"/>
          <p:cNvSpPr/>
          <p:nvPr/>
        </p:nvSpPr>
        <p:spPr>
          <a:xfrm>
            <a:off x="502920" y="5532120"/>
            <a:ext cx="11185855" cy="420624"/>
          </a:xfrm>
          <a:prstGeom prst="roundRect">
            <a:avLst>
              <a:gd name="adj" fmla="val 50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5623559"/>
            <a:ext cx="50292" cy="23774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5532120"/>
            <a:ext cx="10362895" cy="420624"/>
          </a:xfrm>
          <a:prstGeom prst="rect">
            <a:avLst/>
          </a:prstGeom>
          <a:noFill/>
        </p:spPr>
        <p:txBody>
          <a:bodyPr wrap="square" anchor="ctr" lIns="0" rIns="0" tIns="0" bIns="0">
            <a:spAutoFit/>
          </a:bodyPr>
          <a:lstStyle/>
          <a:p>
            <a:pPr>
              <a:lnSpc>
                <a:spcPct val="100000"/>
              </a:lnSpc>
            </a:pPr>
            <a:r>
              <a:rPr sz="1050" b="1" i="0" spc="60">
                <a:solidFill>
                  <a:srgbClr val="00D4FF"/>
                </a:solidFill>
                <a:latin typeface="Consolas"/>
              </a:rPr>
              <a:t>ONE PROMPT → the numbers AND the picture of the numbers</a:t>
            </a:r>
          </a:p>
        </p:txBody>
      </p:sp>
      <p:sp>
        <p:nvSpPr>
          <p:cNvPr id="37" name="Rectangle 36"/>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CORE TOOLS 2/3</a:t>
            </a:r>
          </a:p>
        </p:txBody>
      </p:sp>
      <p:sp>
        <p:nvSpPr>
          <p:cNvPr id="45" name="TextBox 44"/>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06</a:t>
            </a:r>
            <a:r>
              <a:rPr sz="800" b="0" i="0">
                <a:solidFill>
                  <a:srgbClr val="56637A"/>
                </a:solidFill>
                <a:latin typeface="Consolas"/>
              </a:rPr>
              <a:t>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07 · CORE TOOLS — 3 OF 3</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00FF41"/>
                </a:solidFill>
                <a:latin typeface="Consolas"/>
              </a:rPr>
              <a:t>explain_data</a:t>
            </a:r>
            <a:r>
              <a:rPr sz="3000" b="1" i="0">
                <a:solidFill>
                  <a:srgbClr val="00D4FF"/>
                </a:solidFill>
                <a:latin typeface="Arial"/>
              </a:rPr>
              <a:t> — Grounded, Not Guessed</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325880" y="1691640"/>
            <a:ext cx="2834640" cy="960120"/>
          </a:xfrm>
          <a:prstGeom prst="roundRect">
            <a:avLst>
              <a:gd name="adj" fmla="val 14000"/>
            </a:avLst>
          </a:prstGeom>
          <a:solidFill>
            <a:srgbClr val="0E1622"/>
          </a:solidFill>
          <a:ln w="1778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1810512"/>
            <a:ext cx="2834640" cy="365760"/>
          </a:xfrm>
          <a:prstGeom prst="rect">
            <a:avLst/>
          </a:prstGeom>
          <a:noFill/>
        </p:spPr>
        <p:txBody>
          <a:bodyPr wrap="square" anchor="t" lIns="0" rIns="0" tIns="0" bIns="0">
            <a:spAutoFit/>
          </a:bodyPr>
          <a:lstStyle/>
          <a:p>
            <a:pPr algn="ctr">
              <a:lnSpc>
                <a:spcPct val="100000"/>
              </a:lnSpc>
            </a:pPr>
            <a:r>
              <a:rPr sz="1500" b="1" i="0">
                <a:solidFill>
                  <a:srgbClr val="00FF41"/>
                </a:solidFill>
                <a:latin typeface="Consolas"/>
              </a:rPr>
              <a:t>1 · QUERY</a:t>
            </a:r>
          </a:p>
        </p:txBody>
      </p:sp>
      <p:sp>
        <p:nvSpPr>
          <p:cNvPr id="26" name="TextBox 25"/>
          <p:cNvSpPr txBox="1"/>
          <p:nvPr/>
        </p:nvSpPr>
        <p:spPr>
          <a:xfrm>
            <a:off x="1417320" y="2194560"/>
            <a:ext cx="2651760" cy="320040"/>
          </a:xfrm>
          <a:prstGeom prst="rect">
            <a:avLst/>
          </a:prstGeom>
          <a:noFill/>
        </p:spPr>
        <p:txBody>
          <a:bodyPr wrap="square" anchor="t" lIns="0" rIns="0" tIns="0" bIns="0">
            <a:spAutoFit/>
          </a:bodyPr>
          <a:lstStyle/>
          <a:p>
            <a:pPr algn="ctr">
              <a:lnSpc>
                <a:spcPct val="100000"/>
              </a:lnSpc>
            </a:pPr>
            <a:r>
              <a:rPr sz="850" b="0" i="0">
                <a:solidFill>
                  <a:srgbClr val="8B9BB4"/>
                </a:solidFill>
                <a:latin typeface="Consolas"/>
              </a:rPr>
              <a:t>against the live database</a:t>
            </a:r>
          </a:p>
        </p:txBody>
      </p:sp>
      <p:sp>
        <p:nvSpPr>
          <p:cNvPr id="27" name="TextBox 26"/>
          <p:cNvSpPr txBox="1"/>
          <p:nvPr/>
        </p:nvSpPr>
        <p:spPr>
          <a:xfrm>
            <a:off x="4178808" y="1691640"/>
            <a:ext cx="685800" cy="960120"/>
          </a:xfrm>
          <a:prstGeom prst="rect">
            <a:avLst/>
          </a:prstGeom>
          <a:noFill/>
        </p:spPr>
        <p:txBody>
          <a:bodyPr wrap="square" anchor="ctr" lIns="0" rIns="0" tIns="0" bIns="0">
            <a:spAutoFit/>
          </a:bodyPr>
          <a:lstStyle/>
          <a:p>
            <a:pPr algn="ctr">
              <a:lnSpc>
                <a:spcPct val="100000"/>
              </a:lnSpc>
            </a:pPr>
            <a:r>
              <a:rPr sz="1600" b="1" i="0">
                <a:solidFill>
                  <a:srgbClr val="00D4FF"/>
                </a:solidFill>
                <a:latin typeface="Consolas"/>
              </a:rPr>
              <a:t>▶▶</a:t>
            </a:r>
          </a:p>
        </p:txBody>
      </p:sp>
      <p:sp>
        <p:nvSpPr>
          <p:cNvPr id="28" name="Rounded Rectangle 27"/>
          <p:cNvSpPr/>
          <p:nvPr/>
        </p:nvSpPr>
        <p:spPr>
          <a:xfrm>
            <a:off x="4864608" y="1691640"/>
            <a:ext cx="2834640" cy="960120"/>
          </a:xfrm>
          <a:prstGeom prst="roundRect">
            <a:avLst>
              <a:gd name="adj" fmla="val 14000"/>
            </a:avLst>
          </a:prstGeom>
          <a:solidFill>
            <a:srgbClr val="0E1622"/>
          </a:solidFill>
          <a:ln w="1778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64608" y="1810512"/>
            <a:ext cx="2834640" cy="365760"/>
          </a:xfrm>
          <a:prstGeom prst="rect">
            <a:avLst/>
          </a:prstGeom>
          <a:noFill/>
        </p:spPr>
        <p:txBody>
          <a:bodyPr wrap="square" anchor="t" lIns="0" rIns="0" tIns="0" bIns="0">
            <a:spAutoFit/>
          </a:bodyPr>
          <a:lstStyle/>
          <a:p>
            <a:pPr algn="ctr">
              <a:lnSpc>
                <a:spcPct val="100000"/>
              </a:lnSpc>
            </a:pPr>
            <a:r>
              <a:rPr sz="1500" b="1" i="0">
                <a:solidFill>
                  <a:srgbClr val="00D4FF"/>
                </a:solidFill>
                <a:latin typeface="Consolas"/>
              </a:rPr>
              <a:t>2 · COMPUTE</a:t>
            </a:r>
          </a:p>
        </p:txBody>
      </p:sp>
      <p:sp>
        <p:nvSpPr>
          <p:cNvPr id="30" name="TextBox 29"/>
          <p:cNvSpPr txBox="1"/>
          <p:nvPr/>
        </p:nvSpPr>
        <p:spPr>
          <a:xfrm>
            <a:off x="4956048" y="2194560"/>
            <a:ext cx="2651760" cy="320040"/>
          </a:xfrm>
          <a:prstGeom prst="rect">
            <a:avLst/>
          </a:prstGeom>
          <a:noFill/>
        </p:spPr>
        <p:txBody>
          <a:bodyPr wrap="square" anchor="t" lIns="0" rIns="0" tIns="0" bIns="0">
            <a:spAutoFit/>
          </a:bodyPr>
          <a:lstStyle/>
          <a:p>
            <a:pPr algn="ctr">
              <a:lnSpc>
                <a:spcPct val="100000"/>
              </a:lnSpc>
            </a:pPr>
            <a:r>
              <a:rPr sz="850" b="0" i="0">
                <a:solidFill>
                  <a:srgbClr val="8B9BB4"/>
                </a:solidFill>
                <a:latin typeface="Consolas"/>
              </a:rPr>
              <a:t>totals · means · min/max · shares</a:t>
            </a:r>
          </a:p>
        </p:txBody>
      </p:sp>
      <p:sp>
        <p:nvSpPr>
          <p:cNvPr id="31" name="TextBox 30"/>
          <p:cNvSpPr txBox="1"/>
          <p:nvPr/>
        </p:nvSpPr>
        <p:spPr>
          <a:xfrm>
            <a:off x="7717536" y="1691640"/>
            <a:ext cx="685800" cy="960120"/>
          </a:xfrm>
          <a:prstGeom prst="rect">
            <a:avLst/>
          </a:prstGeom>
          <a:noFill/>
        </p:spPr>
        <p:txBody>
          <a:bodyPr wrap="square" anchor="ctr" lIns="0" rIns="0" tIns="0" bIns="0">
            <a:spAutoFit/>
          </a:bodyPr>
          <a:lstStyle/>
          <a:p>
            <a:pPr algn="ctr">
              <a:lnSpc>
                <a:spcPct val="100000"/>
              </a:lnSpc>
            </a:pPr>
            <a:r>
              <a:rPr sz="1600" b="1" i="0">
                <a:solidFill>
                  <a:srgbClr val="00D4FF"/>
                </a:solidFill>
                <a:latin typeface="Consolas"/>
              </a:rPr>
              <a:t>▶▶</a:t>
            </a:r>
          </a:p>
        </p:txBody>
      </p:sp>
      <p:sp>
        <p:nvSpPr>
          <p:cNvPr id="32" name="Rounded Rectangle 31"/>
          <p:cNvSpPr/>
          <p:nvPr/>
        </p:nvSpPr>
        <p:spPr>
          <a:xfrm>
            <a:off x="8403336" y="1691640"/>
            <a:ext cx="2834640" cy="960120"/>
          </a:xfrm>
          <a:prstGeom prst="roundRect">
            <a:avLst>
              <a:gd name="adj" fmla="val 14000"/>
            </a:avLst>
          </a:prstGeom>
          <a:solidFill>
            <a:srgbClr val="0E1622"/>
          </a:solidFill>
          <a:ln w="1778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6" y="1810512"/>
            <a:ext cx="2834640" cy="365760"/>
          </a:xfrm>
          <a:prstGeom prst="rect">
            <a:avLst/>
          </a:prstGeom>
          <a:noFill/>
        </p:spPr>
        <p:txBody>
          <a:bodyPr wrap="square" anchor="t" lIns="0" rIns="0" tIns="0" bIns="0">
            <a:spAutoFit/>
          </a:bodyPr>
          <a:lstStyle/>
          <a:p>
            <a:pPr algn="ctr">
              <a:lnSpc>
                <a:spcPct val="100000"/>
              </a:lnSpc>
            </a:pPr>
            <a:r>
              <a:rPr sz="1500" b="1" i="0">
                <a:solidFill>
                  <a:srgbClr val="00FF41"/>
                </a:solidFill>
                <a:latin typeface="Consolas"/>
              </a:rPr>
              <a:t>3 · NARRATE</a:t>
            </a:r>
          </a:p>
        </p:txBody>
      </p:sp>
      <p:sp>
        <p:nvSpPr>
          <p:cNvPr id="34" name="TextBox 33"/>
          <p:cNvSpPr txBox="1"/>
          <p:nvPr/>
        </p:nvSpPr>
        <p:spPr>
          <a:xfrm>
            <a:off x="8494776" y="2194560"/>
            <a:ext cx="2651760" cy="320040"/>
          </a:xfrm>
          <a:prstGeom prst="rect">
            <a:avLst/>
          </a:prstGeom>
          <a:noFill/>
        </p:spPr>
        <p:txBody>
          <a:bodyPr wrap="square" anchor="t" lIns="0" rIns="0" tIns="0" bIns="0">
            <a:spAutoFit/>
          </a:bodyPr>
          <a:lstStyle/>
          <a:p>
            <a:pPr algn="ctr">
              <a:lnSpc>
                <a:spcPct val="100000"/>
              </a:lnSpc>
            </a:pPr>
            <a:r>
              <a:rPr sz="850" b="0" i="0">
                <a:solidFill>
                  <a:srgbClr val="8B9BB4"/>
                </a:solidFill>
                <a:latin typeface="Consolas"/>
              </a:rPr>
              <a:t>prose around proven numbers</a:t>
            </a:r>
          </a:p>
        </p:txBody>
      </p:sp>
      <p:sp>
        <p:nvSpPr>
          <p:cNvPr id="35" name="TextBox 34"/>
          <p:cNvSpPr txBox="1"/>
          <p:nvPr/>
        </p:nvSpPr>
        <p:spPr>
          <a:xfrm>
            <a:off x="1051560" y="3063240"/>
            <a:ext cx="10149840" cy="2194560"/>
          </a:xfrm>
          <a:prstGeom prst="rect">
            <a:avLst/>
          </a:prstGeom>
          <a:noFill/>
        </p:spPr>
        <p:txBody>
          <a:bodyPr wrap="square" anchor="t" lIns="0" rIns="0" tIns="0" bIns="0">
            <a:spAutoFit/>
          </a:bodyPr>
          <a:lstStyle/>
          <a:p>
            <a:pPr marL="219456" indent="-219456">
              <a:lnSpc>
                <a:spcPct val="108000"/>
              </a:lnSpc>
              <a:spcAft>
                <a:spcPts val="1200"/>
              </a:spcAft>
            </a:pPr>
            <a:r>
              <a:rPr sz="1300" b="1" i="0">
                <a:solidFill>
                  <a:srgbClr val="00FF41"/>
                </a:solidFill>
                <a:latin typeface="Consolas"/>
              </a:rPr>
              <a:t>▸  </a:t>
            </a:r>
            <a:r>
              <a:rPr sz="1300" b="1" i="0">
                <a:solidFill>
                  <a:srgbClr val="E6F1FF"/>
                </a:solidFill>
                <a:latin typeface="Arial"/>
              </a:rPr>
              <a:t>Numeric summaries from executed result sets</a:t>
            </a:r>
            <a:r>
              <a:rPr sz="1300" b="0" i="0">
                <a:solidFill>
                  <a:srgbClr val="E6F1FF"/>
                </a:solidFill>
                <a:latin typeface="Arial"/>
              </a:rPr>
              <a:t> — totals, averages, min/max, distributions, shares — computed, not recalled</a:t>
            </a:r>
          </a:p>
          <a:p>
            <a:pPr marL="219456" indent="-219456">
              <a:lnSpc>
                <a:spcPct val="108000"/>
              </a:lnSpc>
              <a:spcAft>
                <a:spcPts val="1200"/>
              </a:spcAft>
            </a:pPr>
            <a:r>
              <a:rPr sz="1300" b="1" i="0">
                <a:solidFill>
                  <a:srgbClr val="00FF41"/>
                </a:solidFill>
                <a:latin typeface="Consolas"/>
              </a:rPr>
              <a:t>▸  </a:t>
            </a:r>
            <a:r>
              <a:rPr sz="1300" b="1" i="0">
                <a:solidFill>
                  <a:srgbClr val="E6F1FF"/>
                </a:solidFill>
                <a:latin typeface="Arial"/>
              </a:rPr>
              <a:t>Every figure traces back to a query result</a:t>
            </a:r>
            <a:r>
              <a:rPr sz="1300" b="0" i="0">
                <a:solidFill>
                  <a:srgbClr val="E6F1FF"/>
                </a:solidFill>
                <a:latin typeface="Arial"/>
              </a:rPr>
              <a:t> — text is generated from computed numbers, never from model memory</a:t>
            </a:r>
          </a:p>
          <a:p>
            <a:pPr marL="219456" indent="-219456">
              <a:lnSpc>
                <a:spcPct val="108000"/>
              </a:lnSpc>
              <a:spcAft>
                <a:spcPts val="1200"/>
              </a:spcAft>
            </a:pPr>
            <a:r>
              <a:rPr sz="1300" b="1" i="0">
                <a:solidFill>
                  <a:srgbClr val="00FF41"/>
                </a:solidFill>
                <a:latin typeface="Consolas"/>
              </a:rPr>
              <a:t>▸  </a:t>
            </a:r>
            <a:r>
              <a:rPr sz="1300" b="1" i="0">
                <a:solidFill>
                  <a:srgbClr val="E6F1FF"/>
                </a:solidFill>
                <a:latin typeface="Arial"/>
              </a:rPr>
              <a:t>The math ships with the story</a:t>
            </a:r>
            <a:r>
              <a:rPr sz="1300" b="0" i="0">
                <a:solidFill>
                  <a:srgbClr val="E6F1FF"/>
                </a:solidFill>
                <a:latin typeface="Arial"/>
              </a:rPr>
              <a:t> — growth rates, proportions, outliers — derived first, then narrated</a:t>
            </a:r>
          </a:p>
          <a:p>
            <a:pPr marL="219456" indent="-219456">
              <a:lnSpc>
                <a:spcPct val="108000"/>
              </a:lnSpc>
              <a:spcAft>
                <a:spcPts val="1200"/>
              </a:spcAft>
            </a:pPr>
            <a:r>
              <a:rPr sz="1300" b="1" i="0">
                <a:solidFill>
                  <a:srgbClr val="00FF41"/>
                </a:solidFill>
                <a:latin typeface="Consolas"/>
              </a:rPr>
              <a:t>▸  </a:t>
            </a:r>
            <a:r>
              <a:rPr sz="1300" b="1" i="0">
                <a:solidFill>
                  <a:srgbClr val="E6F1FF"/>
                </a:solidFill>
                <a:latin typeface="Arial"/>
              </a:rPr>
              <a:t>Anti-hallucination by architecture</a:t>
            </a:r>
            <a:r>
              <a:rPr sz="1300" b="0" i="0">
                <a:solidFill>
                  <a:srgbClr val="E6F1FF"/>
                </a:solidFill>
                <a:latin typeface="Arial"/>
              </a:rPr>
              <a:t> — if a number can't be traced to a result set, it doesn't make the answer</a:t>
            </a:r>
          </a:p>
        </p:txBody>
      </p:sp>
      <p:sp>
        <p:nvSpPr>
          <p:cNvPr id="36" name="Rounded Rectangle 35"/>
          <p:cNvSpPr/>
          <p:nvPr/>
        </p:nvSpPr>
        <p:spPr>
          <a:xfrm>
            <a:off x="502920" y="5532120"/>
            <a:ext cx="11185855" cy="457200"/>
          </a:xfrm>
          <a:prstGeom prst="roundRect">
            <a:avLst>
              <a:gd name="adj" fmla="val 50000"/>
            </a:avLst>
          </a:prstGeom>
          <a:solidFill>
            <a:srgbClr val="0D2A18"/>
          </a:solidFill>
          <a:ln w="1270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532120"/>
            <a:ext cx="10545775" cy="457200"/>
          </a:xfrm>
          <a:prstGeom prst="rect">
            <a:avLst/>
          </a:prstGeom>
          <a:noFill/>
        </p:spPr>
        <p:txBody>
          <a:bodyPr wrap="square" anchor="ctr" lIns="0" rIns="0" tIns="0" bIns="0">
            <a:spAutoFit/>
          </a:bodyPr>
          <a:lstStyle/>
          <a:p>
            <a:pPr>
              <a:lnSpc>
                <a:spcPct val="100000"/>
              </a:lnSpc>
            </a:pPr>
            <a:r>
              <a:rPr sz="1200" b="1" i="0">
                <a:solidFill>
                  <a:srgbClr val="00FF41"/>
                </a:solidFill>
                <a:latin typeface="Consolas"/>
              </a:rPr>
              <a:t>&gt; </a:t>
            </a:r>
            <a:r>
              <a:rPr sz="1200" b="1" i="0">
                <a:solidFill>
                  <a:srgbClr val="00FF41"/>
                </a:solidFill>
                <a:latin typeface="Consolas"/>
              </a:rPr>
              <a:t>We don't ask the model to remember your revenue. We ask your database.</a:t>
            </a:r>
          </a:p>
        </p:txBody>
      </p:sp>
      <p:sp>
        <p:nvSpPr>
          <p:cNvPr id="38" name="Rectangle 37"/>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CORE TOOLS 3/3</a:t>
            </a:r>
          </a:p>
        </p:txBody>
      </p:sp>
      <p:sp>
        <p:nvSpPr>
          <p:cNvPr id="46" name="TextBox 45"/>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07</a:t>
            </a:r>
            <a:r>
              <a:rPr sz="800" b="0" i="0">
                <a:solidFill>
                  <a:srgbClr val="56637A"/>
                </a:solidFill>
                <a:latin typeface="Consolas"/>
              </a:rPr>
              <a:t>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08 · DATABASE ARCHITECTURE</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E6F1FF"/>
                </a:solidFill>
                <a:latin typeface="Arial"/>
              </a:rPr>
              <a:t>Under the Hood — </a:t>
            </a:r>
            <a:r>
              <a:rPr sz="3000" b="1" i="0">
                <a:solidFill>
                  <a:srgbClr val="00D4FF"/>
                </a:solidFill>
                <a:latin typeface="Arial"/>
              </a:rPr>
              <a:t>The Sample Sales Schema</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691640"/>
            <a:ext cx="2487168" cy="1417320"/>
          </a:xfrm>
          <a:prstGeom prst="roundRect">
            <a:avLst>
              <a:gd name="adj" fmla="val 10000"/>
            </a:avLst>
          </a:prstGeom>
          <a:solidFill>
            <a:srgbClr val="0E1622"/>
          </a:solidFill>
          <a:ln w="1651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1691640"/>
            <a:ext cx="2487168" cy="384048"/>
          </a:xfrm>
          <a:prstGeom prst="roundRect">
            <a:avLst>
              <a:gd name="adj" fmla="val 18000"/>
            </a:avLst>
          </a:prstGeom>
          <a:solidFill>
            <a:srgbClr val="0D2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1737360"/>
            <a:ext cx="2487168" cy="292608"/>
          </a:xfrm>
          <a:prstGeom prst="rect">
            <a:avLst/>
          </a:prstGeom>
          <a:noFill/>
        </p:spPr>
        <p:txBody>
          <a:bodyPr wrap="square" anchor="t" lIns="0" rIns="0" tIns="0" bIns="0">
            <a:spAutoFit/>
          </a:bodyPr>
          <a:lstStyle/>
          <a:p>
            <a:pPr algn="ctr">
              <a:lnSpc>
                <a:spcPct val="100000"/>
              </a:lnSpc>
            </a:pPr>
            <a:r>
              <a:rPr sz="1250" b="1" i="0" spc="60">
                <a:solidFill>
                  <a:srgbClr val="00FF41"/>
                </a:solidFill>
                <a:latin typeface="Consolas"/>
              </a:rPr>
              <a:t>CUSTOMERS</a:t>
            </a:r>
          </a:p>
        </p:txBody>
      </p:sp>
      <p:sp>
        <p:nvSpPr>
          <p:cNvPr id="27" name="TextBox 26"/>
          <p:cNvSpPr txBox="1"/>
          <p:nvPr/>
        </p:nvSpPr>
        <p:spPr>
          <a:xfrm>
            <a:off x="594360" y="2157984"/>
            <a:ext cx="2304288" cy="274320"/>
          </a:xfrm>
          <a:prstGeom prst="rect">
            <a:avLst/>
          </a:prstGeom>
          <a:noFill/>
        </p:spPr>
        <p:txBody>
          <a:bodyPr wrap="square" anchor="t" lIns="0" rIns="0" tIns="0" bIns="0">
            <a:spAutoFit/>
          </a:bodyPr>
          <a:lstStyle/>
          <a:p>
            <a:pPr algn="ctr">
              <a:lnSpc>
                <a:spcPct val="100000"/>
              </a:lnSpc>
            </a:pPr>
            <a:r>
              <a:rPr sz="950" b="0" i="0">
                <a:solidFill>
                  <a:srgbClr val="E6F1FF"/>
                </a:solidFill>
                <a:latin typeface="Arial"/>
              </a:rPr>
              <a:t>who is buying</a:t>
            </a:r>
          </a:p>
        </p:txBody>
      </p:sp>
      <p:sp>
        <p:nvSpPr>
          <p:cNvPr id="28" name="TextBox 27"/>
          <p:cNvSpPr txBox="1"/>
          <p:nvPr/>
        </p:nvSpPr>
        <p:spPr>
          <a:xfrm>
            <a:off x="576072" y="2450592"/>
            <a:ext cx="2340864" cy="594360"/>
          </a:xfrm>
          <a:prstGeom prst="rect">
            <a:avLst/>
          </a:prstGeom>
          <a:noFill/>
        </p:spPr>
        <p:txBody>
          <a:bodyPr wrap="square" anchor="t" lIns="0" rIns="0" tIns="0" bIns="0">
            <a:spAutoFit/>
          </a:bodyPr>
          <a:lstStyle/>
          <a:p>
            <a:pPr algn="ctr">
              <a:lnSpc>
                <a:spcPct val="115000"/>
              </a:lnSpc>
            </a:pPr>
            <a:r>
              <a:rPr sz="800" b="0" i="0">
                <a:solidFill>
                  <a:srgbClr val="8B9BB4"/>
                </a:solidFill>
                <a:latin typeface="Consolas"/>
              </a:rPr>
              <a:t>customer_id · name · city · signup</a:t>
            </a:r>
          </a:p>
        </p:txBody>
      </p:sp>
      <p:sp>
        <p:nvSpPr>
          <p:cNvPr id="29" name="TextBox 28"/>
          <p:cNvSpPr txBox="1"/>
          <p:nvPr/>
        </p:nvSpPr>
        <p:spPr>
          <a:xfrm>
            <a:off x="2935224" y="2084831"/>
            <a:ext cx="522122" cy="320040"/>
          </a:xfrm>
          <a:prstGeom prst="rect">
            <a:avLst/>
          </a:prstGeom>
          <a:noFill/>
        </p:spPr>
        <p:txBody>
          <a:bodyPr wrap="square" anchor="t" lIns="0" rIns="0" tIns="0" bIns="0">
            <a:spAutoFit/>
          </a:bodyPr>
          <a:lstStyle/>
          <a:p>
            <a:pPr algn="ctr">
              <a:lnSpc>
                <a:spcPct val="100000"/>
              </a:lnSpc>
            </a:pPr>
            <a:r>
              <a:rPr sz="1100" b="1" i="0">
                <a:solidFill>
                  <a:srgbClr val="00D4FF"/>
                </a:solidFill>
                <a:latin typeface="Consolas"/>
              </a:rPr>
              <a:t>1 — ∞</a:t>
            </a:r>
          </a:p>
        </p:txBody>
      </p:sp>
      <p:sp>
        <p:nvSpPr>
          <p:cNvPr id="30" name="TextBox 29"/>
          <p:cNvSpPr txBox="1"/>
          <p:nvPr/>
        </p:nvSpPr>
        <p:spPr>
          <a:xfrm>
            <a:off x="2935224" y="1874519"/>
            <a:ext cx="522122" cy="274320"/>
          </a:xfrm>
          <a:prstGeom prst="rect">
            <a:avLst/>
          </a:prstGeom>
          <a:noFill/>
        </p:spPr>
        <p:txBody>
          <a:bodyPr wrap="square" anchor="t" lIns="0" rIns="0" tIns="0" bIns="0">
            <a:spAutoFit/>
          </a:bodyPr>
          <a:lstStyle/>
          <a:p>
            <a:pPr algn="ctr">
              <a:lnSpc>
                <a:spcPct val="100000"/>
              </a:lnSpc>
            </a:pPr>
            <a:r>
              <a:rPr sz="1000" b="0" i="0">
                <a:solidFill>
                  <a:srgbClr val="00D4FF"/>
                </a:solidFill>
                <a:latin typeface="Consolas"/>
              </a:rPr>
              <a:t>━━━▶</a:t>
            </a:r>
          </a:p>
        </p:txBody>
      </p:sp>
      <p:sp>
        <p:nvSpPr>
          <p:cNvPr id="31" name="Rounded Rectangle 30"/>
          <p:cNvSpPr/>
          <p:nvPr/>
        </p:nvSpPr>
        <p:spPr>
          <a:xfrm>
            <a:off x="3402482" y="1691640"/>
            <a:ext cx="2487168" cy="1417320"/>
          </a:xfrm>
          <a:prstGeom prst="roundRect">
            <a:avLst>
              <a:gd name="adj" fmla="val 10000"/>
            </a:avLst>
          </a:prstGeom>
          <a:solidFill>
            <a:srgbClr val="0E1622"/>
          </a:solidFill>
          <a:ln w="1651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02482" y="1691640"/>
            <a:ext cx="2487168" cy="384048"/>
          </a:xfrm>
          <a:prstGeom prst="roundRect">
            <a:avLst>
              <a:gd name="adj" fmla="val 18000"/>
            </a:avLst>
          </a:prstGeom>
          <a:solidFill>
            <a:srgbClr val="0A2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2482" y="1737360"/>
            <a:ext cx="2487168" cy="292608"/>
          </a:xfrm>
          <a:prstGeom prst="rect">
            <a:avLst/>
          </a:prstGeom>
          <a:noFill/>
        </p:spPr>
        <p:txBody>
          <a:bodyPr wrap="square" anchor="t" lIns="0" rIns="0" tIns="0" bIns="0">
            <a:spAutoFit/>
          </a:bodyPr>
          <a:lstStyle/>
          <a:p>
            <a:pPr algn="ctr">
              <a:lnSpc>
                <a:spcPct val="100000"/>
              </a:lnSpc>
            </a:pPr>
            <a:r>
              <a:rPr sz="1250" b="1" i="0" spc="60">
                <a:solidFill>
                  <a:srgbClr val="00D4FF"/>
                </a:solidFill>
                <a:latin typeface="Consolas"/>
              </a:rPr>
              <a:t>ORDERS</a:t>
            </a:r>
          </a:p>
        </p:txBody>
      </p:sp>
      <p:sp>
        <p:nvSpPr>
          <p:cNvPr id="34" name="TextBox 33"/>
          <p:cNvSpPr txBox="1"/>
          <p:nvPr/>
        </p:nvSpPr>
        <p:spPr>
          <a:xfrm>
            <a:off x="3493922" y="2157984"/>
            <a:ext cx="2304288" cy="274320"/>
          </a:xfrm>
          <a:prstGeom prst="rect">
            <a:avLst/>
          </a:prstGeom>
          <a:noFill/>
        </p:spPr>
        <p:txBody>
          <a:bodyPr wrap="square" anchor="t" lIns="0" rIns="0" tIns="0" bIns="0">
            <a:spAutoFit/>
          </a:bodyPr>
          <a:lstStyle/>
          <a:p>
            <a:pPr algn="ctr">
              <a:lnSpc>
                <a:spcPct val="100000"/>
              </a:lnSpc>
            </a:pPr>
            <a:r>
              <a:rPr sz="950" b="0" i="0">
                <a:solidFill>
                  <a:srgbClr val="E6F1FF"/>
                </a:solidFill>
                <a:latin typeface="Arial"/>
              </a:rPr>
              <a:t>the transaction header</a:t>
            </a:r>
          </a:p>
        </p:txBody>
      </p:sp>
      <p:sp>
        <p:nvSpPr>
          <p:cNvPr id="35" name="TextBox 34"/>
          <p:cNvSpPr txBox="1"/>
          <p:nvPr/>
        </p:nvSpPr>
        <p:spPr>
          <a:xfrm>
            <a:off x="3475634" y="2450592"/>
            <a:ext cx="2340864" cy="594360"/>
          </a:xfrm>
          <a:prstGeom prst="rect">
            <a:avLst/>
          </a:prstGeom>
          <a:noFill/>
        </p:spPr>
        <p:txBody>
          <a:bodyPr wrap="square" anchor="t" lIns="0" rIns="0" tIns="0" bIns="0">
            <a:spAutoFit/>
          </a:bodyPr>
          <a:lstStyle/>
          <a:p>
            <a:pPr algn="ctr">
              <a:lnSpc>
                <a:spcPct val="115000"/>
              </a:lnSpc>
            </a:pPr>
            <a:r>
              <a:rPr sz="800" b="0" i="0">
                <a:solidFill>
                  <a:srgbClr val="8B9BB4"/>
                </a:solidFill>
                <a:latin typeface="Consolas"/>
              </a:rPr>
              <a:t>order_id · customer_id · date · status</a:t>
            </a:r>
          </a:p>
        </p:txBody>
      </p:sp>
      <p:sp>
        <p:nvSpPr>
          <p:cNvPr id="36" name="TextBox 35"/>
          <p:cNvSpPr txBox="1"/>
          <p:nvPr/>
        </p:nvSpPr>
        <p:spPr>
          <a:xfrm>
            <a:off x="5834786" y="2084831"/>
            <a:ext cx="522122" cy="320040"/>
          </a:xfrm>
          <a:prstGeom prst="rect">
            <a:avLst/>
          </a:prstGeom>
          <a:noFill/>
        </p:spPr>
        <p:txBody>
          <a:bodyPr wrap="square" anchor="t" lIns="0" rIns="0" tIns="0" bIns="0">
            <a:spAutoFit/>
          </a:bodyPr>
          <a:lstStyle/>
          <a:p>
            <a:pPr algn="ctr">
              <a:lnSpc>
                <a:spcPct val="100000"/>
              </a:lnSpc>
            </a:pPr>
            <a:r>
              <a:rPr sz="1100" b="1" i="0">
                <a:solidFill>
                  <a:srgbClr val="00D4FF"/>
                </a:solidFill>
                <a:latin typeface="Consolas"/>
              </a:rPr>
              <a:t>1 — ∞</a:t>
            </a:r>
          </a:p>
        </p:txBody>
      </p:sp>
      <p:sp>
        <p:nvSpPr>
          <p:cNvPr id="37" name="TextBox 36"/>
          <p:cNvSpPr txBox="1"/>
          <p:nvPr/>
        </p:nvSpPr>
        <p:spPr>
          <a:xfrm>
            <a:off x="5834786" y="1874519"/>
            <a:ext cx="522122" cy="274320"/>
          </a:xfrm>
          <a:prstGeom prst="rect">
            <a:avLst/>
          </a:prstGeom>
          <a:noFill/>
        </p:spPr>
        <p:txBody>
          <a:bodyPr wrap="square" anchor="t" lIns="0" rIns="0" tIns="0" bIns="0">
            <a:spAutoFit/>
          </a:bodyPr>
          <a:lstStyle/>
          <a:p>
            <a:pPr algn="ctr">
              <a:lnSpc>
                <a:spcPct val="100000"/>
              </a:lnSpc>
            </a:pPr>
            <a:r>
              <a:rPr sz="1000" b="0" i="0">
                <a:solidFill>
                  <a:srgbClr val="00D4FF"/>
                </a:solidFill>
                <a:latin typeface="Consolas"/>
              </a:rPr>
              <a:t>━━━▶</a:t>
            </a:r>
          </a:p>
        </p:txBody>
      </p:sp>
      <p:sp>
        <p:nvSpPr>
          <p:cNvPr id="38" name="Rounded Rectangle 37"/>
          <p:cNvSpPr/>
          <p:nvPr/>
        </p:nvSpPr>
        <p:spPr>
          <a:xfrm>
            <a:off x="6302044" y="1691640"/>
            <a:ext cx="2487168" cy="1417320"/>
          </a:xfrm>
          <a:prstGeom prst="roundRect">
            <a:avLst>
              <a:gd name="adj" fmla="val 10000"/>
            </a:avLst>
          </a:prstGeom>
          <a:solidFill>
            <a:srgbClr val="0E1622"/>
          </a:solidFill>
          <a:ln w="1651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2044" y="1691640"/>
            <a:ext cx="2487168" cy="384048"/>
          </a:xfrm>
          <a:prstGeom prst="roundRect">
            <a:avLst>
              <a:gd name="adj" fmla="val 18000"/>
            </a:avLst>
          </a:prstGeom>
          <a:solidFill>
            <a:srgbClr val="0D2A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2044" y="1737360"/>
            <a:ext cx="2487168" cy="292608"/>
          </a:xfrm>
          <a:prstGeom prst="rect">
            <a:avLst/>
          </a:prstGeom>
          <a:noFill/>
        </p:spPr>
        <p:txBody>
          <a:bodyPr wrap="square" anchor="t" lIns="0" rIns="0" tIns="0" bIns="0">
            <a:spAutoFit/>
          </a:bodyPr>
          <a:lstStyle/>
          <a:p>
            <a:pPr algn="ctr">
              <a:lnSpc>
                <a:spcPct val="100000"/>
              </a:lnSpc>
            </a:pPr>
            <a:r>
              <a:rPr sz="1250" b="1" i="0" spc="60">
                <a:solidFill>
                  <a:srgbClr val="00FF41"/>
                </a:solidFill>
                <a:latin typeface="Consolas"/>
              </a:rPr>
              <a:t>ORDER_ITEMS</a:t>
            </a:r>
          </a:p>
        </p:txBody>
      </p:sp>
      <p:sp>
        <p:nvSpPr>
          <p:cNvPr id="41" name="TextBox 40"/>
          <p:cNvSpPr txBox="1"/>
          <p:nvPr/>
        </p:nvSpPr>
        <p:spPr>
          <a:xfrm>
            <a:off x="6393484" y="2157984"/>
            <a:ext cx="2304288" cy="274320"/>
          </a:xfrm>
          <a:prstGeom prst="rect">
            <a:avLst/>
          </a:prstGeom>
          <a:noFill/>
        </p:spPr>
        <p:txBody>
          <a:bodyPr wrap="square" anchor="t" lIns="0" rIns="0" tIns="0" bIns="0">
            <a:spAutoFit/>
          </a:bodyPr>
          <a:lstStyle/>
          <a:p>
            <a:pPr algn="ctr">
              <a:lnSpc>
                <a:spcPct val="100000"/>
              </a:lnSpc>
            </a:pPr>
            <a:r>
              <a:rPr sz="950" b="0" i="0">
                <a:solidFill>
                  <a:srgbClr val="E6F1FF"/>
                </a:solidFill>
                <a:latin typeface="Arial"/>
              </a:rPr>
              <a:t>line-level detail</a:t>
            </a:r>
          </a:p>
        </p:txBody>
      </p:sp>
      <p:sp>
        <p:nvSpPr>
          <p:cNvPr id="42" name="TextBox 41"/>
          <p:cNvSpPr txBox="1"/>
          <p:nvPr/>
        </p:nvSpPr>
        <p:spPr>
          <a:xfrm>
            <a:off x="6375196" y="2450592"/>
            <a:ext cx="2340864" cy="594360"/>
          </a:xfrm>
          <a:prstGeom prst="rect">
            <a:avLst/>
          </a:prstGeom>
          <a:noFill/>
        </p:spPr>
        <p:txBody>
          <a:bodyPr wrap="square" anchor="t" lIns="0" rIns="0" tIns="0" bIns="0">
            <a:spAutoFit/>
          </a:bodyPr>
          <a:lstStyle/>
          <a:p>
            <a:pPr algn="ctr">
              <a:lnSpc>
                <a:spcPct val="115000"/>
              </a:lnSpc>
            </a:pPr>
            <a:r>
              <a:rPr sz="800" b="0" i="0">
                <a:solidFill>
                  <a:srgbClr val="8B9BB4"/>
                </a:solidFill>
                <a:latin typeface="Consolas"/>
              </a:rPr>
              <a:t>order_id · product_id · qty · price</a:t>
            </a:r>
          </a:p>
        </p:txBody>
      </p:sp>
      <p:sp>
        <p:nvSpPr>
          <p:cNvPr id="43" name="TextBox 42"/>
          <p:cNvSpPr txBox="1"/>
          <p:nvPr/>
        </p:nvSpPr>
        <p:spPr>
          <a:xfrm>
            <a:off x="8734348" y="2084831"/>
            <a:ext cx="522122" cy="320040"/>
          </a:xfrm>
          <a:prstGeom prst="rect">
            <a:avLst/>
          </a:prstGeom>
          <a:noFill/>
        </p:spPr>
        <p:txBody>
          <a:bodyPr wrap="square" anchor="t" lIns="0" rIns="0" tIns="0" bIns="0">
            <a:spAutoFit/>
          </a:bodyPr>
          <a:lstStyle/>
          <a:p>
            <a:pPr algn="ctr">
              <a:lnSpc>
                <a:spcPct val="100000"/>
              </a:lnSpc>
            </a:pPr>
            <a:r>
              <a:rPr sz="1100" b="1" i="0">
                <a:solidFill>
                  <a:srgbClr val="00D4FF"/>
                </a:solidFill>
                <a:latin typeface="Consolas"/>
              </a:rPr>
              <a:t>∞ — 1</a:t>
            </a:r>
          </a:p>
        </p:txBody>
      </p:sp>
      <p:sp>
        <p:nvSpPr>
          <p:cNvPr id="44" name="TextBox 43"/>
          <p:cNvSpPr txBox="1"/>
          <p:nvPr/>
        </p:nvSpPr>
        <p:spPr>
          <a:xfrm>
            <a:off x="8734348" y="1874519"/>
            <a:ext cx="522122" cy="274320"/>
          </a:xfrm>
          <a:prstGeom prst="rect">
            <a:avLst/>
          </a:prstGeom>
          <a:noFill/>
        </p:spPr>
        <p:txBody>
          <a:bodyPr wrap="square" anchor="t" lIns="0" rIns="0" tIns="0" bIns="0">
            <a:spAutoFit/>
          </a:bodyPr>
          <a:lstStyle/>
          <a:p>
            <a:pPr algn="ctr">
              <a:lnSpc>
                <a:spcPct val="100000"/>
              </a:lnSpc>
            </a:pPr>
            <a:r>
              <a:rPr sz="1000" b="0" i="0">
                <a:solidFill>
                  <a:srgbClr val="00D4FF"/>
                </a:solidFill>
                <a:latin typeface="Consolas"/>
              </a:rPr>
              <a:t>◀━━━</a:t>
            </a:r>
          </a:p>
        </p:txBody>
      </p:sp>
      <p:sp>
        <p:nvSpPr>
          <p:cNvPr id="45" name="Rounded Rectangle 44"/>
          <p:cNvSpPr/>
          <p:nvPr/>
        </p:nvSpPr>
        <p:spPr>
          <a:xfrm>
            <a:off x="9201607" y="1691640"/>
            <a:ext cx="2487168" cy="1417320"/>
          </a:xfrm>
          <a:prstGeom prst="roundRect">
            <a:avLst>
              <a:gd name="adj" fmla="val 10000"/>
            </a:avLst>
          </a:prstGeom>
          <a:solidFill>
            <a:srgbClr val="0E1622"/>
          </a:solidFill>
          <a:ln w="16510">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201607" y="1691640"/>
            <a:ext cx="2487168" cy="384048"/>
          </a:xfrm>
          <a:prstGeom prst="roundRect">
            <a:avLst>
              <a:gd name="adj" fmla="val 18000"/>
            </a:avLst>
          </a:prstGeom>
          <a:solidFill>
            <a:srgbClr val="0A2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201607" y="1737360"/>
            <a:ext cx="2487168" cy="292608"/>
          </a:xfrm>
          <a:prstGeom prst="rect">
            <a:avLst/>
          </a:prstGeom>
          <a:noFill/>
        </p:spPr>
        <p:txBody>
          <a:bodyPr wrap="square" anchor="t" lIns="0" rIns="0" tIns="0" bIns="0">
            <a:spAutoFit/>
          </a:bodyPr>
          <a:lstStyle/>
          <a:p>
            <a:pPr algn="ctr">
              <a:lnSpc>
                <a:spcPct val="100000"/>
              </a:lnSpc>
            </a:pPr>
            <a:r>
              <a:rPr sz="1250" b="1" i="0" spc="60">
                <a:solidFill>
                  <a:srgbClr val="00D4FF"/>
                </a:solidFill>
                <a:latin typeface="Consolas"/>
              </a:rPr>
              <a:t>PRODUCTS</a:t>
            </a:r>
          </a:p>
        </p:txBody>
      </p:sp>
      <p:sp>
        <p:nvSpPr>
          <p:cNvPr id="48" name="TextBox 47"/>
          <p:cNvSpPr txBox="1"/>
          <p:nvPr/>
        </p:nvSpPr>
        <p:spPr>
          <a:xfrm>
            <a:off x="9293047" y="2157984"/>
            <a:ext cx="2304288" cy="274320"/>
          </a:xfrm>
          <a:prstGeom prst="rect">
            <a:avLst/>
          </a:prstGeom>
          <a:noFill/>
        </p:spPr>
        <p:txBody>
          <a:bodyPr wrap="square" anchor="t" lIns="0" rIns="0" tIns="0" bIns="0">
            <a:spAutoFit/>
          </a:bodyPr>
          <a:lstStyle/>
          <a:p>
            <a:pPr algn="ctr">
              <a:lnSpc>
                <a:spcPct val="100000"/>
              </a:lnSpc>
            </a:pPr>
            <a:r>
              <a:rPr sz="950" b="0" i="0">
                <a:solidFill>
                  <a:srgbClr val="E6F1FF"/>
                </a:solidFill>
                <a:latin typeface="Arial"/>
              </a:rPr>
              <a:t>what is being sold</a:t>
            </a:r>
          </a:p>
        </p:txBody>
      </p:sp>
      <p:sp>
        <p:nvSpPr>
          <p:cNvPr id="49" name="TextBox 48"/>
          <p:cNvSpPr txBox="1"/>
          <p:nvPr/>
        </p:nvSpPr>
        <p:spPr>
          <a:xfrm>
            <a:off x="9274759" y="2450592"/>
            <a:ext cx="2340864" cy="594360"/>
          </a:xfrm>
          <a:prstGeom prst="rect">
            <a:avLst/>
          </a:prstGeom>
          <a:noFill/>
        </p:spPr>
        <p:txBody>
          <a:bodyPr wrap="square" anchor="t" lIns="0" rIns="0" tIns="0" bIns="0">
            <a:spAutoFit/>
          </a:bodyPr>
          <a:lstStyle/>
          <a:p>
            <a:pPr algn="ctr">
              <a:lnSpc>
                <a:spcPct val="115000"/>
              </a:lnSpc>
            </a:pPr>
            <a:r>
              <a:rPr sz="800" b="0" i="0">
                <a:solidFill>
                  <a:srgbClr val="8B9BB4"/>
                </a:solidFill>
                <a:latin typeface="Consolas"/>
              </a:rPr>
              <a:t>product_id · name · category · price</a:t>
            </a:r>
          </a:p>
        </p:txBody>
      </p:sp>
      <p:sp>
        <p:nvSpPr>
          <p:cNvPr id="50" name="TextBox 49"/>
          <p:cNvSpPr txBox="1"/>
          <p:nvPr/>
        </p:nvSpPr>
        <p:spPr>
          <a:xfrm>
            <a:off x="777240" y="3520440"/>
            <a:ext cx="10607040" cy="1737360"/>
          </a:xfrm>
          <a:prstGeom prst="rect">
            <a:avLst/>
          </a:prstGeom>
          <a:noFill/>
        </p:spPr>
        <p:txBody>
          <a:bodyPr wrap="square" anchor="t" lIns="0" rIns="0" tIns="0" bIns="0">
            <a:spAutoFit/>
          </a:bodyPr>
          <a:lstStyle/>
          <a:p>
            <a:pPr marL="219456" indent="-219456">
              <a:lnSpc>
                <a:spcPct val="108000"/>
              </a:lnSpc>
              <a:spcAft>
                <a:spcPts val="1100"/>
              </a:spcAft>
            </a:pPr>
            <a:r>
              <a:rPr sz="1250" b="1" i="0">
                <a:solidFill>
                  <a:srgbClr val="00FF41"/>
                </a:solidFill>
                <a:latin typeface="Consolas"/>
              </a:rPr>
              <a:t>▸  </a:t>
            </a:r>
            <a:r>
              <a:rPr sz="1250" b="1" i="0">
                <a:solidFill>
                  <a:srgbClr val="E6F1FF"/>
                </a:solidFill>
                <a:latin typeface="Arial"/>
              </a:rPr>
              <a:t>Normalized e-commerce model — four tables, one star</a:t>
            </a:r>
            <a:r>
              <a:rPr sz="1250" b="0" i="0">
                <a:solidFill>
                  <a:srgbClr val="E6F1FF"/>
                </a:solidFill>
                <a:latin typeface="Arial"/>
              </a:rPr>
              <a:t> — join-rich by design: every interesting question crosses at least one join</a:t>
            </a:r>
          </a:p>
          <a:p>
            <a:pPr marL="219456" indent="-219456">
              <a:lnSpc>
                <a:spcPct val="108000"/>
              </a:lnSpc>
              <a:spcAft>
                <a:spcPts val="1100"/>
              </a:spcAft>
            </a:pPr>
            <a:r>
              <a:rPr sz="1250" b="1" i="0">
                <a:solidFill>
                  <a:srgbClr val="00FF41"/>
                </a:solidFill>
                <a:latin typeface="Consolas"/>
              </a:rPr>
              <a:t>▸  </a:t>
            </a:r>
            <a:r>
              <a:rPr sz="1250" b="1" i="0">
                <a:solidFill>
                  <a:srgbClr val="E6F1FF"/>
                </a:solidFill>
                <a:latin typeface="Arial"/>
              </a:rPr>
              <a:t>The schema that stresses text-to-SQL edge cases</a:t>
            </a:r>
            <a:r>
              <a:rPr sz="1250" b="0" i="0">
                <a:solidFill>
                  <a:srgbClr val="E6F1FF"/>
                </a:solidFill>
                <a:latin typeface="Arial"/>
              </a:rPr>
              <a:t> — if the agent is correct here, it generalizes</a:t>
            </a:r>
          </a:p>
          <a:p>
            <a:pPr marL="219456" indent="-219456">
              <a:lnSpc>
                <a:spcPct val="108000"/>
              </a:lnSpc>
              <a:spcAft>
                <a:spcPts val="1100"/>
              </a:spcAft>
            </a:pPr>
            <a:r>
              <a:rPr sz="1250" b="1" i="0">
                <a:solidFill>
                  <a:srgbClr val="00FF41"/>
                </a:solidFill>
                <a:latin typeface="Consolas"/>
              </a:rPr>
              <a:t>▸  </a:t>
            </a:r>
            <a:r>
              <a:rPr sz="1250" b="1" i="0">
                <a:solidFill>
                  <a:srgbClr val="E6F1FF"/>
                </a:solidFill>
                <a:latin typeface="Arial"/>
              </a:rPr>
              <a:t>Nothing is hardcoded</a:t>
            </a:r>
            <a:r>
              <a:rPr sz="1250" b="0" i="0">
                <a:solidFill>
                  <a:srgbClr val="E6F1FF"/>
                </a:solidFill>
                <a:latin typeface="Arial"/>
              </a:rPr>
              <a:t> — the agent maps all relationships at runtime via get_schema</a:t>
            </a:r>
          </a:p>
        </p:txBody>
      </p:sp>
      <p:sp>
        <p:nvSpPr>
          <p:cNvPr id="51" name="Rounded Rectangle 50"/>
          <p:cNvSpPr/>
          <p:nvPr/>
        </p:nvSpPr>
        <p:spPr>
          <a:xfrm>
            <a:off x="502920" y="5532120"/>
            <a:ext cx="11185855" cy="420624"/>
          </a:xfrm>
          <a:prstGeom prst="roundRect">
            <a:avLst>
              <a:gd name="adj" fmla="val 50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5623559"/>
            <a:ext cx="50292" cy="23774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8680" y="5532120"/>
            <a:ext cx="10362895" cy="420624"/>
          </a:xfrm>
          <a:prstGeom prst="rect">
            <a:avLst/>
          </a:prstGeom>
          <a:noFill/>
        </p:spPr>
        <p:txBody>
          <a:bodyPr wrap="square" anchor="ctr" lIns="0" rIns="0" tIns="0" bIns="0">
            <a:spAutoFit/>
          </a:bodyPr>
          <a:lstStyle/>
          <a:p>
            <a:pPr>
              <a:lnSpc>
                <a:spcPct val="100000"/>
              </a:lnSpc>
            </a:pPr>
            <a:r>
              <a:rPr sz="1050" b="1" i="0" spc="60">
                <a:solidFill>
                  <a:srgbClr val="00FF41"/>
                </a:solidFill>
                <a:latin typeface="Consolas"/>
              </a:rPr>
              <a:t>SCHEMA DISCOVERED LIVE — never baked into prompts</a:t>
            </a:r>
          </a:p>
        </p:txBody>
      </p:sp>
      <p:sp>
        <p:nvSpPr>
          <p:cNvPr id="54" name="Rectangle 53"/>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DATA MODEL</a:t>
            </a:r>
          </a:p>
        </p:txBody>
      </p:sp>
      <p:sp>
        <p:nvSpPr>
          <p:cNvPr id="62" name="TextBox 61"/>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08</a:t>
            </a:r>
            <a:r>
              <a:rPr sz="800" b="0" i="0">
                <a:solidFill>
                  <a:srgbClr val="56637A"/>
                </a:solidFill>
                <a:latin typeface="Consolas"/>
              </a:rPr>
              <a:t>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09 · VALID QUERY CATEGORIES &amp; SAMPLE PROMPTS</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E6F1FF"/>
                </a:solidFill>
                <a:latin typeface="Arial"/>
              </a:rPr>
              <a:t>Ask It Anything </a:t>
            </a:r>
            <a:r>
              <a:rPr sz="3000" b="1" i="0">
                <a:solidFill>
                  <a:srgbClr val="00D4FF"/>
                </a:solidFill>
                <a:latin typeface="Arial"/>
              </a:rPr>
              <a:t>(Structured)</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645920"/>
            <a:ext cx="3594506" cy="1371600"/>
          </a:xfrm>
          <a:prstGeom prst="roundRect">
            <a:avLst>
              <a:gd name="adj" fmla="val 8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1645920"/>
            <a:ext cx="54864" cy="137160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1810512"/>
            <a:ext cx="3183026" cy="274320"/>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 </a:t>
            </a:r>
            <a:r>
              <a:rPr sz="1050" b="1" i="0" spc="120">
                <a:solidFill>
                  <a:srgbClr val="00D4FF"/>
                </a:solidFill>
                <a:latin typeface="Consolas"/>
              </a:rPr>
              <a:t>AGGREGATION</a:t>
            </a:r>
          </a:p>
        </p:txBody>
      </p:sp>
      <p:sp>
        <p:nvSpPr>
          <p:cNvPr id="27" name="TextBox 26"/>
          <p:cNvSpPr txBox="1"/>
          <p:nvPr/>
        </p:nvSpPr>
        <p:spPr>
          <a:xfrm>
            <a:off x="731520" y="2121408"/>
            <a:ext cx="3183026" cy="777240"/>
          </a:xfrm>
          <a:prstGeom prst="rect">
            <a:avLst/>
          </a:prstGeom>
          <a:noFill/>
        </p:spPr>
        <p:txBody>
          <a:bodyPr wrap="square" anchor="t" lIns="0" rIns="0" tIns="0" bIns="0">
            <a:spAutoFit/>
          </a:bodyPr>
          <a:lstStyle/>
          <a:p>
            <a:pPr>
              <a:lnSpc>
                <a:spcPct val="112000"/>
              </a:lnSpc>
            </a:pPr>
            <a:r>
              <a:rPr sz="1250" b="0" i="1">
                <a:solidFill>
                  <a:srgbClr val="E6F1FF"/>
                </a:solidFill>
                <a:latin typeface="Arial"/>
              </a:rPr>
              <a:t>"What was total revenue per month this year?"</a:t>
            </a:r>
          </a:p>
        </p:txBody>
      </p:sp>
      <p:sp>
        <p:nvSpPr>
          <p:cNvPr id="28" name="Rounded Rectangle 27"/>
          <p:cNvSpPr/>
          <p:nvPr/>
        </p:nvSpPr>
        <p:spPr>
          <a:xfrm>
            <a:off x="502920" y="3218688"/>
            <a:ext cx="3594506" cy="1371600"/>
          </a:xfrm>
          <a:prstGeom prst="roundRect">
            <a:avLst>
              <a:gd name="adj" fmla="val 8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3218688"/>
            <a:ext cx="54864" cy="13716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383280"/>
            <a:ext cx="3183026" cy="274320"/>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 </a:t>
            </a:r>
            <a:r>
              <a:rPr sz="1050" b="1" i="0" spc="120">
                <a:solidFill>
                  <a:srgbClr val="00FF41"/>
                </a:solidFill>
                <a:latin typeface="Consolas"/>
              </a:rPr>
              <a:t>RANKING</a:t>
            </a:r>
          </a:p>
        </p:txBody>
      </p:sp>
      <p:sp>
        <p:nvSpPr>
          <p:cNvPr id="31" name="TextBox 30"/>
          <p:cNvSpPr txBox="1"/>
          <p:nvPr/>
        </p:nvSpPr>
        <p:spPr>
          <a:xfrm>
            <a:off x="731520" y="3694176"/>
            <a:ext cx="3183026" cy="777240"/>
          </a:xfrm>
          <a:prstGeom prst="rect">
            <a:avLst/>
          </a:prstGeom>
          <a:noFill/>
        </p:spPr>
        <p:txBody>
          <a:bodyPr wrap="square" anchor="t" lIns="0" rIns="0" tIns="0" bIns="0">
            <a:spAutoFit/>
          </a:bodyPr>
          <a:lstStyle/>
          <a:p>
            <a:pPr>
              <a:lnSpc>
                <a:spcPct val="112000"/>
              </a:lnSpc>
            </a:pPr>
            <a:r>
              <a:rPr sz="1250" b="0" i="1">
                <a:solidFill>
                  <a:srgbClr val="E6F1FF"/>
                </a:solidFill>
                <a:latin typeface="Arial"/>
              </a:rPr>
              <a:t>"Show me the top 10 customers by lifetime value."</a:t>
            </a:r>
          </a:p>
        </p:txBody>
      </p:sp>
      <p:sp>
        <p:nvSpPr>
          <p:cNvPr id="32" name="Rounded Rectangle 31"/>
          <p:cNvSpPr/>
          <p:nvPr/>
        </p:nvSpPr>
        <p:spPr>
          <a:xfrm>
            <a:off x="502920" y="4791456"/>
            <a:ext cx="3594506" cy="1371600"/>
          </a:xfrm>
          <a:prstGeom prst="roundRect">
            <a:avLst>
              <a:gd name="adj" fmla="val 8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91456"/>
            <a:ext cx="54864" cy="137160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956048"/>
            <a:ext cx="3183026" cy="274320"/>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 </a:t>
            </a:r>
            <a:r>
              <a:rPr sz="1050" b="1" i="0" spc="120">
                <a:solidFill>
                  <a:srgbClr val="00D4FF"/>
                </a:solidFill>
                <a:latin typeface="Consolas"/>
              </a:rPr>
              <a:t>TREND</a:t>
            </a:r>
          </a:p>
        </p:txBody>
      </p:sp>
      <p:sp>
        <p:nvSpPr>
          <p:cNvPr id="35" name="TextBox 34"/>
          <p:cNvSpPr txBox="1"/>
          <p:nvPr/>
        </p:nvSpPr>
        <p:spPr>
          <a:xfrm>
            <a:off x="731520" y="5266944"/>
            <a:ext cx="3183026" cy="777240"/>
          </a:xfrm>
          <a:prstGeom prst="rect">
            <a:avLst/>
          </a:prstGeom>
          <a:noFill/>
        </p:spPr>
        <p:txBody>
          <a:bodyPr wrap="square" anchor="t" lIns="0" rIns="0" tIns="0" bIns="0">
            <a:spAutoFit/>
          </a:bodyPr>
          <a:lstStyle/>
          <a:p>
            <a:pPr>
              <a:lnSpc>
                <a:spcPct val="112000"/>
              </a:lnSpc>
            </a:pPr>
            <a:r>
              <a:rPr sz="1250" b="0" i="1">
                <a:solidFill>
                  <a:srgbClr val="E6F1FF"/>
                </a:solidFill>
                <a:latin typeface="Arial"/>
              </a:rPr>
              <a:t>"Plot quarterly sales growth as a line chart."</a:t>
            </a:r>
          </a:p>
        </p:txBody>
      </p:sp>
      <p:sp>
        <p:nvSpPr>
          <p:cNvPr id="36" name="Rounded Rectangle 35"/>
          <p:cNvSpPr/>
          <p:nvPr/>
        </p:nvSpPr>
        <p:spPr>
          <a:xfrm>
            <a:off x="4298594" y="1645920"/>
            <a:ext cx="3594506" cy="1371600"/>
          </a:xfrm>
          <a:prstGeom prst="roundRect">
            <a:avLst>
              <a:gd name="adj" fmla="val 8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98594" y="1645920"/>
            <a:ext cx="54864" cy="13716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27194" y="1810512"/>
            <a:ext cx="3183026" cy="274320"/>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 </a:t>
            </a:r>
            <a:r>
              <a:rPr sz="1050" b="1" i="0" spc="120">
                <a:solidFill>
                  <a:srgbClr val="00FF41"/>
                </a:solidFill>
                <a:latin typeface="Consolas"/>
              </a:rPr>
              <a:t>JOIN</a:t>
            </a:r>
          </a:p>
        </p:txBody>
      </p:sp>
      <p:sp>
        <p:nvSpPr>
          <p:cNvPr id="39" name="TextBox 38"/>
          <p:cNvSpPr txBox="1"/>
          <p:nvPr/>
        </p:nvSpPr>
        <p:spPr>
          <a:xfrm>
            <a:off x="4527194" y="2121408"/>
            <a:ext cx="3183026" cy="777240"/>
          </a:xfrm>
          <a:prstGeom prst="rect">
            <a:avLst/>
          </a:prstGeom>
          <a:noFill/>
        </p:spPr>
        <p:txBody>
          <a:bodyPr wrap="square" anchor="t" lIns="0" rIns="0" tIns="0" bIns="0">
            <a:spAutoFit/>
          </a:bodyPr>
          <a:lstStyle/>
          <a:p>
            <a:pPr>
              <a:lnSpc>
                <a:spcPct val="112000"/>
              </a:lnSpc>
            </a:pPr>
            <a:r>
              <a:rPr sz="1250" b="0" i="1">
                <a:solidFill>
                  <a:srgbClr val="E6F1FF"/>
                </a:solidFill>
                <a:latin typeface="Arial"/>
              </a:rPr>
              <a:t>"Which products are most frequently bought together?"</a:t>
            </a:r>
          </a:p>
        </p:txBody>
      </p:sp>
      <p:sp>
        <p:nvSpPr>
          <p:cNvPr id="40" name="Rounded Rectangle 39"/>
          <p:cNvSpPr/>
          <p:nvPr/>
        </p:nvSpPr>
        <p:spPr>
          <a:xfrm>
            <a:off x="4298594" y="3218688"/>
            <a:ext cx="3594506" cy="1371600"/>
          </a:xfrm>
          <a:prstGeom prst="roundRect">
            <a:avLst>
              <a:gd name="adj" fmla="val 8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98594" y="3218688"/>
            <a:ext cx="54864" cy="137160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27194" y="3383280"/>
            <a:ext cx="3183026" cy="274320"/>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 </a:t>
            </a:r>
            <a:r>
              <a:rPr sz="1050" b="1" i="0" spc="120">
                <a:solidFill>
                  <a:srgbClr val="00D4FF"/>
                </a:solidFill>
                <a:latin typeface="Consolas"/>
              </a:rPr>
              <a:t>SCHEMA</a:t>
            </a:r>
          </a:p>
        </p:txBody>
      </p:sp>
      <p:sp>
        <p:nvSpPr>
          <p:cNvPr id="43" name="TextBox 42"/>
          <p:cNvSpPr txBox="1"/>
          <p:nvPr/>
        </p:nvSpPr>
        <p:spPr>
          <a:xfrm>
            <a:off x="4527194" y="3694176"/>
            <a:ext cx="3183026" cy="777240"/>
          </a:xfrm>
          <a:prstGeom prst="rect">
            <a:avLst/>
          </a:prstGeom>
          <a:noFill/>
        </p:spPr>
        <p:txBody>
          <a:bodyPr wrap="square" anchor="t" lIns="0" rIns="0" tIns="0" bIns="0">
            <a:spAutoFit/>
          </a:bodyPr>
          <a:lstStyle/>
          <a:p>
            <a:pPr>
              <a:lnSpc>
                <a:spcPct val="112000"/>
              </a:lnSpc>
            </a:pPr>
            <a:r>
              <a:rPr sz="1250" b="0" i="1">
                <a:solidFill>
                  <a:srgbClr val="E6F1FF"/>
                </a:solidFill>
                <a:latin typeface="Arial"/>
              </a:rPr>
              <a:t>"Diagram how my tables relate to each other."</a:t>
            </a:r>
          </a:p>
        </p:txBody>
      </p:sp>
      <p:sp>
        <p:nvSpPr>
          <p:cNvPr id="44" name="Rounded Rectangle 43"/>
          <p:cNvSpPr/>
          <p:nvPr/>
        </p:nvSpPr>
        <p:spPr>
          <a:xfrm>
            <a:off x="4298594" y="4791456"/>
            <a:ext cx="3594506" cy="1371600"/>
          </a:xfrm>
          <a:prstGeom prst="roundRect">
            <a:avLst>
              <a:gd name="adj" fmla="val 8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298594" y="4791456"/>
            <a:ext cx="54864" cy="13716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27194" y="4956048"/>
            <a:ext cx="3183026" cy="274320"/>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 </a:t>
            </a:r>
            <a:r>
              <a:rPr sz="1050" b="1" i="0" spc="120">
                <a:solidFill>
                  <a:srgbClr val="00FF41"/>
                </a:solidFill>
                <a:latin typeface="Consolas"/>
              </a:rPr>
              <a:t>QUALITY</a:t>
            </a:r>
          </a:p>
        </p:txBody>
      </p:sp>
      <p:sp>
        <p:nvSpPr>
          <p:cNvPr id="47" name="TextBox 46"/>
          <p:cNvSpPr txBox="1"/>
          <p:nvPr/>
        </p:nvSpPr>
        <p:spPr>
          <a:xfrm>
            <a:off x="4527194" y="5266944"/>
            <a:ext cx="3183026" cy="777240"/>
          </a:xfrm>
          <a:prstGeom prst="rect">
            <a:avLst/>
          </a:prstGeom>
          <a:noFill/>
        </p:spPr>
        <p:txBody>
          <a:bodyPr wrap="square" anchor="t" lIns="0" rIns="0" tIns="0" bIns="0">
            <a:spAutoFit/>
          </a:bodyPr>
          <a:lstStyle/>
          <a:p>
            <a:pPr>
              <a:lnSpc>
                <a:spcPct val="112000"/>
              </a:lnSpc>
            </a:pPr>
            <a:r>
              <a:rPr sz="1250" b="0" i="1">
                <a:solidFill>
                  <a:srgbClr val="E6F1FF"/>
                </a:solidFill>
                <a:latin typeface="Arial"/>
              </a:rPr>
              <a:t>"Are there any orders with no line items?"</a:t>
            </a:r>
          </a:p>
        </p:txBody>
      </p:sp>
      <p:sp>
        <p:nvSpPr>
          <p:cNvPr id="48" name="Rounded Rectangle 47"/>
          <p:cNvSpPr/>
          <p:nvPr/>
        </p:nvSpPr>
        <p:spPr>
          <a:xfrm>
            <a:off x="502920" y="5120640"/>
            <a:ext cx="11185855" cy="420624"/>
          </a:xfrm>
          <a:prstGeom prst="roundRect">
            <a:avLst>
              <a:gd name="adj" fmla="val 50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5212079"/>
            <a:ext cx="50292" cy="23774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8680" y="5120640"/>
            <a:ext cx="10362895" cy="420624"/>
          </a:xfrm>
          <a:prstGeom prst="rect">
            <a:avLst/>
          </a:prstGeom>
          <a:noFill/>
        </p:spPr>
        <p:txBody>
          <a:bodyPr wrap="square" anchor="ctr" lIns="0" rIns="0" tIns="0" bIns="0">
            <a:spAutoFit/>
          </a:bodyPr>
          <a:lstStyle/>
          <a:p>
            <a:pPr>
              <a:lnSpc>
                <a:spcPct val="100000"/>
              </a:lnSpc>
            </a:pPr>
            <a:r>
              <a:rPr sz="1050" b="1" i="0" spc="60">
                <a:solidFill>
                  <a:srgbClr val="00FF41"/>
                </a:solidFill>
                <a:latin typeface="Consolas"/>
              </a:rPr>
              <a:t>EVERY ANSWER = EXACT SQL + INTERACTIVE CHART + GROUNDED EXPLANATION</a:t>
            </a:r>
          </a:p>
        </p:txBody>
      </p:sp>
      <p:sp>
        <p:nvSpPr>
          <p:cNvPr id="51" name="TextBox 50"/>
          <p:cNvSpPr txBox="1"/>
          <p:nvPr/>
        </p:nvSpPr>
        <p:spPr>
          <a:xfrm>
            <a:off x="502920" y="5715000"/>
            <a:ext cx="11185855" cy="320040"/>
          </a:xfrm>
          <a:prstGeom prst="rect">
            <a:avLst/>
          </a:prstGeom>
          <a:noFill/>
        </p:spPr>
        <p:txBody>
          <a:bodyPr wrap="square" anchor="t" lIns="0" rIns="0" tIns="0" bIns="0">
            <a:spAutoFit/>
          </a:bodyPr>
          <a:lstStyle/>
          <a:p>
            <a:pPr>
              <a:lnSpc>
                <a:spcPct val="100000"/>
              </a:lnSpc>
            </a:pPr>
            <a:r>
              <a:rPr sz="1300" b="1" i="0">
                <a:solidFill>
                  <a:srgbClr val="00FF41"/>
                </a:solidFill>
                <a:latin typeface="Consolas"/>
              </a:rPr>
              <a:t>&gt; </a:t>
            </a:r>
            <a:r>
              <a:rPr sz="1300" b="0" i="0">
                <a:solidFill>
                  <a:srgbClr val="E6F1FF"/>
                </a:solidFill>
                <a:latin typeface="Consolas"/>
              </a:rPr>
              <a:t>ask anything</a:t>
            </a:r>
            <a:r>
              <a:rPr sz="1300" b="1" i="0">
                <a:solidFill>
                  <a:srgbClr val="00FF41"/>
                </a:solidFill>
                <a:latin typeface="Consolas"/>
              </a:rPr>
              <a:t>_</a:t>
            </a:r>
          </a:p>
        </p:txBody>
      </p:sp>
      <p:sp>
        <p:nvSpPr>
          <p:cNvPr id="52" name="Rectangle 51"/>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SAMPLE PROMPTS</a:t>
            </a:r>
          </a:p>
        </p:txBody>
      </p:sp>
      <p:sp>
        <p:nvSpPr>
          <p:cNvPr id="60" name="TextBox 59"/>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09</a:t>
            </a:r>
            <a:r>
              <a:rPr sz="800" b="0" i="0">
                <a:solidFill>
                  <a:srgbClr val="56637A"/>
                </a:solidFill>
                <a:latin typeface="Consolas"/>
              </a:rPr>
              <a:t>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5974"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31949"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92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9873"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5847"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11822"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779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43771"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159746"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175720" y="0"/>
            <a:ext cx="10972" cy="68580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979714"/>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959428"/>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2939142"/>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3918857"/>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4898571"/>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5878285"/>
            <a:ext cx="12191695" cy="109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4048"/>
            <a:ext cx="9601200" cy="274320"/>
          </a:xfrm>
          <a:prstGeom prst="rect">
            <a:avLst/>
          </a:prstGeom>
          <a:noFill/>
        </p:spPr>
        <p:txBody>
          <a:bodyPr wrap="square" anchor="t" lIns="0" rIns="0" tIns="0" bIns="0">
            <a:spAutoFit/>
          </a:bodyPr>
          <a:lstStyle/>
          <a:p>
            <a:pPr>
              <a:lnSpc>
                <a:spcPct val="100000"/>
              </a:lnSpc>
            </a:pPr>
            <a:r>
              <a:rPr sz="1200" b="1" i="0">
                <a:solidFill>
                  <a:srgbClr val="00FF41"/>
                </a:solidFill>
                <a:latin typeface="Consolas"/>
              </a:rPr>
              <a:t>&gt; </a:t>
            </a:r>
            <a:r>
              <a:rPr sz="1100" b="0" i="0" spc="140">
                <a:solidFill>
                  <a:srgbClr val="00FF41"/>
                </a:solidFill>
                <a:latin typeface="Consolas"/>
              </a:rPr>
              <a:t>10 · GETTING STARTED</a:t>
            </a:r>
          </a:p>
        </p:txBody>
      </p:sp>
      <p:sp>
        <p:nvSpPr>
          <p:cNvPr id="21" name="TextBox 20"/>
          <p:cNvSpPr txBox="1"/>
          <p:nvPr/>
        </p:nvSpPr>
        <p:spPr>
          <a:xfrm>
            <a:off x="502920" y="658368"/>
            <a:ext cx="11155680" cy="566928"/>
          </a:xfrm>
          <a:prstGeom prst="rect">
            <a:avLst/>
          </a:prstGeom>
          <a:noFill/>
        </p:spPr>
        <p:txBody>
          <a:bodyPr wrap="square" anchor="t" lIns="0" rIns="0" tIns="0" bIns="0">
            <a:spAutoFit/>
          </a:bodyPr>
          <a:lstStyle/>
          <a:p>
            <a:pPr>
              <a:lnSpc>
                <a:spcPct val="100000"/>
              </a:lnSpc>
            </a:pPr>
            <a:r>
              <a:rPr sz="3000" b="1" i="0">
                <a:solidFill>
                  <a:srgbClr val="E6F1FF"/>
                </a:solidFill>
                <a:latin typeface="Arial"/>
              </a:rPr>
              <a:t>Zero to Query in </a:t>
            </a:r>
            <a:r>
              <a:rPr sz="3000" b="1" i="0">
                <a:solidFill>
                  <a:srgbClr val="00FF41"/>
                </a:solidFill>
                <a:latin typeface="Arial"/>
              </a:rPr>
              <a:t>Five Minutes</a:t>
            </a:r>
          </a:p>
        </p:txBody>
      </p:sp>
      <p:sp>
        <p:nvSpPr>
          <p:cNvPr id="22" name="Rectangle 21"/>
          <p:cNvSpPr/>
          <p:nvPr/>
        </p:nvSpPr>
        <p:spPr>
          <a:xfrm>
            <a:off x="521207" y="129844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75688" y="129844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572768"/>
            <a:ext cx="6858000" cy="384048"/>
          </a:xfrm>
          <a:prstGeom prst="roundRect">
            <a:avLst>
              <a:gd name="adj" fmla="val 18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1709928"/>
            <a:ext cx="100584" cy="100584"/>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1709928"/>
            <a:ext cx="100584" cy="100584"/>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60120" y="1709928"/>
            <a:ext cx="100584" cy="100584"/>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16152" y="1655064"/>
            <a:ext cx="5943600" cy="237744"/>
          </a:xfrm>
          <a:prstGeom prst="rect">
            <a:avLst/>
          </a:prstGeom>
          <a:noFill/>
        </p:spPr>
        <p:txBody>
          <a:bodyPr wrap="square" anchor="t" lIns="0" rIns="0" tIns="0" bIns="0">
            <a:spAutoFit/>
          </a:bodyPr>
          <a:lstStyle/>
          <a:p>
            <a:pPr>
              <a:lnSpc>
                <a:spcPct val="100000"/>
              </a:lnSpc>
            </a:pPr>
            <a:r>
              <a:rPr sz="1000" b="0" i="0">
                <a:solidFill>
                  <a:srgbClr val="56637A"/>
                </a:solidFill>
                <a:latin typeface="Consolas"/>
              </a:rPr>
              <a:t>zodiac:~ </a:t>
            </a:r>
            <a:r>
              <a:rPr sz="1000" b="1" i="0">
                <a:solidFill>
                  <a:srgbClr val="00FF41"/>
                </a:solidFill>
                <a:latin typeface="Consolas"/>
              </a:rPr>
              <a:t>boot-sequence — zodiac-ai</a:t>
            </a:r>
          </a:p>
        </p:txBody>
      </p:sp>
      <p:sp>
        <p:nvSpPr>
          <p:cNvPr id="29" name="Rectangle 28"/>
          <p:cNvSpPr/>
          <p:nvPr/>
        </p:nvSpPr>
        <p:spPr>
          <a:xfrm>
            <a:off x="502920" y="1956816"/>
            <a:ext cx="6858000" cy="3566160"/>
          </a:xfrm>
          <a:prstGeom prst="rect">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2194560"/>
            <a:ext cx="6355080" cy="3200400"/>
          </a:xfrm>
          <a:prstGeom prst="rect">
            <a:avLst/>
          </a:prstGeom>
          <a:noFill/>
        </p:spPr>
        <p:txBody>
          <a:bodyPr wrap="square" anchor="t" lIns="0" rIns="0" tIns="0" bIns="0">
            <a:spAutoFit/>
          </a:bodyPr>
          <a:lstStyle/>
          <a:p>
            <a:pPr>
              <a:lnSpc>
                <a:spcPct val="100000"/>
              </a:lnSpc>
              <a:spcAft>
                <a:spcPts val="400"/>
              </a:spcAft>
            </a:pPr>
            <a:r>
              <a:rPr sz="1200" b="1" i="0">
                <a:solidFill>
                  <a:srgbClr val="00FF41"/>
                </a:solidFill>
                <a:latin typeface="Consolas"/>
              </a:rPr>
              <a:t>$ </a:t>
            </a:r>
            <a:r>
              <a:rPr sz="1200" b="0" i="0">
                <a:solidFill>
                  <a:srgbClr val="E6F1FF"/>
                </a:solidFill>
                <a:latin typeface="Consolas"/>
              </a:rPr>
              <a:t>git clone https://github.com/&lt;org&gt;/zodiac-ai.git</a:t>
            </a:r>
          </a:p>
          <a:p>
            <a:pPr>
              <a:lnSpc>
                <a:spcPct val="100000"/>
              </a:lnSpc>
              <a:spcAft>
                <a:spcPts val="1000"/>
              </a:spcAft>
            </a:pPr>
            <a:r>
              <a:rPr sz="1200" b="1" i="0">
                <a:solidFill>
                  <a:srgbClr val="00FF41"/>
                </a:solidFill>
                <a:latin typeface="Consolas"/>
              </a:rPr>
              <a:t>$ </a:t>
            </a:r>
            <a:r>
              <a:rPr sz="1200" b="0" i="0">
                <a:solidFill>
                  <a:srgbClr val="E6F1FF"/>
                </a:solidFill>
                <a:latin typeface="Consolas"/>
              </a:rPr>
              <a:t>cd zodiac-ai</a:t>
            </a:r>
          </a:p>
          <a:p>
            <a:pPr>
              <a:lnSpc>
                <a:spcPct val="100000"/>
              </a:lnSpc>
              <a:spcAft>
                <a:spcPts val="400"/>
              </a:spcAft>
            </a:pPr>
            <a:r>
              <a:rPr sz="1100" b="0" i="0">
                <a:solidFill>
                  <a:srgbClr val="56637A"/>
                </a:solidFill>
                <a:latin typeface="Consolas"/>
              </a:rPr>
              <a:t># .env</a:t>
            </a:r>
          </a:p>
          <a:p>
            <a:pPr>
              <a:lnSpc>
                <a:spcPct val="100000"/>
              </a:lnSpc>
              <a:spcAft>
                <a:spcPts val="400"/>
              </a:spcAft>
            </a:pPr>
            <a:r>
              <a:rPr sz="1150" b="1" i="0">
                <a:solidFill>
                  <a:srgbClr val="00FF41"/>
                </a:solidFill>
                <a:latin typeface="Consolas"/>
              </a:rPr>
              <a:t>GROQ_API_KEY</a:t>
            </a:r>
            <a:r>
              <a:rPr sz="1150" b="0" i="0">
                <a:solidFill>
                  <a:srgbClr val="E6F1FF"/>
                </a:solidFill>
                <a:latin typeface="Consolas"/>
              </a:rPr>
              <a:t>=••••••••••</a:t>
            </a:r>
            <a:r>
              <a:rPr sz="1000" b="0" i="0">
                <a:solidFill>
                  <a:srgbClr val="56637A"/>
                </a:solidFill>
                <a:latin typeface="Consolas"/>
              </a:rPr>
              <a:t>   # primary provider</a:t>
            </a:r>
          </a:p>
          <a:p>
            <a:pPr>
              <a:lnSpc>
                <a:spcPct val="100000"/>
              </a:lnSpc>
              <a:spcAft>
                <a:spcPts val="1000"/>
              </a:spcAft>
            </a:pPr>
            <a:r>
              <a:rPr sz="1150" b="1" i="0">
                <a:solidFill>
                  <a:srgbClr val="00D4FF"/>
                </a:solidFill>
                <a:latin typeface="Consolas"/>
              </a:rPr>
              <a:t>GEMINI_API_KEY</a:t>
            </a:r>
            <a:r>
              <a:rPr sz="1150" b="0" i="0">
                <a:solidFill>
                  <a:srgbClr val="E6F1FF"/>
                </a:solidFill>
                <a:latin typeface="Consolas"/>
              </a:rPr>
              <a:t>=••••••••••</a:t>
            </a:r>
            <a:r>
              <a:rPr sz="1000" b="0" i="0">
                <a:solidFill>
                  <a:srgbClr val="56637A"/>
                </a:solidFill>
                <a:latin typeface="Consolas"/>
              </a:rPr>
              <a:t>   # optional fallback</a:t>
            </a:r>
          </a:p>
          <a:p>
            <a:pPr>
              <a:lnSpc>
                <a:spcPct val="100000"/>
              </a:lnSpc>
              <a:spcAft>
                <a:spcPts val="400"/>
              </a:spcAft>
            </a:pPr>
            <a:r>
              <a:rPr sz="1200" b="1" i="0">
                <a:solidFill>
                  <a:srgbClr val="00FF41"/>
                </a:solidFill>
                <a:latin typeface="Consolas"/>
              </a:rPr>
              <a:t>$ </a:t>
            </a:r>
            <a:r>
              <a:rPr sz="1200" b="0" i="0">
                <a:solidFill>
                  <a:srgbClr val="E6F1FF"/>
                </a:solidFill>
                <a:latin typeface="Consolas"/>
              </a:rPr>
              <a:t>pip install -r requirements.txt</a:t>
            </a:r>
            <a:r>
              <a:rPr sz="1000" b="0" i="0">
                <a:solidFill>
                  <a:srgbClr val="56637A"/>
                </a:solidFill>
                <a:latin typeface="Consolas"/>
              </a:rPr>
              <a:t>  # backend ✓</a:t>
            </a:r>
          </a:p>
          <a:p>
            <a:pPr>
              <a:lnSpc>
                <a:spcPct val="100000"/>
              </a:lnSpc>
              <a:spcAft>
                <a:spcPts val="1000"/>
              </a:spcAft>
            </a:pPr>
            <a:r>
              <a:rPr sz="1200" b="1" i="0">
                <a:solidFill>
                  <a:srgbClr val="00FF41"/>
                </a:solidFill>
                <a:latin typeface="Consolas"/>
              </a:rPr>
              <a:t>$ </a:t>
            </a:r>
            <a:r>
              <a:rPr sz="1200" b="0" i="0">
                <a:solidFill>
                  <a:srgbClr val="E6F1FF"/>
                </a:solidFill>
                <a:latin typeface="Consolas"/>
              </a:rPr>
              <a:t>npm install &amp;&amp; npm run dev</a:t>
            </a:r>
            <a:r>
              <a:rPr sz="1000" b="0" i="0">
                <a:solidFill>
                  <a:srgbClr val="56637A"/>
                </a:solidFill>
                <a:latin typeface="Consolas"/>
              </a:rPr>
              <a:t>         # frontend ✓</a:t>
            </a:r>
          </a:p>
          <a:p>
            <a:pPr>
              <a:lnSpc>
                <a:spcPct val="100000"/>
              </a:lnSpc>
            </a:pPr>
            <a:r>
              <a:rPr sz="1200" b="1" i="0">
                <a:solidFill>
                  <a:srgbClr val="00D4FF"/>
                </a:solidFill>
                <a:latin typeface="Consolas"/>
              </a:rPr>
              <a:t>▲ </a:t>
            </a:r>
            <a:r>
              <a:rPr sz="1200" b="1" i="0">
                <a:solidFill>
                  <a:srgbClr val="00D4FF"/>
                </a:solidFill>
                <a:latin typeface="Consolas"/>
              </a:rPr>
              <a:t>open the local URL  →  start asking</a:t>
            </a:r>
          </a:p>
        </p:txBody>
      </p:sp>
      <p:sp>
        <p:nvSpPr>
          <p:cNvPr id="31" name="Rounded Rectangle 30"/>
          <p:cNvSpPr/>
          <p:nvPr/>
        </p:nvSpPr>
        <p:spPr>
          <a:xfrm>
            <a:off x="7635240" y="1572768"/>
            <a:ext cx="4050791" cy="3950208"/>
          </a:xfrm>
          <a:prstGeom prst="roundRect">
            <a:avLst>
              <a:gd name="adj" fmla="val 35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635240" y="1572768"/>
            <a:ext cx="4050791" cy="420624"/>
          </a:xfrm>
          <a:prstGeom prst="roundRect">
            <a:avLst>
              <a:gd name="adj" fmla="val 16000"/>
            </a:avLst>
          </a:prstGeom>
          <a:solidFill>
            <a:srgbClr val="1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35240" y="1572768"/>
            <a:ext cx="64008" cy="42062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36408" y="1664208"/>
            <a:ext cx="3685031" cy="274320"/>
          </a:xfrm>
          <a:prstGeom prst="rect">
            <a:avLst/>
          </a:prstGeom>
          <a:noFill/>
        </p:spPr>
        <p:txBody>
          <a:bodyPr wrap="square" anchor="t" lIns="0" rIns="0" tIns="0" bIns="0">
            <a:spAutoFit/>
          </a:bodyPr>
          <a:lstStyle/>
          <a:p>
            <a:pPr>
              <a:lnSpc>
                <a:spcPct val="100000"/>
              </a:lnSpc>
            </a:pPr>
            <a:r>
              <a:rPr sz="1150" b="1" i="0" spc="100">
                <a:solidFill>
                  <a:srgbClr val="00D4FF"/>
                </a:solidFill>
                <a:latin typeface="Consolas"/>
              </a:rPr>
              <a:t>RUN NOTES</a:t>
            </a:r>
          </a:p>
        </p:txBody>
      </p:sp>
      <p:sp>
        <p:nvSpPr>
          <p:cNvPr id="35" name="TextBox 34"/>
          <p:cNvSpPr txBox="1"/>
          <p:nvPr/>
        </p:nvSpPr>
        <p:spPr>
          <a:xfrm>
            <a:off x="7891271" y="2221992"/>
            <a:ext cx="3566160" cy="3200400"/>
          </a:xfrm>
          <a:prstGeom prst="rect">
            <a:avLst/>
          </a:prstGeom>
          <a:noFill/>
        </p:spPr>
        <p:txBody>
          <a:bodyPr wrap="square" anchor="t" lIns="0" rIns="0" tIns="0" bIns="0">
            <a:spAutoFit/>
          </a:bodyPr>
          <a:lstStyle/>
          <a:p>
            <a:pPr marL="219456" indent="-219456">
              <a:lnSpc>
                <a:spcPct val="108000"/>
              </a:lnSpc>
              <a:spcAft>
                <a:spcPts val="1000"/>
              </a:spcAft>
            </a:pPr>
            <a:r>
              <a:rPr sz="1150" b="1" i="0">
                <a:solidFill>
                  <a:srgbClr val="00D4FF"/>
                </a:solidFill>
                <a:latin typeface="Consolas"/>
              </a:rPr>
              <a:t>▸  </a:t>
            </a:r>
            <a:r>
              <a:rPr sz="1150" b="1" i="0">
                <a:solidFill>
                  <a:srgbClr val="E6F1FF"/>
                </a:solidFill>
                <a:latin typeface="Arial"/>
              </a:rPr>
              <a:t>Prerequisites</a:t>
            </a:r>
            <a:r>
              <a:rPr sz="1150" b="0" i="0">
                <a:solidFill>
                  <a:srgbClr val="E6F1FF"/>
                </a:solidFill>
                <a:latin typeface="Arial"/>
              </a:rPr>
              <a:t> — Python 3.10+ · Node 18+ · Git · ≥ 1 API key</a:t>
            </a:r>
          </a:p>
          <a:p>
            <a:pPr marL="219456" indent="-219456">
              <a:lnSpc>
                <a:spcPct val="108000"/>
              </a:lnSpc>
              <a:spcAft>
                <a:spcPts val="1000"/>
              </a:spcAft>
            </a:pPr>
            <a:r>
              <a:rPr sz="1150" b="1" i="0">
                <a:solidFill>
                  <a:srgbClr val="00D4FF"/>
                </a:solidFill>
                <a:latin typeface="Consolas"/>
              </a:rPr>
              <a:t>▸  </a:t>
            </a:r>
            <a:r>
              <a:rPr sz="1150" b="1" i="0">
                <a:solidFill>
                  <a:srgbClr val="E6F1FF"/>
                </a:solidFill>
                <a:latin typeface="Arial"/>
              </a:rPr>
              <a:t>No DB server</a:t>
            </a:r>
            <a:r>
              <a:rPr sz="1150" b="0" i="0">
                <a:solidFill>
                  <a:srgbClr val="E6F1FF"/>
                </a:solidFill>
                <a:latin typeface="Arial"/>
              </a:rPr>
              <a:t> — SQLite ships inside the repo</a:t>
            </a:r>
          </a:p>
          <a:p>
            <a:pPr marL="219456" indent="-219456">
              <a:lnSpc>
                <a:spcPct val="108000"/>
              </a:lnSpc>
              <a:spcAft>
                <a:spcPts val="1000"/>
              </a:spcAft>
            </a:pPr>
            <a:r>
              <a:rPr sz="1150" b="1" i="0">
                <a:solidFill>
                  <a:srgbClr val="00D4FF"/>
                </a:solidFill>
                <a:latin typeface="Consolas"/>
              </a:rPr>
              <a:t>▸  </a:t>
            </a:r>
            <a:r>
              <a:rPr sz="1150" b="1" i="0">
                <a:solidFill>
                  <a:srgbClr val="E6F1FF"/>
                </a:solidFill>
                <a:latin typeface="Arial"/>
              </a:rPr>
              <a:t>One key runs it</a:t>
            </a:r>
            <a:r>
              <a:rPr sz="1150" b="0" i="0">
                <a:solidFill>
                  <a:srgbClr val="E6F1FF"/>
                </a:solidFill>
                <a:latin typeface="Arial"/>
              </a:rPr>
              <a:t> — a second key activates the failover router</a:t>
            </a:r>
          </a:p>
          <a:p>
            <a:pPr marL="219456" indent="-219456">
              <a:lnSpc>
                <a:spcPct val="108000"/>
              </a:lnSpc>
              <a:spcAft>
                <a:spcPts val="1000"/>
              </a:spcAft>
            </a:pPr>
            <a:r>
              <a:rPr sz="1150" b="1" i="0">
                <a:solidFill>
                  <a:srgbClr val="00D4FF"/>
                </a:solidFill>
                <a:latin typeface="Consolas"/>
              </a:rPr>
              <a:t>▸  </a:t>
            </a:r>
            <a:r>
              <a:rPr sz="1150" b="1" i="0">
                <a:solidFill>
                  <a:srgbClr val="E6F1FF"/>
                </a:solidFill>
                <a:latin typeface="Arial"/>
              </a:rPr>
              <a:t>&lt; 5 minutes</a:t>
            </a:r>
            <a:r>
              <a:rPr sz="1150" b="0" i="0">
                <a:solidFill>
                  <a:srgbClr val="E6F1FF"/>
                </a:solidFill>
                <a:latin typeface="Arial"/>
              </a:rPr>
              <a:t> — from git clone to first grounded answer</a:t>
            </a:r>
          </a:p>
        </p:txBody>
      </p:sp>
      <p:sp>
        <p:nvSpPr>
          <p:cNvPr id="36" name="Rounded Rectangle 35"/>
          <p:cNvSpPr/>
          <p:nvPr/>
        </p:nvSpPr>
        <p:spPr>
          <a:xfrm>
            <a:off x="502920" y="5715000"/>
            <a:ext cx="11185855" cy="420624"/>
          </a:xfrm>
          <a:prstGeom prst="roundRect">
            <a:avLst>
              <a:gd name="adj" fmla="val 50000"/>
            </a:avLst>
          </a:prstGeom>
          <a:solidFill>
            <a:srgbClr val="0E1622"/>
          </a:solidFill>
          <a:ln w="12700">
            <a:solidFill>
              <a:srgbClr val="2230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5806440"/>
            <a:ext cx="50292" cy="23774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5715000"/>
            <a:ext cx="10362895" cy="420624"/>
          </a:xfrm>
          <a:prstGeom prst="rect">
            <a:avLst/>
          </a:prstGeom>
          <a:noFill/>
        </p:spPr>
        <p:txBody>
          <a:bodyPr wrap="square" anchor="ctr" lIns="0" rIns="0" tIns="0" bIns="0">
            <a:spAutoFit/>
          </a:bodyPr>
          <a:lstStyle/>
          <a:p>
            <a:pPr>
              <a:lnSpc>
                <a:spcPct val="100000"/>
              </a:lnSpc>
            </a:pPr>
            <a:r>
              <a:rPr sz="1050" b="1" i="0" spc="60">
                <a:solidFill>
                  <a:srgbClr val="00FF41"/>
                </a:solidFill>
                <a:latin typeface="Consolas"/>
              </a:rPr>
              <a:t>CLONE IT DURING Q&amp;A — the demo is the pitch</a:t>
            </a:r>
          </a:p>
        </p:txBody>
      </p:sp>
      <p:sp>
        <p:nvSpPr>
          <p:cNvPr id="39" name="Rectangle 38"/>
          <p:cNvSpPr/>
          <p:nvPr/>
        </p:nvSpPr>
        <p:spPr>
          <a:xfrm>
            <a:off x="0" y="0"/>
            <a:ext cx="5120511" cy="41148"/>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120511" y="0"/>
            <a:ext cx="7071183" cy="4114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624767" y="25603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917375" y="256032"/>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56032" y="6291072"/>
            <a:ext cx="310896" cy="18288"/>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56032" y="6309360"/>
            <a:ext cx="18288" cy="31089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6473952"/>
            <a:ext cx="11185855" cy="12801"/>
          </a:xfrm>
          <a:prstGeom prst="rect">
            <a:avLst/>
          </a:prstGeom>
          <a:solidFill>
            <a:srgbClr val="2230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2920" y="6528816"/>
            <a:ext cx="5943600" cy="228600"/>
          </a:xfrm>
          <a:prstGeom prst="rect">
            <a:avLst/>
          </a:prstGeom>
          <a:noFill/>
        </p:spPr>
        <p:txBody>
          <a:bodyPr wrap="square" anchor="t" lIns="0" rIns="0" tIns="0" bIns="0">
            <a:spAutoFit/>
          </a:bodyPr>
          <a:lstStyle/>
          <a:p>
            <a:pPr>
              <a:lnSpc>
                <a:spcPct val="100000"/>
              </a:lnSpc>
            </a:pPr>
            <a:r>
              <a:rPr sz="800" b="1" i="0">
                <a:solidFill>
                  <a:srgbClr val="00FF41"/>
                </a:solidFill>
                <a:latin typeface="Consolas"/>
              </a:rPr>
              <a:t>ZODIAC AI </a:t>
            </a:r>
            <a:r>
              <a:rPr sz="800" b="0" i="0">
                <a:solidFill>
                  <a:srgbClr val="56637A"/>
                </a:solidFill>
                <a:latin typeface="Consolas"/>
              </a:rPr>
              <a:t>// CHAT WITH YOUR DATABASE // </a:t>
            </a:r>
            <a:r>
              <a:rPr sz="800" b="0" i="0">
                <a:solidFill>
                  <a:srgbClr val="00D4FF"/>
                </a:solidFill>
                <a:latin typeface="Consolas"/>
              </a:rPr>
              <a:t>GETTING STARTED</a:t>
            </a:r>
          </a:p>
        </p:txBody>
      </p:sp>
      <p:sp>
        <p:nvSpPr>
          <p:cNvPr id="47" name="TextBox 46"/>
          <p:cNvSpPr txBox="1"/>
          <p:nvPr/>
        </p:nvSpPr>
        <p:spPr>
          <a:xfrm>
            <a:off x="10774375" y="6528816"/>
            <a:ext cx="914400" cy="228600"/>
          </a:xfrm>
          <a:prstGeom prst="rect">
            <a:avLst/>
          </a:prstGeom>
          <a:noFill/>
        </p:spPr>
        <p:txBody>
          <a:bodyPr wrap="square" anchor="t" lIns="0" rIns="0" tIns="0" bIns="0">
            <a:spAutoFit/>
          </a:bodyPr>
          <a:lstStyle/>
          <a:p>
            <a:pPr algn="r">
              <a:lnSpc>
                <a:spcPct val="100000"/>
              </a:lnSpc>
            </a:pPr>
            <a:r>
              <a:rPr sz="800" b="1" i="0">
                <a:solidFill>
                  <a:srgbClr val="00FF41"/>
                </a:solidFill>
                <a:latin typeface="Consolas"/>
              </a:rPr>
              <a:t>10</a:t>
            </a:r>
            <a:r>
              <a:rPr sz="800" b="0" i="0">
                <a:solidFill>
                  <a:srgbClr val="56637A"/>
                </a:solidFill>
                <a:latin typeface="Consolas"/>
              </a:rPr>
              <a:t>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bg.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7863840" cy="6858000"/>
          </a:xfrm>
          <a:prstGeom prst="rect">
            <a:avLst/>
          </a:prstGeom>
          <a:solidFill>
            <a:srgbClr val="0A0E14">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120511" cy="4572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120511" y="0"/>
            <a:ext cx="7071183" cy="4572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7200"/>
            <a:ext cx="7315200" cy="274320"/>
          </a:xfrm>
          <a:prstGeom prst="rect">
            <a:avLst/>
          </a:prstGeom>
          <a:noFill/>
        </p:spPr>
        <p:txBody>
          <a:bodyPr wrap="square" anchor="t" lIns="0" rIns="0" tIns="0" bIns="0">
            <a:spAutoFit/>
          </a:bodyPr>
          <a:lstStyle/>
          <a:p>
            <a:pPr>
              <a:lnSpc>
                <a:spcPct val="100000"/>
              </a:lnSpc>
            </a:pPr>
            <a:r>
              <a:rPr sz="1100" b="0" i="0">
                <a:solidFill>
                  <a:srgbClr val="8B9BB4"/>
                </a:solidFill>
                <a:latin typeface="Consolas"/>
              </a:rPr>
              <a:t>$ status: </a:t>
            </a:r>
            <a:r>
              <a:rPr sz="1100" b="1" i="0">
                <a:solidFill>
                  <a:srgbClr val="00FF41"/>
                </a:solidFill>
                <a:latin typeface="Consolas"/>
              </a:rPr>
              <a:t>ALL SYSTEMS OPERATIONAL</a:t>
            </a:r>
          </a:p>
        </p:txBody>
      </p:sp>
      <p:sp>
        <p:nvSpPr>
          <p:cNvPr id="7" name="TextBox 6"/>
          <p:cNvSpPr txBox="1"/>
          <p:nvPr/>
        </p:nvSpPr>
        <p:spPr>
          <a:xfrm>
            <a:off x="566928" y="868680"/>
            <a:ext cx="8686800" cy="548640"/>
          </a:xfrm>
          <a:prstGeom prst="rect">
            <a:avLst/>
          </a:prstGeom>
          <a:noFill/>
        </p:spPr>
        <p:txBody>
          <a:bodyPr wrap="square" anchor="t" lIns="0" rIns="0" tIns="0" bIns="0">
            <a:spAutoFit/>
          </a:bodyPr>
          <a:lstStyle/>
          <a:p>
            <a:pPr>
              <a:lnSpc>
                <a:spcPct val="100000"/>
              </a:lnSpc>
            </a:pPr>
            <a:r>
              <a:rPr sz="3100" b="1" i="0">
                <a:solidFill>
                  <a:srgbClr val="E6F1FF"/>
                </a:solidFill>
                <a:latin typeface="Arial"/>
              </a:rPr>
              <a:t>The Database Is Now </a:t>
            </a:r>
            <a:r>
              <a:rPr sz="3100" b="1" i="0">
                <a:solidFill>
                  <a:srgbClr val="00D4FF"/>
                </a:solidFill>
                <a:latin typeface="Arial"/>
              </a:rPr>
              <a:t>a Conversation</a:t>
            </a:r>
          </a:p>
        </p:txBody>
      </p:sp>
      <p:sp>
        <p:nvSpPr>
          <p:cNvPr id="8" name="Rectangle 7"/>
          <p:cNvSpPr/>
          <p:nvPr/>
        </p:nvSpPr>
        <p:spPr>
          <a:xfrm>
            <a:off x="585216" y="1481328"/>
            <a:ext cx="1554480" cy="32004"/>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39696" y="1481328"/>
            <a:ext cx="502920" cy="32004"/>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83080"/>
            <a:ext cx="7406640" cy="3017520"/>
          </a:xfrm>
          <a:prstGeom prst="rect">
            <a:avLst/>
          </a:prstGeom>
          <a:noFill/>
        </p:spPr>
        <p:txBody>
          <a:bodyPr wrap="square" anchor="t" lIns="0" rIns="0" tIns="0" bIns="0">
            <a:spAutoFit/>
          </a:bodyPr>
          <a:lstStyle/>
          <a:p>
            <a:pPr marL="219456" indent="-219456">
              <a:lnSpc>
                <a:spcPct val="108000"/>
              </a:lnSpc>
              <a:spcAft>
                <a:spcPts val="1100"/>
              </a:spcAft>
            </a:pPr>
            <a:r>
              <a:rPr sz="1250" b="1" i="0">
                <a:solidFill>
                  <a:srgbClr val="00FF41"/>
                </a:solidFill>
                <a:latin typeface="Consolas"/>
              </a:rPr>
              <a:t>▸  </a:t>
            </a:r>
            <a:r>
              <a:rPr sz="1250" b="1" i="0">
                <a:solidFill>
                  <a:srgbClr val="E6F1FF"/>
                </a:solidFill>
                <a:latin typeface="Arial"/>
              </a:rPr>
              <a:t>What we built</a:t>
            </a:r>
            <a:r>
              <a:rPr sz="1250" b="0" i="0">
                <a:solidFill>
                  <a:srgbClr val="E6F1FF"/>
                </a:solidFill>
                <a:latin typeface="Arial"/>
              </a:rPr>
              <a:t> — exact SQL · interactive Plotly charts · live Mermaid diagrams · grounded explanations</a:t>
            </a:r>
          </a:p>
          <a:p>
            <a:pPr marL="219456" indent="-219456">
              <a:lnSpc>
                <a:spcPct val="108000"/>
              </a:lnSpc>
              <a:spcAft>
                <a:spcPts val="1100"/>
              </a:spcAft>
            </a:pPr>
            <a:r>
              <a:rPr sz="1250" b="1" i="0">
                <a:solidFill>
                  <a:srgbClr val="00FF41"/>
                </a:solidFill>
                <a:latin typeface="Consolas"/>
              </a:rPr>
              <a:t>▸  </a:t>
            </a:r>
            <a:r>
              <a:rPr sz="1250" b="1" i="0">
                <a:solidFill>
                  <a:srgbClr val="E6F1FF"/>
                </a:solidFill>
                <a:latin typeface="Arial"/>
              </a:rPr>
              <a:t>Why it matters</a:t>
            </a:r>
            <a:r>
              <a:rPr sz="1250" b="0" i="0">
                <a:solidFill>
                  <a:srgbClr val="E6F1FF"/>
                </a:solidFill>
                <a:latin typeface="Arial"/>
              </a:rPr>
              <a:t> — analytics at conversational speed — without the hallucination tax</a:t>
            </a:r>
          </a:p>
          <a:p>
            <a:pPr marL="219456" indent="-219456">
              <a:lnSpc>
                <a:spcPct val="108000"/>
              </a:lnSpc>
              <a:spcAft>
                <a:spcPts val="1100"/>
              </a:spcAft>
            </a:pPr>
            <a:r>
              <a:rPr sz="1250" b="1" i="0">
                <a:solidFill>
                  <a:srgbClr val="00FF41"/>
                </a:solidFill>
                <a:latin typeface="Consolas"/>
              </a:rPr>
              <a:t>▸  </a:t>
            </a:r>
            <a:r>
              <a:rPr sz="1250" b="1" i="0">
                <a:solidFill>
                  <a:srgbClr val="E6F1FF"/>
                </a:solidFill>
                <a:latin typeface="Arial"/>
              </a:rPr>
              <a:t>How it holds up</a:t>
            </a:r>
            <a:r>
              <a:rPr sz="1250" b="0" i="0">
                <a:solidFill>
                  <a:srgbClr val="E6F1FF"/>
                </a:solidFill>
                <a:latin typeface="Arial"/>
              </a:rPr>
              <a:t> — read-only guardrails · runtime schema awareness · multi-provider failover · 8-step reasoning</a:t>
            </a:r>
          </a:p>
          <a:p>
            <a:pPr marL="219456" indent="-219456">
              <a:lnSpc>
                <a:spcPct val="108000"/>
              </a:lnSpc>
              <a:spcAft>
                <a:spcPts val="1100"/>
              </a:spcAft>
            </a:pPr>
            <a:r>
              <a:rPr sz="1250" b="1" i="0">
                <a:solidFill>
                  <a:srgbClr val="00FF41"/>
                </a:solidFill>
                <a:latin typeface="Consolas"/>
              </a:rPr>
              <a:t>▸  </a:t>
            </a:r>
            <a:r>
              <a:rPr sz="1250" b="1" i="0">
                <a:solidFill>
                  <a:srgbClr val="E6F1FF"/>
                </a:solidFill>
                <a:latin typeface="Arial"/>
              </a:rPr>
              <a:t>What's next</a:t>
            </a:r>
            <a:r>
              <a:rPr sz="1250" b="0" i="0">
                <a:solidFill>
                  <a:srgbClr val="E6F1FF"/>
                </a:solidFill>
                <a:latin typeface="Arial"/>
              </a:rPr>
              <a:t> — Postgres / MySQL connectors · richer chart grammar · conversational follow-ups · shared query memory</a:t>
            </a:r>
          </a:p>
        </p:txBody>
      </p:sp>
      <p:sp>
        <p:nvSpPr>
          <p:cNvPr id="11" name="TextBox 10"/>
          <p:cNvSpPr txBox="1"/>
          <p:nvPr/>
        </p:nvSpPr>
        <p:spPr>
          <a:xfrm>
            <a:off x="566928" y="4892040"/>
            <a:ext cx="7315200" cy="365760"/>
          </a:xfrm>
          <a:prstGeom prst="rect">
            <a:avLst/>
          </a:prstGeom>
          <a:noFill/>
        </p:spPr>
        <p:txBody>
          <a:bodyPr wrap="square" anchor="t" lIns="0" rIns="0" tIns="0" bIns="0">
            <a:spAutoFit/>
          </a:bodyPr>
          <a:lstStyle/>
          <a:p>
            <a:pPr>
              <a:lnSpc>
                <a:spcPct val="100000"/>
              </a:lnSpc>
            </a:pPr>
            <a:r>
              <a:rPr sz="1500" b="1" i="0">
                <a:solidFill>
                  <a:srgbClr val="00FF41"/>
                </a:solidFill>
                <a:latin typeface="Consolas"/>
              </a:rPr>
              <a:t>▸ </a:t>
            </a:r>
            <a:r>
              <a:rPr sz="1500" b="1" i="0" spc="120">
                <a:solidFill>
                  <a:srgbClr val="00FF41"/>
                </a:solidFill>
                <a:latin typeface="Consolas"/>
              </a:rPr>
              <a:t>Clone it. Query it. Break it.</a:t>
            </a:r>
          </a:p>
        </p:txBody>
      </p:sp>
      <p:sp>
        <p:nvSpPr>
          <p:cNvPr id="12" name="TextBox 11"/>
          <p:cNvSpPr txBox="1"/>
          <p:nvPr/>
        </p:nvSpPr>
        <p:spPr>
          <a:xfrm>
            <a:off x="8407908" y="4325112"/>
            <a:ext cx="3291840" cy="1463040"/>
          </a:xfrm>
          <a:prstGeom prst="rect">
            <a:avLst/>
          </a:prstGeom>
          <a:noFill/>
        </p:spPr>
        <p:txBody>
          <a:bodyPr wrap="square" anchor="t" lIns="0" rIns="0" tIns="0" bIns="0">
            <a:spAutoFit/>
          </a:bodyPr>
          <a:lstStyle/>
          <a:p>
            <a:pPr algn="l">
              <a:lnSpc>
                <a:spcPct val="100000"/>
              </a:lnSpc>
            </a:pPr>
            <a:r>
              <a:rPr sz="8800" b="1" i="0">
                <a:solidFill>
                  <a:srgbClr val="00D4FF"/>
                </a:solidFill>
                <a:latin typeface="Arial"/>
              </a:rPr>
              <a:t>Q&amp;A</a:t>
            </a:r>
          </a:p>
        </p:txBody>
      </p:sp>
      <p:sp>
        <p:nvSpPr>
          <p:cNvPr id="13" name="TextBox 12"/>
          <p:cNvSpPr txBox="1"/>
          <p:nvPr/>
        </p:nvSpPr>
        <p:spPr>
          <a:xfrm>
            <a:off x="8366760" y="4297680"/>
            <a:ext cx="3291840" cy="1463040"/>
          </a:xfrm>
          <a:prstGeom prst="rect">
            <a:avLst/>
          </a:prstGeom>
          <a:noFill/>
        </p:spPr>
        <p:txBody>
          <a:bodyPr wrap="square" anchor="t" lIns="0" rIns="0" tIns="0" bIns="0">
            <a:spAutoFit/>
          </a:bodyPr>
          <a:lstStyle/>
          <a:p>
            <a:pPr algn="l">
              <a:lnSpc>
                <a:spcPct val="100000"/>
              </a:lnSpc>
            </a:pPr>
            <a:r>
              <a:rPr sz="8800" b="1" i="0">
                <a:solidFill>
                  <a:srgbClr val="00FF41"/>
                </a:solidFill>
                <a:latin typeface="Arial"/>
              </a:rPr>
              <a:t>Q&amp;A</a:t>
            </a:r>
          </a:p>
        </p:txBody>
      </p:sp>
      <p:sp>
        <p:nvSpPr>
          <p:cNvPr id="14" name="TextBox 13"/>
          <p:cNvSpPr txBox="1"/>
          <p:nvPr/>
        </p:nvSpPr>
        <p:spPr>
          <a:xfrm>
            <a:off x="8412480" y="5715000"/>
            <a:ext cx="3200400" cy="320040"/>
          </a:xfrm>
          <a:prstGeom prst="rect">
            <a:avLst/>
          </a:prstGeom>
          <a:noFill/>
        </p:spPr>
        <p:txBody>
          <a:bodyPr wrap="square" anchor="t" lIns="0" rIns="0" tIns="0" bIns="0">
            <a:spAutoFit/>
          </a:bodyPr>
          <a:lstStyle/>
          <a:p>
            <a:pPr algn="ctr">
              <a:lnSpc>
                <a:spcPct val="100000"/>
              </a:lnSpc>
            </a:pPr>
            <a:r>
              <a:rPr sz="1300" b="0" i="0">
                <a:solidFill>
                  <a:srgbClr val="E6F1FF"/>
                </a:solidFill>
                <a:latin typeface="Consolas"/>
              </a:rPr>
              <a:t>&gt; ask anything</a:t>
            </a:r>
            <a:r>
              <a:rPr sz="1300" b="1" i="0">
                <a:solidFill>
                  <a:srgbClr val="00FF41"/>
                </a:solidFill>
                <a:latin typeface="Consolas"/>
              </a:rPr>
              <a:t>_</a:t>
            </a:r>
          </a:p>
        </p:txBody>
      </p:sp>
      <p:sp>
        <p:nvSpPr>
          <p:cNvPr id="15" name="TextBox 14"/>
          <p:cNvSpPr txBox="1"/>
          <p:nvPr/>
        </p:nvSpPr>
        <p:spPr>
          <a:xfrm>
            <a:off x="566928" y="6263640"/>
            <a:ext cx="7315200" cy="274320"/>
          </a:xfrm>
          <a:prstGeom prst="rect">
            <a:avLst/>
          </a:prstGeom>
          <a:noFill/>
        </p:spPr>
        <p:txBody>
          <a:bodyPr wrap="square" anchor="t" lIns="0" rIns="0" tIns="0" bIns="0">
            <a:spAutoFit/>
          </a:bodyPr>
          <a:lstStyle/>
          <a:p>
            <a:pPr>
              <a:lnSpc>
                <a:spcPct val="100000"/>
              </a:lnSpc>
            </a:pPr>
            <a:r>
              <a:rPr sz="900" b="0" i="0" spc="250">
                <a:solidFill>
                  <a:srgbClr val="56637A"/>
                </a:solidFill>
                <a:latin typeface="Consolas"/>
              </a:rPr>
              <a:t>ZODIAC AI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Zodiac AI — Pitch Deck &amp; Technical Overview</dc:title>
  <dc:subject>Chat with your Database — text-to-SQL agent</dc:subject>
  <dc:creator>Zodiac AI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