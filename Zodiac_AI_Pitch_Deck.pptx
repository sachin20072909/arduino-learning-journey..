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DIRECTION — Full-bleed cyber-grid scene. Holographic wireframe database cylinder (right) streaming neon-green particles into a floating chat terminal. Electric-blue perspective grid floor, faint 12-star Zodiac constellation overhead. 'ZODIAC' set as a neon sign with chromatic fringing; terminal status bar on top.</a:t>
            </a:r>
          </a:p>
          <a:p/>
          <a:p>
            <a:r>
              <a:t>SPEAKER NOTES — Open with the one-liner: 'Every company runs on data — almost nobody can talk to it directly.' Introduce Zodiac AI as a conversational agent between humans and the relational database: ask in plain English, get the exact SQL, the chart, the diagram, and the numbers — every figure traceable to an executed query. Set the hook fast; promise the architecture tour.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DIRECTION — Split-screen divided by a pulsing electric-blue lightning seam. Left: desaturated grey-blue mosaic of stale BI dashboards, CSV exports, ticket queues, slightly glitching. Right: vivid neon chat exchange — 'What drove revenue last quarter?' answered with a glowing SQL snippet, mini chart and bullet explanation.</a:t>
            </a:r>
          </a:p>
          <a:p/>
          <a:p>
            <a:r>
              <a:t>SPEAKER NOTES — Frame it as economics: the real cost of BI is the latency between question and answer. When latency is days, people stop asking. Generic chatbots feel instant but fabricate — speed without trust. Zodiac collapses the loop to seconds while keeping every number traceable to an executed query. Position carefully: 'We're not replacing analysts — we're unblocking everyone else.'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DIRECTION — Vertical layered-architecture diagram rendered as a neon circuit-board cross-section (chip die-shot). Four glowing strata: FRONTEND, API, AI (two chips GROQ/GEMINI through a router switch), DATA (green SQLite cylinder). Data beams travel through vias between layers; monospace spec labels on the right edge. Side panel: 3D render of the four-layer glass stack.</a:t>
            </a:r>
          </a:p>
          <a:p/>
          <a:p>
            <a:r>
              <a:t>SPEAKER NOTES — Two reasons for these choices: iteration velocity and architectural portability. React + TanStack handles the chat-plus-live-chart pattern. FastAPI gives async Python with strict validation. SQLite makes the demo infinitely portable. Most important: the AI layer is deliberately abstracted — the agent never talks to a vendor, it talks to the router.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DIRECTION — Left panel: 3D render of the provider router — central cube node, bright neon-green GROQ path severed mid-flight with red glitch sparks, electric-blue GEMINI path actively carrying particle traffic. Right panel: orbital ring of 8 nodes with a directional energy pulse around an AGENT CONTEXT core; segment 4→7 glows brighter, labeled ITERATE UNTIL GROUNDED.</a:t>
            </a:r>
          </a:p>
          <a:p/>
          <a:p>
            <a:r>
              <a:t>SPEAKER NOTES — Two ideas. First, resilience: LLM providers are utilities, and utilities go down — the router treats Groq and Gemini as interchangeable, so when Groq rate-limits mid-session the user never notices. Second, the loop: this is not one-shot prompt → answer. The agent reasons, acts, observes, iterates — if the first query errors or returns partial data, it self-corrects. Answers are earned through iteration.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DIRECTION — Two floating terminals with CRT scanlines. Left (get_schema): glowing schema tree — sales_db → customers/products/orders/order_items — column types cascading in green monospace. Right (execute_query): a SELECT+JOIN executing with a green READ-ONLY badge; beneath it, a red-glowing rejected 'DROP TABLE orders;' stamped BLOCKED — WRITE GUARD.</a:t>
            </a:r>
          </a:p>
          <a:p/>
          <a:p>
            <a:r>
              <a:t>SPEAKER NOTES — Trust is the product, and these two tools are its foundation. The agent reads the schema fresh at runtime — it cannot reference a column that doesn't exist — and it executes real SQL, so answers come from the database, not the model's memory. The read-only guard means the worst-case interaction is an empty result set. Users always see the exact SQL behind every number.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DIRECTION — Left: two stacked glass panels for the Plotly and Mermaid tools. Right: hologram render — a glowing line chart above a node-graph flow diagram, particles drifting between them. Faint source code (fig = px.bar(...) / graph TD;) morphs into the visuals: the code-to-render transformation made visible.</a:t>
            </a:r>
          </a:p>
          <a:p/>
          <a:p>
            <a:r>
              <a:t>SPEAKER NOTES — Text-only answers waste an LLM's real strength: structured generation. Zodiac treats visuals as first-class outputs — the model doesn't describe a chart, it writes the chart definition, and Plotly and Mermaid render it deterministically. Because the spec is generated from executed query results, the visual carries the same grounding as the SQL behind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DIRECTION — A neon magnifying lens hovers over a glowing result-set table; cells illuminate green and lift out, flowing upward into a paragraph where the same numbers appear highlighted — numbers traced to rows. Math glyphs (∑, μ, x̄, Δ%) orbit the lens. In the corner, a ghostly chatbot bubble with a made-up statistic is slashed in red.</a:t>
            </a:r>
          </a:p>
          <a:p/>
          <a:p>
            <a:r>
              <a:t>SPEAKER NOTES — This slide separates Zodiac from a wrapped chat API. Generic LLMs interpolate plausible-sounding statistics; Zodiac computes the statistics first and writes the narrative around them. The pipeline is strict: query → compute → narrate. If a number can't be traced to a result set, it doesn't make it into the answer. Say it plainly: 'We don't ask the model to remember your revenue. We ask your database.'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DIRECTION — An ERD reimagined as a neon circuit schematic on a dark PCB. Four table-nodes as glowing chips — CUSTOMERS (green), PRODUCTS (blue), ORDERS (green), ORDER_ITEMS (blue) — connected by luminous traces with pulsing cardinality glyphs (1 — ∞) at each junction. Pin-labels expose key columns. Faint grid and ruler ticks frame it like engineering blueprints.</a:t>
            </a:r>
          </a:p>
          <a:p/>
          <a:p>
            <a:r>
              <a:t>SPEAKER NOTES — The demo dataset is deliberately canonical e-commerce: instantly understandable, and join-heavy — exactly where naive text-to-SQL breaks. Every interesting question (top customers, revenue per product, average order value) crosses at least one join. If the agent is correct on this schema, it generalizes. And the schema is never baked into prompts — it's discovered live.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DIRECTION — Dark-mode chat UI with user message bubbles in neon outline, each paired with an accent category chip (AGGREGATION, RANKING, TREND, JOIN, SCHEMA, QUALITY). One exchange expanded to show the full multi-part response: SQL block, mini Plotly chart, explanation paragraph. An empty input field with a blinking cursor: '&gt; ask anything_'</a:t>
            </a:r>
          </a:p>
          <a:p/>
          <a:p>
            <a:r>
              <a:t>SPEAKER NOTES — Walk one or two bubbles aloud, then let the audience read the rest. Point out the data-quality category last — it proves the agent can reason about the database, not just retrieve from it. Close on the bundle: a single prompt yields the SQL, a rendered chart, and a grounded explanation. That triple — query, visual, narrative — is the product experience.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DIRECTION — A full terminal styled as a boot sequence with CRT scanlines: command lines with a typing cursor, executed lines flashing green with ✓, a progress-bar motif [████████░░] LOADING. The final command launches the app. Side panel: run notes. The .env keys are masked.</a:t>
            </a:r>
          </a:p>
          <a:p/>
          <a:p>
            <a:r>
              <a:t>SPEAKER NOTES — The pitch of this slide is friction — or its absence. SQLite means no database server to stand up: the schema ships inside the repo. One API key is enough to run; the second is optional insurance that activates failover. From git clone to first grounded answer: under five minutes. Invite the audience to do it live during Q&amp;A.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DIRECTION — Wide cinematic shot of the Zodiac constellation — 12 stars connected by neon lines — reflected on the cyber-grid floor, closing the visual loop with Slide 1. Data streams flow from the constellation down into a small glowing database cylinder. Terminal reads '$ status: ALL SYSTEMS OPERATIONAL' with a blinking '&gt; ask anything_'. Oversized Q&amp;A as a neon sign with chromatic fringing.</a:t>
            </a:r>
          </a:p>
          <a:p/>
          <a:p>
            <a:r>
              <a:t>SPEAKER NOTES — Close the loop with the opening line: databases used to be things you queried — now they're things you talk to. Recap the four pillars in one breath: exact SQL, live visuals, grounded numbers, resilient architecture. Open the floor — and if the room is quiet, seed the first question: 'Ask me what happens when Groq goes down mid-query.'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jp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5.jp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6.jp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7.jp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ero-title.jp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7680960" cy="6858000"/>
          </a:xfrm>
          <a:prstGeom prst="rect">
            <a:avLst/>
          </a:prstGeom>
          <a:gradFill rotWithShape="1">
            <a:gsLst>
              <a:gs pos="0">
                <a:srgbClr val="0A0E14">
                  <a:alpha val="97000"/>
                </a:srgbClr>
              </a:gs>
              <a:gs pos="55000">
                <a:srgbClr val="0A0E14">
                  <a:alpha val="82000"/>
                </a:srgbClr>
              </a:gs>
              <a:gs pos="100000">
                <a:srgbClr val="0A0E14">
                  <a:alpha val="0"/>
                </a:srgbClr>
              </a:gs>
            </a:gsLst>
            <a:lin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120511" cy="36576"/>
          </a:xfrm>
          <a:prstGeom prst="rect">
            <a:avLst/>
          </a:prstGeom>
          <a:solidFill>
            <a:srgbClr val="00FF41"/>
          </a:solidFill>
          <a:ln>
            <a:noFill/>
          </a:ln>
          <a:effectLst>
            <a:glow rad="63500">
              <a:srgbClr val="00FF41">
                <a:alpha val="4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120511" y="0"/>
            <a:ext cx="7071183" cy="36576"/>
          </a:xfrm>
          <a:prstGeom prst="rect">
            <a:avLst/>
          </a:prstGeom>
          <a:solidFill>
            <a:srgbClr val="00D4FF"/>
          </a:solidFill>
          <a:ln>
            <a:noFill/>
          </a:ln>
          <a:effectLst>
            <a:glow rad="63500">
              <a:srgbClr val="00D4FF">
                <a:alpha val="4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475488"/>
            <a:ext cx="8229600" cy="274320"/>
          </a:xfrm>
          <a:prstGeom prst="rect">
            <a:avLst/>
          </a:prstGeom>
          <a:noFill/>
        </p:spPr>
        <p:txBody>
          <a:bodyPr wrap="square" anchor="t" lIns="0" rIns="0" tIns="0" bIns="0">
            <a:spAutoFit/>
          </a:bodyPr>
          <a:lstStyle/>
          <a:p>
            <a:pPr algn="l">
              <a:lnSpc>
                <a:spcPct val="100000"/>
              </a:lnSpc>
            </a:pPr>
            <a:r>
              <a:rPr sz="1100" b="0" i="0">
                <a:solidFill>
                  <a:srgbClr val="93A6C4"/>
                </a:solidFill>
                <a:latin typeface="Consolas"/>
              </a:rPr>
              <a:t>ZODIAC OS v1.0 // TEXT-TO-SQL AGENT // STATUS: </a:t>
            </a:r>
            <a:r>
              <a:rPr sz="1100" b="1" i="0">
                <a:solidFill>
                  <a:srgbClr val="00FF41"/>
                </a:solidFill>
                <a:effectLst>
                  <a:glow rad="50800">
                    <a:srgbClr val="00FF41">
                      <a:alpha val="55000"/>
                    </a:srgbClr>
                  </a:glow>
                </a:effectLst>
                <a:latin typeface="Consolas"/>
              </a:rPr>
              <a:t>ONLINE</a:t>
            </a:r>
            <a:r>
              <a:rPr sz="1100" b="0" i="0">
                <a:solidFill>
                  <a:srgbClr val="00FF41"/>
                </a:solidFill>
                <a:effectLst>
                  <a:glow rad="50800">
                    <a:srgbClr val="00FF41">
                      <a:alpha val="55000"/>
                    </a:srgbClr>
                  </a:glow>
                </a:effectLst>
                <a:latin typeface="Consolas"/>
              </a:rPr>
              <a:t>  ▮</a:t>
            </a:r>
          </a:p>
        </p:txBody>
      </p:sp>
      <p:sp>
        <p:nvSpPr>
          <p:cNvPr id="7" name="TextBox 6"/>
          <p:cNvSpPr txBox="1"/>
          <p:nvPr/>
        </p:nvSpPr>
        <p:spPr>
          <a:xfrm>
            <a:off x="566928" y="1344168"/>
            <a:ext cx="7863840" cy="1508760"/>
          </a:xfrm>
          <a:prstGeom prst="rect">
            <a:avLst/>
          </a:prstGeom>
          <a:noFill/>
        </p:spPr>
        <p:txBody>
          <a:bodyPr wrap="square" anchor="t" lIns="0" rIns="0" tIns="0" bIns="0">
            <a:spAutoFit/>
          </a:bodyPr>
          <a:lstStyle/>
          <a:p>
            <a:pPr algn="l">
              <a:lnSpc>
                <a:spcPct val="100000"/>
              </a:lnSpc>
            </a:pPr>
            <a:r>
              <a:rPr sz="9200" b="1" i="0">
                <a:solidFill>
                  <a:srgbClr val="00D4FF">
                    <a:alpha val="55000"/>
                  </a:srgbClr>
                </a:solidFill>
                <a:latin typeface="Bahnschrift"/>
              </a:rPr>
              <a:t>ZODIAC AI</a:t>
            </a:r>
          </a:p>
        </p:txBody>
      </p:sp>
      <p:sp>
        <p:nvSpPr>
          <p:cNvPr id="8" name="TextBox 7"/>
          <p:cNvSpPr txBox="1"/>
          <p:nvPr/>
        </p:nvSpPr>
        <p:spPr>
          <a:xfrm>
            <a:off x="502920" y="1298448"/>
            <a:ext cx="7863840" cy="1508760"/>
          </a:xfrm>
          <a:prstGeom prst="rect">
            <a:avLst/>
          </a:prstGeom>
          <a:noFill/>
        </p:spPr>
        <p:txBody>
          <a:bodyPr wrap="square" anchor="t" lIns="0" rIns="0" tIns="0" bIns="0">
            <a:spAutoFit/>
          </a:bodyPr>
          <a:lstStyle/>
          <a:p>
            <a:pPr algn="l">
              <a:lnSpc>
                <a:spcPct val="100000"/>
              </a:lnSpc>
            </a:pPr>
            <a:r>
              <a:rPr sz="9200" b="1" i="0">
                <a:solidFill>
                  <a:srgbClr val="FFFFFF"/>
                </a:solidFill>
                <a:effectLst>
                  <a:glow rad="139700">
                    <a:srgbClr val="00FF41">
                      <a:alpha val="50000"/>
                    </a:srgbClr>
                  </a:glow>
                </a:effectLst>
                <a:latin typeface="Bahnschrift"/>
              </a:rPr>
              <a:t>ZODIAC AI</a:t>
            </a:r>
          </a:p>
        </p:txBody>
      </p:sp>
      <p:sp>
        <p:nvSpPr>
          <p:cNvPr id="9" name="TextBox 8"/>
          <p:cNvSpPr txBox="1"/>
          <p:nvPr/>
        </p:nvSpPr>
        <p:spPr>
          <a:xfrm>
            <a:off x="576072" y="2907792"/>
            <a:ext cx="7315200" cy="502920"/>
          </a:xfrm>
          <a:prstGeom prst="rect">
            <a:avLst/>
          </a:prstGeom>
          <a:noFill/>
        </p:spPr>
        <p:txBody>
          <a:bodyPr wrap="square" anchor="t" lIns="0" rIns="0" tIns="0" bIns="0">
            <a:spAutoFit/>
          </a:bodyPr>
          <a:lstStyle/>
          <a:p>
            <a:pPr algn="l">
              <a:lnSpc>
                <a:spcPct val="100000"/>
              </a:lnSpc>
            </a:pPr>
            <a:r>
              <a:rPr sz="2600" b="0" i="0">
                <a:solidFill>
                  <a:srgbClr val="EAF4FF"/>
                </a:solidFill>
                <a:latin typeface="Segoe UI Light"/>
              </a:rPr>
              <a:t>Chat with Your Database</a:t>
            </a:r>
          </a:p>
        </p:txBody>
      </p:sp>
      <p:sp>
        <p:nvSpPr>
          <p:cNvPr id="10" name="Rectangle 9"/>
          <p:cNvSpPr/>
          <p:nvPr/>
        </p:nvSpPr>
        <p:spPr>
          <a:xfrm>
            <a:off x="594360" y="3493008"/>
            <a:ext cx="2194560" cy="31089"/>
          </a:xfrm>
          <a:prstGeom prst="rect">
            <a:avLst/>
          </a:prstGeom>
          <a:solidFill>
            <a:srgbClr val="00FF41"/>
          </a:solidFill>
          <a:ln>
            <a:noFill/>
          </a:ln>
          <a:effectLst>
            <a:glow rad="50800">
              <a:srgbClr val="00FF41">
                <a:alpha val="5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788920" y="3493008"/>
            <a:ext cx="731520" cy="31089"/>
          </a:xfrm>
          <a:prstGeom prst="rect">
            <a:avLst/>
          </a:prstGeom>
          <a:solidFill>
            <a:srgbClr val="00D4FF"/>
          </a:solidFill>
          <a:ln>
            <a:noFill/>
          </a:ln>
          <a:effectLst>
            <a:glow rad="50800">
              <a:srgbClr val="00D4FF">
                <a:alpha val="5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76072" y="3703320"/>
            <a:ext cx="6858000" cy="914400"/>
          </a:xfrm>
          <a:prstGeom prst="rect">
            <a:avLst/>
          </a:prstGeom>
          <a:noFill/>
        </p:spPr>
        <p:txBody>
          <a:bodyPr wrap="square" anchor="t" lIns="0" rIns="0" tIns="0" bIns="0">
            <a:spAutoFit/>
          </a:bodyPr>
          <a:lstStyle/>
          <a:p>
            <a:pPr algn="l">
              <a:lnSpc>
                <a:spcPct val="118000"/>
              </a:lnSpc>
              <a:spcAft>
                <a:spcPts val="300"/>
              </a:spcAft>
            </a:pPr>
            <a:r>
              <a:rPr sz="1300" b="0" i="0">
                <a:solidFill>
                  <a:srgbClr val="93A6C4"/>
                </a:solidFill>
                <a:latin typeface="Segoe UI"/>
              </a:rPr>
              <a:t>A conversational agent that talks directly to relational databases —</a:t>
            </a:r>
          </a:p>
          <a:p>
            <a:pPr algn="l">
              <a:lnSpc>
                <a:spcPct val="118000"/>
              </a:lnSpc>
              <a:spcAft>
                <a:spcPts val="300"/>
              </a:spcAft>
            </a:pPr>
            <a:r>
              <a:rPr sz="1300" b="0" i="0">
                <a:solidFill>
                  <a:srgbClr val="93A6C4"/>
                </a:solidFill>
                <a:latin typeface="Segoe UI"/>
              </a:rPr>
              <a:t>answering with </a:t>
            </a:r>
            <a:r>
              <a:rPr sz="1300" b="1" i="0">
                <a:solidFill>
                  <a:srgbClr val="00FF41"/>
                </a:solidFill>
                <a:latin typeface="Segoe UI"/>
              </a:rPr>
              <a:t>exact SQL</a:t>
            </a:r>
            <a:r>
              <a:rPr sz="1300" b="0" i="0">
                <a:solidFill>
                  <a:srgbClr val="93A6C4"/>
                </a:solidFill>
                <a:latin typeface="Segoe UI"/>
              </a:rPr>
              <a:t>, </a:t>
            </a:r>
            <a:r>
              <a:rPr sz="1300" b="1" i="0">
                <a:solidFill>
                  <a:srgbClr val="00D4FF"/>
                </a:solidFill>
                <a:latin typeface="Segoe UI"/>
              </a:rPr>
              <a:t>interactive Plotly charts</a:t>
            </a:r>
            <a:r>
              <a:rPr sz="1300" b="0" i="0">
                <a:solidFill>
                  <a:srgbClr val="93A6C4"/>
                </a:solidFill>
                <a:latin typeface="Segoe UI"/>
              </a:rPr>
              <a:t>, </a:t>
            </a:r>
            <a:r>
              <a:rPr sz="1300" b="1" i="0">
                <a:solidFill>
                  <a:srgbClr val="00D4FF"/>
                </a:solidFill>
                <a:latin typeface="Segoe UI"/>
              </a:rPr>
              <a:t>live Mermaid diagrams</a:t>
            </a:r>
            <a:r>
              <a:rPr sz="1300" b="0" i="0">
                <a:solidFill>
                  <a:srgbClr val="93A6C4"/>
                </a:solidFill>
                <a:latin typeface="Segoe UI"/>
              </a:rPr>
              <a:t> and</a:t>
            </a:r>
          </a:p>
          <a:p>
            <a:pPr algn="l">
              <a:lnSpc>
                <a:spcPct val="118000"/>
              </a:lnSpc>
            </a:pPr>
            <a:r>
              <a:rPr sz="1300" b="1" i="0">
                <a:solidFill>
                  <a:srgbClr val="00FF41"/>
                </a:solidFill>
                <a:latin typeface="Segoe UI"/>
              </a:rPr>
              <a:t>mathematically grounded explanations</a:t>
            </a:r>
            <a:r>
              <a:rPr sz="1300" b="0" i="0">
                <a:solidFill>
                  <a:srgbClr val="93A6C4"/>
                </a:solidFill>
                <a:latin typeface="Segoe UI"/>
              </a:rPr>
              <a:t>.</a:t>
            </a:r>
          </a:p>
        </p:txBody>
      </p:sp>
      <p:sp>
        <p:nvSpPr>
          <p:cNvPr id="13" name="Rounded Rectangle 12"/>
          <p:cNvSpPr/>
          <p:nvPr/>
        </p:nvSpPr>
        <p:spPr>
          <a:xfrm>
            <a:off x="576072" y="4864608"/>
            <a:ext cx="4892040" cy="493776"/>
          </a:xfrm>
          <a:prstGeom prst="roundRect">
            <a:avLst>
              <a:gd name="adj" fmla="val 50000"/>
            </a:avLst>
          </a:prstGeom>
          <a:solidFill>
            <a:srgbClr val="0A0E14">
              <a:alpha val="62000"/>
            </a:srgbClr>
          </a:solidFill>
          <a:ln w="15240">
            <a:solidFill>
              <a:srgbClr val="00FF41"/>
            </a:solidFill>
          </a:ln>
          <a:effectLst>
            <a:glow rad="76200">
              <a:srgbClr val="00FF41">
                <a:alpha val="4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76072" y="4864608"/>
            <a:ext cx="4892040" cy="493776"/>
          </a:xfrm>
          <a:prstGeom prst="rect">
            <a:avLst/>
          </a:prstGeom>
          <a:noFill/>
        </p:spPr>
        <p:txBody>
          <a:bodyPr wrap="square" anchor="ctr" lIns="0" rIns="0" tIns="0" bIns="0">
            <a:spAutoFit/>
          </a:bodyPr>
          <a:lstStyle/>
          <a:p>
            <a:pPr algn="ctr">
              <a:lnSpc>
                <a:spcPct val="100000"/>
              </a:lnSpc>
            </a:pPr>
            <a:r>
              <a:rPr sz="1450" b="1" i="0">
                <a:solidFill>
                  <a:srgbClr val="00D4FF"/>
                </a:solidFill>
                <a:latin typeface="Consolas"/>
              </a:rPr>
              <a:t>&gt; </a:t>
            </a:r>
            <a:r>
              <a:rPr sz="1450" b="1" i="0" spc="170">
                <a:solidFill>
                  <a:srgbClr val="00FF41"/>
                </a:solidFill>
                <a:effectLst>
                  <a:glow rad="50800">
                    <a:srgbClr val="00FF41">
                      <a:alpha val="45000"/>
                    </a:srgbClr>
                  </a:glow>
                </a:effectLst>
                <a:latin typeface="Consolas"/>
              </a:rPr>
              <a:t>NOT GUESSES. GROUND TRUTH.</a:t>
            </a:r>
          </a:p>
        </p:txBody>
      </p:sp>
      <p:sp>
        <p:nvSpPr>
          <p:cNvPr id="15" name="Rounded Rectangle 14"/>
          <p:cNvSpPr/>
          <p:nvPr/>
        </p:nvSpPr>
        <p:spPr>
          <a:xfrm>
            <a:off x="576072" y="5614416"/>
            <a:ext cx="989380" cy="329184"/>
          </a:xfrm>
          <a:prstGeom prst="roundRect">
            <a:avLst>
              <a:gd name="adj" fmla="val 50000"/>
            </a:avLst>
          </a:prstGeom>
          <a:solidFill>
            <a:srgbClr val="0A0E14"/>
          </a:solidFill>
          <a:ln w="15240">
            <a:solidFill>
              <a:srgbClr val="00D4FF"/>
            </a:solidFill>
          </a:ln>
          <a:effectLst>
            <a:glow rad="50800">
              <a:srgbClr val="00D4FF">
                <a:alpha val="4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6072" y="5614416"/>
            <a:ext cx="989380" cy="329184"/>
          </a:xfrm>
          <a:prstGeom prst="rect">
            <a:avLst/>
          </a:prstGeom>
          <a:noFill/>
        </p:spPr>
        <p:txBody>
          <a:bodyPr wrap="square" anchor="ctr" lIns="0" rIns="0" tIns="0" bIns="0">
            <a:spAutoFit/>
          </a:bodyPr>
          <a:lstStyle/>
          <a:p>
            <a:pPr algn="ctr">
              <a:lnSpc>
                <a:spcPct val="100000"/>
              </a:lnSpc>
            </a:pPr>
            <a:r>
              <a:rPr sz="950" b="1" i="0">
                <a:solidFill>
                  <a:srgbClr val="00D4FF"/>
                </a:solidFill>
                <a:latin typeface="Consolas"/>
              </a:rPr>
              <a:t>TEXT-TO-SQL</a:t>
            </a:r>
          </a:p>
        </p:txBody>
      </p:sp>
      <p:sp>
        <p:nvSpPr>
          <p:cNvPr id="17" name="Rounded Rectangle 16"/>
          <p:cNvSpPr/>
          <p:nvPr/>
        </p:nvSpPr>
        <p:spPr>
          <a:xfrm>
            <a:off x="1720900" y="5614416"/>
            <a:ext cx="1064361" cy="329184"/>
          </a:xfrm>
          <a:prstGeom prst="roundRect">
            <a:avLst>
              <a:gd name="adj" fmla="val 50000"/>
            </a:avLst>
          </a:prstGeom>
          <a:solidFill>
            <a:srgbClr val="0A0E14"/>
          </a:solidFill>
          <a:ln w="15240">
            <a:solidFill>
              <a:srgbClr val="00D4FF"/>
            </a:solidFill>
          </a:ln>
          <a:effectLst>
            <a:glow rad="50800">
              <a:srgbClr val="00D4FF">
                <a:alpha val="4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720900" y="5614416"/>
            <a:ext cx="1064361" cy="329184"/>
          </a:xfrm>
          <a:prstGeom prst="rect">
            <a:avLst/>
          </a:prstGeom>
          <a:noFill/>
        </p:spPr>
        <p:txBody>
          <a:bodyPr wrap="square" anchor="ctr" lIns="0" rIns="0" tIns="0" bIns="0">
            <a:spAutoFit/>
          </a:bodyPr>
          <a:lstStyle/>
          <a:p>
            <a:pPr algn="ctr">
              <a:lnSpc>
                <a:spcPct val="100000"/>
              </a:lnSpc>
            </a:pPr>
            <a:r>
              <a:rPr sz="950" b="1" i="0">
                <a:solidFill>
                  <a:srgbClr val="00D4FF"/>
                </a:solidFill>
                <a:latin typeface="Consolas"/>
              </a:rPr>
              <a:t>AGENTIC LOOP</a:t>
            </a:r>
          </a:p>
        </p:txBody>
      </p:sp>
      <p:sp>
        <p:nvSpPr>
          <p:cNvPr id="19" name="Rounded Rectangle 18"/>
          <p:cNvSpPr/>
          <p:nvPr/>
        </p:nvSpPr>
        <p:spPr>
          <a:xfrm>
            <a:off x="2940710" y="5614416"/>
            <a:ext cx="1214323" cy="329184"/>
          </a:xfrm>
          <a:prstGeom prst="roundRect">
            <a:avLst>
              <a:gd name="adj" fmla="val 50000"/>
            </a:avLst>
          </a:prstGeom>
          <a:solidFill>
            <a:srgbClr val="0A0E14"/>
          </a:solidFill>
          <a:ln w="15240">
            <a:solidFill>
              <a:srgbClr val="00D4FF"/>
            </a:solidFill>
          </a:ln>
          <a:effectLst>
            <a:glow rad="50800">
              <a:srgbClr val="00D4FF">
                <a:alpha val="4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940710" y="5614416"/>
            <a:ext cx="1214323" cy="329184"/>
          </a:xfrm>
          <a:prstGeom prst="rect">
            <a:avLst/>
          </a:prstGeom>
          <a:noFill/>
        </p:spPr>
        <p:txBody>
          <a:bodyPr wrap="square" anchor="ctr" lIns="0" rIns="0" tIns="0" bIns="0">
            <a:spAutoFit/>
          </a:bodyPr>
          <a:lstStyle/>
          <a:p>
            <a:pPr algn="ctr">
              <a:lnSpc>
                <a:spcPct val="100000"/>
              </a:lnSpc>
            </a:pPr>
            <a:r>
              <a:rPr sz="950" b="1" i="0">
                <a:solidFill>
                  <a:srgbClr val="00D4FF"/>
                </a:solidFill>
                <a:latin typeface="Consolas"/>
              </a:rPr>
              <a:t>MULTI-PROVIDER</a:t>
            </a:r>
          </a:p>
        </p:txBody>
      </p:sp>
      <p:sp>
        <p:nvSpPr>
          <p:cNvPr id="21" name="Rounded Rectangle 20"/>
          <p:cNvSpPr/>
          <p:nvPr/>
        </p:nvSpPr>
        <p:spPr>
          <a:xfrm>
            <a:off x="4310481" y="5614416"/>
            <a:ext cx="1364284" cy="329184"/>
          </a:xfrm>
          <a:prstGeom prst="roundRect">
            <a:avLst>
              <a:gd name="adj" fmla="val 50000"/>
            </a:avLst>
          </a:prstGeom>
          <a:solidFill>
            <a:srgbClr val="0A0E14"/>
          </a:solidFill>
          <a:ln w="15240">
            <a:solidFill>
              <a:srgbClr val="00D4FF"/>
            </a:solidFill>
          </a:ln>
          <a:effectLst>
            <a:glow rad="50800">
              <a:srgbClr val="00D4FF">
                <a:alpha val="4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10481" y="5614416"/>
            <a:ext cx="1364284" cy="329184"/>
          </a:xfrm>
          <a:prstGeom prst="rect">
            <a:avLst/>
          </a:prstGeom>
          <a:noFill/>
        </p:spPr>
        <p:txBody>
          <a:bodyPr wrap="square" anchor="ctr" lIns="0" rIns="0" tIns="0" bIns="0">
            <a:spAutoFit/>
          </a:bodyPr>
          <a:lstStyle/>
          <a:p>
            <a:pPr algn="ctr">
              <a:lnSpc>
                <a:spcPct val="100000"/>
              </a:lnSpc>
            </a:pPr>
            <a:r>
              <a:rPr sz="950" b="1" i="0">
                <a:solidFill>
                  <a:srgbClr val="00D4FF"/>
                </a:solidFill>
                <a:latin typeface="Consolas"/>
              </a:rPr>
              <a:t>8-STEP REASONING</a:t>
            </a:r>
          </a:p>
        </p:txBody>
      </p:sp>
      <p:sp>
        <p:nvSpPr>
          <p:cNvPr id="23" name="TextBox 22"/>
          <p:cNvSpPr txBox="1"/>
          <p:nvPr/>
        </p:nvSpPr>
        <p:spPr>
          <a:xfrm>
            <a:off x="576072" y="6327648"/>
            <a:ext cx="7315200" cy="274320"/>
          </a:xfrm>
          <a:prstGeom prst="rect">
            <a:avLst/>
          </a:prstGeom>
          <a:noFill/>
        </p:spPr>
        <p:txBody>
          <a:bodyPr wrap="square" anchor="t" lIns="0" rIns="0" tIns="0" bIns="0">
            <a:spAutoFit/>
          </a:bodyPr>
          <a:lstStyle/>
          <a:p>
            <a:pPr algn="l">
              <a:lnSpc>
                <a:spcPct val="100000"/>
              </a:lnSpc>
            </a:pPr>
            <a:r>
              <a:rPr sz="900" b="0" i="0" spc="280">
                <a:solidFill>
                  <a:srgbClr val="5A6A85"/>
                </a:solidFill>
                <a:latin typeface="Consolas"/>
              </a:rPr>
              <a:t>PITCH DECK &amp; TECHNICAL OVERVIEW</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subtle-blue.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9281160" y="0"/>
            <a:ext cx="2514600" cy="1645920"/>
          </a:xfrm>
          <a:prstGeom prst="rect">
            <a:avLst/>
          </a:prstGeom>
          <a:noFill/>
        </p:spPr>
        <p:txBody>
          <a:bodyPr wrap="square" anchor="t" lIns="0" rIns="0" tIns="0" bIns="0">
            <a:spAutoFit/>
          </a:bodyPr>
          <a:lstStyle/>
          <a:p>
            <a:pPr algn="r">
              <a:lnSpc>
                <a:spcPct val="100000"/>
              </a:lnSpc>
            </a:pPr>
            <a:r>
              <a:rPr sz="11500" b="1" i="0">
                <a:solidFill>
                  <a:srgbClr val="EAF4FF">
                    <a:alpha val="7000"/>
                  </a:srgbClr>
                </a:solidFill>
                <a:latin typeface="Bahnschrift"/>
              </a:rPr>
              <a:t>02</a:t>
            </a:r>
          </a:p>
        </p:txBody>
      </p:sp>
      <p:sp>
        <p:nvSpPr>
          <p:cNvPr id="4" name="Rectangle 3"/>
          <p:cNvSpPr/>
          <p:nvPr/>
        </p:nvSpPr>
        <p:spPr>
          <a:xfrm>
            <a:off x="0" y="0"/>
            <a:ext cx="5120511" cy="29260"/>
          </a:xfrm>
          <a:prstGeom prst="rect">
            <a:avLst/>
          </a:prstGeom>
          <a:solidFill>
            <a:srgbClr val="00FF41"/>
          </a:solidFill>
          <a:ln>
            <a:noFill/>
          </a:ln>
          <a:effectLst>
            <a:glow rad="50800">
              <a:srgbClr val="00FF41">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120511" y="0"/>
            <a:ext cx="7071183" cy="29260"/>
          </a:xfrm>
          <a:prstGeom prst="rect">
            <a:avLst/>
          </a:prstGeom>
          <a:solidFill>
            <a:srgbClr val="00D4FF"/>
          </a:solidFill>
          <a:ln>
            <a:noFill/>
          </a:ln>
          <a:effectLst>
            <a:glow rad="50800">
              <a:srgbClr val="00D4FF">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6032" y="6254496"/>
            <a:ext cx="329184" cy="20116"/>
          </a:xfrm>
          <a:prstGeom prst="rect">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56032" y="6272784"/>
            <a:ext cx="20116" cy="347472"/>
          </a:xfrm>
          <a:prstGeom prst="rect">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6446520"/>
            <a:ext cx="11185855" cy="10972"/>
          </a:xfrm>
          <a:prstGeom prst="rect">
            <a:avLst/>
          </a:prstGeom>
          <a:solidFill>
            <a:srgbClr val="2230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501384"/>
            <a:ext cx="5669280" cy="201168"/>
          </a:xfrm>
          <a:prstGeom prst="rect">
            <a:avLst/>
          </a:prstGeom>
          <a:noFill/>
        </p:spPr>
        <p:txBody>
          <a:bodyPr wrap="square" anchor="t" lIns="0" rIns="0" tIns="0" bIns="0">
            <a:spAutoFit/>
          </a:bodyPr>
          <a:lstStyle/>
          <a:p>
            <a:pPr algn="l">
              <a:lnSpc>
                <a:spcPct val="100000"/>
              </a:lnSpc>
            </a:pPr>
            <a:r>
              <a:rPr sz="800" b="1" i="0">
                <a:solidFill>
                  <a:srgbClr val="00FF41"/>
                </a:solidFill>
                <a:latin typeface="Consolas"/>
              </a:rPr>
              <a:t>ZODIAC AI </a:t>
            </a:r>
            <a:r>
              <a:rPr sz="800" b="0" i="0">
                <a:solidFill>
                  <a:srgbClr val="5A6A85"/>
                </a:solidFill>
                <a:latin typeface="Consolas"/>
              </a:rPr>
              <a:t>// CHAT WITH YOUR DATABASE // </a:t>
            </a:r>
            <a:r>
              <a:rPr sz="800" b="0" i="0">
                <a:solidFill>
                  <a:srgbClr val="00D4FF"/>
                </a:solidFill>
                <a:latin typeface="Consolas"/>
              </a:rPr>
              <a:t>EXECUTIVE VISION</a:t>
            </a:r>
          </a:p>
        </p:txBody>
      </p:sp>
      <p:sp>
        <p:nvSpPr>
          <p:cNvPr id="10" name="TextBox 9"/>
          <p:cNvSpPr txBox="1"/>
          <p:nvPr/>
        </p:nvSpPr>
        <p:spPr>
          <a:xfrm>
            <a:off x="10728655" y="6501384"/>
            <a:ext cx="960120" cy="201168"/>
          </a:xfrm>
          <a:prstGeom prst="rect">
            <a:avLst/>
          </a:prstGeom>
          <a:noFill/>
        </p:spPr>
        <p:txBody>
          <a:bodyPr wrap="square" anchor="t" lIns="0" rIns="0" tIns="0" bIns="0">
            <a:spAutoFit/>
          </a:bodyPr>
          <a:lstStyle/>
          <a:p>
            <a:pPr algn="r">
              <a:lnSpc>
                <a:spcPct val="100000"/>
              </a:lnSpc>
            </a:pPr>
            <a:r>
              <a:rPr sz="800" b="1" i="0">
                <a:solidFill>
                  <a:srgbClr val="00FF41"/>
                </a:solidFill>
                <a:latin typeface="Consolas"/>
              </a:rPr>
              <a:t>02</a:t>
            </a:r>
            <a:r>
              <a:rPr sz="800" b="0" i="0">
                <a:solidFill>
                  <a:srgbClr val="5A6A85"/>
                </a:solidFill>
                <a:latin typeface="Consolas"/>
              </a:rPr>
              <a:t> / 11</a:t>
            </a:r>
          </a:p>
        </p:txBody>
      </p:sp>
      <p:sp>
        <p:nvSpPr>
          <p:cNvPr id="11" name="Rectangle 10"/>
          <p:cNvSpPr/>
          <p:nvPr/>
        </p:nvSpPr>
        <p:spPr>
          <a:xfrm>
            <a:off x="4198467" y="6675120"/>
            <a:ext cx="274320" cy="45720"/>
          </a:xfrm>
          <a:prstGeom prst="rect">
            <a:avLst/>
          </a:prstGeom>
          <a:solidFill>
            <a:srgbClr val="1653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50511" y="6675120"/>
            <a:ext cx="274320" cy="45720"/>
          </a:xfrm>
          <a:prstGeom prst="rect">
            <a:avLst/>
          </a:prstGeom>
          <a:solidFill>
            <a:srgbClr val="00FF41"/>
          </a:solidFill>
          <a:ln>
            <a:noFill/>
          </a:ln>
          <a:effectLst>
            <a:glow rad="63500">
              <a:srgbClr val="00FF41">
                <a:alpha val="6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902555" y="6675120"/>
            <a:ext cx="274320" cy="45720"/>
          </a:xfrm>
          <a:prstGeom prst="rect">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254599" y="6675120"/>
            <a:ext cx="274320" cy="45720"/>
          </a:xfrm>
          <a:prstGeom prst="rect">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06643" y="6675120"/>
            <a:ext cx="274320" cy="45720"/>
          </a:xfrm>
          <a:prstGeom prst="rect">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958687" y="6675120"/>
            <a:ext cx="274320" cy="45720"/>
          </a:xfrm>
          <a:prstGeom prst="rect">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310731" y="6675120"/>
            <a:ext cx="274320" cy="45720"/>
          </a:xfrm>
          <a:prstGeom prst="rect">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662775" y="6675120"/>
            <a:ext cx="274320" cy="45720"/>
          </a:xfrm>
          <a:prstGeom prst="rect">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014819" y="6675120"/>
            <a:ext cx="274320" cy="45720"/>
          </a:xfrm>
          <a:prstGeom prst="rect">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66863" y="6675120"/>
            <a:ext cx="274320" cy="45720"/>
          </a:xfrm>
          <a:prstGeom prst="rect">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18907" y="6675120"/>
            <a:ext cx="274320" cy="45720"/>
          </a:xfrm>
          <a:prstGeom prst="rect">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21207" y="466344"/>
            <a:ext cx="100584" cy="100584"/>
          </a:xfrm>
          <a:prstGeom prst="rect">
            <a:avLst/>
          </a:prstGeom>
          <a:solidFill>
            <a:srgbClr val="00FF41"/>
          </a:solidFill>
          <a:ln>
            <a:noFill/>
          </a:ln>
          <a:effectLst>
            <a:glow rad="63500">
              <a:srgbClr val="00FF41">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402336"/>
            <a:ext cx="10515600" cy="274320"/>
          </a:xfrm>
          <a:prstGeom prst="rect">
            <a:avLst/>
          </a:prstGeom>
          <a:noFill/>
        </p:spPr>
        <p:txBody>
          <a:bodyPr wrap="square" anchor="t" lIns="0" rIns="0" tIns="0" bIns="0">
            <a:spAutoFit/>
          </a:bodyPr>
          <a:lstStyle/>
          <a:p>
            <a:pPr algn="l">
              <a:lnSpc>
                <a:spcPct val="100000"/>
              </a:lnSpc>
            </a:pPr>
            <a:r>
              <a:rPr sz="1050" b="0" i="0" spc="170">
                <a:solidFill>
                  <a:srgbClr val="00FF41"/>
                </a:solidFill>
                <a:effectLst>
                  <a:glow rad="38100">
                    <a:srgbClr val="00FF41">
                      <a:alpha val="40000"/>
                    </a:srgbClr>
                  </a:glow>
                </a:effectLst>
                <a:latin typeface="Consolas"/>
              </a:rPr>
              <a:t>02 — EXECUTIVE VISION</a:t>
            </a:r>
          </a:p>
        </p:txBody>
      </p:sp>
      <p:sp>
        <p:nvSpPr>
          <p:cNvPr id="24" name="TextBox 23"/>
          <p:cNvSpPr txBox="1"/>
          <p:nvPr/>
        </p:nvSpPr>
        <p:spPr>
          <a:xfrm>
            <a:off x="502920" y="694944"/>
            <a:ext cx="11247120" cy="566928"/>
          </a:xfrm>
          <a:prstGeom prst="rect">
            <a:avLst/>
          </a:prstGeom>
          <a:noFill/>
        </p:spPr>
        <p:txBody>
          <a:bodyPr wrap="square" anchor="t" lIns="0" rIns="0" tIns="0" bIns="0">
            <a:spAutoFit/>
          </a:bodyPr>
          <a:lstStyle/>
          <a:p>
            <a:pPr algn="l">
              <a:lnSpc>
                <a:spcPct val="100000"/>
              </a:lnSpc>
            </a:pPr>
            <a:r>
              <a:rPr sz="3000" b="1" i="0">
                <a:solidFill>
                  <a:srgbClr val="EAF4FF"/>
                </a:solidFill>
                <a:latin typeface="Bahnschrift"/>
              </a:rPr>
              <a:t>The Wall Between </a:t>
            </a:r>
            <a:r>
              <a:rPr sz="3000" b="1" i="0">
                <a:solidFill>
                  <a:srgbClr val="00D4FF"/>
                </a:solidFill>
                <a:effectLst>
                  <a:glow rad="63500">
                    <a:srgbClr val="00D4FF">
                      <a:alpha val="35000"/>
                    </a:srgbClr>
                  </a:glow>
                </a:effectLst>
                <a:latin typeface="Bahnschrift"/>
              </a:rPr>
              <a:t>You and Your Data</a:t>
            </a:r>
          </a:p>
        </p:txBody>
      </p:sp>
      <p:sp>
        <p:nvSpPr>
          <p:cNvPr id="25" name="Rectangle 24"/>
          <p:cNvSpPr/>
          <p:nvPr/>
        </p:nvSpPr>
        <p:spPr>
          <a:xfrm>
            <a:off x="521207" y="1344168"/>
            <a:ext cx="1554480" cy="31089"/>
          </a:xfrm>
          <a:prstGeom prst="rect">
            <a:avLst/>
          </a:prstGeom>
          <a:solidFill>
            <a:srgbClr val="00FF41"/>
          </a:solidFill>
          <a:ln>
            <a:noFill/>
          </a:ln>
          <a:effectLst>
            <a:glow rad="50800">
              <a:srgbClr val="00FF41">
                <a:alpha val="5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75688" y="1344168"/>
            <a:ext cx="502920" cy="31089"/>
          </a:xfrm>
          <a:prstGeom prst="rect">
            <a:avLst/>
          </a:prstGeom>
          <a:solidFill>
            <a:srgbClr val="00D4FF"/>
          </a:solidFill>
          <a:ln>
            <a:noFill/>
          </a:ln>
          <a:effectLst>
            <a:glow rad="50800">
              <a:srgbClr val="00D4FF">
                <a:alpha val="5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053328" y="1691640"/>
            <a:ext cx="32004" cy="3931920"/>
          </a:xfrm>
          <a:prstGeom prst="rect">
            <a:avLst/>
          </a:prstGeom>
          <a:gradFill rotWithShape="1">
            <a:gsLst>
              <a:gs pos="0">
                <a:srgbClr val="0A0E14">
                  <a:alpha val="0"/>
                </a:srgbClr>
              </a:gs>
              <a:gs pos="50000">
                <a:srgbClr val="00D4FF">
                  <a:alpha val="95000"/>
                </a:srgbClr>
              </a:gs>
              <a:gs pos="100000">
                <a:srgbClr val="0A0E14">
                  <a:alpha val="0"/>
                </a:srgbClr>
              </a:gs>
            </a:gsLst>
            <a:lin ang="5400000"/>
          </a:gradFill>
          <a:ln>
            <a:noFill/>
          </a:ln>
          <a:effectLst>
            <a:glow rad="63500">
              <a:srgbClr val="00D4FF">
                <a:alpha val="5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02920" y="1627632"/>
            <a:ext cx="5349240" cy="4114800"/>
          </a:xfrm>
          <a:prstGeom prst="roundRect">
            <a:avLst>
              <a:gd name="adj" fmla="val 5000"/>
            </a:avLst>
          </a:prstGeom>
          <a:solidFill>
            <a:srgbClr val="10192A">
              <a:alpha val="90000"/>
            </a:srgbClr>
          </a:solidFill>
          <a:ln w="12700">
            <a:solidFill>
              <a:srgbClr val="223046"/>
            </a:solidFill>
          </a:ln>
          <a:effectLst>
            <a:outerShdw blurRad="164592" dist="45720" dir="5400000" rotWithShape="0">
              <a:srgbClr val="000000">
                <a:alpha val="5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30936" y="1627632"/>
            <a:ext cx="5093207" cy="41148"/>
          </a:xfrm>
          <a:prstGeom prst="rect">
            <a:avLst/>
          </a:prstGeom>
          <a:solidFill>
            <a:srgbClr val="FF3B61"/>
          </a:solidFill>
          <a:ln>
            <a:noFill/>
          </a:ln>
          <a:effectLst>
            <a:glow rad="63500">
              <a:srgbClr val="FF3B61">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0664" y="1764792"/>
            <a:ext cx="4873752" cy="274320"/>
          </a:xfrm>
          <a:prstGeom prst="rect">
            <a:avLst/>
          </a:prstGeom>
          <a:noFill/>
        </p:spPr>
        <p:txBody>
          <a:bodyPr wrap="square" anchor="t" lIns="0" rIns="0" tIns="0" bIns="0">
            <a:spAutoFit/>
          </a:bodyPr>
          <a:lstStyle/>
          <a:p>
            <a:pPr algn="l">
              <a:lnSpc>
                <a:spcPct val="100000"/>
              </a:lnSpc>
            </a:pPr>
            <a:r>
              <a:rPr sz="1150" b="1" i="0" spc="110">
                <a:solidFill>
                  <a:srgbClr val="FF3B61"/>
                </a:solidFill>
                <a:latin typeface="Consolas"/>
              </a:rPr>
              <a:t>THE OLD WAY — TRADITIONAL BI</a:t>
            </a:r>
          </a:p>
        </p:txBody>
      </p:sp>
      <p:sp>
        <p:nvSpPr>
          <p:cNvPr id="31" name="TextBox 30"/>
          <p:cNvSpPr txBox="1"/>
          <p:nvPr/>
        </p:nvSpPr>
        <p:spPr>
          <a:xfrm>
            <a:off x="804672" y="2304288"/>
            <a:ext cx="4800600" cy="3291840"/>
          </a:xfrm>
          <a:prstGeom prst="rect">
            <a:avLst/>
          </a:prstGeom>
          <a:noFill/>
        </p:spPr>
        <p:txBody>
          <a:bodyPr wrap="square" anchor="t" lIns="0" rIns="0" tIns="0" bIns="0">
            <a:spAutoFit/>
          </a:bodyPr>
          <a:lstStyle/>
          <a:p>
            <a:pPr algn="l" marL="237744" indent="-237744">
              <a:lnSpc>
                <a:spcPct val="112000"/>
              </a:lnSpc>
              <a:spcAft>
                <a:spcPts val="1400"/>
              </a:spcAft>
            </a:pPr>
            <a:r>
              <a:rPr sz="1300" b="1" i="0">
                <a:solidFill>
                  <a:srgbClr val="FF3B61"/>
                </a:solidFill>
                <a:latin typeface="Consolas"/>
              </a:rPr>
              <a:t>✕  </a:t>
            </a:r>
            <a:r>
              <a:rPr sz="1300" b="1" i="0">
                <a:solidFill>
                  <a:srgbClr val="EAF4FF"/>
                </a:solidFill>
                <a:latin typeface="Segoe UI"/>
              </a:rPr>
              <a:t>Every question becomes a ticket</a:t>
            </a:r>
            <a:r>
              <a:rPr sz="1300" b="0" i="0">
                <a:solidFill>
                  <a:srgbClr val="93A6C4"/>
                </a:solidFill>
                <a:latin typeface="Segoe UI"/>
              </a:rPr>
              <a:t> — analysts queue, answers ship days later</a:t>
            </a:r>
          </a:p>
          <a:p>
            <a:pPr algn="l" marL="237744" indent="-237744">
              <a:lnSpc>
                <a:spcPct val="112000"/>
              </a:lnSpc>
              <a:spcAft>
                <a:spcPts val="1400"/>
              </a:spcAft>
            </a:pPr>
            <a:r>
              <a:rPr sz="1300" b="1" i="0">
                <a:solidFill>
                  <a:srgbClr val="FF3B61"/>
                </a:solidFill>
                <a:latin typeface="Consolas"/>
              </a:rPr>
              <a:t>✕  </a:t>
            </a:r>
            <a:r>
              <a:rPr sz="1300" b="1" i="0">
                <a:solidFill>
                  <a:srgbClr val="EAF4FF"/>
                </a:solidFill>
                <a:latin typeface="Segoe UI"/>
              </a:rPr>
              <a:t>Static dashboards</a:t>
            </a:r>
            <a:r>
              <a:rPr sz="1300" b="0" i="0">
                <a:solidFill>
                  <a:srgbClr val="93A6C4"/>
                </a:solidFill>
                <a:latin typeface="Segoe UI"/>
              </a:rPr>
              <a:t> — answer yesterday's questions, not today's</a:t>
            </a:r>
          </a:p>
          <a:p>
            <a:pPr algn="l" marL="237744" indent="-237744">
              <a:lnSpc>
                <a:spcPct val="112000"/>
              </a:lnSpc>
              <a:spcAft>
                <a:spcPts val="1400"/>
              </a:spcAft>
            </a:pPr>
            <a:r>
              <a:rPr sz="1300" b="1" i="0">
                <a:solidFill>
                  <a:srgbClr val="FF3B61"/>
                </a:solidFill>
                <a:latin typeface="Consolas"/>
              </a:rPr>
              <a:t>✕  </a:t>
            </a:r>
            <a:r>
              <a:rPr sz="1300" b="1" i="0">
                <a:solidFill>
                  <a:srgbClr val="EAF4FF"/>
                </a:solidFill>
                <a:latin typeface="Segoe UI"/>
              </a:rPr>
              <a:t>SQL fluency is the bottleneck</a:t>
            </a:r>
            <a:r>
              <a:rPr sz="1300" b="0" i="0">
                <a:solidFill>
                  <a:srgbClr val="93A6C4"/>
                </a:solidFill>
                <a:latin typeface="Segoe UI"/>
              </a:rPr>
              <a:t> — the data exists; direct access doesn't</a:t>
            </a:r>
          </a:p>
          <a:p>
            <a:pPr algn="l" marL="237744" indent="-237744">
              <a:lnSpc>
                <a:spcPct val="112000"/>
              </a:lnSpc>
              <a:spcAft>
                <a:spcPts val="1400"/>
              </a:spcAft>
            </a:pPr>
            <a:r>
              <a:rPr sz="1300" b="1" i="0">
                <a:solidFill>
                  <a:srgbClr val="FF3B61"/>
                </a:solidFill>
                <a:latin typeface="Consolas"/>
              </a:rPr>
              <a:t>✕  </a:t>
            </a:r>
            <a:r>
              <a:rPr sz="1300" b="1" i="0">
                <a:solidFill>
                  <a:srgbClr val="EAF4FF"/>
                </a:solidFill>
                <a:latin typeface="Segoe UI"/>
              </a:rPr>
              <a:t>Naive LLM chatbots</a:t>
            </a:r>
            <a:r>
              <a:rPr sz="1300" b="0" i="0">
                <a:solidFill>
                  <a:srgbClr val="93A6C4"/>
                </a:solidFill>
                <a:latin typeface="Segoe UI"/>
              </a:rPr>
              <a:t> — hallucinate numbers with total confidence</a:t>
            </a:r>
          </a:p>
        </p:txBody>
      </p:sp>
      <p:sp>
        <p:nvSpPr>
          <p:cNvPr id="32" name="Rounded Rectangle 31"/>
          <p:cNvSpPr/>
          <p:nvPr/>
        </p:nvSpPr>
        <p:spPr>
          <a:xfrm>
            <a:off x="6382512" y="1627632"/>
            <a:ext cx="5349240" cy="4114800"/>
          </a:xfrm>
          <a:prstGeom prst="roundRect">
            <a:avLst>
              <a:gd name="adj" fmla="val 5000"/>
            </a:avLst>
          </a:prstGeom>
          <a:solidFill>
            <a:srgbClr val="10192A">
              <a:alpha val="90000"/>
            </a:srgbClr>
          </a:solidFill>
          <a:ln w="12700">
            <a:solidFill>
              <a:srgbClr val="223046"/>
            </a:solidFill>
          </a:ln>
          <a:effectLst>
            <a:outerShdw blurRad="164592" dist="45720" dir="5400000" rotWithShape="0">
              <a:srgbClr val="000000">
                <a:alpha val="5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510528" y="1627632"/>
            <a:ext cx="5093207" cy="41148"/>
          </a:xfrm>
          <a:prstGeom prst="rect">
            <a:avLst/>
          </a:prstGeom>
          <a:solidFill>
            <a:srgbClr val="00FF41"/>
          </a:solidFill>
          <a:ln>
            <a:noFill/>
          </a:ln>
          <a:effectLst>
            <a:glow rad="63500">
              <a:srgbClr val="00FF41">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620256" y="1764792"/>
            <a:ext cx="4873752" cy="274320"/>
          </a:xfrm>
          <a:prstGeom prst="rect">
            <a:avLst/>
          </a:prstGeom>
          <a:noFill/>
        </p:spPr>
        <p:txBody>
          <a:bodyPr wrap="square" anchor="t" lIns="0" rIns="0" tIns="0" bIns="0">
            <a:spAutoFit/>
          </a:bodyPr>
          <a:lstStyle/>
          <a:p>
            <a:pPr algn="l">
              <a:lnSpc>
                <a:spcPct val="100000"/>
              </a:lnSpc>
            </a:pPr>
            <a:r>
              <a:rPr sz="1150" b="1" i="0" spc="110">
                <a:solidFill>
                  <a:srgbClr val="00FF41"/>
                </a:solidFill>
                <a:latin typeface="Consolas"/>
              </a:rPr>
              <a:t>THE ZODIAC WAY</a:t>
            </a:r>
          </a:p>
        </p:txBody>
      </p:sp>
      <p:sp>
        <p:nvSpPr>
          <p:cNvPr id="35" name="TextBox 34"/>
          <p:cNvSpPr txBox="1"/>
          <p:nvPr/>
        </p:nvSpPr>
        <p:spPr>
          <a:xfrm>
            <a:off x="6684264" y="2304288"/>
            <a:ext cx="4800600" cy="3291840"/>
          </a:xfrm>
          <a:prstGeom prst="rect">
            <a:avLst/>
          </a:prstGeom>
          <a:noFill/>
        </p:spPr>
        <p:txBody>
          <a:bodyPr wrap="square" anchor="t" lIns="0" rIns="0" tIns="0" bIns="0">
            <a:spAutoFit/>
          </a:bodyPr>
          <a:lstStyle/>
          <a:p>
            <a:pPr algn="l" marL="237744" indent="-237744">
              <a:lnSpc>
                <a:spcPct val="112000"/>
              </a:lnSpc>
              <a:spcAft>
                <a:spcPts val="1400"/>
              </a:spcAft>
            </a:pPr>
            <a:r>
              <a:rPr sz="1300" b="1" i="0">
                <a:solidFill>
                  <a:srgbClr val="00FF41"/>
                </a:solidFill>
                <a:effectLst>
                  <a:glow rad="38100">
                    <a:srgbClr val="00FF41">
                      <a:alpha val="45000"/>
                    </a:srgbClr>
                  </a:glow>
                </a:effectLst>
                <a:latin typeface="Consolas"/>
              </a:rPr>
              <a:t>▸  </a:t>
            </a:r>
            <a:r>
              <a:rPr sz="1300" b="1" i="0">
                <a:solidFill>
                  <a:srgbClr val="EAF4FF"/>
                </a:solidFill>
                <a:latin typeface="Segoe UI"/>
              </a:rPr>
              <a:t>Ask in plain English</a:t>
            </a:r>
            <a:r>
              <a:rPr sz="1300" b="0" i="0">
                <a:solidFill>
                  <a:srgbClr val="93A6C4"/>
                </a:solidFill>
                <a:latin typeface="Segoe UI"/>
              </a:rPr>
              <a:t> — get the exact SQL, executed live</a:t>
            </a:r>
          </a:p>
          <a:p>
            <a:pPr algn="l" marL="237744" indent="-237744">
              <a:lnSpc>
                <a:spcPct val="112000"/>
              </a:lnSpc>
              <a:spcAft>
                <a:spcPts val="1400"/>
              </a:spcAft>
            </a:pPr>
            <a:r>
              <a:rPr sz="1300" b="1" i="0">
                <a:solidFill>
                  <a:srgbClr val="00FF41"/>
                </a:solidFill>
                <a:effectLst>
                  <a:glow rad="38100">
                    <a:srgbClr val="00FF41">
                      <a:alpha val="45000"/>
                    </a:srgbClr>
                  </a:glow>
                </a:effectLst>
                <a:latin typeface="Consolas"/>
              </a:rPr>
              <a:t>▸  </a:t>
            </a:r>
            <a:r>
              <a:rPr sz="1300" b="1" i="0">
                <a:solidFill>
                  <a:srgbClr val="EAF4FF"/>
                </a:solidFill>
                <a:latin typeface="Segoe UI"/>
              </a:rPr>
              <a:t>Visual answers</a:t>
            </a:r>
            <a:r>
              <a:rPr sz="1300" b="0" i="0">
                <a:solidFill>
                  <a:srgbClr val="93A6C4"/>
                </a:solidFill>
                <a:latin typeface="Segoe UI"/>
              </a:rPr>
              <a:t> — interactive Plotly charts + live Mermaid diagrams</a:t>
            </a:r>
          </a:p>
          <a:p>
            <a:pPr algn="l" marL="237744" indent="-237744">
              <a:lnSpc>
                <a:spcPct val="112000"/>
              </a:lnSpc>
              <a:spcAft>
                <a:spcPts val="1400"/>
              </a:spcAft>
            </a:pPr>
            <a:r>
              <a:rPr sz="1300" b="1" i="0">
                <a:solidFill>
                  <a:srgbClr val="00FF41"/>
                </a:solidFill>
                <a:effectLst>
                  <a:glow rad="38100">
                    <a:srgbClr val="00FF41">
                      <a:alpha val="45000"/>
                    </a:srgbClr>
                  </a:glow>
                </a:effectLst>
                <a:latin typeface="Consolas"/>
              </a:rPr>
              <a:t>▸  </a:t>
            </a:r>
            <a:r>
              <a:rPr sz="1300" b="1" i="0">
                <a:solidFill>
                  <a:srgbClr val="EAF4FF"/>
                </a:solidFill>
                <a:latin typeface="Segoe UI"/>
              </a:rPr>
              <a:t>Grounded numbers</a:t>
            </a:r>
            <a:r>
              <a:rPr sz="1300" b="0" i="0">
                <a:solidFill>
                  <a:srgbClr val="93A6C4"/>
                </a:solidFill>
                <a:latin typeface="Segoe UI"/>
              </a:rPr>
              <a:t> — every figure computed from real result sets</a:t>
            </a:r>
          </a:p>
          <a:p>
            <a:pPr algn="l" marL="237744" indent="-237744">
              <a:lnSpc>
                <a:spcPct val="112000"/>
              </a:lnSpc>
              <a:spcAft>
                <a:spcPts val="1400"/>
              </a:spcAft>
            </a:pPr>
            <a:r>
              <a:rPr sz="1300" b="1" i="0">
                <a:solidFill>
                  <a:srgbClr val="00FF41"/>
                </a:solidFill>
                <a:effectLst>
                  <a:glow rad="38100">
                    <a:srgbClr val="00FF41">
                      <a:alpha val="45000"/>
                    </a:srgbClr>
                  </a:glow>
                </a:effectLst>
                <a:latin typeface="Consolas"/>
              </a:rPr>
              <a:t>▸  </a:t>
            </a:r>
            <a:r>
              <a:rPr sz="1300" b="1" i="0">
                <a:solidFill>
                  <a:srgbClr val="EAF4FF"/>
                </a:solidFill>
                <a:latin typeface="Segoe UI"/>
              </a:rPr>
              <a:t>Zero-latency analytics</a:t>
            </a:r>
            <a:r>
              <a:rPr sz="1300" b="0" i="0">
                <a:solidFill>
                  <a:srgbClr val="93A6C4"/>
                </a:solidFill>
                <a:latin typeface="Segoe UI"/>
              </a:rPr>
              <a:t> — answers at the speed of conversation</a:t>
            </a:r>
          </a:p>
        </p:txBody>
      </p:sp>
      <p:sp>
        <p:nvSpPr>
          <p:cNvPr id="36" name="Rounded Rectangle 35"/>
          <p:cNvSpPr/>
          <p:nvPr/>
        </p:nvSpPr>
        <p:spPr>
          <a:xfrm>
            <a:off x="502920" y="5943600"/>
            <a:ext cx="11185855" cy="420624"/>
          </a:xfrm>
          <a:prstGeom prst="roundRect">
            <a:avLst>
              <a:gd name="adj" fmla="val 50000"/>
            </a:avLst>
          </a:prstGeom>
          <a:solidFill>
            <a:srgbClr val="10192A">
              <a:alpha val="88000"/>
            </a:srgbClr>
          </a:solidFill>
          <a:ln w="12700">
            <a:solidFill>
              <a:srgbClr val="223046"/>
            </a:solidFill>
          </a:ln>
          <a:effectLst>
            <a:outerShdw blurRad="128016" dist="36576" dir="5400000" rotWithShape="0">
              <a:srgbClr val="000000">
                <a:alpha val="5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94944" y="6044184"/>
            <a:ext cx="54864" cy="219456"/>
          </a:xfrm>
          <a:prstGeom prst="rect">
            <a:avLst/>
          </a:prstGeom>
          <a:solidFill>
            <a:srgbClr val="00FF41"/>
          </a:solidFill>
          <a:ln>
            <a:noFill/>
          </a:ln>
          <a:effectLst>
            <a:glow rad="50800">
              <a:srgbClr val="00FF41">
                <a:alpha val="6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4400" y="5943600"/>
            <a:ext cx="10180015" cy="420624"/>
          </a:xfrm>
          <a:prstGeom prst="rect">
            <a:avLst/>
          </a:prstGeom>
          <a:noFill/>
        </p:spPr>
        <p:txBody>
          <a:bodyPr wrap="square" anchor="ctr" lIns="0" rIns="0" tIns="0" bIns="0">
            <a:spAutoFit/>
          </a:bodyPr>
          <a:lstStyle/>
          <a:p>
            <a:pPr algn="l">
              <a:lnSpc>
                <a:spcPct val="100000"/>
              </a:lnSpc>
            </a:pPr>
            <a:r>
              <a:rPr sz="1050" b="1" i="0" spc="55">
                <a:solidFill>
                  <a:srgbClr val="00FF41"/>
                </a:solidFill>
                <a:effectLst>
                  <a:glow rad="38100">
                    <a:srgbClr val="00FF41">
                      <a:alpha val="30000"/>
                    </a:srgbClr>
                  </a:glow>
                </a:effectLst>
                <a:latin typeface="Consolas"/>
              </a:rPr>
              <a:t>ANALYTICS AT THE SPEED OF CONVERSATION — WITHOUT THE HALLUCINATION TAX</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subtle-green.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9281160" y="0"/>
            <a:ext cx="2514600" cy="1645920"/>
          </a:xfrm>
          <a:prstGeom prst="rect">
            <a:avLst/>
          </a:prstGeom>
          <a:noFill/>
        </p:spPr>
        <p:txBody>
          <a:bodyPr wrap="square" anchor="t" lIns="0" rIns="0" tIns="0" bIns="0">
            <a:spAutoFit/>
          </a:bodyPr>
          <a:lstStyle/>
          <a:p>
            <a:pPr algn="r">
              <a:lnSpc>
                <a:spcPct val="100000"/>
              </a:lnSpc>
            </a:pPr>
            <a:r>
              <a:rPr sz="11500" b="1" i="0">
                <a:solidFill>
                  <a:srgbClr val="EAF4FF">
                    <a:alpha val="7000"/>
                  </a:srgbClr>
                </a:solidFill>
                <a:latin typeface="Bahnschrift"/>
              </a:rPr>
              <a:t>03</a:t>
            </a:r>
          </a:p>
        </p:txBody>
      </p:sp>
      <p:sp>
        <p:nvSpPr>
          <p:cNvPr id="4" name="Rectangle 3"/>
          <p:cNvSpPr/>
          <p:nvPr/>
        </p:nvSpPr>
        <p:spPr>
          <a:xfrm>
            <a:off x="0" y="0"/>
            <a:ext cx="5120511" cy="29260"/>
          </a:xfrm>
          <a:prstGeom prst="rect">
            <a:avLst/>
          </a:prstGeom>
          <a:solidFill>
            <a:srgbClr val="00FF41"/>
          </a:solidFill>
          <a:ln>
            <a:noFill/>
          </a:ln>
          <a:effectLst>
            <a:glow rad="50800">
              <a:srgbClr val="00FF41">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120511" y="0"/>
            <a:ext cx="7071183" cy="29260"/>
          </a:xfrm>
          <a:prstGeom prst="rect">
            <a:avLst/>
          </a:prstGeom>
          <a:solidFill>
            <a:srgbClr val="00D4FF"/>
          </a:solidFill>
          <a:ln>
            <a:noFill/>
          </a:ln>
          <a:effectLst>
            <a:glow rad="50800">
              <a:srgbClr val="00D4FF">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6032" y="6254496"/>
            <a:ext cx="329184" cy="20116"/>
          </a:xfrm>
          <a:prstGeom prst="rect">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56032" y="6272784"/>
            <a:ext cx="20116" cy="347472"/>
          </a:xfrm>
          <a:prstGeom prst="rect">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6446520"/>
            <a:ext cx="11185855" cy="10972"/>
          </a:xfrm>
          <a:prstGeom prst="rect">
            <a:avLst/>
          </a:prstGeom>
          <a:solidFill>
            <a:srgbClr val="2230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501384"/>
            <a:ext cx="5669280" cy="201168"/>
          </a:xfrm>
          <a:prstGeom prst="rect">
            <a:avLst/>
          </a:prstGeom>
          <a:noFill/>
        </p:spPr>
        <p:txBody>
          <a:bodyPr wrap="square" anchor="t" lIns="0" rIns="0" tIns="0" bIns="0">
            <a:spAutoFit/>
          </a:bodyPr>
          <a:lstStyle/>
          <a:p>
            <a:pPr algn="l">
              <a:lnSpc>
                <a:spcPct val="100000"/>
              </a:lnSpc>
            </a:pPr>
            <a:r>
              <a:rPr sz="800" b="1" i="0">
                <a:solidFill>
                  <a:srgbClr val="00FF41"/>
                </a:solidFill>
                <a:latin typeface="Consolas"/>
              </a:rPr>
              <a:t>ZODIAC AI </a:t>
            </a:r>
            <a:r>
              <a:rPr sz="800" b="0" i="0">
                <a:solidFill>
                  <a:srgbClr val="5A6A85"/>
                </a:solidFill>
                <a:latin typeface="Consolas"/>
              </a:rPr>
              <a:t>// CHAT WITH YOUR DATABASE // </a:t>
            </a:r>
            <a:r>
              <a:rPr sz="800" b="0" i="0">
                <a:solidFill>
                  <a:srgbClr val="00D4FF"/>
                </a:solidFill>
                <a:latin typeface="Consolas"/>
              </a:rPr>
              <a:t>TECH STACK</a:t>
            </a:r>
          </a:p>
        </p:txBody>
      </p:sp>
      <p:sp>
        <p:nvSpPr>
          <p:cNvPr id="10" name="TextBox 9"/>
          <p:cNvSpPr txBox="1"/>
          <p:nvPr/>
        </p:nvSpPr>
        <p:spPr>
          <a:xfrm>
            <a:off x="10728655" y="6501384"/>
            <a:ext cx="960120" cy="201168"/>
          </a:xfrm>
          <a:prstGeom prst="rect">
            <a:avLst/>
          </a:prstGeom>
          <a:noFill/>
        </p:spPr>
        <p:txBody>
          <a:bodyPr wrap="square" anchor="t" lIns="0" rIns="0" tIns="0" bIns="0">
            <a:spAutoFit/>
          </a:bodyPr>
          <a:lstStyle/>
          <a:p>
            <a:pPr algn="r">
              <a:lnSpc>
                <a:spcPct val="100000"/>
              </a:lnSpc>
            </a:pPr>
            <a:r>
              <a:rPr sz="800" b="1" i="0">
                <a:solidFill>
                  <a:srgbClr val="00FF41"/>
                </a:solidFill>
                <a:latin typeface="Consolas"/>
              </a:rPr>
              <a:t>03</a:t>
            </a:r>
            <a:r>
              <a:rPr sz="800" b="0" i="0">
                <a:solidFill>
                  <a:srgbClr val="5A6A85"/>
                </a:solidFill>
                <a:latin typeface="Consolas"/>
              </a:rPr>
              <a:t> / 11</a:t>
            </a:r>
          </a:p>
        </p:txBody>
      </p:sp>
      <p:sp>
        <p:nvSpPr>
          <p:cNvPr id="11" name="Rectangle 10"/>
          <p:cNvSpPr/>
          <p:nvPr/>
        </p:nvSpPr>
        <p:spPr>
          <a:xfrm>
            <a:off x="4198467" y="6675120"/>
            <a:ext cx="274320" cy="45720"/>
          </a:xfrm>
          <a:prstGeom prst="rect">
            <a:avLst/>
          </a:prstGeom>
          <a:solidFill>
            <a:srgbClr val="1653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50511" y="6675120"/>
            <a:ext cx="274320" cy="45720"/>
          </a:xfrm>
          <a:prstGeom prst="rect">
            <a:avLst/>
          </a:prstGeom>
          <a:solidFill>
            <a:srgbClr val="1653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902555" y="6675120"/>
            <a:ext cx="274320" cy="45720"/>
          </a:xfrm>
          <a:prstGeom prst="rect">
            <a:avLst/>
          </a:prstGeom>
          <a:solidFill>
            <a:srgbClr val="00FF41"/>
          </a:solidFill>
          <a:ln>
            <a:noFill/>
          </a:ln>
          <a:effectLst>
            <a:glow rad="63500">
              <a:srgbClr val="00FF41">
                <a:alpha val="6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254599" y="6675120"/>
            <a:ext cx="274320" cy="45720"/>
          </a:xfrm>
          <a:prstGeom prst="rect">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06643" y="6675120"/>
            <a:ext cx="274320" cy="45720"/>
          </a:xfrm>
          <a:prstGeom prst="rect">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958687" y="6675120"/>
            <a:ext cx="274320" cy="45720"/>
          </a:xfrm>
          <a:prstGeom prst="rect">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310731" y="6675120"/>
            <a:ext cx="274320" cy="45720"/>
          </a:xfrm>
          <a:prstGeom prst="rect">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662775" y="6675120"/>
            <a:ext cx="274320" cy="45720"/>
          </a:xfrm>
          <a:prstGeom prst="rect">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014819" y="6675120"/>
            <a:ext cx="274320" cy="45720"/>
          </a:xfrm>
          <a:prstGeom prst="rect">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66863" y="6675120"/>
            <a:ext cx="274320" cy="45720"/>
          </a:xfrm>
          <a:prstGeom prst="rect">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18907" y="6675120"/>
            <a:ext cx="274320" cy="45720"/>
          </a:xfrm>
          <a:prstGeom prst="rect">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21207" y="466344"/>
            <a:ext cx="100584" cy="100584"/>
          </a:xfrm>
          <a:prstGeom prst="rect">
            <a:avLst/>
          </a:prstGeom>
          <a:solidFill>
            <a:srgbClr val="00FF41"/>
          </a:solidFill>
          <a:ln>
            <a:noFill/>
          </a:ln>
          <a:effectLst>
            <a:glow rad="63500">
              <a:srgbClr val="00FF41">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402336"/>
            <a:ext cx="10515600" cy="274320"/>
          </a:xfrm>
          <a:prstGeom prst="rect">
            <a:avLst/>
          </a:prstGeom>
          <a:noFill/>
        </p:spPr>
        <p:txBody>
          <a:bodyPr wrap="square" anchor="t" lIns="0" rIns="0" tIns="0" bIns="0">
            <a:spAutoFit/>
          </a:bodyPr>
          <a:lstStyle/>
          <a:p>
            <a:pPr algn="l">
              <a:lnSpc>
                <a:spcPct val="100000"/>
              </a:lnSpc>
            </a:pPr>
            <a:r>
              <a:rPr sz="1050" b="0" i="0" spc="170">
                <a:solidFill>
                  <a:srgbClr val="00FF41"/>
                </a:solidFill>
                <a:effectLst>
                  <a:glow rad="38100">
                    <a:srgbClr val="00FF41">
                      <a:alpha val="40000"/>
                    </a:srgbClr>
                  </a:glow>
                </a:effectLst>
                <a:latin typeface="Consolas"/>
              </a:rPr>
              <a:t>03 — TECH STACK</a:t>
            </a:r>
          </a:p>
        </p:txBody>
      </p:sp>
      <p:sp>
        <p:nvSpPr>
          <p:cNvPr id="24" name="TextBox 23"/>
          <p:cNvSpPr txBox="1"/>
          <p:nvPr/>
        </p:nvSpPr>
        <p:spPr>
          <a:xfrm>
            <a:off x="502920" y="694944"/>
            <a:ext cx="11247120" cy="566928"/>
          </a:xfrm>
          <a:prstGeom prst="rect">
            <a:avLst/>
          </a:prstGeom>
          <a:noFill/>
        </p:spPr>
        <p:txBody>
          <a:bodyPr wrap="square" anchor="t" lIns="0" rIns="0" tIns="0" bIns="0">
            <a:spAutoFit/>
          </a:bodyPr>
          <a:lstStyle/>
          <a:p>
            <a:pPr algn="l">
              <a:lnSpc>
                <a:spcPct val="100000"/>
              </a:lnSpc>
            </a:pPr>
            <a:r>
              <a:rPr sz="3000" b="1" i="0">
                <a:solidFill>
                  <a:srgbClr val="EAF4FF"/>
                </a:solidFill>
                <a:latin typeface="Bahnschrift"/>
              </a:rPr>
              <a:t>The Stack — </a:t>
            </a:r>
            <a:r>
              <a:rPr sz="3000" b="1" i="0">
                <a:solidFill>
                  <a:srgbClr val="00D4FF"/>
                </a:solidFill>
                <a:effectLst>
                  <a:glow rad="63500">
                    <a:srgbClr val="00D4FF">
                      <a:alpha val="35000"/>
                    </a:srgbClr>
                  </a:glow>
                </a:effectLst>
                <a:latin typeface="Bahnschrift"/>
              </a:rPr>
              <a:t>Engineered for Speed, Built to Swap</a:t>
            </a:r>
          </a:p>
        </p:txBody>
      </p:sp>
      <p:sp>
        <p:nvSpPr>
          <p:cNvPr id="25" name="Rectangle 24"/>
          <p:cNvSpPr/>
          <p:nvPr/>
        </p:nvSpPr>
        <p:spPr>
          <a:xfrm>
            <a:off x="521207" y="1344168"/>
            <a:ext cx="1554480" cy="31089"/>
          </a:xfrm>
          <a:prstGeom prst="rect">
            <a:avLst/>
          </a:prstGeom>
          <a:solidFill>
            <a:srgbClr val="00FF41"/>
          </a:solidFill>
          <a:ln>
            <a:noFill/>
          </a:ln>
          <a:effectLst>
            <a:glow rad="50800">
              <a:srgbClr val="00FF41">
                <a:alpha val="5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75688" y="1344168"/>
            <a:ext cx="502920" cy="31089"/>
          </a:xfrm>
          <a:prstGeom prst="rect">
            <a:avLst/>
          </a:prstGeom>
          <a:solidFill>
            <a:srgbClr val="00D4FF"/>
          </a:solidFill>
          <a:ln>
            <a:noFill/>
          </a:ln>
          <a:effectLst>
            <a:glow rad="50800">
              <a:srgbClr val="00D4FF">
                <a:alpha val="5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502920" y="1627632"/>
            <a:ext cx="6858000" cy="932688"/>
          </a:xfrm>
          <a:prstGeom prst="roundRect">
            <a:avLst>
              <a:gd name="adj" fmla="val 12000"/>
            </a:avLst>
          </a:prstGeom>
          <a:solidFill>
            <a:srgbClr val="10192A">
              <a:alpha val="90000"/>
            </a:srgbClr>
          </a:solidFill>
          <a:ln w="12700">
            <a:solidFill>
              <a:srgbClr val="223046"/>
            </a:solidFill>
          </a:ln>
          <a:effectLst>
            <a:outerShdw blurRad="137160" dist="36576" dir="5400000" rotWithShape="0">
              <a:srgbClr val="000000">
                <a:alpha val="5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30936" y="1627632"/>
            <a:ext cx="6601968" cy="41148"/>
          </a:xfrm>
          <a:prstGeom prst="rect">
            <a:avLst/>
          </a:prstGeom>
          <a:solidFill>
            <a:srgbClr val="00FF41"/>
          </a:solidFill>
          <a:ln>
            <a:noFill/>
          </a:ln>
          <a:effectLst>
            <a:glow rad="50800">
              <a:srgbClr val="00FF41">
                <a:alpha val="5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502920" y="1627632"/>
            <a:ext cx="2103120" cy="932688"/>
          </a:xfrm>
          <a:prstGeom prst="roundRect">
            <a:avLst>
              <a:gd name="adj" fmla="val 12000"/>
            </a:avLst>
          </a:prstGeom>
          <a:solidFill>
            <a:srgbClr val="0D2A18">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587752" y="1737360"/>
            <a:ext cx="25603" cy="713232"/>
          </a:xfrm>
          <a:prstGeom prst="rect">
            <a:avLst/>
          </a:prstGeom>
          <a:solidFill>
            <a:srgbClr val="00FF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1627632"/>
            <a:ext cx="2103120" cy="932688"/>
          </a:xfrm>
          <a:prstGeom prst="rect">
            <a:avLst/>
          </a:prstGeom>
          <a:noFill/>
        </p:spPr>
        <p:txBody>
          <a:bodyPr wrap="square" anchor="ctr" lIns="0" rIns="0" tIns="0" bIns="0">
            <a:spAutoFit/>
          </a:bodyPr>
          <a:lstStyle/>
          <a:p>
            <a:pPr algn="ctr">
              <a:lnSpc>
                <a:spcPct val="100000"/>
              </a:lnSpc>
            </a:pPr>
            <a:r>
              <a:rPr sz="1450" b="1" i="0" spc="110">
                <a:solidFill>
                  <a:srgbClr val="00FF41"/>
                </a:solidFill>
                <a:latin typeface="Consolas"/>
              </a:rPr>
              <a:t>FRONTEND</a:t>
            </a:r>
          </a:p>
        </p:txBody>
      </p:sp>
      <p:sp>
        <p:nvSpPr>
          <p:cNvPr id="32" name="TextBox 31"/>
          <p:cNvSpPr txBox="1"/>
          <p:nvPr/>
        </p:nvSpPr>
        <p:spPr>
          <a:xfrm>
            <a:off x="2834640" y="1764792"/>
            <a:ext cx="5120640" cy="347472"/>
          </a:xfrm>
          <a:prstGeom prst="rect">
            <a:avLst/>
          </a:prstGeom>
          <a:noFill/>
        </p:spPr>
        <p:txBody>
          <a:bodyPr wrap="square" anchor="t" lIns="0" rIns="0" tIns="0" bIns="0">
            <a:spAutoFit/>
          </a:bodyPr>
          <a:lstStyle/>
          <a:p>
            <a:pPr algn="l">
              <a:lnSpc>
                <a:spcPct val="100000"/>
              </a:lnSpc>
            </a:pPr>
            <a:r>
              <a:rPr sz="1450" b="1" i="0">
                <a:solidFill>
                  <a:srgbClr val="EAF4FF"/>
                </a:solidFill>
                <a:latin typeface="Segoe UI"/>
              </a:rPr>
              <a:t>React + TanStack Query</a:t>
            </a:r>
          </a:p>
        </p:txBody>
      </p:sp>
      <p:sp>
        <p:nvSpPr>
          <p:cNvPr id="33" name="TextBox 32"/>
          <p:cNvSpPr txBox="1"/>
          <p:nvPr/>
        </p:nvSpPr>
        <p:spPr>
          <a:xfrm>
            <a:off x="2834640" y="2121408"/>
            <a:ext cx="4480560" cy="384048"/>
          </a:xfrm>
          <a:prstGeom prst="rect">
            <a:avLst/>
          </a:prstGeom>
          <a:noFill/>
        </p:spPr>
        <p:txBody>
          <a:bodyPr wrap="square" anchor="t" lIns="0" rIns="0" tIns="0" bIns="0">
            <a:spAutoFit/>
          </a:bodyPr>
          <a:lstStyle/>
          <a:p>
            <a:pPr algn="l">
              <a:lnSpc>
                <a:spcPct val="100000"/>
              </a:lnSpc>
            </a:pPr>
            <a:r>
              <a:rPr sz="950" b="0" i="0">
                <a:solidFill>
                  <a:srgbClr val="93A6C4"/>
                </a:solidFill>
                <a:latin typeface="Segoe UI"/>
              </a:rPr>
              <a:t>Declarative UI · async server-state · smart caching &amp; live refetch</a:t>
            </a:r>
          </a:p>
        </p:txBody>
      </p:sp>
      <p:sp>
        <p:nvSpPr>
          <p:cNvPr id="34" name="TextBox 33"/>
          <p:cNvSpPr txBox="1"/>
          <p:nvPr/>
        </p:nvSpPr>
        <p:spPr>
          <a:xfrm>
            <a:off x="8138160" y="1627632"/>
            <a:ext cx="566928" cy="932688"/>
          </a:xfrm>
          <a:prstGeom prst="rect">
            <a:avLst/>
          </a:prstGeom>
          <a:noFill/>
        </p:spPr>
        <p:txBody>
          <a:bodyPr wrap="square" anchor="ctr" lIns="0" rIns="0" tIns="0" bIns="0">
            <a:spAutoFit/>
          </a:bodyPr>
          <a:lstStyle/>
          <a:p>
            <a:pPr algn="r">
              <a:lnSpc>
                <a:spcPct val="100000"/>
              </a:lnSpc>
            </a:pPr>
            <a:r>
              <a:rPr sz="750" b="0" i="0">
                <a:solidFill>
                  <a:srgbClr val="00FF41"/>
                </a:solidFill>
                <a:latin typeface="Consolas"/>
              </a:rPr>
              <a:t>async · cached · live</a:t>
            </a:r>
          </a:p>
        </p:txBody>
      </p:sp>
      <p:sp>
        <p:nvSpPr>
          <p:cNvPr id="35" name="Rounded Rectangle 34"/>
          <p:cNvSpPr/>
          <p:nvPr/>
        </p:nvSpPr>
        <p:spPr>
          <a:xfrm>
            <a:off x="502920" y="2697480"/>
            <a:ext cx="6858000" cy="932688"/>
          </a:xfrm>
          <a:prstGeom prst="roundRect">
            <a:avLst>
              <a:gd name="adj" fmla="val 12000"/>
            </a:avLst>
          </a:prstGeom>
          <a:solidFill>
            <a:srgbClr val="10192A">
              <a:alpha val="90000"/>
            </a:srgbClr>
          </a:solidFill>
          <a:ln w="12700">
            <a:solidFill>
              <a:srgbClr val="223046"/>
            </a:solidFill>
          </a:ln>
          <a:effectLst>
            <a:outerShdw blurRad="137160" dist="36576" dir="5400000" rotWithShape="0">
              <a:srgbClr val="000000">
                <a:alpha val="5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30936" y="2697480"/>
            <a:ext cx="6601968" cy="41148"/>
          </a:xfrm>
          <a:prstGeom prst="rect">
            <a:avLst/>
          </a:prstGeom>
          <a:solidFill>
            <a:srgbClr val="00D4FF"/>
          </a:solidFill>
          <a:ln>
            <a:noFill/>
          </a:ln>
          <a:effectLst>
            <a:glow rad="50800">
              <a:srgbClr val="00D4FF">
                <a:alpha val="5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502920" y="2697480"/>
            <a:ext cx="2103120" cy="932688"/>
          </a:xfrm>
          <a:prstGeom prst="roundRect">
            <a:avLst>
              <a:gd name="adj" fmla="val 12000"/>
            </a:avLst>
          </a:prstGeom>
          <a:solidFill>
            <a:srgbClr val="0A2431">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2587752" y="2807208"/>
            <a:ext cx="25603" cy="713232"/>
          </a:xfrm>
          <a:prstGeom prst="rect">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02920" y="2697480"/>
            <a:ext cx="2103120" cy="932688"/>
          </a:xfrm>
          <a:prstGeom prst="rect">
            <a:avLst/>
          </a:prstGeom>
          <a:noFill/>
        </p:spPr>
        <p:txBody>
          <a:bodyPr wrap="square" anchor="ctr" lIns="0" rIns="0" tIns="0" bIns="0">
            <a:spAutoFit/>
          </a:bodyPr>
          <a:lstStyle/>
          <a:p>
            <a:pPr algn="ctr">
              <a:lnSpc>
                <a:spcPct val="100000"/>
              </a:lnSpc>
            </a:pPr>
            <a:r>
              <a:rPr sz="1450" b="1" i="0" spc="110">
                <a:solidFill>
                  <a:srgbClr val="00D4FF"/>
                </a:solidFill>
                <a:latin typeface="Consolas"/>
              </a:rPr>
              <a:t>BACKEND</a:t>
            </a:r>
          </a:p>
        </p:txBody>
      </p:sp>
      <p:sp>
        <p:nvSpPr>
          <p:cNvPr id="40" name="TextBox 39"/>
          <p:cNvSpPr txBox="1"/>
          <p:nvPr/>
        </p:nvSpPr>
        <p:spPr>
          <a:xfrm>
            <a:off x="2834640" y="2834640"/>
            <a:ext cx="5120640" cy="347472"/>
          </a:xfrm>
          <a:prstGeom prst="rect">
            <a:avLst/>
          </a:prstGeom>
          <a:noFill/>
        </p:spPr>
        <p:txBody>
          <a:bodyPr wrap="square" anchor="t" lIns="0" rIns="0" tIns="0" bIns="0">
            <a:spAutoFit/>
          </a:bodyPr>
          <a:lstStyle/>
          <a:p>
            <a:pPr algn="l">
              <a:lnSpc>
                <a:spcPct val="100000"/>
              </a:lnSpc>
            </a:pPr>
            <a:r>
              <a:rPr sz="1450" b="1" i="0">
                <a:solidFill>
                  <a:srgbClr val="EAF4FF"/>
                </a:solidFill>
                <a:latin typeface="Segoe UI"/>
              </a:rPr>
              <a:t>FastAPI (Python)</a:t>
            </a:r>
          </a:p>
        </p:txBody>
      </p:sp>
      <p:sp>
        <p:nvSpPr>
          <p:cNvPr id="41" name="TextBox 40"/>
          <p:cNvSpPr txBox="1"/>
          <p:nvPr/>
        </p:nvSpPr>
        <p:spPr>
          <a:xfrm>
            <a:off x="2834640" y="3191256"/>
            <a:ext cx="4480560" cy="384048"/>
          </a:xfrm>
          <a:prstGeom prst="rect">
            <a:avLst/>
          </a:prstGeom>
          <a:noFill/>
        </p:spPr>
        <p:txBody>
          <a:bodyPr wrap="square" anchor="t" lIns="0" rIns="0" tIns="0" bIns="0">
            <a:spAutoFit/>
          </a:bodyPr>
          <a:lstStyle/>
          <a:p>
            <a:pPr algn="l">
              <a:lnSpc>
                <a:spcPct val="100000"/>
              </a:lnSpc>
            </a:pPr>
            <a:r>
              <a:rPr sz="950" b="0" i="0">
                <a:solidFill>
                  <a:srgbClr val="93A6C4"/>
                </a:solidFill>
                <a:latin typeface="Segoe UI"/>
              </a:rPr>
              <a:t>Async endpoints · Pydantic-validated payloads · native streaming</a:t>
            </a:r>
          </a:p>
        </p:txBody>
      </p:sp>
      <p:sp>
        <p:nvSpPr>
          <p:cNvPr id="42" name="TextBox 41"/>
          <p:cNvSpPr txBox="1"/>
          <p:nvPr/>
        </p:nvSpPr>
        <p:spPr>
          <a:xfrm>
            <a:off x="8138160" y="2697480"/>
            <a:ext cx="566928" cy="932688"/>
          </a:xfrm>
          <a:prstGeom prst="rect">
            <a:avLst/>
          </a:prstGeom>
          <a:noFill/>
        </p:spPr>
        <p:txBody>
          <a:bodyPr wrap="square" anchor="ctr" lIns="0" rIns="0" tIns="0" bIns="0">
            <a:spAutoFit/>
          </a:bodyPr>
          <a:lstStyle/>
          <a:p>
            <a:pPr algn="r">
              <a:lnSpc>
                <a:spcPct val="100000"/>
              </a:lnSpc>
            </a:pPr>
            <a:r>
              <a:rPr sz="750" b="0" i="0">
                <a:solidFill>
                  <a:srgbClr val="00D4FF"/>
                </a:solidFill>
                <a:latin typeface="Consolas"/>
              </a:rPr>
              <a:t>fast · typed · streams</a:t>
            </a:r>
          </a:p>
        </p:txBody>
      </p:sp>
      <p:sp>
        <p:nvSpPr>
          <p:cNvPr id="43" name="Rounded Rectangle 42"/>
          <p:cNvSpPr/>
          <p:nvPr/>
        </p:nvSpPr>
        <p:spPr>
          <a:xfrm>
            <a:off x="502920" y="3767328"/>
            <a:ext cx="6858000" cy="932688"/>
          </a:xfrm>
          <a:prstGeom prst="roundRect">
            <a:avLst>
              <a:gd name="adj" fmla="val 12000"/>
            </a:avLst>
          </a:prstGeom>
          <a:solidFill>
            <a:srgbClr val="10192A">
              <a:alpha val="90000"/>
            </a:srgbClr>
          </a:solidFill>
          <a:ln w="12700">
            <a:solidFill>
              <a:srgbClr val="223046"/>
            </a:solidFill>
          </a:ln>
          <a:effectLst>
            <a:outerShdw blurRad="137160" dist="36576" dir="5400000" rotWithShape="0">
              <a:srgbClr val="000000">
                <a:alpha val="5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30936" y="3767328"/>
            <a:ext cx="6601968" cy="41148"/>
          </a:xfrm>
          <a:prstGeom prst="rect">
            <a:avLst/>
          </a:prstGeom>
          <a:solidFill>
            <a:srgbClr val="00FF41"/>
          </a:solidFill>
          <a:ln>
            <a:noFill/>
          </a:ln>
          <a:effectLst>
            <a:glow rad="50800">
              <a:srgbClr val="00FF41">
                <a:alpha val="5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502920" y="3767328"/>
            <a:ext cx="2103120" cy="932688"/>
          </a:xfrm>
          <a:prstGeom prst="roundRect">
            <a:avLst>
              <a:gd name="adj" fmla="val 12000"/>
            </a:avLst>
          </a:prstGeom>
          <a:solidFill>
            <a:srgbClr val="0D2A18">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2587752" y="3877056"/>
            <a:ext cx="25603" cy="713232"/>
          </a:xfrm>
          <a:prstGeom prst="rect">
            <a:avLst/>
          </a:prstGeom>
          <a:solidFill>
            <a:srgbClr val="00FF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02920" y="3767328"/>
            <a:ext cx="2103120" cy="932688"/>
          </a:xfrm>
          <a:prstGeom prst="rect">
            <a:avLst/>
          </a:prstGeom>
          <a:noFill/>
        </p:spPr>
        <p:txBody>
          <a:bodyPr wrap="square" anchor="ctr" lIns="0" rIns="0" tIns="0" bIns="0">
            <a:spAutoFit/>
          </a:bodyPr>
          <a:lstStyle/>
          <a:p>
            <a:pPr algn="ctr">
              <a:lnSpc>
                <a:spcPct val="100000"/>
              </a:lnSpc>
            </a:pPr>
            <a:r>
              <a:rPr sz="1450" b="1" i="0" spc="110">
                <a:solidFill>
                  <a:srgbClr val="00FF41"/>
                </a:solidFill>
                <a:latin typeface="Consolas"/>
              </a:rPr>
              <a:t>AI LAYER</a:t>
            </a:r>
          </a:p>
        </p:txBody>
      </p:sp>
      <p:sp>
        <p:nvSpPr>
          <p:cNvPr id="48" name="TextBox 47"/>
          <p:cNvSpPr txBox="1"/>
          <p:nvPr/>
        </p:nvSpPr>
        <p:spPr>
          <a:xfrm>
            <a:off x="2834640" y="3904488"/>
            <a:ext cx="5120640" cy="347472"/>
          </a:xfrm>
          <a:prstGeom prst="rect">
            <a:avLst/>
          </a:prstGeom>
          <a:noFill/>
        </p:spPr>
        <p:txBody>
          <a:bodyPr wrap="square" anchor="t" lIns="0" rIns="0" tIns="0" bIns="0">
            <a:spAutoFit/>
          </a:bodyPr>
          <a:lstStyle/>
          <a:p>
            <a:pPr algn="l">
              <a:lnSpc>
                <a:spcPct val="100000"/>
              </a:lnSpc>
            </a:pPr>
            <a:r>
              <a:rPr sz="1450" b="1" i="0">
                <a:solidFill>
                  <a:srgbClr val="EAF4FF"/>
                </a:solidFill>
                <a:latin typeface="Segoe UI"/>
              </a:rPr>
              <a:t>Groq + Gemini</a:t>
            </a:r>
          </a:p>
        </p:txBody>
      </p:sp>
      <p:sp>
        <p:nvSpPr>
          <p:cNvPr id="49" name="TextBox 48"/>
          <p:cNvSpPr txBox="1"/>
          <p:nvPr/>
        </p:nvSpPr>
        <p:spPr>
          <a:xfrm>
            <a:off x="2834640" y="4261104"/>
            <a:ext cx="4480560" cy="384048"/>
          </a:xfrm>
          <a:prstGeom prst="rect">
            <a:avLst/>
          </a:prstGeom>
          <a:noFill/>
        </p:spPr>
        <p:txBody>
          <a:bodyPr wrap="square" anchor="t" lIns="0" rIns="0" tIns="0" bIns="0">
            <a:spAutoFit/>
          </a:bodyPr>
          <a:lstStyle/>
          <a:p>
            <a:pPr algn="l">
              <a:lnSpc>
                <a:spcPct val="100000"/>
              </a:lnSpc>
            </a:pPr>
            <a:r>
              <a:rPr sz="950" b="0" i="0">
                <a:solidFill>
                  <a:srgbClr val="93A6C4"/>
                </a:solidFill>
                <a:latin typeface="Segoe UI"/>
              </a:rPr>
              <a:t>Dual LLM providers behind a single router interface</a:t>
            </a:r>
          </a:p>
        </p:txBody>
      </p:sp>
      <p:sp>
        <p:nvSpPr>
          <p:cNvPr id="50" name="TextBox 49"/>
          <p:cNvSpPr txBox="1"/>
          <p:nvPr/>
        </p:nvSpPr>
        <p:spPr>
          <a:xfrm>
            <a:off x="8138160" y="3767328"/>
            <a:ext cx="566928" cy="932688"/>
          </a:xfrm>
          <a:prstGeom prst="rect">
            <a:avLst/>
          </a:prstGeom>
          <a:noFill/>
        </p:spPr>
        <p:txBody>
          <a:bodyPr wrap="square" anchor="ctr" lIns="0" rIns="0" tIns="0" bIns="0">
            <a:spAutoFit/>
          </a:bodyPr>
          <a:lstStyle/>
          <a:p>
            <a:pPr algn="r">
              <a:lnSpc>
                <a:spcPct val="100000"/>
              </a:lnSpc>
            </a:pPr>
            <a:r>
              <a:rPr sz="750" b="0" i="0">
                <a:solidFill>
                  <a:srgbClr val="00FF41"/>
                </a:solidFill>
                <a:latin typeface="Consolas"/>
              </a:rPr>
              <a:t>fallback-ready</a:t>
            </a:r>
          </a:p>
        </p:txBody>
      </p:sp>
      <p:sp>
        <p:nvSpPr>
          <p:cNvPr id="51" name="Rounded Rectangle 50"/>
          <p:cNvSpPr/>
          <p:nvPr/>
        </p:nvSpPr>
        <p:spPr>
          <a:xfrm>
            <a:off x="502920" y="4837176"/>
            <a:ext cx="6858000" cy="932688"/>
          </a:xfrm>
          <a:prstGeom prst="roundRect">
            <a:avLst>
              <a:gd name="adj" fmla="val 12000"/>
            </a:avLst>
          </a:prstGeom>
          <a:solidFill>
            <a:srgbClr val="10192A">
              <a:alpha val="90000"/>
            </a:srgbClr>
          </a:solidFill>
          <a:ln w="12700">
            <a:solidFill>
              <a:srgbClr val="223046"/>
            </a:solidFill>
          </a:ln>
          <a:effectLst>
            <a:outerShdw blurRad="137160" dist="36576" dir="5400000" rotWithShape="0">
              <a:srgbClr val="000000">
                <a:alpha val="5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630936" y="4837176"/>
            <a:ext cx="6601968" cy="41148"/>
          </a:xfrm>
          <a:prstGeom prst="rect">
            <a:avLst/>
          </a:prstGeom>
          <a:solidFill>
            <a:srgbClr val="00D4FF"/>
          </a:solidFill>
          <a:ln>
            <a:noFill/>
          </a:ln>
          <a:effectLst>
            <a:glow rad="50800">
              <a:srgbClr val="00D4FF">
                <a:alpha val="5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ounded Rectangle 52"/>
          <p:cNvSpPr/>
          <p:nvPr/>
        </p:nvSpPr>
        <p:spPr>
          <a:xfrm>
            <a:off x="502920" y="4837176"/>
            <a:ext cx="2103120" cy="932688"/>
          </a:xfrm>
          <a:prstGeom prst="roundRect">
            <a:avLst>
              <a:gd name="adj" fmla="val 12000"/>
            </a:avLst>
          </a:prstGeom>
          <a:solidFill>
            <a:srgbClr val="0A2431">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2587752" y="4946904"/>
            <a:ext cx="25603" cy="713232"/>
          </a:xfrm>
          <a:prstGeom prst="rect">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02920" y="4837176"/>
            <a:ext cx="2103120" cy="932688"/>
          </a:xfrm>
          <a:prstGeom prst="rect">
            <a:avLst/>
          </a:prstGeom>
          <a:noFill/>
        </p:spPr>
        <p:txBody>
          <a:bodyPr wrap="square" anchor="ctr" lIns="0" rIns="0" tIns="0" bIns="0">
            <a:spAutoFit/>
          </a:bodyPr>
          <a:lstStyle/>
          <a:p>
            <a:pPr algn="ctr">
              <a:lnSpc>
                <a:spcPct val="100000"/>
              </a:lnSpc>
            </a:pPr>
            <a:r>
              <a:rPr sz="1450" b="1" i="0" spc="110">
                <a:solidFill>
                  <a:srgbClr val="00D4FF"/>
                </a:solidFill>
                <a:latin typeface="Consolas"/>
              </a:rPr>
              <a:t>DATA</a:t>
            </a:r>
          </a:p>
        </p:txBody>
      </p:sp>
      <p:sp>
        <p:nvSpPr>
          <p:cNvPr id="56" name="TextBox 55"/>
          <p:cNvSpPr txBox="1"/>
          <p:nvPr/>
        </p:nvSpPr>
        <p:spPr>
          <a:xfrm>
            <a:off x="2834640" y="4974336"/>
            <a:ext cx="5120640" cy="347472"/>
          </a:xfrm>
          <a:prstGeom prst="rect">
            <a:avLst/>
          </a:prstGeom>
          <a:noFill/>
        </p:spPr>
        <p:txBody>
          <a:bodyPr wrap="square" anchor="t" lIns="0" rIns="0" tIns="0" bIns="0">
            <a:spAutoFit/>
          </a:bodyPr>
          <a:lstStyle/>
          <a:p>
            <a:pPr algn="l">
              <a:lnSpc>
                <a:spcPct val="100000"/>
              </a:lnSpc>
            </a:pPr>
            <a:r>
              <a:rPr sz="1450" b="1" i="0">
                <a:solidFill>
                  <a:srgbClr val="EAF4FF"/>
                </a:solidFill>
                <a:latin typeface="Segoe UI"/>
              </a:rPr>
              <a:t>SQLite</a:t>
            </a:r>
          </a:p>
        </p:txBody>
      </p:sp>
      <p:sp>
        <p:nvSpPr>
          <p:cNvPr id="57" name="TextBox 56"/>
          <p:cNvSpPr txBox="1"/>
          <p:nvPr/>
        </p:nvSpPr>
        <p:spPr>
          <a:xfrm>
            <a:off x="2834640" y="5330952"/>
            <a:ext cx="4480560" cy="384048"/>
          </a:xfrm>
          <a:prstGeom prst="rect">
            <a:avLst/>
          </a:prstGeom>
          <a:noFill/>
        </p:spPr>
        <p:txBody>
          <a:bodyPr wrap="square" anchor="t" lIns="0" rIns="0" tIns="0" bIns="0">
            <a:spAutoFit/>
          </a:bodyPr>
          <a:lstStyle/>
          <a:p>
            <a:pPr algn="l">
              <a:lnSpc>
                <a:spcPct val="100000"/>
              </a:lnSpc>
            </a:pPr>
            <a:r>
              <a:rPr sz="950" b="0" i="0">
                <a:solidFill>
                  <a:srgbClr val="93A6C4"/>
                </a:solidFill>
                <a:latin typeface="Segoe UI"/>
              </a:rPr>
              <a:t>Zero-config · file-based · instantly portable — swap for Postgres/MySQL</a:t>
            </a:r>
          </a:p>
        </p:txBody>
      </p:sp>
      <p:sp>
        <p:nvSpPr>
          <p:cNvPr id="58" name="TextBox 57"/>
          <p:cNvSpPr txBox="1"/>
          <p:nvPr/>
        </p:nvSpPr>
        <p:spPr>
          <a:xfrm>
            <a:off x="8138160" y="4837176"/>
            <a:ext cx="566928" cy="932688"/>
          </a:xfrm>
          <a:prstGeom prst="rect">
            <a:avLst/>
          </a:prstGeom>
          <a:noFill/>
        </p:spPr>
        <p:txBody>
          <a:bodyPr wrap="square" anchor="ctr" lIns="0" rIns="0" tIns="0" bIns="0">
            <a:spAutoFit/>
          </a:bodyPr>
          <a:lstStyle/>
          <a:p>
            <a:pPr algn="r">
              <a:lnSpc>
                <a:spcPct val="100000"/>
              </a:lnSpc>
            </a:pPr>
            <a:r>
              <a:rPr sz="750" b="0" i="0">
                <a:solidFill>
                  <a:srgbClr val="00D4FF"/>
                </a:solidFill>
                <a:latin typeface="Consolas"/>
              </a:rPr>
              <a:t>ships in the repo</a:t>
            </a:r>
          </a:p>
        </p:txBody>
      </p:sp>
      <p:sp>
        <p:nvSpPr>
          <p:cNvPr id="59" name="Rounded Rectangle 58"/>
          <p:cNvSpPr/>
          <p:nvPr/>
        </p:nvSpPr>
        <p:spPr>
          <a:xfrm>
            <a:off x="7635240" y="1627632"/>
            <a:ext cx="4050791" cy="4160520"/>
          </a:xfrm>
          <a:prstGeom prst="roundRect">
            <a:avLst>
              <a:gd name="adj" fmla="val 5000"/>
            </a:avLst>
          </a:prstGeom>
          <a:solidFill>
            <a:srgbClr val="10192A">
              <a:alpha val="90000"/>
            </a:srgbClr>
          </a:solidFill>
          <a:ln w="12700">
            <a:solidFill>
              <a:srgbClr val="223046"/>
            </a:solidFill>
          </a:ln>
          <a:effectLst>
            <a:outerShdw blurRad="164592" dist="45720" dir="5400000" rotWithShape="0">
              <a:srgbClr val="000000">
                <a:alpha val="5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7763256" y="1627632"/>
            <a:ext cx="3794759" cy="41148"/>
          </a:xfrm>
          <a:prstGeom prst="rect">
            <a:avLst/>
          </a:prstGeom>
          <a:solidFill>
            <a:srgbClr val="00D4FF"/>
          </a:solidFill>
          <a:ln>
            <a:noFill/>
          </a:ln>
          <a:effectLst>
            <a:glow rad="63500">
              <a:srgbClr val="00D4FF">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872983" y="1764792"/>
            <a:ext cx="3575303" cy="274320"/>
          </a:xfrm>
          <a:prstGeom prst="rect">
            <a:avLst/>
          </a:prstGeom>
          <a:noFill/>
        </p:spPr>
        <p:txBody>
          <a:bodyPr wrap="square" anchor="t" lIns="0" rIns="0" tIns="0" bIns="0">
            <a:spAutoFit/>
          </a:bodyPr>
          <a:lstStyle/>
          <a:p>
            <a:pPr algn="l">
              <a:lnSpc>
                <a:spcPct val="100000"/>
              </a:lnSpc>
            </a:pPr>
            <a:r>
              <a:rPr sz="1150" b="1" i="0" spc="110">
                <a:solidFill>
                  <a:srgbClr val="00D4FF"/>
                </a:solidFill>
                <a:latin typeface="Consolas"/>
              </a:rPr>
              <a:t>SYSTEM CROSS-SECTION</a:t>
            </a:r>
          </a:p>
        </p:txBody>
      </p:sp>
      <p:pic>
        <p:nvPicPr>
          <p:cNvPr id="62" name="Picture 61" descr="stack-visual.jpg"/>
          <p:cNvPicPr>
            <a:picLocks noChangeAspect="1"/>
          </p:cNvPicPr>
          <p:nvPr/>
        </p:nvPicPr>
        <p:blipFill>
          <a:blip r:embed="rId3"/>
          <a:stretch>
            <a:fillRect/>
          </a:stretch>
        </p:blipFill>
        <p:spPr>
          <a:xfrm>
            <a:off x="7818120" y="2588070"/>
            <a:ext cx="3685032" cy="2056762"/>
          </a:xfrm>
          <a:prstGeom prst="rect">
            <a:avLst/>
          </a:prstGeom>
          <a:effectLst>
            <a:outerShdw blurRad="182880" dist="45720" dir="5400000" rotWithShape="0">
              <a:srgbClr val="000000">
                <a:alpha val="60000"/>
              </a:srgbClr>
            </a:outerShdw>
          </a:effectLst>
        </p:spPr>
      </p:pic>
      <p:sp>
        <p:nvSpPr>
          <p:cNvPr id="63" name="TextBox 62"/>
          <p:cNvSpPr txBox="1"/>
          <p:nvPr/>
        </p:nvSpPr>
        <p:spPr>
          <a:xfrm>
            <a:off x="7818120" y="5212079"/>
            <a:ext cx="3685032" cy="274320"/>
          </a:xfrm>
          <a:prstGeom prst="rect">
            <a:avLst/>
          </a:prstGeom>
          <a:noFill/>
        </p:spPr>
        <p:txBody>
          <a:bodyPr wrap="square" anchor="t" lIns="0" rIns="0" tIns="0" bIns="0">
            <a:spAutoFit/>
          </a:bodyPr>
          <a:lstStyle/>
          <a:p>
            <a:pPr algn="ctr">
              <a:lnSpc>
                <a:spcPct val="100000"/>
              </a:lnSpc>
            </a:pPr>
            <a:r>
              <a:rPr sz="800" b="0" i="0" spc="60">
                <a:solidFill>
                  <a:srgbClr val="00D4FF"/>
                </a:solidFill>
                <a:latin typeface="Consolas"/>
              </a:rPr>
              <a:t>SWAP ANY LAYER — THE AGENT DOESN'T CARE</a:t>
            </a:r>
          </a:p>
        </p:txBody>
      </p:sp>
      <p:sp>
        <p:nvSpPr>
          <p:cNvPr id="64" name="Rounded Rectangle 63"/>
          <p:cNvSpPr/>
          <p:nvPr/>
        </p:nvSpPr>
        <p:spPr>
          <a:xfrm>
            <a:off x="502920" y="5989320"/>
            <a:ext cx="11185855" cy="420624"/>
          </a:xfrm>
          <a:prstGeom prst="roundRect">
            <a:avLst>
              <a:gd name="adj" fmla="val 50000"/>
            </a:avLst>
          </a:prstGeom>
          <a:solidFill>
            <a:srgbClr val="10192A">
              <a:alpha val="88000"/>
            </a:srgbClr>
          </a:solidFill>
          <a:ln w="12700">
            <a:solidFill>
              <a:srgbClr val="223046"/>
            </a:solidFill>
          </a:ln>
          <a:effectLst>
            <a:outerShdw blurRad="128016" dist="36576" dir="5400000" rotWithShape="0">
              <a:srgbClr val="000000">
                <a:alpha val="5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694944" y="6089904"/>
            <a:ext cx="54864" cy="219456"/>
          </a:xfrm>
          <a:prstGeom prst="rect">
            <a:avLst/>
          </a:prstGeom>
          <a:solidFill>
            <a:srgbClr val="00D4FF"/>
          </a:solidFill>
          <a:ln>
            <a:noFill/>
          </a:ln>
          <a:effectLst>
            <a:glow rad="50800">
              <a:srgbClr val="00D4FF">
                <a:alpha val="6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914400" y="5989320"/>
            <a:ext cx="10180015" cy="420624"/>
          </a:xfrm>
          <a:prstGeom prst="rect">
            <a:avLst/>
          </a:prstGeom>
          <a:noFill/>
        </p:spPr>
        <p:txBody>
          <a:bodyPr wrap="square" anchor="ctr" lIns="0" rIns="0" tIns="0" bIns="0">
            <a:spAutoFit/>
          </a:bodyPr>
          <a:lstStyle/>
          <a:p>
            <a:pPr algn="l">
              <a:lnSpc>
                <a:spcPct val="100000"/>
              </a:lnSpc>
            </a:pPr>
            <a:r>
              <a:rPr sz="1050" b="1" i="0" spc="55">
                <a:solidFill>
                  <a:srgbClr val="00D4FF"/>
                </a:solidFill>
                <a:effectLst>
                  <a:glow rad="38100">
                    <a:srgbClr val="00D4FF">
                      <a:alpha val="30000"/>
                    </a:srgbClr>
                  </a:glow>
                </a:effectLst>
                <a:latin typeface="Consolas"/>
              </a:rPr>
              <a:t>DESIGN PRINCIPLE — EVERY LAYER IS MODULAR. SWAP ANY COMPONENT WITHOUT REWRITING THE AGENT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subtle-blue.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9281160" y="0"/>
            <a:ext cx="2514600" cy="1645920"/>
          </a:xfrm>
          <a:prstGeom prst="rect">
            <a:avLst/>
          </a:prstGeom>
          <a:noFill/>
        </p:spPr>
        <p:txBody>
          <a:bodyPr wrap="square" anchor="t" lIns="0" rIns="0" tIns="0" bIns="0">
            <a:spAutoFit/>
          </a:bodyPr>
          <a:lstStyle/>
          <a:p>
            <a:pPr algn="r">
              <a:lnSpc>
                <a:spcPct val="100000"/>
              </a:lnSpc>
            </a:pPr>
            <a:r>
              <a:rPr sz="11500" b="1" i="0">
                <a:solidFill>
                  <a:srgbClr val="EAF4FF">
                    <a:alpha val="7000"/>
                  </a:srgbClr>
                </a:solidFill>
                <a:latin typeface="Bahnschrift"/>
              </a:rPr>
              <a:t>04</a:t>
            </a:r>
          </a:p>
        </p:txBody>
      </p:sp>
      <p:sp>
        <p:nvSpPr>
          <p:cNvPr id="4" name="Rectangle 3"/>
          <p:cNvSpPr/>
          <p:nvPr/>
        </p:nvSpPr>
        <p:spPr>
          <a:xfrm>
            <a:off x="0" y="0"/>
            <a:ext cx="5120511" cy="29260"/>
          </a:xfrm>
          <a:prstGeom prst="rect">
            <a:avLst/>
          </a:prstGeom>
          <a:solidFill>
            <a:srgbClr val="00FF41"/>
          </a:solidFill>
          <a:ln>
            <a:noFill/>
          </a:ln>
          <a:effectLst>
            <a:glow rad="50800">
              <a:srgbClr val="00FF41">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120511" y="0"/>
            <a:ext cx="7071183" cy="29260"/>
          </a:xfrm>
          <a:prstGeom prst="rect">
            <a:avLst/>
          </a:prstGeom>
          <a:solidFill>
            <a:srgbClr val="00D4FF"/>
          </a:solidFill>
          <a:ln>
            <a:noFill/>
          </a:ln>
          <a:effectLst>
            <a:glow rad="50800">
              <a:srgbClr val="00D4FF">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6032" y="6254496"/>
            <a:ext cx="329184" cy="20116"/>
          </a:xfrm>
          <a:prstGeom prst="rect">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56032" y="6272784"/>
            <a:ext cx="20116" cy="347472"/>
          </a:xfrm>
          <a:prstGeom prst="rect">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6446520"/>
            <a:ext cx="11185855" cy="10972"/>
          </a:xfrm>
          <a:prstGeom prst="rect">
            <a:avLst/>
          </a:prstGeom>
          <a:solidFill>
            <a:srgbClr val="2230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501384"/>
            <a:ext cx="5669280" cy="201168"/>
          </a:xfrm>
          <a:prstGeom prst="rect">
            <a:avLst/>
          </a:prstGeom>
          <a:noFill/>
        </p:spPr>
        <p:txBody>
          <a:bodyPr wrap="square" anchor="t" lIns="0" rIns="0" tIns="0" bIns="0">
            <a:spAutoFit/>
          </a:bodyPr>
          <a:lstStyle/>
          <a:p>
            <a:pPr algn="l">
              <a:lnSpc>
                <a:spcPct val="100000"/>
              </a:lnSpc>
            </a:pPr>
            <a:r>
              <a:rPr sz="800" b="1" i="0">
                <a:solidFill>
                  <a:srgbClr val="00FF41"/>
                </a:solidFill>
                <a:latin typeface="Consolas"/>
              </a:rPr>
              <a:t>ZODIAC AI </a:t>
            </a:r>
            <a:r>
              <a:rPr sz="800" b="0" i="0">
                <a:solidFill>
                  <a:srgbClr val="5A6A85"/>
                </a:solidFill>
                <a:latin typeface="Consolas"/>
              </a:rPr>
              <a:t>// CHAT WITH YOUR DATABASE // </a:t>
            </a:r>
            <a:r>
              <a:rPr sz="800" b="0" i="0">
                <a:solidFill>
                  <a:srgbClr val="00D4FF"/>
                </a:solidFill>
                <a:latin typeface="Consolas"/>
              </a:rPr>
              <a:t>AI ARCHITECTURE</a:t>
            </a:r>
          </a:p>
        </p:txBody>
      </p:sp>
      <p:sp>
        <p:nvSpPr>
          <p:cNvPr id="10" name="TextBox 9"/>
          <p:cNvSpPr txBox="1"/>
          <p:nvPr/>
        </p:nvSpPr>
        <p:spPr>
          <a:xfrm>
            <a:off x="10728655" y="6501384"/>
            <a:ext cx="960120" cy="201168"/>
          </a:xfrm>
          <a:prstGeom prst="rect">
            <a:avLst/>
          </a:prstGeom>
          <a:noFill/>
        </p:spPr>
        <p:txBody>
          <a:bodyPr wrap="square" anchor="t" lIns="0" rIns="0" tIns="0" bIns="0">
            <a:spAutoFit/>
          </a:bodyPr>
          <a:lstStyle/>
          <a:p>
            <a:pPr algn="r">
              <a:lnSpc>
                <a:spcPct val="100000"/>
              </a:lnSpc>
            </a:pPr>
            <a:r>
              <a:rPr sz="800" b="1" i="0">
                <a:solidFill>
                  <a:srgbClr val="00FF41"/>
                </a:solidFill>
                <a:latin typeface="Consolas"/>
              </a:rPr>
              <a:t>04</a:t>
            </a:r>
            <a:r>
              <a:rPr sz="800" b="0" i="0">
                <a:solidFill>
                  <a:srgbClr val="5A6A85"/>
                </a:solidFill>
                <a:latin typeface="Consolas"/>
              </a:rPr>
              <a:t> / 11</a:t>
            </a:r>
          </a:p>
        </p:txBody>
      </p:sp>
      <p:sp>
        <p:nvSpPr>
          <p:cNvPr id="11" name="Rectangle 10"/>
          <p:cNvSpPr/>
          <p:nvPr/>
        </p:nvSpPr>
        <p:spPr>
          <a:xfrm>
            <a:off x="4198467" y="6675120"/>
            <a:ext cx="274320" cy="45720"/>
          </a:xfrm>
          <a:prstGeom prst="rect">
            <a:avLst/>
          </a:prstGeom>
          <a:solidFill>
            <a:srgbClr val="1653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50511" y="6675120"/>
            <a:ext cx="274320" cy="45720"/>
          </a:xfrm>
          <a:prstGeom prst="rect">
            <a:avLst/>
          </a:prstGeom>
          <a:solidFill>
            <a:srgbClr val="1653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902555" y="6675120"/>
            <a:ext cx="274320" cy="45720"/>
          </a:xfrm>
          <a:prstGeom prst="rect">
            <a:avLst/>
          </a:prstGeom>
          <a:solidFill>
            <a:srgbClr val="1653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254599" y="6675120"/>
            <a:ext cx="274320" cy="45720"/>
          </a:xfrm>
          <a:prstGeom prst="rect">
            <a:avLst/>
          </a:prstGeom>
          <a:solidFill>
            <a:srgbClr val="00FF41"/>
          </a:solidFill>
          <a:ln>
            <a:noFill/>
          </a:ln>
          <a:effectLst>
            <a:glow rad="63500">
              <a:srgbClr val="00FF41">
                <a:alpha val="6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06643" y="6675120"/>
            <a:ext cx="274320" cy="45720"/>
          </a:xfrm>
          <a:prstGeom prst="rect">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958687" y="6675120"/>
            <a:ext cx="274320" cy="45720"/>
          </a:xfrm>
          <a:prstGeom prst="rect">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310731" y="6675120"/>
            <a:ext cx="274320" cy="45720"/>
          </a:xfrm>
          <a:prstGeom prst="rect">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662775" y="6675120"/>
            <a:ext cx="274320" cy="45720"/>
          </a:xfrm>
          <a:prstGeom prst="rect">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014819" y="6675120"/>
            <a:ext cx="274320" cy="45720"/>
          </a:xfrm>
          <a:prstGeom prst="rect">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66863" y="6675120"/>
            <a:ext cx="274320" cy="45720"/>
          </a:xfrm>
          <a:prstGeom prst="rect">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18907" y="6675120"/>
            <a:ext cx="274320" cy="45720"/>
          </a:xfrm>
          <a:prstGeom prst="rect">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21207" y="466344"/>
            <a:ext cx="100584" cy="100584"/>
          </a:xfrm>
          <a:prstGeom prst="rect">
            <a:avLst/>
          </a:prstGeom>
          <a:solidFill>
            <a:srgbClr val="00FF41"/>
          </a:solidFill>
          <a:ln>
            <a:noFill/>
          </a:ln>
          <a:effectLst>
            <a:glow rad="63500">
              <a:srgbClr val="00FF41">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402336"/>
            <a:ext cx="10515600" cy="274320"/>
          </a:xfrm>
          <a:prstGeom prst="rect">
            <a:avLst/>
          </a:prstGeom>
          <a:noFill/>
        </p:spPr>
        <p:txBody>
          <a:bodyPr wrap="square" anchor="t" lIns="0" rIns="0" tIns="0" bIns="0">
            <a:spAutoFit/>
          </a:bodyPr>
          <a:lstStyle/>
          <a:p>
            <a:pPr algn="l">
              <a:lnSpc>
                <a:spcPct val="100000"/>
              </a:lnSpc>
            </a:pPr>
            <a:r>
              <a:rPr sz="1050" b="0" i="0" spc="170">
                <a:solidFill>
                  <a:srgbClr val="00FF41"/>
                </a:solidFill>
                <a:effectLst>
                  <a:glow rad="38100">
                    <a:srgbClr val="00FF41">
                      <a:alpha val="40000"/>
                    </a:srgbClr>
                  </a:glow>
                </a:effectLst>
                <a:latin typeface="Consolas"/>
              </a:rPr>
              <a:t>04 — MULTI-PROVIDER AI ARCHITECTURE</a:t>
            </a:r>
          </a:p>
        </p:txBody>
      </p:sp>
      <p:sp>
        <p:nvSpPr>
          <p:cNvPr id="24" name="TextBox 23"/>
          <p:cNvSpPr txBox="1"/>
          <p:nvPr/>
        </p:nvSpPr>
        <p:spPr>
          <a:xfrm>
            <a:off x="502920" y="694944"/>
            <a:ext cx="11247120" cy="566928"/>
          </a:xfrm>
          <a:prstGeom prst="rect">
            <a:avLst/>
          </a:prstGeom>
          <a:noFill/>
        </p:spPr>
        <p:txBody>
          <a:bodyPr wrap="square" anchor="t" lIns="0" rIns="0" tIns="0" bIns="0">
            <a:spAutoFit/>
          </a:bodyPr>
          <a:lstStyle/>
          <a:p>
            <a:pPr algn="l">
              <a:lnSpc>
                <a:spcPct val="100000"/>
              </a:lnSpc>
            </a:pPr>
            <a:r>
              <a:rPr sz="3000" b="1" i="0">
                <a:solidFill>
                  <a:srgbClr val="EAF4FF"/>
                </a:solidFill>
                <a:latin typeface="Bahnschrift"/>
              </a:rPr>
              <a:t>Two Brains, One Loop — </a:t>
            </a:r>
            <a:r>
              <a:rPr sz="3000" b="1" i="0">
                <a:solidFill>
                  <a:srgbClr val="00D4FF"/>
                </a:solidFill>
                <a:effectLst>
                  <a:glow rad="63500">
                    <a:srgbClr val="00D4FF">
                      <a:alpha val="35000"/>
                    </a:srgbClr>
                  </a:glow>
                </a:effectLst>
                <a:latin typeface="Bahnschrift"/>
              </a:rPr>
              <a:t>Never Offline</a:t>
            </a:r>
          </a:p>
        </p:txBody>
      </p:sp>
      <p:sp>
        <p:nvSpPr>
          <p:cNvPr id="25" name="Rectangle 24"/>
          <p:cNvSpPr/>
          <p:nvPr/>
        </p:nvSpPr>
        <p:spPr>
          <a:xfrm>
            <a:off x="521207" y="1344168"/>
            <a:ext cx="1554480" cy="31089"/>
          </a:xfrm>
          <a:prstGeom prst="rect">
            <a:avLst/>
          </a:prstGeom>
          <a:solidFill>
            <a:srgbClr val="00FF41"/>
          </a:solidFill>
          <a:ln>
            <a:noFill/>
          </a:ln>
          <a:effectLst>
            <a:glow rad="50800">
              <a:srgbClr val="00FF41">
                <a:alpha val="5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75688" y="1344168"/>
            <a:ext cx="502920" cy="31089"/>
          </a:xfrm>
          <a:prstGeom prst="rect">
            <a:avLst/>
          </a:prstGeom>
          <a:solidFill>
            <a:srgbClr val="00D4FF"/>
          </a:solidFill>
          <a:ln>
            <a:noFill/>
          </a:ln>
          <a:effectLst>
            <a:glow rad="50800">
              <a:srgbClr val="00D4FF">
                <a:alpha val="5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502920" y="1627632"/>
            <a:ext cx="4892040" cy="4160520"/>
          </a:xfrm>
          <a:prstGeom prst="roundRect">
            <a:avLst>
              <a:gd name="adj" fmla="val 5000"/>
            </a:avLst>
          </a:prstGeom>
          <a:solidFill>
            <a:srgbClr val="10192A">
              <a:alpha val="90000"/>
            </a:srgbClr>
          </a:solidFill>
          <a:ln w="12700">
            <a:solidFill>
              <a:srgbClr val="223046"/>
            </a:solidFill>
          </a:ln>
          <a:effectLst>
            <a:outerShdw blurRad="164592" dist="45720" dir="5400000" rotWithShape="0">
              <a:srgbClr val="000000">
                <a:alpha val="5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30936" y="1627632"/>
            <a:ext cx="4636007" cy="41148"/>
          </a:xfrm>
          <a:prstGeom prst="rect">
            <a:avLst/>
          </a:prstGeom>
          <a:solidFill>
            <a:srgbClr val="00D4FF"/>
          </a:solidFill>
          <a:ln>
            <a:noFill/>
          </a:ln>
          <a:effectLst>
            <a:glow rad="63500">
              <a:srgbClr val="00D4FF">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0664" y="1764792"/>
            <a:ext cx="4416552" cy="274320"/>
          </a:xfrm>
          <a:prstGeom prst="rect">
            <a:avLst/>
          </a:prstGeom>
          <a:noFill/>
        </p:spPr>
        <p:txBody>
          <a:bodyPr wrap="square" anchor="t" lIns="0" rIns="0" tIns="0" bIns="0">
            <a:spAutoFit/>
          </a:bodyPr>
          <a:lstStyle/>
          <a:p>
            <a:pPr algn="l">
              <a:lnSpc>
                <a:spcPct val="100000"/>
              </a:lnSpc>
            </a:pPr>
            <a:r>
              <a:rPr sz="1150" b="1" i="0" spc="110">
                <a:solidFill>
                  <a:srgbClr val="00D4FF"/>
                </a:solidFill>
                <a:latin typeface="Consolas"/>
              </a:rPr>
              <a:t>PROVIDER FALLBACK ROUTER</a:t>
            </a:r>
          </a:p>
        </p:txBody>
      </p:sp>
      <p:sp>
        <p:nvSpPr>
          <p:cNvPr id="30" name="TextBox 29"/>
          <p:cNvSpPr txBox="1"/>
          <p:nvPr/>
        </p:nvSpPr>
        <p:spPr>
          <a:xfrm>
            <a:off x="786384" y="2231136"/>
            <a:ext cx="4343400" cy="1920240"/>
          </a:xfrm>
          <a:prstGeom prst="rect">
            <a:avLst/>
          </a:prstGeom>
          <a:noFill/>
        </p:spPr>
        <p:txBody>
          <a:bodyPr wrap="square" anchor="t" lIns="0" rIns="0" tIns="0" bIns="0">
            <a:spAutoFit/>
          </a:bodyPr>
          <a:lstStyle/>
          <a:p>
            <a:pPr algn="l" marL="237744" indent="-237744">
              <a:lnSpc>
                <a:spcPct val="112000"/>
              </a:lnSpc>
              <a:spcAft>
                <a:spcPts val="700"/>
              </a:spcAft>
            </a:pPr>
            <a:r>
              <a:rPr sz="1100" b="1" i="0">
                <a:solidFill>
                  <a:srgbClr val="00D4FF"/>
                </a:solidFill>
                <a:latin typeface="Consolas"/>
              </a:rPr>
              <a:t>▸  </a:t>
            </a:r>
            <a:r>
              <a:rPr sz="1100" b="1" i="0">
                <a:solidFill>
                  <a:srgbClr val="EAF4FF"/>
                </a:solidFill>
                <a:latin typeface="Segoe UI"/>
              </a:rPr>
              <a:t>One unified LLM interface</a:t>
            </a:r>
            <a:r>
              <a:rPr sz="1100" b="0" i="0">
                <a:solidFill>
                  <a:srgbClr val="93A6C4"/>
                </a:solidFill>
                <a:latin typeface="Segoe UI"/>
              </a:rPr>
              <a:t> — provider-agnostic by design</a:t>
            </a:r>
          </a:p>
          <a:p>
            <a:pPr algn="l" marL="237744" indent="-237744">
              <a:lnSpc>
                <a:spcPct val="112000"/>
              </a:lnSpc>
              <a:spcAft>
                <a:spcPts val="700"/>
              </a:spcAft>
            </a:pPr>
            <a:r>
              <a:rPr sz="1100" b="1" i="0">
                <a:solidFill>
                  <a:srgbClr val="00D4FF"/>
                </a:solidFill>
                <a:latin typeface="Consolas"/>
              </a:rPr>
              <a:t>▸  </a:t>
            </a:r>
            <a:r>
              <a:rPr sz="1100" b="1" i="0">
                <a:solidFill>
                  <a:srgbClr val="EAF4FF"/>
                </a:solidFill>
                <a:latin typeface="Segoe UI"/>
              </a:rPr>
              <a:t>Primary: Groq</a:t>
            </a:r>
            <a:r>
              <a:rPr sz="1100" b="0" i="0">
                <a:solidFill>
                  <a:srgbClr val="93A6C4"/>
                </a:solidFill>
                <a:latin typeface="Segoe UI"/>
              </a:rPr>
              <a:t> — near-instant Llama-class inference</a:t>
            </a:r>
          </a:p>
          <a:p>
            <a:pPr algn="l" marL="237744" indent="-237744">
              <a:lnSpc>
                <a:spcPct val="112000"/>
              </a:lnSpc>
              <a:spcAft>
                <a:spcPts val="700"/>
              </a:spcAft>
            </a:pPr>
            <a:r>
              <a:rPr sz="1100" b="1" i="0">
                <a:solidFill>
                  <a:srgbClr val="00D4FF"/>
                </a:solidFill>
                <a:latin typeface="Consolas"/>
              </a:rPr>
              <a:t>▸  </a:t>
            </a:r>
            <a:r>
              <a:rPr sz="1100" b="1" i="0">
                <a:solidFill>
                  <a:srgbClr val="EAF4FF"/>
                </a:solidFill>
                <a:latin typeface="Segoe UI"/>
              </a:rPr>
              <a:t>Auto-failover to Gemini</a:t>
            </a:r>
            <a:r>
              <a:rPr sz="1100" b="0" i="0">
                <a:solidFill>
                  <a:srgbClr val="93A6C4"/>
                </a:solidFill>
                <a:latin typeface="Segoe UI"/>
              </a:rPr>
              <a:t> — on rate limits, timeouts, outages</a:t>
            </a:r>
          </a:p>
          <a:p>
            <a:pPr algn="l" marL="237744" indent="-237744">
              <a:lnSpc>
                <a:spcPct val="112000"/>
              </a:lnSpc>
              <a:spcAft>
                <a:spcPts val="700"/>
              </a:spcAft>
            </a:pPr>
            <a:r>
              <a:rPr sz="1100" b="1" i="0">
                <a:solidFill>
                  <a:srgbClr val="00D4FF"/>
                </a:solidFill>
                <a:latin typeface="Consolas"/>
              </a:rPr>
              <a:t>▸  </a:t>
            </a:r>
            <a:r>
              <a:rPr sz="1100" b="1" i="0">
                <a:solidFill>
                  <a:srgbClr val="EAF4FF"/>
                </a:solidFill>
                <a:latin typeface="Segoe UI"/>
              </a:rPr>
              <a:t>Zero single points of failure</a:t>
            </a:r>
            <a:r>
              <a:rPr sz="1100" b="0" i="0">
                <a:solidFill>
                  <a:srgbClr val="93A6C4"/>
                </a:solidFill>
                <a:latin typeface="Segoe UI"/>
              </a:rPr>
              <a:t> — run with one key or both</a:t>
            </a:r>
          </a:p>
        </p:txBody>
      </p:sp>
      <p:pic>
        <p:nvPicPr>
          <p:cNvPr id="31" name="Picture 30" descr="router-visual.jpg"/>
          <p:cNvPicPr>
            <a:picLocks noChangeAspect="1"/>
          </p:cNvPicPr>
          <p:nvPr/>
        </p:nvPicPr>
        <p:blipFill>
          <a:blip r:embed="rId3"/>
          <a:stretch>
            <a:fillRect/>
          </a:stretch>
        </p:blipFill>
        <p:spPr>
          <a:xfrm>
            <a:off x="1621916" y="4224527"/>
            <a:ext cx="2654046" cy="1481328"/>
          </a:xfrm>
          <a:prstGeom prst="rect">
            <a:avLst/>
          </a:prstGeom>
          <a:effectLst>
            <a:outerShdw blurRad="182880" dist="45720" dir="5400000" rotWithShape="0">
              <a:srgbClr val="000000">
                <a:alpha val="60000"/>
              </a:srgbClr>
            </a:outerShdw>
          </a:effectLst>
        </p:spPr>
      </p:pic>
      <p:sp>
        <p:nvSpPr>
          <p:cNvPr id="32" name="Rounded Rectangle 31"/>
          <p:cNvSpPr/>
          <p:nvPr/>
        </p:nvSpPr>
        <p:spPr>
          <a:xfrm>
            <a:off x="5577840" y="1627632"/>
            <a:ext cx="6108192" cy="4160520"/>
          </a:xfrm>
          <a:prstGeom prst="roundRect">
            <a:avLst>
              <a:gd name="adj" fmla="val 5000"/>
            </a:avLst>
          </a:prstGeom>
          <a:solidFill>
            <a:srgbClr val="10192A">
              <a:alpha val="90000"/>
            </a:srgbClr>
          </a:solidFill>
          <a:ln w="12700">
            <a:solidFill>
              <a:srgbClr val="223046"/>
            </a:solidFill>
          </a:ln>
          <a:effectLst>
            <a:outerShdw blurRad="164592" dist="45720" dir="5400000" rotWithShape="0">
              <a:srgbClr val="000000">
                <a:alpha val="5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705855" y="1627632"/>
            <a:ext cx="5852159" cy="41148"/>
          </a:xfrm>
          <a:prstGeom prst="rect">
            <a:avLst/>
          </a:prstGeom>
          <a:solidFill>
            <a:srgbClr val="00FF41"/>
          </a:solidFill>
          <a:ln>
            <a:noFill/>
          </a:ln>
          <a:effectLst>
            <a:glow rad="63500">
              <a:srgbClr val="00FF41">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815583" y="1764792"/>
            <a:ext cx="5632704" cy="274320"/>
          </a:xfrm>
          <a:prstGeom prst="rect">
            <a:avLst/>
          </a:prstGeom>
          <a:noFill/>
        </p:spPr>
        <p:txBody>
          <a:bodyPr wrap="square" anchor="t" lIns="0" rIns="0" tIns="0" bIns="0">
            <a:spAutoFit/>
          </a:bodyPr>
          <a:lstStyle/>
          <a:p>
            <a:pPr algn="l">
              <a:lnSpc>
                <a:spcPct val="100000"/>
              </a:lnSpc>
            </a:pPr>
            <a:r>
              <a:rPr sz="1150" b="1" i="0" spc="110">
                <a:solidFill>
                  <a:srgbClr val="00FF41"/>
                </a:solidFill>
                <a:latin typeface="Consolas"/>
              </a:rPr>
              <a:t>THE 8-STEP AGENT LOOP</a:t>
            </a:r>
          </a:p>
        </p:txBody>
      </p:sp>
      <p:sp>
        <p:nvSpPr>
          <p:cNvPr id="35" name="Rounded Rectangle 34"/>
          <p:cNvSpPr/>
          <p:nvPr/>
        </p:nvSpPr>
        <p:spPr>
          <a:xfrm>
            <a:off x="5852159" y="2249424"/>
            <a:ext cx="384048" cy="384048"/>
          </a:xfrm>
          <a:prstGeom prst="roundRect">
            <a:avLst>
              <a:gd name="adj" fmla="val 22000"/>
            </a:avLst>
          </a:prstGeom>
          <a:solidFill>
            <a:srgbClr val="00FF41"/>
          </a:solidFill>
          <a:ln>
            <a:noFill/>
          </a:ln>
          <a:effectLst>
            <a:glow rad="76200">
              <a:srgbClr val="00FF41">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852159" y="2249424"/>
            <a:ext cx="384048" cy="384048"/>
          </a:xfrm>
          <a:prstGeom prst="rect">
            <a:avLst/>
          </a:prstGeom>
          <a:noFill/>
        </p:spPr>
        <p:txBody>
          <a:bodyPr wrap="square" anchor="ctr" lIns="0" rIns="0" tIns="0" bIns="0">
            <a:spAutoFit/>
          </a:bodyPr>
          <a:lstStyle/>
          <a:p>
            <a:pPr algn="ctr">
              <a:lnSpc>
                <a:spcPct val="100000"/>
              </a:lnSpc>
            </a:pPr>
            <a:r>
              <a:rPr sz="1400" b="1" i="0">
                <a:solidFill>
                  <a:srgbClr val="0A0E14"/>
                </a:solidFill>
                <a:latin typeface="Consolas"/>
              </a:rPr>
              <a:t>1</a:t>
            </a:r>
          </a:p>
        </p:txBody>
      </p:sp>
      <p:sp>
        <p:nvSpPr>
          <p:cNvPr id="37" name="TextBox 36"/>
          <p:cNvSpPr txBox="1"/>
          <p:nvPr/>
        </p:nvSpPr>
        <p:spPr>
          <a:xfrm>
            <a:off x="6364223" y="2212848"/>
            <a:ext cx="2331720" cy="274320"/>
          </a:xfrm>
          <a:prstGeom prst="rect">
            <a:avLst/>
          </a:prstGeom>
          <a:noFill/>
        </p:spPr>
        <p:txBody>
          <a:bodyPr wrap="square" anchor="t" lIns="0" rIns="0" tIns="0" bIns="0">
            <a:spAutoFit/>
          </a:bodyPr>
          <a:lstStyle/>
          <a:p>
            <a:pPr algn="l">
              <a:lnSpc>
                <a:spcPct val="100000"/>
              </a:lnSpc>
            </a:pPr>
            <a:r>
              <a:rPr sz="1200" b="1" i="0" spc="60">
                <a:solidFill>
                  <a:srgbClr val="EAF4FF"/>
                </a:solidFill>
                <a:latin typeface="Consolas"/>
              </a:rPr>
              <a:t>INGEST</a:t>
            </a:r>
          </a:p>
        </p:txBody>
      </p:sp>
      <p:sp>
        <p:nvSpPr>
          <p:cNvPr id="38" name="TextBox 37"/>
          <p:cNvSpPr txBox="1"/>
          <p:nvPr/>
        </p:nvSpPr>
        <p:spPr>
          <a:xfrm>
            <a:off x="6364223" y="2468880"/>
            <a:ext cx="2331720" cy="237744"/>
          </a:xfrm>
          <a:prstGeom prst="rect">
            <a:avLst/>
          </a:prstGeom>
          <a:noFill/>
        </p:spPr>
        <p:txBody>
          <a:bodyPr wrap="square" anchor="t" lIns="0" rIns="0" tIns="0" bIns="0">
            <a:spAutoFit/>
          </a:bodyPr>
          <a:lstStyle/>
          <a:p>
            <a:pPr algn="l">
              <a:lnSpc>
                <a:spcPct val="100000"/>
              </a:lnSpc>
            </a:pPr>
            <a:r>
              <a:rPr sz="850" b="0" i="0">
                <a:solidFill>
                  <a:srgbClr val="93A6C4"/>
                </a:solidFill>
                <a:latin typeface="Consolas"/>
              </a:rPr>
              <a:t>parse prompt + context</a:t>
            </a:r>
          </a:p>
        </p:txBody>
      </p:sp>
      <p:sp>
        <p:nvSpPr>
          <p:cNvPr id="39" name="Rounded Rectangle 38"/>
          <p:cNvSpPr/>
          <p:nvPr/>
        </p:nvSpPr>
        <p:spPr>
          <a:xfrm>
            <a:off x="5852159" y="3072384"/>
            <a:ext cx="384048" cy="384048"/>
          </a:xfrm>
          <a:prstGeom prst="roundRect">
            <a:avLst>
              <a:gd name="adj" fmla="val 22000"/>
            </a:avLst>
          </a:prstGeom>
          <a:solidFill>
            <a:srgbClr val="00FF41"/>
          </a:solidFill>
          <a:ln>
            <a:noFill/>
          </a:ln>
          <a:effectLst>
            <a:glow rad="76200">
              <a:srgbClr val="00FF41">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852159" y="3072384"/>
            <a:ext cx="384048" cy="384048"/>
          </a:xfrm>
          <a:prstGeom prst="rect">
            <a:avLst/>
          </a:prstGeom>
          <a:noFill/>
        </p:spPr>
        <p:txBody>
          <a:bodyPr wrap="square" anchor="ctr" lIns="0" rIns="0" tIns="0" bIns="0">
            <a:spAutoFit/>
          </a:bodyPr>
          <a:lstStyle/>
          <a:p>
            <a:pPr algn="ctr">
              <a:lnSpc>
                <a:spcPct val="100000"/>
              </a:lnSpc>
            </a:pPr>
            <a:r>
              <a:rPr sz="1400" b="1" i="0">
                <a:solidFill>
                  <a:srgbClr val="0A0E14"/>
                </a:solidFill>
                <a:latin typeface="Consolas"/>
              </a:rPr>
              <a:t>2</a:t>
            </a:r>
          </a:p>
        </p:txBody>
      </p:sp>
      <p:sp>
        <p:nvSpPr>
          <p:cNvPr id="41" name="TextBox 40"/>
          <p:cNvSpPr txBox="1"/>
          <p:nvPr/>
        </p:nvSpPr>
        <p:spPr>
          <a:xfrm>
            <a:off x="6364223" y="3035808"/>
            <a:ext cx="2331720" cy="274320"/>
          </a:xfrm>
          <a:prstGeom prst="rect">
            <a:avLst/>
          </a:prstGeom>
          <a:noFill/>
        </p:spPr>
        <p:txBody>
          <a:bodyPr wrap="square" anchor="t" lIns="0" rIns="0" tIns="0" bIns="0">
            <a:spAutoFit/>
          </a:bodyPr>
          <a:lstStyle/>
          <a:p>
            <a:pPr algn="l">
              <a:lnSpc>
                <a:spcPct val="100000"/>
              </a:lnSpc>
            </a:pPr>
            <a:r>
              <a:rPr sz="1200" b="1" i="0" spc="60">
                <a:solidFill>
                  <a:srgbClr val="EAF4FF"/>
                </a:solidFill>
                <a:latin typeface="Consolas"/>
              </a:rPr>
              <a:t>INTROSPECT</a:t>
            </a:r>
          </a:p>
        </p:txBody>
      </p:sp>
      <p:sp>
        <p:nvSpPr>
          <p:cNvPr id="42" name="TextBox 41"/>
          <p:cNvSpPr txBox="1"/>
          <p:nvPr/>
        </p:nvSpPr>
        <p:spPr>
          <a:xfrm>
            <a:off x="6364223" y="3291839"/>
            <a:ext cx="2331720" cy="237744"/>
          </a:xfrm>
          <a:prstGeom prst="rect">
            <a:avLst/>
          </a:prstGeom>
          <a:noFill/>
        </p:spPr>
        <p:txBody>
          <a:bodyPr wrap="square" anchor="t" lIns="0" rIns="0" tIns="0" bIns="0">
            <a:spAutoFit/>
          </a:bodyPr>
          <a:lstStyle/>
          <a:p>
            <a:pPr algn="l">
              <a:lnSpc>
                <a:spcPct val="100000"/>
              </a:lnSpc>
            </a:pPr>
            <a:r>
              <a:rPr sz="850" b="0" i="0">
                <a:solidFill>
                  <a:srgbClr val="93A6C4"/>
                </a:solidFill>
                <a:latin typeface="Consolas"/>
              </a:rPr>
              <a:t>pull live schema</a:t>
            </a:r>
          </a:p>
        </p:txBody>
      </p:sp>
      <p:sp>
        <p:nvSpPr>
          <p:cNvPr id="43" name="Rounded Rectangle 42"/>
          <p:cNvSpPr/>
          <p:nvPr/>
        </p:nvSpPr>
        <p:spPr>
          <a:xfrm>
            <a:off x="5852159" y="3895344"/>
            <a:ext cx="384048" cy="384048"/>
          </a:xfrm>
          <a:prstGeom prst="roundRect">
            <a:avLst>
              <a:gd name="adj" fmla="val 22000"/>
            </a:avLst>
          </a:prstGeom>
          <a:solidFill>
            <a:srgbClr val="00FF41"/>
          </a:solidFill>
          <a:ln>
            <a:noFill/>
          </a:ln>
          <a:effectLst>
            <a:glow rad="76200">
              <a:srgbClr val="00FF41">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852159" y="3895344"/>
            <a:ext cx="384048" cy="384048"/>
          </a:xfrm>
          <a:prstGeom prst="rect">
            <a:avLst/>
          </a:prstGeom>
          <a:noFill/>
        </p:spPr>
        <p:txBody>
          <a:bodyPr wrap="square" anchor="ctr" lIns="0" rIns="0" tIns="0" bIns="0">
            <a:spAutoFit/>
          </a:bodyPr>
          <a:lstStyle/>
          <a:p>
            <a:pPr algn="ctr">
              <a:lnSpc>
                <a:spcPct val="100000"/>
              </a:lnSpc>
            </a:pPr>
            <a:r>
              <a:rPr sz="1400" b="1" i="0">
                <a:solidFill>
                  <a:srgbClr val="0A0E14"/>
                </a:solidFill>
                <a:latin typeface="Consolas"/>
              </a:rPr>
              <a:t>3</a:t>
            </a:r>
          </a:p>
        </p:txBody>
      </p:sp>
      <p:sp>
        <p:nvSpPr>
          <p:cNvPr id="45" name="TextBox 44"/>
          <p:cNvSpPr txBox="1"/>
          <p:nvPr/>
        </p:nvSpPr>
        <p:spPr>
          <a:xfrm>
            <a:off x="6364223" y="3858768"/>
            <a:ext cx="2331720" cy="274320"/>
          </a:xfrm>
          <a:prstGeom prst="rect">
            <a:avLst/>
          </a:prstGeom>
          <a:noFill/>
        </p:spPr>
        <p:txBody>
          <a:bodyPr wrap="square" anchor="t" lIns="0" rIns="0" tIns="0" bIns="0">
            <a:spAutoFit/>
          </a:bodyPr>
          <a:lstStyle/>
          <a:p>
            <a:pPr algn="l">
              <a:lnSpc>
                <a:spcPct val="100000"/>
              </a:lnSpc>
            </a:pPr>
            <a:r>
              <a:rPr sz="1200" b="1" i="0" spc="60">
                <a:solidFill>
                  <a:srgbClr val="EAF4FF"/>
                </a:solidFill>
                <a:latin typeface="Consolas"/>
              </a:rPr>
              <a:t>PLAN</a:t>
            </a:r>
          </a:p>
        </p:txBody>
      </p:sp>
      <p:sp>
        <p:nvSpPr>
          <p:cNvPr id="46" name="TextBox 45"/>
          <p:cNvSpPr txBox="1"/>
          <p:nvPr/>
        </p:nvSpPr>
        <p:spPr>
          <a:xfrm>
            <a:off x="6364223" y="4114800"/>
            <a:ext cx="2331720" cy="237744"/>
          </a:xfrm>
          <a:prstGeom prst="rect">
            <a:avLst/>
          </a:prstGeom>
          <a:noFill/>
        </p:spPr>
        <p:txBody>
          <a:bodyPr wrap="square" anchor="t" lIns="0" rIns="0" tIns="0" bIns="0">
            <a:spAutoFit/>
          </a:bodyPr>
          <a:lstStyle/>
          <a:p>
            <a:pPr algn="l">
              <a:lnSpc>
                <a:spcPct val="100000"/>
              </a:lnSpc>
            </a:pPr>
            <a:r>
              <a:rPr sz="850" b="0" i="0">
                <a:solidFill>
                  <a:srgbClr val="93A6C4"/>
                </a:solidFill>
                <a:latin typeface="Consolas"/>
              </a:rPr>
              <a:t>decompose, choose tools</a:t>
            </a:r>
          </a:p>
        </p:txBody>
      </p:sp>
      <p:sp>
        <p:nvSpPr>
          <p:cNvPr id="47" name="Rounded Rectangle 46"/>
          <p:cNvSpPr/>
          <p:nvPr/>
        </p:nvSpPr>
        <p:spPr>
          <a:xfrm>
            <a:off x="5852159" y="4718304"/>
            <a:ext cx="384048" cy="384048"/>
          </a:xfrm>
          <a:prstGeom prst="roundRect">
            <a:avLst>
              <a:gd name="adj" fmla="val 22000"/>
            </a:avLst>
          </a:prstGeom>
          <a:solidFill>
            <a:srgbClr val="00FF41"/>
          </a:solidFill>
          <a:ln>
            <a:noFill/>
          </a:ln>
          <a:effectLst>
            <a:glow rad="76200">
              <a:srgbClr val="00FF41">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852159" y="4718304"/>
            <a:ext cx="384048" cy="384048"/>
          </a:xfrm>
          <a:prstGeom prst="rect">
            <a:avLst/>
          </a:prstGeom>
          <a:noFill/>
        </p:spPr>
        <p:txBody>
          <a:bodyPr wrap="square" anchor="ctr" lIns="0" rIns="0" tIns="0" bIns="0">
            <a:spAutoFit/>
          </a:bodyPr>
          <a:lstStyle/>
          <a:p>
            <a:pPr algn="ctr">
              <a:lnSpc>
                <a:spcPct val="100000"/>
              </a:lnSpc>
            </a:pPr>
            <a:r>
              <a:rPr sz="1400" b="1" i="0">
                <a:solidFill>
                  <a:srgbClr val="0A0E14"/>
                </a:solidFill>
                <a:latin typeface="Consolas"/>
              </a:rPr>
              <a:t>4</a:t>
            </a:r>
          </a:p>
        </p:txBody>
      </p:sp>
      <p:sp>
        <p:nvSpPr>
          <p:cNvPr id="49" name="TextBox 48"/>
          <p:cNvSpPr txBox="1"/>
          <p:nvPr/>
        </p:nvSpPr>
        <p:spPr>
          <a:xfrm>
            <a:off x="6364223" y="4681728"/>
            <a:ext cx="2331720" cy="274320"/>
          </a:xfrm>
          <a:prstGeom prst="rect">
            <a:avLst/>
          </a:prstGeom>
          <a:noFill/>
        </p:spPr>
        <p:txBody>
          <a:bodyPr wrap="square" anchor="t" lIns="0" rIns="0" tIns="0" bIns="0">
            <a:spAutoFit/>
          </a:bodyPr>
          <a:lstStyle/>
          <a:p>
            <a:pPr algn="l">
              <a:lnSpc>
                <a:spcPct val="100000"/>
              </a:lnSpc>
            </a:pPr>
            <a:r>
              <a:rPr sz="1200" b="1" i="0" spc="60">
                <a:solidFill>
                  <a:srgbClr val="EAF4FF"/>
                </a:solidFill>
                <a:latin typeface="Consolas"/>
              </a:rPr>
              <a:t>ACT</a:t>
            </a:r>
          </a:p>
        </p:txBody>
      </p:sp>
      <p:sp>
        <p:nvSpPr>
          <p:cNvPr id="50" name="TextBox 49"/>
          <p:cNvSpPr txBox="1"/>
          <p:nvPr/>
        </p:nvSpPr>
        <p:spPr>
          <a:xfrm>
            <a:off x="6364223" y="4937760"/>
            <a:ext cx="2331720" cy="237744"/>
          </a:xfrm>
          <a:prstGeom prst="rect">
            <a:avLst/>
          </a:prstGeom>
          <a:noFill/>
        </p:spPr>
        <p:txBody>
          <a:bodyPr wrap="square" anchor="t" lIns="0" rIns="0" tIns="0" bIns="0">
            <a:spAutoFit/>
          </a:bodyPr>
          <a:lstStyle/>
          <a:p>
            <a:pPr algn="l">
              <a:lnSpc>
                <a:spcPct val="100000"/>
              </a:lnSpc>
            </a:pPr>
            <a:r>
              <a:rPr sz="850" b="0" i="0">
                <a:solidFill>
                  <a:srgbClr val="93A6C4"/>
                </a:solidFill>
                <a:latin typeface="Consolas"/>
              </a:rPr>
              <a:t>execute next tool call</a:t>
            </a:r>
          </a:p>
        </p:txBody>
      </p:sp>
      <p:sp>
        <p:nvSpPr>
          <p:cNvPr id="51" name="Rounded Rectangle 50"/>
          <p:cNvSpPr/>
          <p:nvPr/>
        </p:nvSpPr>
        <p:spPr>
          <a:xfrm>
            <a:off x="8778240" y="2249424"/>
            <a:ext cx="384048" cy="384048"/>
          </a:xfrm>
          <a:prstGeom prst="roundRect">
            <a:avLst>
              <a:gd name="adj" fmla="val 22000"/>
            </a:avLst>
          </a:prstGeom>
          <a:solidFill>
            <a:srgbClr val="00FF41"/>
          </a:solidFill>
          <a:ln>
            <a:noFill/>
          </a:ln>
          <a:effectLst>
            <a:glow rad="76200">
              <a:srgbClr val="00FF41">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778240" y="2249424"/>
            <a:ext cx="384048" cy="384048"/>
          </a:xfrm>
          <a:prstGeom prst="rect">
            <a:avLst/>
          </a:prstGeom>
          <a:noFill/>
        </p:spPr>
        <p:txBody>
          <a:bodyPr wrap="square" anchor="ctr" lIns="0" rIns="0" tIns="0" bIns="0">
            <a:spAutoFit/>
          </a:bodyPr>
          <a:lstStyle/>
          <a:p>
            <a:pPr algn="ctr">
              <a:lnSpc>
                <a:spcPct val="100000"/>
              </a:lnSpc>
            </a:pPr>
            <a:r>
              <a:rPr sz="1400" b="1" i="0">
                <a:solidFill>
                  <a:srgbClr val="0A0E14"/>
                </a:solidFill>
                <a:latin typeface="Consolas"/>
              </a:rPr>
              <a:t>5</a:t>
            </a:r>
          </a:p>
        </p:txBody>
      </p:sp>
      <p:sp>
        <p:nvSpPr>
          <p:cNvPr id="53" name="TextBox 52"/>
          <p:cNvSpPr txBox="1"/>
          <p:nvPr/>
        </p:nvSpPr>
        <p:spPr>
          <a:xfrm>
            <a:off x="9290304" y="2212848"/>
            <a:ext cx="2331720" cy="274320"/>
          </a:xfrm>
          <a:prstGeom prst="rect">
            <a:avLst/>
          </a:prstGeom>
          <a:noFill/>
        </p:spPr>
        <p:txBody>
          <a:bodyPr wrap="square" anchor="t" lIns="0" rIns="0" tIns="0" bIns="0">
            <a:spAutoFit/>
          </a:bodyPr>
          <a:lstStyle/>
          <a:p>
            <a:pPr algn="l">
              <a:lnSpc>
                <a:spcPct val="100000"/>
              </a:lnSpc>
            </a:pPr>
            <a:r>
              <a:rPr sz="1200" b="1" i="0" spc="60">
                <a:solidFill>
                  <a:srgbClr val="EAF4FF"/>
                </a:solidFill>
                <a:latin typeface="Consolas"/>
              </a:rPr>
              <a:t>OBSERVE</a:t>
            </a:r>
          </a:p>
        </p:txBody>
      </p:sp>
      <p:sp>
        <p:nvSpPr>
          <p:cNvPr id="54" name="TextBox 53"/>
          <p:cNvSpPr txBox="1"/>
          <p:nvPr/>
        </p:nvSpPr>
        <p:spPr>
          <a:xfrm>
            <a:off x="9290304" y="2468880"/>
            <a:ext cx="2331720" cy="237744"/>
          </a:xfrm>
          <a:prstGeom prst="rect">
            <a:avLst/>
          </a:prstGeom>
          <a:noFill/>
        </p:spPr>
        <p:txBody>
          <a:bodyPr wrap="square" anchor="t" lIns="0" rIns="0" tIns="0" bIns="0">
            <a:spAutoFit/>
          </a:bodyPr>
          <a:lstStyle/>
          <a:p>
            <a:pPr algn="l">
              <a:lnSpc>
                <a:spcPct val="100000"/>
              </a:lnSpc>
            </a:pPr>
            <a:r>
              <a:rPr sz="850" b="0" i="0">
                <a:solidFill>
                  <a:srgbClr val="93A6C4"/>
                </a:solidFill>
                <a:latin typeface="Consolas"/>
              </a:rPr>
              <a:t>inspect results / errors</a:t>
            </a:r>
          </a:p>
        </p:txBody>
      </p:sp>
      <p:sp>
        <p:nvSpPr>
          <p:cNvPr id="55" name="Rounded Rectangle 54"/>
          <p:cNvSpPr/>
          <p:nvPr/>
        </p:nvSpPr>
        <p:spPr>
          <a:xfrm>
            <a:off x="8778240" y="3072384"/>
            <a:ext cx="384048" cy="384048"/>
          </a:xfrm>
          <a:prstGeom prst="roundRect">
            <a:avLst>
              <a:gd name="adj" fmla="val 22000"/>
            </a:avLst>
          </a:prstGeom>
          <a:solidFill>
            <a:srgbClr val="00FF41"/>
          </a:solidFill>
          <a:ln>
            <a:noFill/>
          </a:ln>
          <a:effectLst>
            <a:glow rad="76200">
              <a:srgbClr val="00FF41">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778240" y="3072384"/>
            <a:ext cx="384048" cy="384048"/>
          </a:xfrm>
          <a:prstGeom prst="rect">
            <a:avLst/>
          </a:prstGeom>
          <a:noFill/>
        </p:spPr>
        <p:txBody>
          <a:bodyPr wrap="square" anchor="ctr" lIns="0" rIns="0" tIns="0" bIns="0">
            <a:spAutoFit/>
          </a:bodyPr>
          <a:lstStyle/>
          <a:p>
            <a:pPr algn="ctr">
              <a:lnSpc>
                <a:spcPct val="100000"/>
              </a:lnSpc>
            </a:pPr>
            <a:r>
              <a:rPr sz="1400" b="1" i="0">
                <a:solidFill>
                  <a:srgbClr val="0A0E14"/>
                </a:solidFill>
                <a:latin typeface="Consolas"/>
              </a:rPr>
              <a:t>6</a:t>
            </a:r>
          </a:p>
        </p:txBody>
      </p:sp>
      <p:sp>
        <p:nvSpPr>
          <p:cNvPr id="57" name="TextBox 56"/>
          <p:cNvSpPr txBox="1"/>
          <p:nvPr/>
        </p:nvSpPr>
        <p:spPr>
          <a:xfrm>
            <a:off x="9290304" y="3035808"/>
            <a:ext cx="2331720" cy="274320"/>
          </a:xfrm>
          <a:prstGeom prst="rect">
            <a:avLst/>
          </a:prstGeom>
          <a:noFill/>
        </p:spPr>
        <p:txBody>
          <a:bodyPr wrap="square" anchor="t" lIns="0" rIns="0" tIns="0" bIns="0">
            <a:spAutoFit/>
          </a:bodyPr>
          <a:lstStyle/>
          <a:p>
            <a:pPr algn="l">
              <a:lnSpc>
                <a:spcPct val="100000"/>
              </a:lnSpc>
            </a:pPr>
            <a:r>
              <a:rPr sz="1200" b="1" i="0" spc="60">
                <a:solidFill>
                  <a:srgbClr val="EAF4FF"/>
                </a:solidFill>
                <a:latin typeface="Consolas"/>
              </a:rPr>
              <a:t>VALIDATE</a:t>
            </a:r>
          </a:p>
        </p:txBody>
      </p:sp>
      <p:sp>
        <p:nvSpPr>
          <p:cNvPr id="58" name="TextBox 57"/>
          <p:cNvSpPr txBox="1"/>
          <p:nvPr/>
        </p:nvSpPr>
        <p:spPr>
          <a:xfrm>
            <a:off x="9290304" y="3291839"/>
            <a:ext cx="2331720" cy="237744"/>
          </a:xfrm>
          <a:prstGeom prst="rect">
            <a:avLst/>
          </a:prstGeom>
          <a:noFill/>
        </p:spPr>
        <p:txBody>
          <a:bodyPr wrap="square" anchor="t" lIns="0" rIns="0" tIns="0" bIns="0">
            <a:spAutoFit/>
          </a:bodyPr>
          <a:lstStyle/>
          <a:p>
            <a:pPr algn="l">
              <a:lnSpc>
                <a:spcPct val="100000"/>
              </a:lnSpc>
            </a:pPr>
            <a:r>
              <a:rPr sz="850" b="0" i="0">
                <a:solidFill>
                  <a:srgbClr val="93A6C4"/>
                </a:solidFill>
                <a:latin typeface="Consolas"/>
              </a:rPr>
              <a:t>complete &amp; grounded?</a:t>
            </a:r>
          </a:p>
        </p:txBody>
      </p:sp>
      <p:sp>
        <p:nvSpPr>
          <p:cNvPr id="59" name="Rounded Rectangle 58"/>
          <p:cNvSpPr/>
          <p:nvPr/>
        </p:nvSpPr>
        <p:spPr>
          <a:xfrm>
            <a:off x="8778240" y="3895344"/>
            <a:ext cx="384048" cy="384048"/>
          </a:xfrm>
          <a:prstGeom prst="roundRect">
            <a:avLst>
              <a:gd name="adj" fmla="val 22000"/>
            </a:avLst>
          </a:prstGeom>
          <a:solidFill>
            <a:srgbClr val="00FF41"/>
          </a:solidFill>
          <a:ln>
            <a:noFill/>
          </a:ln>
          <a:effectLst>
            <a:glow rad="76200">
              <a:srgbClr val="00FF41">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778240" y="3895344"/>
            <a:ext cx="384048" cy="384048"/>
          </a:xfrm>
          <a:prstGeom prst="rect">
            <a:avLst/>
          </a:prstGeom>
          <a:noFill/>
        </p:spPr>
        <p:txBody>
          <a:bodyPr wrap="square" anchor="ctr" lIns="0" rIns="0" tIns="0" bIns="0">
            <a:spAutoFit/>
          </a:bodyPr>
          <a:lstStyle/>
          <a:p>
            <a:pPr algn="ctr">
              <a:lnSpc>
                <a:spcPct val="100000"/>
              </a:lnSpc>
            </a:pPr>
            <a:r>
              <a:rPr sz="1400" b="1" i="0">
                <a:solidFill>
                  <a:srgbClr val="0A0E14"/>
                </a:solidFill>
                <a:latin typeface="Consolas"/>
              </a:rPr>
              <a:t>7</a:t>
            </a:r>
          </a:p>
        </p:txBody>
      </p:sp>
      <p:sp>
        <p:nvSpPr>
          <p:cNvPr id="61" name="TextBox 60"/>
          <p:cNvSpPr txBox="1"/>
          <p:nvPr/>
        </p:nvSpPr>
        <p:spPr>
          <a:xfrm>
            <a:off x="9290304" y="3858768"/>
            <a:ext cx="2331720" cy="274320"/>
          </a:xfrm>
          <a:prstGeom prst="rect">
            <a:avLst/>
          </a:prstGeom>
          <a:noFill/>
        </p:spPr>
        <p:txBody>
          <a:bodyPr wrap="square" anchor="t" lIns="0" rIns="0" tIns="0" bIns="0">
            <a:spAutoFit/>
          </a:bodyPr>
          <a:lstStyle/>
          <a:p>
            <a:pPr algn="l">
              <a:lnSpc>
                <a:spcPct val="100000"/>
              </a:lnSpc>
            </a:pPr>
            <a:r>
              <a:rPr sz="1200" b="1" i="0" spc="60">
                <a:solidFill>
                  <a:srgbClr val="EAF4FF"/>
                </a:solidFill>
                <a:latin typeface="Consolas"/>
              </a:rPr>
              <a:t>ITERATE</a:t>
            </a:r>
          </a:p>
        </p:txBody>
      </p:sp>
      <p:sp>
        <p:nvSpPr>
          <p:cNvPr id="62" name="TextBox 61"/>
          <p:cNvSpPr txBox="1"/>
          <p:nvPr/>
        </p:nvSpPr>
        <p:spPr>
          <a:xfrm>
            <a:off x="9290304" y="4114800"/>
            <a:ext cx="2331720" cy="237744"/>
          </a:xfrm>
          <a:prstGeom prst="rect">
            <a:avLst/>
          </a:prstGeom>
          <a:noFill/>
        </p:spPr>
        <p:txBody>
          <a:bodyPr wrap="square" anchor="t" lIns="0" rIns="0" tIns="0" bIns="0">
            <a:spAutoFit/>
          </a:bodyPr>
          <a:lstStyle/>
          <a:p>
            <a:pPr algn="l">
              <a:lnSpc>
                <a:spcPct val="100000"/>
              </a:lnSpc>
            </a:pPr>
            <a:r>
              <a:rPr sz="850" b="0" i="0">
                <a:solidFill>
                  <a:srgbClr val="93A6C4"/>
                </a:solidFill>
                <a:latin typeface="Consolas"/>
              </a:rPr>
              <a:t>loop 3 → 6 until yes</a:t>
            </a:r>
          </a:p>
        </p:txBody>
      </p:sp>
      <p:sp>
        <p:nvSpPr>
          <p:cNvPr id="63" name="Rounded Rectangle 62"/>
          <p:cNvSpPr/>
          <p:nvPr/>
        </p:nvSpPr>
        <p:spPr>
          <a:xfrm>
            <a:off x="8778240" y="4718304"/>
            <a:ext cx="384048" cy="384048"/>
          </a:xfrm>
          <a:prstGeom prst="roundRect">
            <a:avLst>
              <a:gd name="adj" fmla="val 22000"/>
            </a:avLst>
          </a:prstGeom>
          <a:solidFill>
            <a:srgbClr val="00FF41"/>
          </a:solidFill>
          <a:ln>
            <a:noFill/>
          </a:ln>
          <a:effectLst>
            <a:glow rad="76200">
              <a:srgbClr val="00FF41">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778240" y="4718304"/>
            <a:ext cx="384048" cy="384048"/>
          </a:xfrm>
          <a:prstGeom prst="rect">
            <a:avLst/>
          </a:prstGeom>
          <a:noFill/>
        </p:spPr>
        <p:txBody>
          <a:bodyPr wrap="square" anchor="ctr" lIns="0" rIns="0" tIns="0" bIns="0">
            <a:spAutoFit/>
          </a:bodyPr>
          <a:lstStyle/>
          <a:p>
            <a:pPr algn="ctr">
              <a:lnSpc>
                <a:spcPct val="100000"/>
              </a:lnSpc>
            </a:pPr>
            <a:r>
              <a:rPr sz="1400" b="1" i="0">
                <a:solidFill>
                  <a:srgbClr val="0A0E14"/>
                </a:solidFill>
                <a:latin typeface="Consolas"/>
              </a:rPr>
              <a:t>8</a:t>
            </a:r>
          </a:p>
        </p:txBody>
      </p:sp>
      <p:sp>
        <p:nvSpPr>
          <p:cNvPr id="65" name="TextBox 64"/>
          <p:cNvSpPr txBox="1"/>
          <p:nvPr/>
        </p:nvSpPr>
        <p:spPr>
          <a:xfrm>
            <a:off x="9290304" y="4681728"/>
            <a:ext cx="2331720" cy="274320"/>
          </a:xfrm>
          <a:prstGeom prst="rect">
            <a:avLst/>
          </a:prstGeom>
          <a:noFill/>
        </p:spPr>
        <p:txBody>
          <a:bodyPr wrap="square" anchor="t" lIns="0" rIns="0" tIns="0" bIns="0">
            <a:spAutoFit/>
          </a:bodyPr>
          <a:lstStyle/>
          <a:p>
            <a:pPr algn="l">
              <a:lnSpc>
                <a:spcPct val="100000"/>
              </a:lnSpc>
            </a:pPr>
            <a:r>
              <a:rPr sz="1200" b="1" i="0" spc="60">
                <a:solidFill>
                  <a:srgbClr val="EAF4FF"/>
                </a:solidFill>
                <a:latin typeface="Consolas"/>
              </a:rPr>
              <a:t>SYNTHESIZE</a:t>
            </a:r>
          </a:p>
        </p:txBody>
      </p:sp>
      <p:sp>
        <p:nvSpPr>
          <p:cNvPr id="66" name="TextBox 65"/>
          <p:cNvSpPr txBox="1"/>
          <p:nvPr/>
        </p:nvSpPr>
        <p:spPr>
          <a:xfrm>
            <a:off x="9290304" y="4937760"/>
            <a:ext cx="2331720" cy="237744"/>
          </a:xfrm>
          <a:prstGeom prst="rect">
            <a:avLst/>
          </a:prstGeom>
          <a:noFill/>
        </p:spPr>
        <p:txBody>
          <a:bodyPr wrap="square" anchor="t" lIns="0" rIns="0" tIns="0" bIns="0">
            <a:spAutoFit/>
          </a:bodyPr>
          <a:lstStyle/>
          <a:p>
            <a:pPr algn="l">
              <a:lnSpc>
                <a:spcPct val="100000"/>
              </a:lnSpc>
            </a:pPr>
            <a:r>
              <a:rPr sz="850" b="0" i="0">
                <a:solidFill>
                  <a:srgbClr val="93A6C4"/>
                </a:solidFill>
                <a:latin typeface="Consolas"/>
              </a:rPr>
              <a:t>SQL + chart + explanation</a:t>
            </a:r>
          </a:p>
        </p:txBody>
      </p:sp>
      <p:sp>
        <p:nvSpPr>
          <p:cNvPr id="67" name="TextBox 66"/>
          <p:cNvSpPr txBox="1"/>
          <p:nvPr/>
        </p:nvSpPr>
        <p:spPr>
          <a:xfrm>
            <a:off x="5852159" y="5577840"/>
            <a:ext cx="5559552" cy="274320"/>
          </a:xfrm>
          <a:prstGeom prst="rect">
            <a:avLst/>
          </a:prstGeom>
          <a:noFill/>
        </p:spPr>
        <p:txBody>
          <a:bodyPr wrap="square" anchor="t" lIns="0" rIns="0" tIns="0" bIns="0">
            <a:spAutoFit/>
          </a:bodyPr>
          <a:lstStyle/>
          <a:p>
            <a:pPr algn="l">
              <a:lnSpc>
                <a:spcPct val="100000"/>
              </a:lnSpc>
            </a:pPr>
            <a:r>
              <a:rPr sz="950" b="0" i="0">
                <a:solidFill>
                  <a:srgbClr val="00D4FF"/>
                </a:solidFill>
                <a:latin typeface="Consolas"/>
              </a:rPr>
              <a:t>▸ steps 3 → 6 repeat until the answer is complete and grounded</a:t>
            </a:r>
          </a:p>
        </p:txBody>
      </p:sp>
      <p:sp>
        <p:nvSpPr>
          <p:cNvPr id="68" name="Rounded Rectangle 67"/>
          <p:cNvSpPr/>
          <p:nvPr/>
        </p:nvSpPr>
        <p:spPr>
          <a:xfrm>
            <a:off x="502920" y="5989320"/>
            <a:ext cx="11185855" cy="420624"/>
          </a:xfrm>
          <a:prstGeom prst="roundRect">
            <a:avLst>
              <a:gd name="adj" fmla="val 50000"/>
            </a:avLst>
          </a:prstGeom>
          <a:solidFill>
            <a:srgbClr val="10192A">
              <a:alpha val="88000"/>
            </a:srgbClr>
          </a:solidFill>
          <a:ln w="12700">
            <a:solidFill>
              <a:srgbClr val="223046"/>
            </a:solidFill>
          </a:ln>
          <a:effectLst>
            <a:outerShdw blurRad="128016" dist="36576" dir="5400000" rotWithShape="0">
              <a:srgbClr val="000000">
                <a:alpha val="5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694944" y="6089904"/>
            <a:ext cx="54864" cy="219456"/>
          </a:xfrm>
          <a:prstGeom prst="rect">
            <a:avLst/>
          </a:prstGeom>
          <a:solidFill>
            <a:srgbClr val="00FF41"/>
          </a:solidFill>
          <a:ln>
            <a:noFill/>
          </a:ln>
          <a:effectLst>
            <a:glow rad="50800">
              <a:srgbClr val="00FF41">
                <a:alpha val="6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914400" y="5989320"/>
            <a:ext cx="10180015" cy="420624"/>
          </a:xfrm>
          <a:prstGeom prst="rect">
            <a:avLst/>
          </a:prstGeom>
          <a:noFill/>
        </p:spPr>
        <p:txBody>
          <a:bodyPr wrap="square" anchor="ctr" lIns="0" rIns="0" tIns="0" bIns="0">
            <a:spAutoFit/>
          </a:bodyPr>
          <a:lstStyle/>
          <a:p>
            <a:pPr algn="l">
              <a:lnSpc>
                <a:spcPct val="100000"/>
              </a:lnSpc>
            </a:pPr>
            <a:r>
              <a:rPr sz="1050" b="1" i="0" spc="55">
                <a:solidFill>
                  <a:srgbClr val="00FF41"/>
                </a:solidFill>
                <a:effectLst>
                  <a:glow rad="38100">
                    <a:srgbClr val="00FF41">
                      <a:alpha val="30000"/>
                    </a:srgbClr>
                  </a:glow>
                </a:effectLst>
                <a:latin typeface="Consolas"/>
              </a:rPr>
              <a:t>ANSWERS ARE EARNED THROUGH ITERATION — NOT GUESSED ON THE FIRST PASS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subtle-green.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9281160" y="0"/>
            <a:ext cx="2514600" cy="1645920"/>
          </a:xfrm>
          <a:prstGeom prst="rect">
            <a:avLst/>
          </a:prstGeom>
          <a:noFill/>
        </p:spPr>
        <p:txBody>
          <a:bodyPr wrap="square" anchor="t" lIns="0" rIns="0" tIns="0" bIns="0">
            <a:spAutoFit/>
          </a:bodyPr>
          <a:lstStyle/>
          <a:p>
            <a:pPr algn="r">
              <a:lnSpc>
                <a:spcPct val="100000"/>
              </a:lnSpc>
            </a:pPr>
            <a:r>
              <a:rPr sz="11500" b="1" i="0">
                <a:solidFill>
                  <a:srgbClr val="EAF4FF">
                    <a:alpha val="7000"/>
                  </a:srgbClr>
                </a:solidFill>
                <a:latin typeface="Bahnschrift"/>
              </a:rPr>
              <a:t>05</a:t>
            </a:r>
          </a:p>
        </p:txBody>
      </p:sp>
      <p:sp>
        <p:nvSpPr>
          <p:cNvPr id="4" name="Rectangle 3"/>
          <p:cNvSpPr/>
          <p:nvPr/>
        </p:nvSpPr>
        <p:spPr>
          <a:xfrm>
            <a:off x="0" y="0"/>
            <a:ext cx="5120511" cy="29260"/>
          </a:xfrm>
          <a:prstGeom prst="rect">
            <a:avLst/>
          </a:prstGeom>
          <a:solidFill>
            <a:srgbClr val="00FF41"/>
          </a:solidFill>
          <a:ln>
            <a:noFill/>
          </a:ln>
          <a:effectLst>
            <a:glow rad="50800">
              <a:srgbClr val="00FF41">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120511" y="0"/>
            <a:ext cx="7071183" cy="29260"/>
          </a:xfrm>
          <a:prstGeom prst="rect">
            <a:avLst/>
          </a:prstGeom>
          <a:solidFill>
            <a:srgbClr val="00D4FF"/>
          </a:solidFill>
          <a:ln>
            <a:noFill/>
          </a:ln>
          <a:effectLst>
            <a:glow rad="50800">
              <a:srgbClr val="00D4FF">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6032" y="6254496"/>
            <a:ext cx="329184" cy="20116"/>
          </a:xfrm>
          <a:prstGeom prst="rect">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56032" y="6272784"/>
            <a:ext cx="20116" cy="347472"/>
          </a:xfrm>
          <a:prstGeom prst="rect">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6446520"/>
            <a:ext cx="11185855" cy="10972"/>
          </a:xfrm>
          <a:prstGeom prst="rect">
            <a:avLst/>
          </a:prstGeom>
          <a:solidFill>
            <a:srgbClr val="2230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501384"/>
            <a:ext cx="5669280" cy="201168"/>
          </a:xfrm>
          <a:prstGeom prst="rect">
            <a:avLst/>
          </a:prstGeom>
          <a:noFill/>
        </p:spPr>
        <p:txBody>
          <a:bodyPr wrap="square" anchor="t" lIns="0" rIns="0" tIns="0" bIns="0">
            <a:spAutoFit/>
          </a:bodyPr>
          <a:lstStyle/>
          <a:p>
            <a:pPr algn="l">
              <a:lnSpc>
                <a:spcPct val="100000"/>
              </a:lnSpc>
            </a:pPr>
            <a:r>
              <a:rPr sz="800" b="1" i="0">
                <a:solidFill>
                  <a:srgbClr val="00FF41"/>
                </a:solidFill>
                <a:latin typeface="Consolas"/>
              </a:rPr>
              <a:t>ZODIAC AI </a:t>
            </a:r>
            <a:r>
              <a:rPr sz="800" b="0" i="0">
                <a:solidFill>
                  <a:srgbClr val="5A6A85"/>
                </a:solidFill>
                <a:latin typeface="Consolas"/>
              </a:rPr>
              <a:t>// CHAT WITH YOUR DATABASE // </a:t>
            </a:r>
            <a:r>
              <a:rPr sz="800" b="0" i="0">
                <a:solidFill>
                  <a:srgbClr val="00D4FF"/>
                </a:solidFill>
                <a:latin typeface="Consolas"/>
              </a:rPr>
              <a:t>CORE TOOLS 1/3</a:t>
            </a:r>
          </a:p>
        </p:txBody>
      </p:sp>
      <p:sp>
        <p:nvSpPr>
          <p:cNvPr id="10" name="TextBox 9"/>
          <p:cNvSpPr txBox="1"/>
          <p:nvPr/>
        </p:nvSpPr>
        <p:spPr>
          <a:xfrm>
            <a:off x="10728655" y="6501384"/>
            <a:ext cx="960120" cy="201168"/>
          </a:xfrm>
          <a:prstGeom prst="rect">
            <a:avLst/>
          </a:prstGeom>
          <a:noFill/>
        </p:spPr>
        <p:txBody>
          <a:bodyPr wrap="square" anchor="t" lIns="0" rIns="0" tIns="0" bIns="0">
            <a:spAutoFit/>
          </a:bodyPr>
          <a:lstStyle/>
          <a:p>
            <a:pPr algn="r">
              <a:lnSpc>
                <a:spcPct val="100000"/>
              </a:lnSpc>
            </a:pPr>
            <a:r>
              <a:rPr sz="800" b="1" i="0">
                <a:solidFill>
                  <a:srgbClr val="00FF41"/>
                </a:solidFill>
                <a:latin typeface="Consolas"/>
              </a:rPr>
              <a:t>05</a:t>
            </a:r>
            <a:r>
              <a:rPr sz="800" b="0" i="0">
                <a:solidFill>
                  <a:srgbClr val="5A6A85"/>
                </a:solidFill>
                <a:latin typeface="Consolas"/>
              </a:rPr>
              <a:t> / 11</a:t>
            </a:r>
          </a:p>
        </p:txBody>
      </p:sp>
      <p:sp>
        <p:nvSpPr>
          <p:cNvPr id="11" name="Rectangle 10"/>
          <p:cNvSpPr/>
          <p:nvPr/>
        </p:nvSpPr>
        <p:spPr>
          <a:xfrm>
            <a:off x="4198467" y="6675120"/>
            <a:ext cx="274320" cy="45720"/>
          </a:xfrm>
          <a:prstGeom prst="rect">
            <a:avLst/>
          </a:prstGeom>
          <a:solidFill>
            <a:srgbClr val="1653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50511" y="6675120"/>
            <a:ext cx="274320" cy="45720"/>
          </a:xfrm>
          <a:prstGeom prst="rect">
            <a:avLst/>
          </a:prstGeom>
          <a:solidFill>
            <a:srgbClr val="1653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902555" y="6675120"/>
            <a:ext cx="274320" cy="45720"/>
          </a:xfrm>
          <a:prstGeom prst="rect">
            <a:avLst/>
          </a:prstGeom>
          <a:solidFill>
            <a:srgbClr val="1653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254599" y="6675120"/>
            <a:ext cx="274320" cy="45720"/>
          </a:xfrm>
          <a:prstGeom prst="rect">
            <a:avLst/>
          </a:prstGeom>
          <a:solidFill>
            <a:srgbClr val="1653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06643" y="6675120"/>
            <a:ext cx="274320" cy="45720"/>
          </a:xfrm>
          <a:prstGeom prst="rect">
            <a:avLst/>
          </a:prstGeom>
          <a:solidFill>
            <a:srgbClr val="00FF41"/>
          </a:solidFill>
          <a:ln>
            <a:noFill/>
          </a:ln>
          <a:effectLst>
            <a:glow rad="63500">
              <a:srgbClr val="00FF41">
                <a:alpha val="6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958687" y="6675120"/>
            <a:ext cx="274320" cy="45720"/>
          </a:xfrm>
          <a:prstGeom prst="rect">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310731" y="6675120"/>
            <a:ext cx="274320" cy="45720"/>
          </a:xfrm>
          <a:prstGeom prst="rect">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662775" y="6675120"/>
            <a:ext cx="274320" cy="45720"/>
          </a:xfrm>
          <a:prstGeom prst="rect">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014819" y="6675120"/>
            <a:ext cx="274320" cy="45720"/>
          </a:xfrm>
          <a:prstGeom prst="rect">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66863" y="6675120"/>
            <a:ext cx="274320" cy="45720"/>
          </a:xfrm>
          <a:prstGeom prst="rect">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18907" y="6675120"/>
            <a:ext cx="274320" cy="45720"/>
          </a:xfrm>
          <a:prstGeom prst="rect">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21207" y="466344"/>
            <a:ext cx="100584" cy="100584"/>
          </a:xfrm>
          <a:prstGeom prst="rect">
            <a:avLst/>
          </a:prstGeom>
          <a:solidFill>
            <a:srgbClr val="00FF41"/>
          </a:solidFill>
          <a:ln>
            <a:noFill/>
          </a:ln>
          <a:effectLst>
            <a:glow rad="63500">
              <a:srgbClr val="00FF41">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402336"/>
            <a:ext cx="10515600" cy="274320"/>
          </a:xfrm>
          <a:prstGeom prst="rect">
            <a:avLst/>
          </a:prstGeom>
          <a:noFill/>
        </p:spPr>
        <p:txBody>
          <a:bodyPr wrap="square" anchor="t" lIns="0" rIns="0" tIns="0" bIns="0">
            <a:spAutoFit/>
          </a:bodyPr>
          <a:lstStyle/>
          <a:p>
            <a:pPr algn="l">
              <a:lnSpc>
                <a:spcPct val="100000"/>
              </a:lnSpc>
            </a:pPr>
            <a:r>
              <a:rPr sz="1050" b="0" i="0" spc="170">
                <a:solidFill>
                  <a:srgbClr val="00FF41"/>
                </a:solidFill>
                <a:effectLst>
                  <a:glow rad="38100">
                    <a:srgbClr val="00FF41">
                      <a:alpha val="40000"/>
                    </a:srgbClr>
                  </a:glow>
                </a:effectLst>
                <a:latin typeface="Consolas"/>
              </a:rPr>
              <a:t>05 — CORE TOOLS · 1 OF 3</a:t>
            </a:r>
          </a:p>
        </p:txBody>
      </p:sp>
      <p:sp>
        <p:nvSpPr>
          <p:cNvPr id="24" name="TextBox 23"/>
          <p:cNvSpPr txBox="1"/>
          <p:nvPr/>
        </p:nvSpPr>
        <p:spPr>
          <a:xfrm>
            <a:off x="502920" y="694944"/>
            <a:ext cx="11247120" cy="566928"/>
          </a:xfrm>
          <a:prstGeom prst="rect">
            <a:avLst/>
          </a:prstGeom>
          <a:noFill/>
        </p:spPr>
        <p:txBody>
          <a:bodyPr wrap="square" anchor="t" lIns="0" rIns="0" tIns="0" bIns="0">
            <a:spAutoFit/>
          </a:bodyPr>
          <a:lstStyle/>
          <a:p>
            <a:pPr algn="l">
              <a:lnSpc>
                <a:spcPct val="100000"/>
              </a:lnSpc>
            </a:pPr>
            <a:r>
              <a:rPr sz="2900" b="1" i="0">
                <a:solidFill>
                  <a:srgbClr val="00FF41"/>
                </a:solidFill>
                <a:effectLst>
                  <a:glow rad="63500">
                    <a:srgbClr val="00FF41">
                      <a:alpha val="35000"/>
                    </a:srgbClr>
                  </a:glow>
                </a:effectLst>
                <a:latin typeface="Consolas"/>
              </a:rPr>
              <a:t>get_schema</a:t>
            </a:r>
            <a:r>
              <a:rPr sz="2900" b="1" i="0">
                <a:solidFill>
                  <a:srgbClr val="93A6C4"/>
                </a:solidFill>
                <a:latin typeface="Bahnschrift"/>
              </a:rPr>
              <a:t>  &amp;  </a:t>
            </a:r>
            <a:r>
              <a:rPr sz="2900" b="1" i="0">
                <a:solidFill>
                  <a:srgbClr val="00FF41"/>
                </a:solidFill>
                <a:effectLst>
                  <a:glow rad="63500">
                    <a:srgbClr val="00FF41">
                      <a:alpha val="35000"/>
                    </a:srgbClr>
                  </a:glow>
                </a:effectLst>
                <a:latin typeface="Consolas"/>
              </a:rPr>
              <a:t>execute_query</a:t>
            </a:r>
          </a:p>
        </p:txBody>
      </p:sp>
      <p:sp>
        <p:nvSpPr>
          <p:cNvPr id="25" name="Rectangle 24"/>
          <p:cNvSpPr/>
          <p:nvPr/>
        </p:nvSpPr>
        <p:spPr>
          <a:xfrm>
            <a:off x="521207" y="1344168"/>
            <a:ext cx="1554480" cy="31089"/>
          </a:xfrm>
          <a:prstGeom prst="rect">
            <a:avLst/>
          </a:prstGeom>
          <a:solidFill>
            <a:srgbClr val="00FF41"/>
          </a:solidFill>
          <a:ln>
            <a:noFill/>
          </a:ln>
          <a:effectLst>
            <a:glow rad="50800">
              <a:srgbClr val="00FF41">
                <a:alpha val="5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75688" y="1344168"/>
            <a:ext cx="502920" cy="31089"/>
          </a:xfrm>
          <a:prstGeom prst="rect">
            <a:avLst/>
          </a:prstGeom>
          <a:solidFill>
            <a:srgbClr val="00D4FF"/>
          </a:solidFill>
          <a:ln>
            <a:noFill/>
          </a:ln>
          <a:effectLst>
            <a:glow rad="50800">
              <a:srgbClr val="00D4FF">
                <a:alpha val="5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502920" y="1627632"/>
            <a:ext cx="5349240" cy="3794760"/>
          </a:xfrm>
          <a:prstGeom prst="roundRect">
            <a:avLst>
              <a:gd name="adj" fmla="val 4500"/>
            </a:avLst>
          </a:prstGeom>
          <a:solidFill>
            <a:srgbClr val="0B111C">
              <a:alpha val="93000"/>
            </a:srgbClr>
          </a:solidFill>
          <a:ln w="12700">
            <a:solidFill>
              <a:srgbClr val="223046"/>
            </a:solidFill>
          </a:ln>
          <a:effectLst>
            <a:outerShdw blurRad="164592" dist="45720" dir="5400000" rotWithShape="0">
              <a:srgbClr val="000000">
                <a:alpha val="5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30936" y="1627632"/>
            <a:ext cx="5093207" cy="41148"/>
          </a:xfrm>
          <a:prstGeom prst="rect">
            <a:avLst/>
          </a:prstGeom>
          <a:solidFill>
            <a:srgbClr val="00FF41"/>
          </a:solidFill>
          <a:ln>
            <a:noFill/>
          </a:ln>
          <a:effectLst>
            <a:glow rad="63500">
              <a:srgbClr val="00FF41">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67512" y="1773936"/>
            <a:ext cx="100584" cy="100584"/>
          </a:xfrm>
          <a:prstGeom prst="ellipse">
            <a:avLst/>
          </a:prstGeom>
          <a:solidFill>
            <a:srgbClr val="FF5F56"/>
          </a:solidFill>
          <a:ln>
            <a:noFill/>
          </a:ln>
          <a:effectLst>
            <a:glow rad="38100">
              <a:srgbClr val="FF5F56">
                <a:alpha val="4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32103" y="1773936"/>
            <a:ext cx="100584" cy="100584"/>
          </a:xfrm>
          <a:prstGeom prst="ellipse">
            <a:avLst/>
          </a:prstGeom>
          <a:solidFill>
            <a:srgbClr val="FFBD2E"/>
          </a:solidFill>
          <a:ln>
            <a:noFill/>
          </a:ln>
          <a:effectLst>
            <a:glow rad="38100">
              <a:srgbClr val="FFBD2E">
                <a:alpha val="4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996695" y="1773936"/>
            <a:ext cx="100584" cy="100584"/>
          </a:xfrm>
          <a:prstGeom prst="ellipse">
            <a:avLst/>
          </a:prstGeom>
          <a:solidFill>
            <a:srgbClr val="27C93F"/>
          </a:solidFill>
          <a:ln>
            <a:noFill/>
          </a:ln>
          <a:effectLst>
            <a:glow rad="38100">
              <a:srgbClr val="27C93F">
                <a:alpha val="4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280160" y="1746504"/>
            <a:ext cx="4343400" cy="237744"/>
          </a:xfrm>
          <a:prstGeom prst="rect">
            <a:avLst/>
          </a:prstGeom>
          <a:noFill/>
        </p:spPr>
        <p:txBody>
          <a:bodyPr wrap="square" anchor="t" lIns="0" rIns="0" tIns="0" bIns="0">
            <a:spAutoFit/>
          </a:bodyPr>
          <a:lstStyle/>
          <a:p>
            <a:pPr algn="l">
              <a:lnSpc>
                <a:spcPct val="100000"/>
              </a:lnSpc>
            </a:pPr>
            <a:r>
              <a:rPr sz="1000" b="0" i="0">
                <a:solidFill>
                  <a:srgbClr val="5A6A85"/>
                </a:solidFill>
                <a:latin typeface="Consolas"/>
              </a:rPr>
              <a:t>zodiac:~ </a:t>
            </a:r>
            <a:r>
              <a:rPr sz="1000" b="1" i="0">
                <a:solidFill>
                  <a:srgbClr val="00FF41"/>
                </a:solidFill>
                <a:latin typeface="Consolas"/>
              </a:rPr>
              <a:t>get_schema</a:t>
            </a:r>
          </a:p>
        </p:txBody>
      </p:sp>
      <p:sp>
        <p:nvSpPr>
          <p:cNvPr id="33" name="Rectangle 32"/>
          <p:cNvSpPr/>
          <p:nvPr/>
        </p:nvSpPr>
        <p:spPr>
          <a:xfrm>
            <a:off x="612648" y="2194560"/>
            <a:ext cx="5129783" cy="14630"/>
          </a:xfrm>
          <a:prstGeom prst="rect">
            <a:avLst/>
          </a:prstGeom>
          <a:solidFill>
            <a:srgbClr val="00D4F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12648" y="2318004"/>
            <a:ext cx="5129783" cy="14630"/>
          </a:xfrm>
          <a:prstGeom prst="rect">
            <a:avLst/>
          </a:prstGeom>
          <a:solidFill>
            <a:srgbClr val="00D4F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12648" y="2441448"/>
            <a:ext cx="5129783" cy="14630"/>
          </a:xfrm>
          <a:prstGeom prst="rect">
            <a:avLst/>
          </a:prstGeom>
          <a:solidFill>
            <a:srgbClr val="00D4F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12648" y="2564891"/>
            <a:ext cx="5129783" cy="14630"/>
          </a:xfrm>
          <a:prstGeom prst="rect">
            <a:avLst/>
          </a:prstGeom>
          <a:solidFill>
            <a:srgbClr val="00D4F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12648" y="2688335"/>
            <a:ext cx="5129783" cy="14630"/>
          </a:xfrm>
          <a:prstGeom prst="rect">
            <a:avLst/>
          </a:prstGeom>
          <a:solidFill>
            <a:srgbClr val="00D4F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12648" y="2811779"/>
            <a:ext cx="5129783" cy="14630"/>
          </a:xfrm>
          <a:prstGeom prst="rect">
            <a:avLst/>
          </a:prstGeom>
          <a:solidFill>
            <a:srgbClr val="00D4F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12648" y="2935223"/>
            <a:ext cx="5129783" cy="14630"/>
          </a:xfrm>
          <a:prstGeom prst="rect">
            <a:avLst/>
          </a:prstGeom>
          <a:solidFill>
            <a:srgbClr val="00D4F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12648" y="3058667"/>
            <a:ext cx="5129783" cy="14630"/>
          </a:xfrm>
          <a:prstGeom prst="rect">
            <a:avLst/>
          </a:prstGeom>
          <a:solidFill>
            <a:srgbClr val="00D4F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12648" y="3182111"/>
            <a:ext cx="5129783" cy="14630"/>
          </a:xfrm>
          <a:prstGeom prst="rect">
            <a:avLst/>
          </a:prstGeom>
          <a:solidFill>
            <a:srgbClr val="00D4F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12648" y="3305555"/>
            <a:ext cx="5129783" cy="14630"/>
          </a:xfrm>
          <a:prstGeom prst="rect">
            <a:avLst/>
          </a:prstGeom>
          <a:solidFill>
            <a:srgbClr val="00D4F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12648" y="3428999"/>
            <a:ext cx="5129783" cy="14630"/>
          </a:xfrm>
          <a:prstGeom prst="rect">
            <a:avLst/>
          </a:prstGeom>
          <a:solidFill>
            <a:srgbClr val="00D4F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12648" y="3552443"/>
            <a:ext cx="5129783" cy="14630"/>
          </a:xfrm>
          <a:prstGeom prst="rect">
            <a:avLst/>
          </a:prstGeom>
          <a:solidFill>
            <a:srgbClr val="00D4F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612648" y="3675887"/>
            <a:ext cx="5129783" cy="14630"/>
          </a:xfrm>
          <a:prstGeom prst="rect">
            <a:avLst/>
          </a:prstGeom>
          <a:solidFill>
            <a:srgbClr val="00D4F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12648" y="3799331"/>
            <a:ext cx="5129783" cy="14630"/>
          </a:xfrm>
          <a:prstGeom prst="rect">
            <a:avLst/>
          </a:prstGeom>
          <a:solidFill>
            <a:srgbClr val="00D4F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12648" y="3922775"/>
            <a:ext cx="5129783" cy="14630"/>
          </a:xfrm>
          <a:prstGeom prst="rect">
            <a:avLst/>
          </a:prstGeom>
          <a:solidFill>
            <a:srgbClr val="00D4F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12648" y="4046219"/>
            <a:ext cx="5129783" cy="14630"/>
          </a:xfrm>
          <a:prstGeom prst="rect">
            <a:avLst/>
          </a:prstGeom>
          <a:solidFill>
            <a:srgbClr val="00D4F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612648" y="4169663"/>
            <a:ext cx="5129783" cy="14630"/>
          </a:xfrm>
          <a:prstGeom prst="rect">
            <a:avLst/>
          </a:prstGeom>
          <a:solidFill>
            <a:srgbClr val="00D4F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612648" y="4293107"/>
            <a:ext cx="5129783" cy="14630"/>
          </a:xfrm>
          <a:prstGeom prst="rect">
            <a:avLst/>
          </a:prstGeom>
          <a:solidFill>
            <a:srgbClr val="00D4F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12648" y="4416551"/>
            <a:ext cx="5129783" cy="14630"/>
          </a:xfrm>
          <a:prstGeom prst="rect">
            <a:avLst/>
          </a:prstGeom>
          <a:solidFill>
            <a:srgbClr val="00D4F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612648" y="4539995"/>
            <a:ext cx="5129783" cy="14630"/>
          </a:xfrm>
          <a:prstGeom prst="rect">
            <a:avLst/>
          </a:prstGeom>
          <a:solidFill>
            <a:srgbClr val="00D4F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612648" y="4663439"/>
            <a:ext cx="5129783" cy="14630"/>
          </a:xfrm>
          <a:prstGeom prst="rect">
            <a:avLst/>
          </a:prstGeom>
          <a:solidFill>
            <a:srgbClr val="00D4F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612648" y="4786883"/>
            <a:ext cx="5129783" cy="14630"/>
          </a:xfrm>
          <a:prstGeom prst="rect">
            <a:avLst/>
          </a:prstGeom>
          <a:solidFill>
            <a:srgbClr val="00D4F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612648" y="4910327"/>
            <a:ext cx="5129783" cy="14630"/>
          </a:xfrm>
          <a:prstGeom prst="rect">
            <a:avLst/>
          </a:prstGeom>
          <a:solidFill>
            <a:srgbClr val="00D4F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612648" y="5033771"/>
            <a:ext cx="5129783" cy="14630"/>
          </a:xfrm>
          <a:prstGeom prst="rect">
            <a:avLst/>
          </a:prstGeom>
          <a:solidFill>
            <a:srgbClr val="00D4F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612648" y="5157215"/>
            <a:ext cx="5129783" cy="14630"/>
          </a:xfrm>
          <a:prstGeom prst="rect">
            <a:avLst/>
          </a:prstGeom>
          <a:solidFill>
            <a:srgbClr val="00D4F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612648" y="5280659"/>
            <a:ext cx="5129783" cy="14630"/>
          </a:xfrm>
          <a:prstGeom prst="rect">
            <a:avLst/>
          </a:prstGeom>
          <a:solidFill>
            <a:srgbClr val="00D4F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22960" y="2231136"/>
            <a:ext cx="4754880" cy="1691640"/>
          </a:xfrm>
          <a:prstGeom prst="rect">
            <a:avLst/>
          </a:prstGeom>
          <a:noFill/>
        </p:spPr>
        <p:txBody>
          <a:bodyPr wrap="square" anchor="t" lIns="0" rIns="0" tIns="0" bIns="0">
            <a:spAutoFit/>
          </a:bodyPr>
          <a:lstStyle/>
          <a:p>
            <a:pPr algn="l">
              <a:lnSpc>
                <a:spcPct val="100000"/>
              </a:lnSpc>
              <a:spcAft>
                <a:spcPts val="300"/>
              </a:spcAft>
            </a:pPr>
            <a:r>
              <a:rPr sz="1250" b="1" i="0">
                <a:solidFill>
                  <a:srgbClr val="00D4FF"/>
                </a:solidFill>
                <a:effectLst>
                  <a:glow rad="38100">
                    <a:srgbClr val="00D4FF">
                      <a:alpha val="35000"/>
                    </a:srgbClr>
                  </a:glow>
                </a:effectLst>
                <a:latin typeface="Consolas"/>
              </a:rPr>
              <a:t>sales_db</a:t>
            </a:r>
          </a:p>
          <a:p>
            <a:pPr algn="l">
              <a:lnSpc>
                <a:spcPct val="100000"/>
              </a:lnSpc>
              <a:spcAft>
                <a:spcPts val="300"/>
              </a:spcAft>
            </a:pPr>
            <a:r>
              <a:rPr sz="1250" b="0" i="0">
                <a:solidFill>
                  <a:srgbClr val="5A6A85"/>
                </a:solidFill>
                <a:latin typeface="Consolas"/>
              </a:rPr>
              <a:t> ├─ </a:t>
            </a:r>
            <a:r>
              <a:rPr sz="1250" b="0" i="0">
                <a:solidFill>
                  <a:srgbClr val="EAF4FF"/>
                </a:solidFill>
                <a:latin typeface="Consolas"/>
              </a:rPr>
              <a:t>customers</a:t>
            </a:r>
          </a:p>
          <a:p>
            <a:pPr algn="l">
              <a:lnSpc>
                <a:spcPct val="100000"/>
              </a:lnSpc>
              <a:spcAft>
                <a:spcPts val="300"/>
              </a:spcAft>
            </a:pPr>
            <a:r>
              <a:rPr sz="1250" b="0" i="0">
                <a:solidFill>
                  <a:srgbClr val="5A6A85"/>
                </a:solidFill>
                <a:latin typeface="Consolas"/>
              </a:rPr>
              <a:t> ├─ </a:t>
            </a:r>
            <a:r>
              <a:rPr sz="1250" b="0" i="0">
                <a:solidFill>
                  <a:srgbClr val="EAF4FF"/>
                </a:solidFill>
                <a:latin typeface="Consolas"/>
              </a:rPr>
              <a:t>products</a:t>
            </a:r>
          </a:p>
          <a:p>
            <a:pPr algn="l">
              <a:lnSpc>
                <a:spcPct val="100000"/>
              </a:lnSpc>
              <a:spcAft>
                <a:spcPts val="300"/>
              </a:spcAft>
            </a:pPr>
            <a:r>
              <a:rPr sz="1250" b="0" i="0">
                <a:solidFill>
                  <a:srgbClr val="5A6A85"/>
                </a:solidFill>
                <a:latin typeface="Consolas"/>
              </a:rPr>
              <a:t> ├─ </a:t>
            </a:r>
            <a:r>
              <a:rPr sz="1250" b="0" i="0">
                <a:solidFill>
                  <a:srgbClr val="EAF4FF"/>
                </a:solidFill>
                <a:latin typeface="Consolas"/>
              </a:rPr>
              <a:t>orders</a:t>
            </a:r>
          </a:p>
          <a:p>
            <a:pPr algn="l">
              <a:lnSpc>
                <a:spcPct val="100000"/>
              </a:lnSpc>
              <a:spcAft>
                <a:spcPts val="400"/>
              </a:spcAft>
            </a:pPr>
            <a:r>
              <a:rPr sz="1250" b="0" i="0">
                <a:solidFill>
                  <a:srgbClr val="5A6A85"/>
                </a:solidFill>
                <a:latin typeface="Consolas"/>
              </a:rPr>
              <a:t> └─ </a:t>
            </a:r>
            <a:r>
              <a:rPr sz="1250" b="0" i="0">
                <a:solidFill>
                  <a:srgbClr val="EAF4FF"/>
                </a:solidFill>
                <a:latin typeface="Consolas"/>
              </a:rPr>
              <a:t>order_items</a:t>
            </a:r>
          </a:p>
          <a:p>
            <a:pPr algn="l">
              <a:lnSpc>
                <a:spcPct val="100000"/>
              </a:lnSpc>
            </a:pPr>
            <a:r>
              <a:rPr sz="850" b="0" i="0">
                <a:solidFill>
                  <a:srgbClr val="5A6A85"/>
                </a:solidFill>
                <a:latin typeface="Consolas"/>
              </a:rPr>
              <a:t>   tables · columns · types · relations</a:t>
            </a:r>
          </a:p>
        </p:txBody>
      </p:sp>
      <p:sp>
        <p:nvSpPr>
          <p:cNvPr id="60" name="TextBox 59"/>
          <p:cNvSpPr txBox="1"/>
          <p:nvPr/>
        </p:nvSpPr>
        <p:spPr>
          <a:xfrm>
            <a:off x="822960" y="4197096"/>
            <a:ext cx="4754880" cy="914400"/>
          </a:xfrm>
          <a:prstGeom prst="rect">
            <a:avLst/>
          </a:prstGeom>
          <a:noFill/>
        </p:spPr>
        <p:txBody>
          <a:bodyPr wrap="square" anchor="t" lIns="0" rIns="0" tIns="0" bIns="0">
            <a:spAutoFit/>
          </a:bodyPr>
          <a:lstStyle/>
          <a:p>
            <a:pPr algn="l" marL="237744" indent="-237744">
              <a:lnSpc>
                <a:spcPct val="112000"/>
              </a:lnSpc>
              <a:spcAft>
                <a:spcPts val="600"/>
              </a:spcAft>
            </a:pPr>
            <a:r>
              <a:rPr sz="1150" b="1" i="0">
                <a:solidFill>
                  <a:srgbClr val="00FF41"/>
                </a:solidFill>
                <a:latin typeface="Consolas"/>
              </a:rPr>
              <a:t>▸  </a:t>
            </a:r>
            <a:r>
              <a:rPr sz="1150" b="1" i="0">
                <a:solidFill>
                  <a:srgbClr val="EAF4FF"/>
                </a:solidFill>
                <a:latin typeface="Segoe UI"/>
              </a:rPr>
              <a:t>Live runtime introspection</a:t>
            </a:r>
            <a:r>
              <a:rPr sz="1150" b="0" i="0">
                <a:solidFill>
                  <a:srgbClr val="93A6C4"/>
                </a:solidFill>
                <a:latin typeface="Segoe UI"/>
              </a:rPr>
              <a:t> — no hardcoded, stale schema assumptions</a:t>
            </a:r>
          </a:p>
        </p:txBody>
      </p:sp>
      <p:sp>
        <p:nvSpPr>
          <p:cNvPr id="61" name="Rounded Rectangle 60"/>
          <p:cNvSpPr/>
          <p:nvPr/>
        </p:nvSpPr>
        <p:spPr>
          <a:xfrm>
            <a:off x="6382512" y="1627632"/>
            <a:ext cx="5349240" cy="3794760"/>
          </a:xfrm>
          <a:prstGeom prst="roundRect">
            <a:avLst>
              <a:gd name="adj" fmla="val 4500"/>
            </a:avLst>
          </a:prstGeom>
          <a:solidFill>
            <a:srgbClr val="0B111C">
              <a:alpha val="93000"/>
            </a:srgbClr>
          </a:solidFill>
          <a:ln w="12700">
            <a:solidFill>
              <a:srgbClr val="223046"/>
            </a:solidFill>
          </a:ln>
          <a:effectLst>
            <a:outerShdw blurRad="164592" dist="45720" dir="5400000" rotWithShape="0">
              <a:srgbClr val="000000">
                <a:alpha val="5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6510528" y="1627632"/>
            <a:ext cx="5093207" cy="41148"/>
          </a:xfrm>
          <a:prstGeom prst="rect">
            <a:avLst/>
          </a:prstGeom>
          <a:solidFill>
            <a:srgbClr val="00FF41"/>
          </a:solidFill>
          <a:ln>
            <a:noFill/>
          </a:ln>
          <a:effectLst>
            <a:glow rad="63500">
              <a:srgbClr val="00FF41">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6547104" y="1773936"/>
            <a:ext cx="100584" cy="100584"/>
          </a:xfrm>
          <a:prstGeom prst="ellipse">
            <a:avLst/>
          </a:prstGeom>
          <a:solidFill>
            <a:srgbClr val="FF5F56"/>
          </a:solidFill>
          <a:ln>
            <a:noFill/>
          </a:ln>
          <a:effectLst>
            <a:glow rad="38100">
              <a:srgbClr val="FF5F56">
                <a:alpha val="4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6711696" y="1773936"/>
            <a:ext cx="100584" cy="100584"/>
          </a:xfrm>
          <a:prstGeom prst="ellipse">
            <a:avLst/>
          </a:prstGeom>
          <a:solidFill>
            <a:srgbClr val="FFBD2E"/>
          </a:solidFill>
          <a:ln>
            <a:noFill/>
          </a:ln>
          <a:effectLst>
            <a:glow rad="38100">
              <a:srgbClr val="FFBD2E">
                <a:alpha val="4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6876288" y="1773936"/>
            <a:ext cx="100584" cy="100584"/>
          </a:xfrm>
          <a:prstGeom prst="ellipse">
            <a:avLst/>
          </a:prstGeom>
          <a:solidFill>
            <a:srgbClr val="27C93F"/>
          </a:solidFill>
          <a:ln>
            <a:noFill/>
          </a:ln>
          <a:effectLst>
            <a:glow rad="38100">
              <a:srgbClr val="27C93F">
                <a:alpha val="4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7159752" y="1746504"/>
            <a:ext cx="4343400" cy="237744"/>
          </a:xfrm>
          <a:prstGeom prst="rect">
            <a:avLst/>
          </a:prstGeom>
          <a:noFill/>
        </p:spPr>
        <p:txBody>
          <a:bodyPr wrap="square" anchor="t" lIns="0" rIns="0" tIns="0" bIns="0">
            <a:spAutoFit/>
          </a:bodyPr>
          <a:lstStyle/>
          <a:p>
            <a:pPr algn="l">
              <a:lnSpc>
                <a:spcPct val="100000"/>
              </a:lnSpc>
            </a:pPr>
            <a:r>
              <a:rPr sz="1000" b="0" i="0">
                <a:solidFill>
                  <a:srgbClr val="5A6A85"/>
                </a:solidFill>
                <a:latin typeface="Consolas"/>
              </a:rPr>
              <a:t>zodiac:~ </a:t>
            </a:r>
            <a:r>
              <a:rPr sz="1000" b="1" i="0">
                <a:solidFill>
                  <a:srgbClr val="00FF41"/>
                </a:solidFill>
                <a:latin typeface="Consolas"/>
              </a:rPr>
              <a:t>execute_query</a:t>
            </a:r>
          </a:p>
        </p:txBody>
      </p:sp>
      <p:sp>
        <p:nvSpPr>
          <p:cNvPr id="67" name="Rectangle 66"/>
          <p:cNvSpPr/>
          <p:nvPr/>
        </p:nvSpPr>
        <p:spPr>
          <a:xfrm>
            <a:off x="6492240" y="2194560"/>
            <a:ext cx="5129783" cy="14630"/>
          </a:xfrm>
          <a:prstGeom prst="rect">
            <a:avLst/>
          </a:prstGeom>
          <a:solidFill>
            <a:srgbClr val="00D4F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6492240" y="2318004"/>
            <a:ext cx="5129783" cy="14630"/>
          </a:xfrm>
          <a:prstGeom prst="rect">
            <a:avLst/>
          </a:prstGeom>
          <a:solidFill>
            <a:srgbClr val="00D4F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6492240" y="2441448"/>
            <a:ext cx="5129783" cy="14630"/>
          </a:xfrm>
          <a:prstGeom prst="rect">
            <a:avLst/>
          </a:prstGeom>
          <a:solidFill>
            <a:srgbClr val="00D4F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6492240" y="2564891"/>
            <a:ext cx="5129783" cy="14630"/>
          </a:xfrm>
          <a:prstGeom prst="rect">
            <a:avLst/>
          </a:prstGeom>
          <a:solidFill>
            <a:srgbClr val="00D4F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6492240" y="2688335"/>
            <a:ext cx="5129783" cy="14630"/>
          </a:xfrm>
          <a:prstGeom prst="rect">
            <a:avLst/>
          </a:prstGeom>
          <a:solidFill>
            <a:srgbClr val="00D4F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6492240" y="2811779"/>
            <a:ext cx="5129783" cy="14630"/>
          </a:xfrm>
          <a:prstGeom prst="rect">
            <a:avLst/>
          </a:prstGeom>
          <a:solidFill>
            <a:srgbClr val="00D4F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6492240" y="2935223"/>
            <a:ext cx="5129783" cy="14630"/>
          </a:xfrm>
          <a:prstGeom prst="rect">
            <a:avLst/>
          </a:prstGeom>
          <a:solidFill>
            <a:srgbClr val="00D4F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6492240" y="3058667"/>
            <a:ext cx="5129783" cy="14630"/>
          </a:xfrm>
          <a:prstGeom prst="rect">
            <a:avLst/>
          </a:prstGeom>
          <a:solidFill>
            <a:srgbClr val="00D4F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6492240" y="3182111"/>
            <a:ext cx="5129783" cy="14630"/>
          </a:xfrm>
          <a:prstGeom prst="rect">
            <a:avLst/>
          </a:prstGeom>
          <a:solidFill>
            <a:srgbClr val="00D4F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6492240" y="3305555"/>
            <a:ext cx="5129783" cy="14630"/>
          </a:xfrm>
          <a:prstGeom prst="rect">
            <a:avLst/>
          </a:prstGeom>
          <a:solidFill>
            <a:srgbClr val="00D4F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6492240" y="3428999"/>
            <a:ext cx="5129783" cy="14630"/>
          </a:xfrm>
          <a:prstGeom prst="rect">
            <a:avLst/>
          </a:prstGeom>
          <a:solidFill>
            <a:srgbClr val="00D4F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6492240" y="3552443"/>
            <a:ext cx="5129783" cy="14630"/>
          </a:xfrm>
          <a:prstGeom prst="rect">
            <a:avLst/>
          </a:prstGeom>
          <a:solidFill>
            <a:srgbClr val="00D4F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6492240" y="3675887"/>
            <a:ext cx="5129783" cy="14630"/>
          </a:xfrm>
          <a:prstGeom prst="rect">
            <a:avLst/>
          </a:prstGeom>
          <a:solidFill>
            <a:srgbClr val="00D4F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6492240" y="3799331"/>
            <a:ext cx="5129783" cy="14630"/>
          </a:xfrm>
          <a:prstGeom prst="rect">
            <a:avLst/>
          </a:prstGeom>
          <a:solidFill>
            <a:srgbClr val="00D4F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6492240" y="3922775"/>
            <a:ext cx="5129783" cy="14630"/>
          </a:xfrm>
          <a:prstGeom prst="rect">
            <a:avLst/>
          </a:prstGeom>
          <a:solidFill>
            <a:srgbClr val="00D4F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6492240" y="4046219"/>
            <a:ext cx="5129783" cy="14630"/>
          </a:xfrm>
          <a:prstGeom prst="rect">
            <a:avLst/>
          </a:prstGeom>
          <a:solidFill>
            <a:srgbClr val="00D4F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6492240" y="4169663"/>
            <a:ext cx="5129783" cy="14630"/>
          </a:xfrm>
          <a:prstGeom prst="rect">
            <a:avLst/>
          </a:prstGeom>
          <a:solidFill>
            <a:srgbClr val="00D4F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6492240" y="4293107"/>
            <a:ext cx="5129783" cy="14630"/>
          </a:xfrm>
          <a:prstGeom prst="rect">
            <a:avLst/>
          </a:prstGeom>
          <a:solidFill>
            <a:srgbClr val="00D4F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6492240" y="4416551"/>
            <a:ext cx="5129783" cy="14630"/>
          </a:xfrm>
          <a:prstGeom prst="rect">
            <a:avLst/>
          </a:prstGeom>
          <a:solidFill>
            <a:srgbClr val="00D4F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6492240" y="4539995"/>
            <a:ext cx="5129783" cy="14630"/>
          </a:xfrm>
          <a:prstGeom prst="rect">
            <a:avLst/>
          </a:prstGeom>
          <a:solidFill>
            <a:srgbClr val="00D4F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6492240" y="4663439"/>
            <a:ext cx="5129783" cy="14630"/>
          </a:xfrm>
          <a:prstGeom prst="rect">
            <a:avLst/>
          </a:prstGeom>
          <a:solidFill>
            <a:srgbClr val="00D4F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6492240" y="4786883"/>
            <a:ext cx="5129783" cy="14630"/>
          </a:xfrm>
          <a:prstGeom prst="rect">
            <a:avLst/>
          </a:prstGeom>
          <a:solidFill>
            <a:srgbClr val="00D4F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6492240" y="4910327"/>
            <a:ext cx="5129783" cy="14630"/>
          </a:xfrm>
          <a:prstGeom prst="rect">
            <a:avLst/>
          </a:prstGeom>
          <a:solidFill>
            <a:srgbClr val="00D4F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6492240" y="5033771"/>
            <a:ext cx="5129783" cy="14630"/>
          </a:xfrm>
          <a:prstGeom prst="rect">
            <a:avLst/>
          </a:prstGeom>
          <a:solidFill>
            <a:srgbClr val="00D4F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6492240" y="5157215"/>
            <a:ext cx="5129783" cy="14630"/>
          </a:xfrm>
          <a:prstGeom prst="rect">
            <a:avLst/>
          </a:prstGeom>
          <a:solidFill>
            <a:srgbClr val="00D4F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6492240" y="5280659"/>
            <a:ext cx="5129783" cy="14630"/>
          </a:xfrm>
          <a:prstGeom prst="rect">
            <a:avLst/>
          </a:prstGeom>
          <a:solidFill>
            <a:srgbClr val="00D4F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6702552" y="2231136"/>
            <a:ext cx="4754880" cy="1463040"/>
          </a:xfrm>
          <a:prstGeom prst="rect">
            <a:avLst/>
          </a:prstGeom>
          <a:noFill/>
        </p:spPr>
        <p:txBody>
          <a:bodyPr wrap="square" anchor="t" lIns="0" rIns="0" tIns="0" bIns="0">
            <a:spAutoFit/>
          </a:bodyPr>
          <a:lstStyle/>
          <a:p>
            <a:pPr algn="l">
              <a:lnSpc>
                <a:spcPct val="100000"/>
              </a:lnSpc>
              <a:spcAft>
                <a:spcPts val="100"/>
              </a:spcAft>
            </a:pPr>
            <a:r>
              <a:rPr sz="1050" b="0" i="0">
                <a:solidFill>
                  <a:srgbClr val="00FF41"/>
                </a:solidFill>
                <a:latin typeface="Consolas"/>
              </a:rPr>
              <a:t>SELECT c.name, SUM(oi.qty*oi.price)</a:t>
            </a:r>
          </a:p>
          <a:p>
            <a:pPr algn="l">
              <a:lnSpc>
                <a:spcPct val="100000"/>
              </a:lnSpc>
              <a:spcAft>
                <a:spcPts val="100"/>
              </a:spcAft>
            </a:pPr>
            <a:r>
              <a:rPr sz="1050" b="0" i="0">
                <a:solidFill>
                  <a:srgbClr val="00FF41"/>
                </a:solidFill>
                <a:latin typeface="Consolas"/>
              </a:rPr>
              <a:t>FROM order_items oi</a:t>
            </a:r>
          </a:p>
          <a:p>
            <a:pPr algn="l">
              <a:lnSpc>
                <a:spcPct val="100000"/>
              </a:lnSpc>
              <a:spcAft>
                <a:spcPts val="100"/>
              </a:spcAft>
            </a:pPr>
            <a:r>
              <a:rPr sz="1050" b="0" i="0">
                <a:solidFill>
                  <a:srgbClr val="00FF41"/>
                </a:solidFill>
                <a:latin typeface="Consolas"/>
              </a:rPr>
              <a:t>JOIN orders o ON o.id = oi.order_id</a:t>
            </a:r>
          </a:p>
          <a:p>
            <a:pPr algn="l">
              <a:lnSpc>
                <a:spcPct val="100000"/>
              </a:lnSpc>
              <a:spcAft>
                <a:spcPts val="100"/>
              </a:spcAft>
            </a:pPr>
            <a:r>
              <a:rPr sz="1050" b="0" i="0">
                <a:solidFill>
                  <a:srgbClr val="00FF41"/>
                </a:solidFill>
                <a:latin typeface="Consolas"/>
              </a:rPr>
              <a:t>JOIN customers c ON c.id = o.customer_id</a:t>
            </a:r>
          </a:p>
          <a:p>
            <a:pPr algn="l">
              <a:lnSpc>
                <a:spcPct val="100000"/>
              </a:lnSpc>
              <a:spcAft>
                <a:spcPts val="500"/>
              </a:spcAft>
            </a:pPr>
            <a:r>
              <a:rPr sz="1050" b="0" i="0">
                <a:solidFill>
                  <a:srgbClr val="00FF41"/>
                </a:solidFill>
                <a:latin typeface="Consolas"/>
              </a:rPr>
              <a:t>GROUP BY c.name;</a:t>
            </a:r>
          </a:p>
          <a:p>
            <a:pPr algn="l">
              <a:lnSpc>
                <a:spcPct val="100000"/>
              </a:lnSpc>
            </a:pPr>
            <a:r>
              <a:rPr sz="1000" b="1" i="0">
                <a:solidFill>
                  <a:srgbClr val="00D4FF"/>
                </a:solidFill>
                <a:effectLst>
                  <a:glow rad="38100">
                    <a:srgbClr val="00D4FF">
                      <a:alpha val="40000"/>
                    </a:srgbClr>
                  </a:glow>
                </a:effectLst>
                <a:latin typeface="Consolas"/>
              </a:rPr>
              <a:t>✓ 1,284 rows returned</a:t>
            </a:r>
            <a:r>
              <a:rPr sz="1000" b="1" i="0">
                <a:solidFill>
                  <a:srgbClr val="00FF41"/>
                </a:solidFill>
                <a:effectLst>
                  <a:glow rad="38100">
                    <a:srgbClr val="00FF41">
                      <a:alpha val="40000"/>
                    </a:srgbClr>
                  </a:glow>
                </a:effectLst>
                <a:latin typeface="Consolas"/>
              </a:rPr>
              <a:t>  [READ-ONLY ✓]</a:t>
            </a:r>
          </a:p>
        </p:txBody>
      </p:sp>
      <p:sp>
        <p:nvSpPr>
          <p:cNvPr id="94" name="TextBox 93"/>
          <p:cNvSpPr txBox="1"/>
          <p:nvPr/>
        </p:nvSpPr>
        <p:spPr>
          <a:xfrm>
            <a:off x="6702552" y="3968496"/>
            <a:ext cx="4754880" cy="640080"/>
          </a:xfrm>
          <a:prstGeom prst="rect">
            <a:avLst/>
          </a:prstGeom>
          <a:noFill/>
        </p:spPr>
        <p:txBody>
          <a:bodyPr wrap="square" anchor="t" lIns="0" rIns="0" tIns="0" bIns="0">
            <a:spAutoFit/>
          </a:bodyPr>
          <a:lstStyle/>
          <a:p>
            <a:pPr algn="l" marL="237744" indent="-237744">
              <a:lnSpc>
                <a:spcPct val="112000"/>
              </a:lnSpc>
              <a:spcAft>
                <a:spcPts val="500"/>
              </a:spcAft>
            </a:pPr>
            <a:r>
              <a:rPr sz="1150" b="1" i="0">
                <a:solidFill>
                  <a:srgbClr val="00FF41"/>
                </a:solidFill>
                <a:latin typeface="Consolas"/>
              </a:rPr>
              <a:t>▸  </a:t>
            </a:r>
            <a:r>
              <a:rPr sz="1150" b="1" i="0">
                <a:solidFill>
                  <a:srgbClr val="EAF4FF"/>
                </a:solidFill>
                <a:latin typeface="Segoe UI"/>
              </a:rPr>
              <a:t>Exact SQL</a:t>
            </a:r>
            <a:r>
              <a:rPr sz="1150" b="0" i="0">
                <a:solidFill>
                  <a:srgbClr val="93A6C4"/>
                </a:solidFill>
                <a:latin typeface="Segoe UI"/>
              </a:rPr>
              <a:t> — generated &amp; executed on the real database</a:t>
            </a:r>
          </a:p>
        </p:txBody>
      </p:sp>
      <p:sp>
        <p:nvSpPr>
          <p:cNvPr id="95" name="Rounded Rectangle 94"/>
          <p:cNvSpPr/>
          <p:nvPr/>
        </p:nvSpPr>
        <p:spPr>
          <a:xfrm>
            <a:off x="6702552" y="4626864"/>
            <a:ext cx="4709160" cy="475488"/>
          </a:xfrm>
          <a:prstGeom prst="roundRect">
            <a:avLst>
              <a:gd name="adj" fmla="val 28000"/>
            </a:avLst>
          </a:prstGeom>
          <a:solidFill>
            <a:srgbClr val="2A0F1A"/>
          </a:solidFill>
          <a:ln w="13970">
            <a:solidFill>
              <a:srgbClr val="FF3B61"/>
            </a:solidFill>
          </a:ln>
          <a:effectLst>
            <a:glow rad="50800">
              <a:srgbClr val="FF3B61">
                <a:alpha val="4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6858000" y="4626864"/>
            <a:ext cx="4480560" cy="475488"/>
          </a:xfrm>
          <a:prstGeom prst="rect">
            <a:avLst/>
          </a:prstGeom>
          <a:noFill/>
        </p:spPr>
        <p:txBody>
          <a:bodyPr wrap="square" anchor="ctr" lIns="0" rIns="0" tIns="0" bIns="0">
            <a:spAutoFit/>
          </a:bodyPr>
          <a:lstStyle/>
          <a:p>
            <a:pPr algn="l">
              <a:lnSpc>
                <a:spcPct val="100000"/>
              </a:lnSpc>
            </a:pPr>
            <a:r>
              <a:rPr sz="1000" b="0" i="0" strike="sngStrike">
                <a:solidFill>
                  <a:srgbClr val="FF3B61"/>
                </a:solidFill>
                <a:latin typeface="Consolas"/>
              </a:rPr>
              <a:t>DROP TABLE orders;</a:t>
            </a:r>
            <a:r>
              <a:rPr sz="950" b="1" i="0">
                <a:solidFill>
                  <a:srgbClr val="FF3B61"/>
                </a:solidFill>
                <a:latin typeface="Consolas"/>
              </a:rPr>
              <a:t>  ⚠ BLOCKED — WRITE GUARD</a:t>
            </a:r>
          </a:p>
        </p:txBody>
      </p:sp>
      <p:sp>
        <p:nvSpPr>
          <p:cNvPr id="97" name="Rounded Rectangle 96"/>
          <p:cNvSpPr/>
          <p:nvPr/>
        </p:nvSpPr>
        <p:spPr>
          <a:xfrm>
            <a:off x="502920" y="5623560"/>
            <a:ext cx="11185855" cy="420624"/>
          </a:xfrm>
          <a:prstGeom prst="roundRect">
            <a:avLst>
              <a:gd name="adj" fmla="val 50000"/>
            </a:avLst>
          </a:prstGeom>
          <a:solidFill>
            <a:srgbClr val="10192A">
              <a:alpha val="88000"/>
            </a:srgbClr>
          </a:solidFill>
          <a:ln w="12700">
            <a:solidFill>
              <a:srgbClr val="223046"/>
            </a:solidFill>
          </a:ln>
          <a:effectLst>
            <a:outerShdw blurRad="128016" dist="36576" dir="5400000" rotWithShape="0">
              <a:srgbClr val="000000">
                <a:alpha val="5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694944" y="5724144"/>
            <a:ext cx="54864" cy="219456"/>
          </a:xfrm>
          <a:prstGeom prst="rect">
            <a:avLst/>
          </a:prstGeom>
          <a:solidFill>
            <a:srgbClr val="00FF41"/>
          </a:solidFill>
          <a:ln>
            <a:noFill/>
          </a:ln>
          <a:effectLst>
            <a:glow rad="50800">
              <a:srgbClr val="00FF41">
                <a:alpha val="6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914400" y="5623560"/>
            <a:ext cx="10180015" cy="420624"/>
          </a:xfrm>
          <a:prstGeom prst="rect">
            <a:avLst/>
          </a:prstGeom>
          <a:noFill/>
        </p:spPr>
        <p:txBody>
          <a:bodyPr wrap="square" anchor="ctr" lIns="0" rIns="0" tIns="0" bIns="0">
            <a:spAutoFit/>
          </a:bodyPr>
          <a:lstStyle/>
          <a:p>
            <a:pPr algn="l">
              <a:lnSpc>
                <a:spcPct val="100000"/>
              </a:lnSpc>
            </a:pPr>
            <a:r>
              <a:rPr sz="1050" b="1" i="0" spc="55">
                <a:solidFill>
                  <a:srgbClr val="00FF41"/>
                </a:solidFill>
                <a:effectLst>
                  <a:glow rad="38100">
                    <a:srgbClr val="00FF41">
                      <a:alpha val="30000"/>
                    </a:srgbClr>
                  </a:glow>
                </a:effectLst>
                <a:latin typeface="Consolas"/>
              </a:rPr>
              <a:t>RADICAL TRANSPARENCY — EVERY ANSWER SHIPS WITH THE SQL THAT PRODUCED IT. COPY IT. AUDIT IT. RERUN 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subtle-blue.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9281160" y="0"/>
            <a:ext cx="2514600" cy="1645920"/>
          </a:xfrm>
          <a:prstGeom prst="rect">
            <a:avLst/>
          </a:prstGeom>
          <a:noFill/>
        </p:spPr>
        <p:txBody>
          <a:bodyPr wrap="square" anchor="t" lIns="0" rIns="0" tIns="0" bIns="0">
            <a:spAutoFit/>
          </a:bodyPr>
          <a:lstStyle/>
          <a:p>
            <a:pPr algn="r">
              <a:lnSpc>
                <a:spcPct val="100000"/>
              </a:lnSpc>
            </a:pPr>
            <a:r>
              <a:rPr sz="11500" b="1" i="0">
                <a:solidFill>
                  <a:srgbClr val="EAF4FF">
                    <a:alpha val="7000"/>
                  </a:srgbClr>
                </a:solidFill>
                <a:latin typeface="Bahnschrift"/>
              </a:rPr>
              <a:t>06</a:t>
            </a:r>
          </a:p>
        </p:txBody>
      </p:sp>
      <p:sp>
        <p:nvSpPr>
          <p:cNvPr id="4" name="Rectangle 3"/>
          <p:cNvSpPr/>
          <p:nvPr/>
        </p:nvSpPr>
        <p:spPr>
          <a:xfrm>
            <a:off x="0" y="0"/>
            <a:ext cx="5120511" cy="29260"/>
          </a:xfrm>
          <a:prstGeom prst="rect">
            <a:avLst/>
          </a:prstGeom>
          <a:solidFill>
            <a:srgbClr val="00FF41"/>
          </a:solidFill>
          <a:ln>
            <a:noFill/>
          </a:ln>
          <a:effectLst>
            <a:glow rad="50800">
              <a:srgbClr val="00FF41">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120511" y="0"/>
            <a:ext cx="7071183" cy="29260"/>
          </a:xfrm>
          <a:prstGeom prst="rect">
            <a:avLst/>
          </a:prstGeom>
          <a:solidFill>
            <a:srgbClr val="00D4FF"/>
          </a:solidFill>
          <a:ln>
            <a:noFill/>
          </a:ln>
          <a:effectLst>
            <a:glow rad="50800">
              <a:srgbClr val="00D4FF">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6032" y="6254496"/>
            <a:ext cx="329184" cy="20116"/>
          </a:xfrm>
          <a:prstGeom prst="rect">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56032" y="6272784"/>
            <a:ext cx="20116" cy="347472"/>
          </a:xfrm>
          <a:prstGeom prst="rect">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6446520"/>
            <a:ext cx="11185855" cy="10972"/>
          </a:xfrm>
          <a:prstGeom prst="rect">
            <a:avLst/>
          </a:prstGeom>
          <a:solidFill>
            <a:srgbClr val="2230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501384"/>
            <a:ext cx="5669280" cy="201168"/>
          </a:xfrm>
          <a:prstGeom prst="rect">
            <a:avLst/>
          </a:prstGeom>
          <a:noFill/>
        </p:spPr>
        <p:txBody>
          <a:bodyPr wrap="square" anchor="t" lIns="0" rIns="0" tIns="0" bIns="0">
            <a:spAutoFit/>
          </a:bodyPr>
          <a:lstStyle/>
          <a:p>
            <a:pPr algn="l">
              <a:lnSpc>
                <a:spcPct val="100000"/>
              </a:lnSpc>
            </a:pPr>
            <a:r>
              <a:rPr sz="800" b="1" i="0">
                <a:solidFill>
                  <a:srgbClr val="00FF41"/>
                </a:solidFill>
                <a:latin typeface="Consolas"/>
              </a:rPr>
              <a:t>ZODIAC AI </a:t>
            </a:r>
            <a:r>
              <a:rPr sz="800" b="0" i="0">
                <a:solidFill>
                  <a:srgbClr val="5A6A85"/>
                </a:solidFill>
                <a:latin typeface="Consolas"/>
              </a:rPr>
              <a:t>// CHAT WITH YOUR DATABASE // </a:t>
            </a:r>
            <a:r>
              <a:rPr sz="800" b="0" i="0">
                <a:solidFill>
                  <a:srgbClr val="00D4FF"/>
                </a:solidFill>
                <a:latin typeface="Consolas"/>
              </a:rPr>
              <a:t>CORE TOOLS 2/3</a:t>
            </a:r>
          </a:p>
        </p:txBody>
      </p:sp>
      <p:sp>
        <p:nvSpPr>
          <p:cNvPr id="10" name="TextBox 9"/>
          <p:cNvSpPr txBox="1"/>
          <p:nvPr/>
        </p:nvSpPr>
        <p:spPr>
          <a:xfrm>
            <a:off x="10728655" y="6501384"/>
            <a:ext cx="960120" cy="201168"/>
          </a:xfrm>
          <a:prstGeom prst="rect">
            <a:avLst/>
          </a:prstGeom>
          <a:noFill/>
        </p:spPr>
        <p:txBody>
          <a:bodyPr wrap="square" anchor="t" lIns="0" rIns="0" tIns="0" bIns="0">
            <a:spAutoFit/>
          </a:bodyPr>
          <a:lstStyle/>
          <a:p>
            <a:pPr algn="r">
              <a:lnSpc>
                <a:spcPct val="100000"/>
              </a:lnSpc>
            </a:pPr>
            <a:r>
              <a:rPr sz="800" b="1" i="0">
                <a:solidFill>
                  <a:srgbClr val="00FF41"/>
                </a:solidFill>
                <a:latin typeface="Consolas"/>
              </a:rPr>
              <a:t>06</a:t>
            </a:r>
            <a:r>
              <a:rPr sz="800" b="0" i="0">
                <a:solidFill>
                  <a:srgbClr val="5A6A85"/>
                </a:solidFill>
                <a:latin typeface="Consolas"/>
              </a:rPr>
              <a:t> / 11</a:t>
            </a:r>
          </a:p>
        </p:txBody>
      </p:sp>
      <p:sp>
        <p:nvSpPr>
          <p:cNvPr id="11" name="Rectangle 10"/>
          <p:cNvSpPr/>
          <p:nvPr/>
        </p:nvSpPr>
        <p:spPr>
          <a:xfrm>
            <a:off x="4198467" y="6675120"/>
            <a:ext cx="274320" cy="45720"/>
          </a:xfrm>
          <a:prstGeom prst="rect">
            <a:avLst/>
          </a:prstGeom>
          <a:solidFill>
            <a:srgbClr val="1653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50511" y="6675120"/>
            <a:ext cx="274320" cy="45720"/>
          </a:xfrm>
          <a:prstGeom prst="rect">
            <a:avLst/>
          </a:prstGeom>
          <a:solidFill>
            <a:srgbClr val="1653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902555" y="6675120"/>
            <a:ext cx="274320" cy="45720"/>
          </a:xfrm>
          <a:prstGeom prst="rect">
            <a:avLst/>
          </a:prstGeom>
          <a:solidFill>
            <a:srgbClr val="1653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254599" y="6675120"/>
            <a:ext cx="274320" cy="45720"/>
          </a:xfrm>
          <a:prstGeom prst="rect">
            <a:avLst/>
          </a:prstGeom>
          <a:solidFill>
            <a:srgbClr val="1653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06643" y="6675120"/>
            <a:ext cx="274320" cy="45720"/>
          </a:xfrm>
          <a:prstGeom prst="rect">
            <a:avLst/>
          </a:prstGeom>
          <a:solidFill>
            <a:srgbClr val="1653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958687" y="6675120"/>
            <a:ext cx="274320" cy="45720"/>
          </a:xfrm>
          <a:prstGeom prst="rect">
            <a:avLst/>
          </a:prstGeom>
          <a:solidFill>
            <a:srgbClr val="00FF41"/>
          </a:solidFill>
          <a:ln>
            <a:noFill/>
          </a:ln>
          <a:effectLst>
            <a:glow rad="63500">
              <a:srgbClr val="00FF41">
                <a:alpha val="6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310731" y="6675120"/>
            <a:ext cx="274320" cy="45720"/>
          </a:xfrm>
          <a:prstGeom prst="rect">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662775" y="6675120"/>
            <a:ext cx="274320" cy="45720"/>
          </a:xfrm>
          <a:prstGeom prst="rect">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014819" y="6675120"/>
            <a:ext cx="274320" cy="45720"/>
          </a:xfrm>
          <a:prstGeom prst="rect">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66863" y="6675120"/>
            <a:ext cx="274320" cy="45720"/>
          </a:xfrm>
          <a:prstGeom prst="rect">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18907" y="6675120"/>
            <a:ext cx="274320" cy="45720"/>
          </a:xfrm>
          <a:prstGeom prst="rect">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21207" y="466344"/>
            <a:ext cx="100584" cy="100584"/>
          </a:xfrm>
          <a:prstGeom prst="rect">
            <a:avLst/>
          </a:prstGeom>
          <a:solidFill>
            <a:srgbClr val="00FF41"/>
          </a:solidFill>
          <a:ln>
            <a:noFill/>
          </a:ln>
          <a:effectLst>
            <a:glow rad="63500">
              <a:srgbClr val="00FF41">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402336"/>
            <a:ext cx="10515600" cy="274320"/>
          </a:xfrm>
          <a:prstGeom prst="rect">
            <a:avLst/>
          </a:prstGeom>
          <a:noFill/>
        </p:spPr>
        <p:txBody>
          <a:bodyPr wrap="square" anchor="t" lIns="0" rIns="0" tIns="0" bIns="0">
            <a:spAutoFit/>
          </a:bodyPr>
          <a:lstStyle/>
          <a:p>
            <a:pPr algn="l">
              <a:lnSpc>
                <a:spcPct val="100000"/>
              </a:lnSpc>
            </a:pPr>
            <a:r>
              <a:rPr sz="1050" b="0" i="0" spc="170">
                <a:solidFill>
                  <a:srgbClr val="00FF41"/>
                </a:solidFill>
                <a:effectLst>
                  <a:glow rad="38100">
                    <a:srgbClr val="00FF41">
                      <a:alpha val="40000"/>
                    </a:srgbClr>
                  </a:glow>
                </a:effectLst>
                <a:latin typeface="Consolas"/>
              </a:rPr>
              <a:t>06 — CORE TOOLS · 2 OF 3</a:t>
            </a:r>
          </a:p>
        </p:txBody>
      </p:sp>
      <p:sp>
        <p:nvSpPr>
          <p:cNvPr id="24" name="TextBox 23"/>
          <p:cNvSpPr txBox="1"/>
          <p:nvPr/>
        </p:nvSpPr>
        <p:spPr>
          <a:xfrm>
            <a:off x="502920" y="694944"/>
            <a:ext cx="11247120" cy="566928"/>
          </a:xfrm>
          <a:prstGeom prst="rect">
            <a:avLst/>
          </a:prstGeom>
          <a:noFill/>
        </p:spPr>
        <p:txBody>
          <a:bodyPr wrap="square" anchor="t" lIns="0" rIns="0" tIns="0" bIns="0">
            <a:spAutoFit/>
          </a:bodyPr>
          <a:lstStyle/>
          <a:p>
            <a:pPr algn="l">
              <a:lnSpc>
                <a:spcPct val="100000"/>
              </a:lnSpc>
            </a:pPr>
            <a:r>
              <a:rPr sz="2900" b="1" i="0">
                <a:solidFill>
                  <a:srgbClr val="00D4FF"/>
                </a:solidFill>
                <a:effectLst>
                  <a:glow rad="63500">
                    <a:srgbClr val="00D4FF">
                      <a:alpha val="35000"/>
                    </a:srgbClr>
                  </a:glow>
                </a:effectLst>
                <a:latin typeface="Consolas"/>
              </a:rPr>
              <a:t>generate_chart</a:t>
            </a:r>
            <a:r>
              <a:rPr sz="2900" b="1" i="0">
                <a:solidFill>
                  <a:srgbClr val="93A6C4"/>
                </a:solidFill>
                <a:latin typeface="Bahnschrift"/>
              </a:rPr>
              <a:t>  &amp;  </a:t>
            </a:r>
            <a:r>
              <a:rPr sz="2900" b="1" i="0">
                <a:solidFill>
                  <a:srgbClr val="00D4FF"/>
                </a:solidFill>
                <a:effectLst>
                  <a:glow rad="63500">
                    <a:srgbClr val="00D4FF">
                      <a:alpha val="35000"/>
                    </a:srgbClr>
                  </a:glow>
                </a:effectLst>
                <a:latin typeface="Consolas"/>
              </a:rPr>
              <a:t>generate_flowchart</a:t>
            </a:r>
          </a:p>
        </p:txBody>
      </p:sp>
      <p:sp>
        <p:nvSpPr>
          <p:cNvPr id="25" name="Rectangle 24"/>
          <p:cNvSpPr/>
          <p:nvPr/>
        </p:nvSpPr>
        <p:spPr>
          <a:xfrm>
            <a:off x="521207" y="1344168"/>
            <a:ext cx="1554480" cy="31089"/>
          </a:xfrm>
          <a:prstGeom prst="rect">
            <a:avLst/>
          </a:prstGeom>
          <a:solidFill>
            <a:srgbClr val="00FF41"/>
          </a:solidFill>
          <a:ln>
            <a:noFill/>
          </a:ln>
          <a:effectLst>
            <a:glow rad="50800">
              <a:srgbClr val="00FF41">
                <a:alpha val="5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75688" y="1344168"/>
            <a:ext cx="502920" cy="31089"/>
          </a:xfrm>
          <a:prstGeom prst="rect">
            <a:avLst/>
          </a:prstGeom>
          <a:solidFill>
            <a:srgbClr val="00D4FF"/>
          </a:solidFill>
          <a:ln>
            <a:noFill/>
          </a:ln>
          <a:effectLst>
            <a:glow rad="50800">
              <a:srgbClr val="00D4FF">
                <a:alpha val="5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502920" y="1627632"/>
            <a:ext cx="7132320" cy="2048256"/>
          </a:xfrm>
          <a:prstGeom prst="roundRect">
            <a:avLst>
              <a:gd name="adj" fmla="val 5000"/>
            </a:avLst>
          </a:prstGeom>
          <a:solidFill>
            <a:srgbClr val="10192A">
              <a:alpha val="90000"/>
            </a:srgbClr>
          </a:solidFill>
          <a:ln w="12700">
            <a:solidFill>
              <a:srgbClr val="223046"/>
            </a:solidFill>
          </a:ln>
          <a:effectLst>
            <a:outerShdw blurRad="164592" dist="45720" dir="5400000" rotWithShape="0">
              <a:srgbClr val="000000">
                <a:alpha val="5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30936" y="1627632"/>
            <a:ext cx="6876288" cy="41148"/>
          </a:xfrm>
          <a:prstGeom prst="rect">
            <a:avLst/>
          </a:prstGeom>
          <a:solidFill>
            <a:srgbClr val="00D4FF"/>
          </a:solidFill>
          <a:ln>
            <a:noFill/>
          </a:ln>
          <a:effectLst>
            <a:glow rad="63500">
              <a:srgbClr val="00D4FF">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0664" y="1764792"/>
            <a:ext cx="6656831" cy="274320"/>
          </a:xfrm>
          <a:prstGeom prst="rect">
            <a:avLst/>
          </a:prstGeom>
          <a:noFill/>
        </p:spPr>
        <p:txBody>
          <a:bodyPr wrap="square" anchor="t" lIns="0" rIns="0" tIns="0" bIns="0">
            <a:spAutoFit/>
          </a:bodyPr>
          <a:lstStyle/>
          <a:p>
            <a:pPr algn="l">
              <a:lnSpc>
                <a:spcPct val="100000"/>
              </a:lnSpc>
            </a:pPr>
            <a:r>
              <a:rPr sz="1150" b="1" i="0" spc="110">
                <a:solidFill>
                  <a:srgbClr val="00D4FF"/>
                </a:solidFill>
                <a:latin typeface="Consolas"/>
              </a:rPr>
              <a:t>generate_chart — PLOTLY</a:t>
            </a:r>
          </a:p>
        </p:txBody>
      </p:sp>
      <p:sp>
        <p:nvSpPr>
          <p:cNvPr id="30" name="TextBox 29"/>
          <p:cNvSpPr txBox="1"/>
          <p:nvPr/>
        </p:nvSpPr>
        <p:spPr>
          <a:xfrm>
            <a:off x="804672" y="2212848"/>
            <a:ext cx="6537960" cy="1463040"/>
          </a:xfrm>
          <a:prstGeom prst="rect">
            <a:avLst/>
          </a:prstGeom>
          <a:noFill/>
        </p:spPr>
        <p:txBody>
          <a:bodyPr wrap="square" anchor="t" lIns="0" rIns="0" tIns="0" bIns="0">
            <a:spAutoFit/>
          </a:bodyPr>
          <a:lstStyle/>
          <a:p>
            <a:pPr algn="l" marL="237744" indent="-237744">
              <a:lnSpc>
                <a:spcPct val="112000"/>
              </a:lnSpc>
              <a:spcAft>
                <a:spcPts val="700"/>
              </a:spcAft>
            </a:pPr>
            <a:r>
              <a:rPr sz="1150" b="1" i="0">
                <a:solidFill>
                  <a:srgbClr val="00D4FF"/>
                </a:solidFill>
                <a:latin typeface="Consolas"/>
              </a:rPr>
              <a:t>▸  </a:t>
            </a:r>
            <a:r>
              <a:rPr sz="1150" b="1" i="0">
                <a:solidFill>
                  <a:srgbClr val="EAF4FF"/>
                </a:solidFill>
                <a:latin typeface="Segoe UI"/>
              </a:rPr>
              <a:t>Specs authored from real query results</a:t>
            </a:r>
            <a:r>
              <a:rPr sz="1150" b="0" i="0">
                <a:solidFill>
                  <a:srgbClr val="93A6C4"/>
                </a:solidFill>
                <a:latin typeface="Segoe UI"/>
              </a:rPr>
              <a:t> — the model writes the definition, the browser renders it</a:t>
            </a:r>
          </a:p>
          <a:p>
            <a:pPr algn="l" marL="237744" indent="-237744">
              <a:lnSpc>
                <a:spcPct val="112000"/>
              </a:lnSpc>
              <a:spcAft>
                <a:spcPts val="700"/>
              </a:spcAft>
            </a:pPr>
            <a:r>
              <a:rPr sz="1150" b="1" i="0">
                <a:solidFill>
                  <a:srgbClr val="00D4FF"/>
                </a:solidFill>
                <a:latin typeface="Consolas"/>
              </a:rPr>
              <a:t>▸  </a:t>
            </a:r>
            <a:r>
              <a:rPr sz="1150" b="1" i="0">
                <a:solidFill>
                  <a:srgbClr val="EAF4FF"/>
                </a:solidFill>
                <a:latin typeface="Segoe UI"/>
              </a:rPr>
              <a:t>Fully interactive</a:t>
            </a:r>
            <a:r>
              <a:rPr sz="1150" b="0" i="0">
                <a:solidFill>
                  <a:srgbClr val="93A6C4"/>
                </a:solidFill>
                <a:latin typeface="Segoe UI"/>
              </a:rPr>
              <a:t> — zoom · hover · pan · filter — exploration, not screenshots</a:t>
            </a:r>
          </a:p>
          <a:p>
            <a:pPr algn="l" marL="237744" indent="-237744">
              <a:lnSpc>
                <a:spcPct val="112000"/>
              </a:lnSpc>
              <a:spcAft>
                <a:spcPts val="700"/>
              </a:spcAft>
            </a:pPr>
            <a:r>
              <a:rPr sz="1150" b="1" i="0">
                <a:solidFill>
                  <a:srgbClr val="00D4FF"/>
                </a:solidFill>
                <a:latin typeface="Consolas"/>
              </a:rPr>
              <a:t>▸  </a:t>
            </a:r>
            <a:r>
              <a:rPr sz="1150" b="1" i="0">
                <a:solidFill>
                  <a:srgbClr val="EAF4FF"/>
                </a:solidFill>
                <a:latin typeface="Segoe UI"/>
              </a:rPr>
              <a:t>Deterministic rendering</a:t>
            </a:r>
            <a:r>
              <a:rPr sz="1150" b="0" i="0">
                <a:solidFill>
                  <a:srgbClr val="93A6C4"/>
                </a:solidFill>
                <a:latin typeface="Segoe UI"/>
              </a:rPr>
              <a:t> — bar · line · scatter · pie, matched to the question — no hallucinated visuals</a:t>
            </a:r>
          </a:p>
        </p:txBody>
      </p:sp>
      <p:sp>
        <p:nvSpPr>
          <p:cNvPr id="31" name="Rounded Rectangle 30"/>
          <p:cNvSpPr/>
          <p:nvPr/>
        </p:nvSpPr>
        <p:spPr>
          <a:xfrm>
            <a:off x="502920" y="3877056"/>
            <a:ext cx="7132320" cy="2048256"/>
          </a:xfrm>
          <a:prstGeom prst="roundRect">
            <a:avLst>
              <a:gd name="adj" fmla="val 5000"/>
            </a:avLst>
          </a:prstGeom>
          <a:solidFill>
            <a:srgbClr val="10192A">
              <a:alpha val="90000"/>
            </a:srgbClr>
          </a:solidFill>
          <a:ln w="12700">
            <a:solidFill>
              <a:srgbClr val="223046"/>
            </a:solidFill>
          </a:ln>
          <a:effectLst>
            <a:outerShdw blurRad="164592" dist="45720" dir="5400000" rotWithShape="0">
              <a:srgbClr val="000000">
                <a:alpha val="5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30936" y="3877056"/>
            <a:ext cx="6876288" cy="41148"/>
          </a:xfrm>
          <a:prstGeom prst="rect">
            <a:avLst/>
          </a:prstGeom>
          <a:solidFill>
            <a:srgbClr val="00D4FF"/>
          </a:solidFill>
          <a:ln>
            <a:noFill/>
          </a:ln>
          <a:effectLst>
            <a:glow rad="63500">
              <a:srgbClr val="00D4FF">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40664" y="4014216"/>
            <a:ext cx="6656831" cy="274320"/>
          </a:xfrm>
          <a:prstGeom prst="rect">
            <a:avLst/>
          </a:prstGeom>
          <a:noFill/>
        </p:spPr>
        <p:txBody>
          <a:bodyPr wrap="square" anchor="t" lIns="0" rIns="0" tIns="0" bIns="0">
            <a:spAutoFit/>
          </a:bodyPr>
          <a:lstStyle/>
          <a:p>
            <a:pPr algn="l">
              <a:lnSpc>
                <a:spcPct val="100000"/>
              </a:lnSpc>
            </a:pPr>
            <a:r>
              <a:rPr sz="1150" b="1" i="0" spc="110">
                <a:solidFill>
                  <a:srgbClr val="00D4FF"/>
                </a:solidFill>
                <a:latin typeface="Consolas"/>
              </a:rPr>
              <a:t>generate_flowchart — MERMAID</a:t>
            </a:r>
          </a:p>
        </p:txBody>
      </p:sp>
      <p:sp>
        <p:nvSpPr>
          <p:cNvPr id="34" name="TextBox 33"/>
          <p:cNvSpPr txBox="1"/>
          <p:nvPr/>
        </p:nvSpPr>
        <p:spPr>
          <a:xfrm>
            <a:off x="804672" y="4462272"/>
            <a:ext cx="6537960" cy="1463040"/>
          </a:xfrm>
          <a:prstGeom prst="rect">
            <a:avLst/>
          </a:prstGeom>
          <a:noFill/>
        </p:spPr>
        <p:txBody>
          <a:bodyPr wrap="square" anchor="t" lIns="0" rIns="0" tIns="0" bIns="0">
            <a:spAutoFit/>
          </a:bodyPr>
          <a:lstStyle/>
          <a:p>
            <a:pPr algn="l" marL="237744" indent="-237744">
              <a:lnSpc>
                <a:spcPct val="112000"/>
              </a:lnSpc>
              <a:spcAft>
                <a:spcPts val="700"/>
              </a:spcAft>
            </a:pPr>
            <a:r>
              <a:rPr sz="1150" b="1" i="0">
                <a:solidFill>
                  <a:srgbClr val="00D4FF"/>
                </a:solidFill>
                <a:latin typeface="Consolas"/>
              </a:rPr>
              <a:t>▸  </a:t>
            </a:r>
            <a:r>
              <a:rPr sz="1150" b="1" i="0">
                <a:solidFill>
                  <a:srgbClr val="EAF4FF"/>
                </a:solidFill>
                <a:latin typeface="Segoe UI"/>
              </a:rPr>
              <a:t>Mermaid syntax, written live by the agent</a:t>
            </a:r>
            <a:r>
              <a:rPr sz="1150" b="0" i="0">
                <a:solidFill>
                  <a:srgbClr val="93A6C4"/>
                </a:solidFill>
                <a:latin typeface="Segoe UI"/>
              </a:rPr>
              <a:t> — diagrams render inside the chat</a:t>
            </a:r>
          </a:p>
          <a:p>
            <a:pPr algn="l" marL="237744" indent="-237744">
              <a:lnSpc>
                <a:spcPct val="112000"/>
              </a:lnSpc>
              <a:spcAft>
                <a:spcPts val="700"/>
              </a:spcAft>
            </a:pPr>
            <a:r>
              <a:rPr sz="1150" b="1" i="0">
                <a:solidFill>
                  <a:srgbClr val="00D4FF"/>
                </a:solidFill>
                <a:latin typeface="Consolas"/>
              </a:rPr>
              <a:t>▸  </a:t>
            </a:r>
            <a:r>
              <a:rPr sz="1150" b="1" i="0">
                <a:solidFill>
                  <a:srgbClr val="EAF4FF"/>
                </a:solidFill>
                <a:latin typeface="Segoe UI"/>
              </a:rPr>
              <a:t>Schema maps &amp; ER diagrams</a:t>
            </a:r>
            <a:r>
              <a:rPr sz="1150" b="0" i="0">
                <a:solidFill>
                  <a:srgbClr val="93A6C4"/>
                </a:solidFill>
                <a:latin typeface="Segoe UI"/>
              </a:rPr>
              <a:t> — entity relationships on demand</a:t>
            </a:r>
          </a:p>
          <a:p>
            <a:pPr algn="l" marL="237744" indent="-237744">
              <a:lnSpc>
                <a:spcPct val="112000"/>
              </a:lnSpc>
              <a:spcAft>
                <a:spcPts val="700"/>
              </a:spcAft>
            </a:pPr>
            <a:r>
              <a:rPr sz="1150" b="1" i="0">
                <a:solidFill>
                  <a:srgbClr val="00D4FF"/>
                </a:solidFill>
                <a:latin typeface="Consolas"/>
              </a:rPr>
              <a:t>▸  </a:t>
            </a:r>
            <a:r>
              <a:rPr sz="1150" b="1" i="0">
                <a:solidFill>
                  <a:srgbClr val="EAF4FF"/>
                </a:solidFill>
                <a:latin typeface="Segoe UI"/>
              </a:rPr>
              <a:t>Logic &amp; pipeline flows</a:t>
            </a:r>
            <a:r>
              <a:rPr sz="1150" b="0" i="0">
                <a:solidFill>
                  <a:srgbClr val="93A6C4"/>
                </a:solidFill>
                <a:latin typeface="Segoe UI"/>
              </a:rPr>
              <a:t> — the shape of the system, not just the numbers</a:t>
            </a:r>
          </a:p>
        </p:txBody>
      </p:sp>
      <p:sp>
        <p:nvSpPr>
          <p:cNvPr id="35" name="Rounded Rectangle 34"/>
          <p:cNvSpPr/>
          <p:nvPr/>
        </p:nvSpPr>
        <p:spPr>
          <a:xfrm>
            <a:off x="7863840" y="1627632"/>
            <a:ext cx="3822191" cy="4297680"/>
          </a:xfrm>
          <a:prstGeom prst="roundRect">
            <a:avLst>
              <a:gd name="adj" fmla="val 5000"/>
            </a:avLst>
          </a:prstGeom>
          <a:solidFill>
            <a:srgbClr val="10192A">
              <a:alpha val="90000"/>
            </a:srgbClr>
          </a:solidFill>
          <a:ln w="12700">
            <a:solidFill>
              <a:srgbClr val="223046"/>
            </a:solidFill>
          </a:ln>
          <a:effectLst>
            <a:outerShdw blurRad="164592" dist="45720" dir="5400000" rotWithShape="0">
              <a:srgbClr val="000000">
                <a:alpha val="5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991856" y="1627632"/>
            <a:ext cx="3566159" cy="41148"/>
          </a:xfrm>
          <a:prstGeom prst="rect">
            <a:avLst/>
          </a:prstGeom>
          <a:solidFill>
            <a:srgbClr val="00FF41"/>
          </a:solidFill>
          <a:ln>
            <a:noFill/>
          </a:ln>
          <a:effectLst>
            <a:glow rad="63500">
              <a:srgbClr val="00FF41">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101583" y="1764792"/>
            <a:ext cx="3346703" cy="274320"/>
          </a:xfrm>
          <a:prstGeom prst="rect">
            <a:avLst/>
          </a:prstGeom>
          <a:noFill/>
        </p:spPr>
        <p:txBody>
          <a:bodyPr wrap="square" anchor="t" lIns="0" rIns="0" tIns="0" bIns="0">
            <a:spAutoFit/>
          </a:bodyPr>
          <a:lstStyle/>
          <a:p>
            <a:pPr algn="l">
              <a:lnSpc>
                <a:spcPct val="100000"/>
              </a:lnSpc>
            </a:pPr>
            <a:r>
              <a:rPr sz="1150" b="1" i="0" spc="110">
                <a:solidFill>
                  <a:srgbClr val="00FF41"/>
                </a:solidFill>
                <a:latin typeface="Consolas"/>
              </a:rPr>
              <a:t>LIVE RENDER</a:t>
            </a:r>
          </a:p>
        </p:txBody>
      </p:sp>
      <p:pic>
        <p:nvPicPr>
          <p:cNvPr id="38" name="Picture 37" descr="viz-visual-square.jpg"/>
          <p:cNvPicPr>
            <a:picLocks noChangeAspect="1"/>
          </p:cNvPicPr>
          <p:nvPr/>
        </p:nvPicPr>
        <p:blipFill>
          <a:blip r:embed="rId3"/>
          <a:stretch>
            <a:fillRect/>
          </a:stretch>
        </p:blipFill>
        <p:spPr>
          <a:xfrm>
            <a:off x="8211311" y="2194560"/>
            <a:ext cx="3127248" cy="3127248"/>
          </a:xfrm>
          <a:prstGeom prst="rect">
            <a:avLst/>
          </a:prstGeom>
          <a:effectLst>
            <a:outerShdw blurRad="182880" dist="45720" dir="5400000" rotWithShape="0">
              <a:srgbClr val="000000">
                <a:alpha val="60000"/>
              </a:srgbClr>
            </a:outerShdw>
          </a:effectLst>
        </p:spPr>
      </p:pic>
      <p:sp>
        <p:nvSpPr>
          <p:cNvPr id="39" name="TextBox 38"/>
          <p:cNvSpPr txBox="1"/>
          <p:nvPr/>
        </p:nvSpPr>
        <p:spPr>
          <a:xfrm>
            <a:off x="8028431" y="5449824"/>
            <a:ext cx="3493008" cy="274320"/>
          </a:xfrm>
          <a:prstGeom prst="rect">
            <a:avLst/>
          </a:prstGeom>
          <a:noFill/>
        </p:spPr>
        <p:txBody>
          <a:bodyPr wrap="square" anchor="t" lIns="0" rIns="0" tIns="0" bIns="0">
            <a:spAutoFit/>
          </a:bodyPr>
          <a:lstStyle/>
          <a:p>
            <a:pPr algn="ctr">
              <a:lnSpc>
                <a:spcPct val="100000"/>
              </a:lnSpc>
            </a:pPr>
            <a:r>
              <a:rPr sz="800" b="0" i="0" spc="60">
                <a:solidFill>
                  <a:srgbClr val="00FF41"/>
                </a:solidFill>
                <a:latin typeface="Consolas"/>
              </a:rPr>
              <a:t>PLOTLY × MERMAID — RENDERED LIVE</a:t>
            </a:r>
          </a:p>
        </p:txBody>
      </p:sp>
      <p:sp>
        <p:nvSpPr>
          <p:cNvPr id="40" name="Rounded Rectangle 39"/>
          <p:cNvSpPr/>
          <p:nvPr/>
        </p:nvSpPr>
        <p:spPr>
          <a:xfrm>
            <a:off x="502920" y="6053328"/>
            <a:ext cx="11185855" cy="420624"/>
          </a:xfrm>
          <a:prstGeom prst="roundRect">
            <a:avLst>
              <a:gd name="adj" fmla="val 50000"/>
            </a:avLst>
          </a:prstGeom>
          <a:solidFill>
            <a:srgbClr val="10192A">
              <a:alpha val="88000"/>
            </a:srgbClr>
          </a:solidFill>
          <a:ln w="12700">
            <a:solidFill>
              <a:srgbClr val="223046"/>
            </a:solidFill>
          </a:ln>
          <a:effectLst>
            <a:outerShdw blurRad="128016" dist="36576" dir="5400000" rotWithShape="0">
              <a:srgbClr val="000000">
                <a:alpha val="5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94944" y="6153912"/>
            <a:ext cx="54864" cy="219456"/>
          </a:xfrm>
          <a:prstGeom prst="rect">
            <a:avLst/>
          </a:prstGeom>
          <a:solidFill>
            <a:srgbClr val="00D4FF"/>
          </a:solidFill>
          <a:ln>
            <a:noFill/>
          </a:ln>
          <a:effectLst>
            <a:glow rad="50800">
              <a:srgbClr val="00D4FF">
                <a:alpha val="6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14400" y="6053328"/>
            <a:ext cx="10180015" cy="420624"/>
          </a:xfrm>
          <a:prstGeom prst="rect">
            <a:avLst/>
          </a:prstGeom>
          <a:noFill/>
        </p:spPr>
        <p:txBody>
          <a:bodyPr wrap="square" anchor="ctr" lIns="0" rIns="0" tIns="0" bIns="0">
            <a:spAutoFit/>
          </a:bodyPr>
          <a:lstStyle/>
          <a:p>
            <a:pPr algn="l">
              <a:lnSpc>
                <a:spcPct val="100000"/>
              </a:lnSpc>
            </a:pPr>
            <a:r>
              <a:rPr sz="1050" b="1" i="0" spc="55">
                <a:solidFill>
                  <a:srgbClr val="00D4FF"/>
                </a:solidFill>
                <a:effectLst>
                  <a:glow rad="38100">
                    <a:srgbClr val="00D4FF">
                      <a:alpha val="30000"/>
                    </a:srgbClr>
                  </a:glow>
                </a:effectLst>
                <a:latin typeface="Consolas"/>
              </a:rPr>
              <a:t>ONE PROMPT → THE NUMBERS AND THE PICTURE OF THE NUMBERS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subtle-green.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9281160" y="0"/>
            <a:ext cx="2514600" cy="1645920"/>
          </a:xfrm>
          <a:prstGeom prst="rect">
            <a:avLst/>
          </a:prstGeom>
          <a:noFill/>
        </p:spPr>
        <p:txBody>
          <a:bodyPr wrap="square" anchor="t" lIns="0" rIns="0" tIns="0" bIns="0">
            <a:spAutoFit/>
          </a:bodyPr>
          <a:lstStyle/>
          <a:p>
            <a:pPr algn="r">
              <a:lnSpc>
                <a:spcPct val="100000"/>
              </a:lnSpc>
            </a:pPr>
            <a:r>
              <a:rPr sz="11500" b="1" i="0">
                <a:solidFill>
                  <a:srgbClr val="EAF4FF">
                    <a:alpha val="7000"/>
                  </a:srgbClr>
                </a:solidFill>
                <a:latin typeface="Bahnschrift"/>
              </a:rPr>
              <a:t>07</a:t>
            </a:r>
          </a:p>
        </p:txBody>
      </p:sp>
      <p:sp>
        <p:nvSpPr>
          <p:cNvPr id="4" name="Rectangle 3"/>
          <p:cNvSpPr/>
          <p:nvPr/>
        </p:nvSpPr>
        <p:spPr>
          <a:xfrm>
            <a:off x="0" y="0"/>
            <a:ext cx="5120511" cy="29260"/>
          </a:xfrm>
          <a:prstGeom prst="rect">
            <a:avLst/>
          </a:prstGeom>
          <a:solidFill>
            <a:srgbClr val="00FF41"/>
          </a:solidFill>
          <a:ln>
            <a:noFill/>
          </a:ln>
          <a:effectLst>
            <a:glow rad="50800">
              <a:srgbClr val="00FF41">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120511" y="0"/>
            <a:ext cx="7071183" cy="29260"/>
          </a:xfrm>
          <a:prstGeom prst="rect">
            <a:avLst/>
          </a:prstGeom>
          <a:solidFill>
            <a:srgbClr val="00D4FF"/>
          </a:solidFill>
          <a:ln>
            <a:noFill/>
          </a:ln>
          <a:effectLst>
            <a:glow rad="50800">
              <a:srgbClr val="00D4FF">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6032" y="6254496"/>
            <a:ext cx="329184" cy="20116"/>
          </a:xfrm>
          <a:prstGeom prst="rect">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56032" y="6272784"/>
            <a:ext cx="20116" cy="347472"/>
          </a:xfrm>
          <a:prstGeom prst="rect">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6446520"/>
            <a:ext cx="11185855" cy="10972"/>
          </a:xfrm>
          <a:prstGeom prst="rect">
            <a:avLst/>
          </a:prstGeom>
          <a:solidFill>
            <a:srgbClr val="2230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501384"/>
            <a:ext cx="5669280" cy="201168"/>
          </a:xfrm>
          <a:prstGeom prst="rect">
            <a:avLst/>
          </a:prstGeom>
          <a:noFill/>
        </p:spPr>
        <p:txBody>
          <a:bodyPr wrap="square" anchor="t" lIns="0" rIns="0" tIns="0" bIns="0">
            <a:spAutoFit/>
          </a:bodyPr>
          <a:lstStyle/>
          <a:p>
            <a:pPr algn="l">
              <a:lnSpc>
                <a:spcPct val="100000"/>
              </a:lnSpc>
            </a:pPr>
            <a:r>
              <a:rPr sz="800" b="1" i="0">
                <a:solidFill>
                  <a:srgbClr val="00FF41"/>
                </a:solidFill>
                <a:latin typeface="Consolas"/>
              </a:rPr>
              <a:t>ZODIAC AI </a:t>
            </a:r>
            <a:r>
              <a:rPr sz="800" b="0" i="0">
                <a:solidFill>
                  <a:srgbClr val="5A6A85"/>
                </a:solidFill>
                <a:latin typeface="Consolas"/>
              </a:rPr>
              <a:t>// CHAT WITH YOUR DATABASE // </a:t>
            </a:r>
            <a:r>
              <a:rPr sz="800" b="0" i="0">
                <a:solidFill>
                  <a:srgbClr val="00D4FF"/>
                </a:solidFill>
                <a:latin typeface="Consolas"/>
              </a:rPr>
              <a:t>CORE TOOLS 3/3</a:t>
            </a:r>
          </a:p>
        </p:txBody>
      </p:sp>
      <p:sp>
        <p:nvSpPr>
          <p:cNvPr id="10" name="TextBox 9"/>
          <p:cNvSpPr txBox="1"/>
          <p:nvPr/>
        </p:nvSpPr>
        <p:spPr>
          <a:xfrm>
            <a:off x="10728655" y="6501384"/>
            <a:ext cx="960120" cy="201168"/>
          </a:xfrm>
          <a:prstGeom prst="rect">
            <a:avLst/>
          </a:prstGeom>
          <a:noFill/>
        </p:spPr>
        <p:txBody>
          <a:bodyPr wrap="square" anchor="t" lIns="0" rIns="0" tIns="0" bIns="0">
            <a:spAutoFit/>
          </a:bodyPr>
          <a:lstStyle/>
          <a:p>
            <a:pPr algn="r">
              <a:lnSpc>
                <a:spcPct val="100000"/>
              </a:lnSpc>
            </a:pPr>
            <a:r>
              <a:rPr sz="800" b="1" i="0">
                <a:solidFill>
                  <a:srgbClr val="00FF41"/>
                </a:solidFill>
                <a:latin typeface="Consolas"/>
              </a:rPr>
              <a:t>07</a:t>
            </a:r>
            <a:r>
              <a:rPr sz="800" b="0" i="0">
                <a:solidFill>
                  <a:srgbClr val="5A6A85"/>
                </a:solidFill>
                <a:latin typeface="Consolas"/>
              </a:rPr>
              <a:t> / 11</a:t>
            </a:r>
          </a:p>
        </p:txBody>
      </p:sp>
      <p:sp>
        <p:nvSpPr>
          <p:cNvPr id="11" name="Rectangle 10"/>
          <p:cNvSpPr/>
          <p:nvPr/>
        </p:nvSpPr>
        <p:spPr>
          <a:xfrm>
            <a:off x="4198467" y="6675120"/>
            <a:ext cx="274320" cy="45720"/>
          </a:xfrm>
          <a:prstGeom prst="rect">
            <a:avLst/>
          </a:prstGeom>
          <a:solidFill>
            <a:srgbClr val="1653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50511" y="6675120"/>
            <a:ext cx="274320" cy="45720"/>
          </a:xfrm>
          <a:prstGeom prst="rect">
            <a:avLst/>
          </a:prstGeom>
          <a:solidFill>
            <a:srgbClr val="1653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902555" y="6675120"/>
            <a:ext cx="274320" cy="45720"/>
          </a:xfrm>
          <a:prstGeom prst="rect">
            <a:avLst/>
          </a:prstGeom>
          <a:solidFill>
            <a:srgbClr val="1653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254599" y="6675120"/>
            <a:ext cx="274320" cy="45720"/>
          </a:xfrm>
          <a:prstGeom prst="rect">
            <a:avLst/>
          </a:prstGeom>
          <a:solidFill>
            <a:srgbClr val="1653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06643" y="6675120"/>
            <a:ext cx="274320" cy="45720"/>
          </a:xfrm>
          <a:prstGeom prst="rect">
            <a:avLst/>
          </a:prstGeom>
          <a:solidFill>
            <a:srgbClr val="1653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958687" y="6675120"/>
            <a:ext cx="274320" cy="45720"/>
          </a:xfrm>
          <a:prstGeom prst="rect">
            <a:avLst/>
          </a:prstGeom>
          <a:solidFill>
            <a:srgbClr val="1653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310731" y="6675120"/>
            <a:ext cx="274320" cy="45720"/>
          </a:xfrm>
          <a:prstGeom prst="rect">
            <a:avLst/>
          </a:prstGeom>
          <a:solidFill>
            <a:srgbClr val="00FF41"/>
          </a:solidFill>
          <a:ln>
            <a:noFill/>
          </a:ln>
          <a:effectLst>
            <a:glow rad="63500">
              <a:srgbClr val="00FF41">
                <a:alpha val="6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662775" y="6675120"/>
            <a:ext cx="274320" cy="45720"/>
          </a:xfrm>
          <a:prstGeom prst="rect">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014819" y="6675120"/>
            <a:ext cx="274320" cy="45720"/>
          </a:xfrm>
          <a:prstGeom prst="rect">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66863" y="6675120"/>
            <a:ext cx="274320" cy="45720"/>
          </a:xfrm>
          <a:prstGeom prst="rect">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18907" y="6675120"/>
            <a:ext cx="274320" cy="45720"/>
          </a:xfrm>
          <a:prstGeom prst="rect">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21207" y="466344"/>
            <a:ext cx="100584" cy="100584"/>
          </a:xfrm>
          <a:prstGeom prst="rect">
            <a:avLst/>
          </a:prstGeom>
          <a:solidFill>
            <a:srgbClr val="00FF41"/>
          </a:solidFill>
          <a:ln>
            <a:noFill/>
          </a:ln>
          <a:effectLst>
            <a:glow rad="63500">
              <a:srgbClr val="00FF41">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402336"/>
            <a:ext cx="10515600" cy="274320"/>
          </a:xfrm>
          <a:prstGeom prst="rect">
            <a:avLst/>
          </a:prstGeom>
          <a:noFill/>
        </p:spPr>
        <p:txBody>
          <a:bodyPr wrap="square" anchor="t" lIns="0" rIns="0" tIns="0" bIns="0">
            <a:spAutoFit/>
          </a:bodyPr>
          <a:lstStyle/>
          <a:p>
            <a:pPr algn="l">
              <a:lnSpc>
                <a:spcPct val="100000"/>
              </a:lnSpc>
            </a:pPr>
            <a:r>
              <a:rPr sz="1050" b="0" i="0" spc="170">
                <a:solidFill>
                  <a:srgbClr val="00FF41"/>
                </a:solidFill>
                <a:effectLst>
                  <a:glow rad="38100">
                    <a:srgbClr val="00FF41">
                      <a:alpha val="40000"/>
                    </a:srgbClr>
                  </a:glow>
                </a:effectLst>
                <a:latin typeface="Consolas"/>
              </a:rPr>
              <a:t>07 — CORE TOOLS · 3 OF 3</a:t>
            </a:r>
          </a:p>
        </p:txBody>
      </p:sp>
      <p:sp>
        <p:nvSpPr>
          <p:cNvPr id="24" name="TextBox 23"/>
          <p:cNvSpPr txBox="1"/>
          <p:nvPr/>
        </p:nvSpPr>
        <p:spPr>
          <a:xfrm>
            <a:off x="502920" y="694944"/>
            <a:ext cx="11247120" cy="566928"/>
          </a:xfrm>
          <a:prstGeom prst="rect">
            <a:avLst/>
          </a:prstGeom>
          <a:noFill/>
        </p:spPr>
        <p:txBody>
          <a:bodyPr wrap="square" anchor="t" lIns="0" rIns="0" tIns="0" bIns="0">
            <a:spAutoFit/>
          </a:bodyPr>
          <a:lstStyle/>
          <a:p>
            <a:pPr algn="l">
              <a:lnSpc>
                <a:spcPct val="100000"/>
              </a:lnSpc>
            </a:pPr>
            <a:r>
              <a:rPr sz="2900" b="1" i="0">
                <a:solidFill>
                  <a:srgbClr val="00FF41"/>
                </a:solidFill>
                <a:effectLst>
                  <a:glow rad="63500">
                    <a:srgbClr val="00FF41">
                      <a:alpha val="35000"/>
                    </a:srgbClr>
                  </a:glow>
                </a:effectLst>
                <a:latin typeface="Consolas"/>
              </a:rPr>
              <a:t>explain_data</a:t>
            </a:r>
            <a:r>
              <a:rPr sz="2900" b="1" i="0">
                <a:solidFill>
                  <a:srgbClr val="00D4FF"/>
                </a:solidFill>
                <a:effectLst>
                  <a:glow rad="63500">
                    <a:srgbClr val="00D4FF">
                      <a:alpha val="35000"/>
                    </a:srgbClr>
                  </a:glow>
                </a:effectLst>
                <a:latin typeface="Bahnschrift"/>
              </a:rPr>
              <a:t> — Grounded, Not Guessed</a:t>
            </a:r>
          </a:p>
        </p:txBody>
      </p:sp>
      <p:sp>
        <p:nvSpPr>
          <p:cNvPr id="25" name="Rectangle 24"/>
          <p:cNvSpPr/>
          <p:nvPr/>
        </p:nvSpPr>
        <p:spPr>
          <a:xfrm>
            <a:off x="521207" y="1344168"/>
            <a:ext cx="1554480" cy="31089"/>
          </a:xfrm>
          <a:prstGeom prst="rect">
            <a:avLst/>
          </a:prstGeom>
          <a:solidFill>
            <a:srgbClr val="00FF41"/>
          </a:solidFill>
          <a:ln>
            <a:noFill/>
          </a:ln>
          <a:effectLst>
            <a:glow rad="50800">
              <a:srgbClr val="00FF41">
                <a:alpha val="5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75688" y="1344168"/>
            <a:ext cx="502920" cy="31089"/>
          </a:xfrm>
          <a:prstGeom prst="rect">
            <a:avLst/>
          </a:prstGeom>
          <a:solidFill>
            <a:srgbClr val="00D4FF"/>
          </a:solidFill>
          <a:ln>
            <a:noFill/>
          </a:ln>
          <a:effectLst>
            <a:glow rad="50800">
              <a:srgbClr val="00D4FF">
                <a:alpha val="5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777240" y="1645920"/>
            <a:ext cx="3063240" cy="914400"/>
          </a:xfrm>
          <a:prstGeom prst="roundRect">
            <a:avLst>
              <a:gd name="adj" fmla="val 14000"/>
            </a:avLst>
          </a:prstGeom>
          <a:solidFill>
            <a:srgbClr val="10192A">
              <a:alpha val="90000"/>
            </a:srgbClr>
          </a:solidFill>
          <a:ln w="17780">
            <a:solidFill>
              <a:srgbClr val="00FF41"/>
            </a:solidFill>
          </a:ln>
          <a:effectLst>
            <a:outerShdw blurRad="137160" dist="36576" dir="5400000" rotWithShape="0">
              <a:srgbClr val="000000">
                <a:alpha val="5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 y="1764792"/>
            <a:ext cx="3063240" cy="365760"/>
          </a:xfrm>
          <a:prstGeom prst="rect">
            <a:avLst/>
          </a:prstGeom>
          <a:noFill/>
        </p:spPr>
        <p:txBody>
          <a:bodyPr wrap="square" anchor="t" lIns="0" rIns="0" tIns="0" bIns="0">
            <a:spAutoFit/>
          </a:bodyPr>
          <a:lstStyle/>
          <a:p>
            <a:pPr algn="ctr">
              <a:lnSpc>
                <a:spcPct val="100000"/>
              </a:lnSpc>
            </a:pPr>
            <a:r>
              <a:rPr sz="1500" b="1" i="0">
                <a:solidFill>
                  <a:srgbClr val="00FF41"/>
                </a:solidFill>
                <a:effectLst>
                  <a:glow rad="38100">
                    <a:srgbClr val="00FF41">
                      <a:alpha val="40000"/>
                    </a:srgbClr>
                  </a:glow>
                </a:effectLst>
                <a:latin typeface="Consolas"/>
              </a:rPr>
              <a:t>1 · QUERY</a:t>
            </a:r>
          </a:p>
        </p:txBody>
      </p:sp>
      <p:sp>
        <p:nvSpPr>
          <p:cNvPr id="29" name="TextBox 28"/>
          <p:cNvSpPr txBox="1"/>
          <p:nvPr/>
        </p:nvSpPr>
        <p:spPr>
          <a:xfrm>
            <a:off x="868680" y="2139696"/>
            <a:ext cx="2880360" cy="292608"/>
          </a:xfrm>
          <a:prstGeom prst="rect">
            <a:avLst/>
          </a:prstGeom>
          <a:noFill/>
        </p:spPr>
        <p:txBody>
          <a:bodyPr wrap="square" anchor="t" lIns="0" rIns="0" tIns="0" bIns="0">
            <a:spAutoFit/>
          </a:bodyPr>
          <a:lstStyle/>
          <a:p>
            <a:pPr algn="ctr">
              <a:lnSpc>
                <a:spcPct val="100000"/>
              </a:lnSpc>
            </a:pPr>
            <a:r>
              <a:rPr sz="850" b="0" i="0">
                <a:solidFill>
                  <a:srgbClr val="93A6C4"/>
                </a:solidFill>
                <a:latin typeface="Consolas"/>
              </a:rPr>
              <a:t>against the live database</a:t>
            </a:r>
          </a:p>
        </p:txBody>
      </p:sp>
      <p:sp>
        <p:nvSpPr>
          <p:cNvPr id="30" name="TextBox 29"/>
          <p:cNvSpPr txBox="1"/>
          <p:nvPr/>
        </p:nvSpPr>
        <p:spPr>
          <a:xfrm>
            <a:off x="3867911" y="1645920"/>
            <a:ext cx="658368" cy="914400"/>
          </a:xfrm>
          <a:prstGeom prst="rect">
            <a:avLst/>
          </a:prstGeom>
          <a:noFill/>
        </p:spPr>
        <p:txBody>
          <a:bodyPr wrap="square" anchor="ctr" lIns="0" rIns="0" tIns="0" bIns="0">
            <a:spAutoFit/>
          </a:bodyPr>
          <a:lstStyle/>
          <a:p>
            <a:pPr algn="ctr">
              <a:lnSpc>
                <a:spcPct val="100000"/>
              </a:lnSpc>
            </a:pPr>
            <a:r>
              <a:rPr sz="1500" b="1" i="0">
                <a:solidFill>
                  <a:srgbClr val="00D4FF"/>
                </a:solidFill>
                <a:effectLst>
                  <a:glow rad="50800">
                    <a:srgbClr val="00D4FF">
                      <a:alpha val="50000"/>
                    </a:srgbClr>
                  </a:glow>
                </a:effectLst>
                <a:latin typeface="Consolas"/>
              </a:rPr>
              <a:t>▶▶</a:t>
            </a:r>
          </a:p>
        </p:txBody>
      </p:sp>
      <p:sp>
        <p:nvSpPr>
          <p:cNvPr id="31" name="Rounded Rectangle 30"/>
          <p:cNvSpPr/>
          <p:nvPr/>
        </p:nvSpPr>
        <p:spPr>
          <a:xfrm>
            <a:off x="4526279" y="1645920"/>
            <a:ext cx="3063240" cy="914400"/>
          </a:xfrm>
          <a:prstGeom prst="roundRect">
            <a:avLst>
              <a:gd name="adj" fmla="val 14000"/>
            </a:avLst>
          </a:prstGeom>
          <a:solidFill>
            <a:srgbClr val="10192A">
              <a:alpha val="90000"/>
            </a:srgbClr>
          </a:solidFill>
          <a:ln w="17780">
            <a:solidFill>
              <a:srgbClr val="00D4FF"/>
            </a:solidFill>
          </a:ln>
          <a:effectLst>
            <a:outerShdw blurRad="137160" dist="36576" dir="5400000" rotWithShape="0">
              <a:srgbClr val="000000">
                <a:alpha val="5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26279" y="1764792"/>
            <a:ext cx="3063240" cy="365760"/>
          </a:xfrm>
          <a:prstGeom prst="rect">
            <a:avLst/>
          </a:prstGeom>
          <a:noFill/>
        </p:spPr>
        <p:txBody>
          <a:bodyPr wrap="square" anchor="t" lIns="0" rIns="0" tIns="0" bIns="0">
            <a:spAutoFit/>
          </a:bodyPr>
          <a:lstStyle/>
          <a:p>
            <a:pPr algn="ctr">
              <a:lnSpc>
                <a:spcPct val="100000"/>
              </a:lnSpc>
            </a:pPr>
            <a:r>
              <a:rPr sz="1500" b="1" i="0">
                <a:solidFill>
                  <a:srgbClr val="00D4FF"/>
                </a:solidFill>
                <a:effectLst>
                  <a:glow rad="38100">
                    <a:srgbClr val="00D4FF">
                      <a:alpha val="40000"/>
                    </a:srgbClr>
                  </a:glow>
                </a:effectLst>
                <a:latin typeface="Consolas"/>
              </a:rPr>
              <a:t>2 · COMPUTE</a:t>
            </a:r>
          </a:p>
        </p:txBody>
      </p:sp>
      <p:sp>
        <p:nvSpPr>
          <p:cNvPr id="33" name="TextBox 32"/>
          <p:cNvSpPr txBox="1"/>
          <p:nvPr/>
        </p:nvSpPr>
        <p:spPr>
          <a:xfrm>
            <a:off x="4617719" y="2139696"/>
            <a:ext cx="2880360" cy="292608"/>
          </a:xfrm>
          <a:prstGeom prst="rect">
            <a:avLst/>
          </a:prstGeom>
          <a:noFill/>
        </p:spPr>
        <p:txBody>
          <a:bodyPr wrap="square" anchor="t" lIns="0" rIns="0" tIns="0" bIns="0">
            <a:spAutoFit/>
          </a:bodyPr>
          <a:lstStyle/>
          <a:p>
            <a:pPr algn="ctr">
              <a:lnSpc>
                <a:spcPct val="100000"/>
              </a:lnSpc>
            </a:pPr>
            <a:r>
              <a:rPr sz="850" b="0" i="0">
                <a:solidFill>
                  <a:srgbClr val="93A6C4"/>
                </a:solidFill>
                <a:latin typeface="Consolas"/>
              </a:rPr>
              <a:t>totals · means · min/max · shares</a:t>
            </a:r>
          </a:p>
        </p:txBody>
      </p:sp>
      <p:sp>
        <p:nvSpPr>
          <p:cNvPr id="34" name="TextBox 33"/>
          <p:cNvSpPr txBox="1"/>
          <p:nvPr/>
        </p:nvSpPr>
        <p:spPr>
          <a:xfrm>
            <a:off x="7616951" y="1645920"/>
            <a:ext cx="658368" cy="914400"/>
          </a:xfrm>
          <a:prstGeom prst="rect">
            <a:avLst/>
          </a:prstGeom>
          <a:noFill/>
        </p:spPr>
        <p:txBody>
          <a:bodyPr wrap="square" anchor="ctr" lIns="0" rIns="0" tIns="0" bIns="0">
            <a:spAutoFit/>
          </a:bodyPr>
          <a:lstStyle/>
          <a:p>
            <a:pPr algn="ctr">
              <a:lnSpc>
                <a:spcPct val="100000"/>
              </a:lnSpc>
            </a:pPr>
            <a:r>
              <a:rPr sz="1500" b="1" i="0">
                <a:solidFill>
                  <a:srgbClr val="00D4FF"/>
                </a:solidFill>
                <a:effectLst>
                  <a:glow rad="50800">
                    <a:srgbClr val="00D4FF">
                      <a:alpha val="50000"/>
                    </a:srgbClr>
                  </a:glow>
                </a:effectLst>
                <a:latin typeface="Consolas"/>
              </a:rPr>
              <a:t>▶▶</a:t>
            </a:r>
          </a:p>
        </p:txBody>
      </p:sp>
      <p:sp>
        <p:nvSpPr>
          <p:cNvPr id="35" name="Rounded Rectangle 34"/>
          <p:cNvSpPr/>
          <p:nvPr/>
        </p:nvSpPr>
        <p:spPr>
          <a:xfrm>
            <a:off x="8275319" y="1645920"/>
            <a:ext cx="3063240" cy="914400"/>
          </a:xfrm>
          <a:prstGeom prst="roundRect">
            <a:avLst>
              <a:gd name="adj" fmla="val 14000"/>
            </a:avLst>
          </a:prstGeom>
          <a:solidFill>
            <a:srgbClr val="10192A">
              <a:alpha val="90000"/>
            </a:srgbClr>
          </a:solidFill>
          <a:ln w="17780">
            <a:solidFill>
              <a:srgbClr val="00FF41"/>
            </a:solidFill>
          </a:ln>
          <a:effectLst>
            <a:outerShdw blurRad="137160" dist="36576" dir="5400000" rotWithShape="0">
              <a:srgbClr val="000000">
                <a:alpha val="5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275319" y="1764792"/>
            <a:ext cx="3063240" cy="365760"/>
          </a:xfrm>
          <a:prstGeom prst="rect">
            <a:avLst/>
          </a:prstGeom>
          <a:noFill/>
        </p:spPr>
        <p:txBody>
          <a:bodyPr wrap="square" anchor="t" lIns="0" rIns="0" tIns="0" bIns="0">
            <a:spAutoFit/>
          </a:bodyPr>
          <a:lstStyle/>
          <a:p>
            <a:pPr algn="ctr">
              <a:lnSpc>
                <a:spcPct val="100000"/>
              </a:lnSpc>
            </a:pPr>
            <a:r>
              <a:rPr sz="1500" b="1" i="0">
                <a:solidFill>
                  <a:srgbClr val="00FF41"/>
                </a:solidFill>
                <a:effectLst>
                  <a:glow rad="38100">
                    <a:srgbClr val="00FF41">
                      <a:alpha val="40000"/>
                    </a:srgbClr>
                  </a:glow>
                </a:effectLst>
                <a:latin typeface="Consolas"/>
              </a:rPr>
              <a:t>3 · NARRATE</a:t>
            </a:r>
          </a:p>
        </p:txBody>
      </p:sp>
      <p:sp>
        <p:nvSpPr>
          <p:cNvPr id="37" name="TextBox 36"/>
          <p:cNvSpPr txBox="1"/>
          <p:nvPr/>
        </p:nvSpPr>
        <p:spPr>
          <a:xfrm>
            <a:off x="8366759" y="2139696"/>
            <a:ext cx="2880360" cy="292608"/>
          </a:xfrm>
          <a:prstGeom prst="rect">
            <a:avLst/>
          </a:prstGeom>
          <a:noFill/>
        </p:spPr>
        <p:txBody>
          <a:bodyPr wrap="square" anchor="t" lIns="0" rIns="0" tIns="0" bIns="0">
            <a:spAutoFit/>
          </a:bodyPr>
          <a:lstStyle/>
          <a:p>
            <a:pPr algn="ctr">
              <a:lnSpc>
                <a:spcPct val="100000"/>
              </a:lnSpc>
            </a:pPr>
            <a:r>
              <a:rPr sz="850" b="0" i="0">
                <a:solidFill>
                  <a:srgbClr val="93A6C4"/>
                </a:solidFill>
                <a:latin typeface="Consolas"/>
              </a:rPr>
              <a:t>prose around proven numbers</a:t>
            </a:r>
          </a:p>
        </p:txBody>
      </p:sp>
      <p:sp>
        <p:nvSpPr>
          <p:cNvPr id="38" name="TextBox 37"/>
          <p:cNvSpPr txBox="1"/>
          <p:nvPr/>
        </p:nvSpPr>
        <p:spPr>
          <a:xfrm>
            <a:off x="804672" y="2971800"/>
            <a:ext cx="6400800" cy="2651760"/>
          </a:xfrm>
          <a:prstGeom prst="rect">
            <a:avLst/>
          </a:prstGeom>
          <a:noFill/>
        </p:spPr>
        <p:txBody>
          <a:bodyPr wrap="square" anchor="t" lIns="0" rIns="0" tIns="0" bIns="0">
            <a:spAutoFit/>
          </a:bodyPr>
          <a:lstStyle/>
          <a:p>
            <a:pPr algn="l" marL="237744" indent="-237744">
              <a:lnSpc>
                <a:spcPct val="112000"/>
              </a:lnSpc>
              <a:spcAft>
                <a:spcPts val="1300"/>
              </a:spcAft>
            </a:pPr>
            <a:r>
              <a:rPr sz="1250" b="1" i="0">
                <a:solidFill>
                  <a:srgbClr val="00FF41"/>
                </a:solidFill>
                <a:latin typeface="Consolas"/>
              </a:rPr>
              <a:t>▸  </a:t>
            </a:r>
            <a:r>
              <a:rPr sz="1250" b="1" i="0">
                <a:solidFill>
                  <a:srgbClr val="EAF4FF"/>
                </a:solidFill>
                <a:latin typeface="Segoe UI"/>
              </a:rPr>
              <a:t>Numeric summaries from executed result sets</a:t>
            </a:r>
            <a:r>
              <a:rPr sz="1250" b="0" i="0">
                <a:solidFill>
                  <a:srgbClr val="93A6C4"/>
                </a:solidFill>
                <a:latin typeface="Segoe UI"/>
              </a:rPr>
              <a:t> — totals, averages, min/max, distributions, shares — computed, not recalled</a:t>
            </a:r>
          </a:p>
          <a:p>
            <a:pPr algn="l" marL="237744" indent="-237744">
              <a:lnSpc>
                <a:spcPct val="112000"/>
              </a:lnSpc>
              <a:spcAft>
                <a:spcPts val="1300"/>
              </a:spcAft>
            </a:pPr>
            <a:r>
              <a:rPr sz="1250" b="1" i="0">
                <a:solidFill>
                  <a:srgbClr val="00FF41"/>
                </a:solidFill>
                <a:latin typeface="Consolas"/>
              </a:rPr>
              <a:t>▸  </a:t>
            </a:r>
            <a:r>
              <a:rPr sz="1250" b="1" i="0">
                <a:solidFill>
                  <a:srgbClr val="EAF4FF"/>
                </a:solidFill>
                <a:latin typeface="Segoe UI"/>
              </a:rPr>
              <a:t>Every figure traces to a query result</a:t>
            </a:r>
            <a:r>
              <a:rPr sz="1250" b="0" i="0">
                <a:solidFill>
                  <a:srgbClr val="93A6C4"/>
                </a:solidFill>
                <a:latin typeface="Segoe UI"/>
              </a:rPr>
              <a:t> — text is generated from computed numbers, never from model memory</a:t>
            </a:r>
          </a:p>
          <a:p>
            <a:pPr algn="l" marL="237744" indent="-237744">
              <a:lnSpc>
                <a:spcPct val="112000"/>
              </a:lnSpc>
              <a:spcAft>
                <a:spcPts val="1300"/>
              </a:spcAft>
            </a:pPr>
            <a:r>
              <a:rPr sz="1250" b="1" i="0">
                <a:solidFill>
                  <a:srgbClr val="00FF41"/>
                </a:solidFill>
                <a:latin typeface="Consolas"/>
              </a:rPr>
              <a:t>▸  </a:t>
            </a:r>
            <a:r>
              <a:rPr sz="1250" b="1" i="0">
                <a:solidFill>
                  <a:srgbClr val="EAF4FF"/>
                </a:solidFill>
                <a:latin typeface="Segoe UI"/>
              </a:rPr>
              <a:t>The math ships with the story</a:t>
            </a:r>
            <a:r>
              <a:rPr sz="1250" b="0" i="0">
                <a:solidFill>
                  <a:srgbClr val="93A6C4"/>
                </a:solidFill>
                <a:latin typeface="Segoe UI"/>
              </a:rPr>
              <a:t> — growth rates, proportions, outliers — derived first, then narrated</a:t>
            </a:r>
          </a:p>
          <a:p>
            <a:pPr algn="l" marL="237744" indent="-237744">
              <a:lnSpc>
                <a:spcPct val="112000"/>
              </a:lnSpc>
              <a:spcAft>
                <a:spcPts val="1300"/>
              </a:spcAft>
            </a:pPr>
            <a:r>
              <a:rPr sz="1250" b="1" i="0">
                <a:solidFill>
                  <a:srgbClr val="00FF41"/>
                </a:solidFill>
                <a:latin typeface="Consolas"/>
              </a:rPr>
              <a:t>▸  </a:t>
            </a:r>
            <a:r>
              <a:rPr sz="1250" b="1" i="0">
                <a:solidFill>
                  <a:srgbClr val="EAF4FF"/>
                </a:solidFill>
                <a:latin typeface="Segoe UI"/>
              </a:rPr>
              <a:t>Anti-hallucination by architecture</a:t>
            </a:r>
            <a:r>
              <a:rPr sz="1250" b="0" i="0">
                <a:solidFill>
                  <a:srgbClr val="93A6C4"/>
                </a:solidFill>
                <a:latin typeface="Segoe UI"/>
              </a:rPr>
              <a:t> — untraceable numbers don't make the answer</a:t>
            </a:r>
          </a:p>
        </p:txBody>
      </p:sp>
      <p:sp>
        <p:nvSpPr>
          <p:cNvPr id="39" name="Rounded Rectangle 38"/>
          <p:cNvSpPr/>
          <p:nvPr/>
        </p:nvSpPr>
        <p:spPr>
          <a:xfrm>
            <a:off x="7635240" y="2788920"/>
            <a:ext cx="4050791" cy="2880360"/>
          </a:xfrm>
          <a:prstGeom prst="roundRect">
            <a:avLst>
              <a:gd name="adj" fmla="val 5000"/>
            </a:avLst>
          </a:prstGeom>
          <a:solidFill>
            <a:srgbClr val="10192A">
              <a:alpha val="90000"/>
            </a:srgbClr>
          </a:solidFill>
          <a:ln w="12700">
            <a:solidFill>
              <a:srgbClr val="223046"/>
            </a:solidFill>
          </a:ln>
          <a:effectLst>
            <a:outerShdw blurRad="164592" dist="45720" dir="5400000" rotWithShape="0">
              <a:srgbClr val="000000">
                <a:alpha val="5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763256" y="2788920"/>
            <a:ext cx="3794759" cy="41148"/>
          </a:xfrm>
          <a:prstGeom prst="rect">
            <a:avLst/>
          </a:prstGeom>
          <a:solidFill>
            <a:srgbClr val="00FF41"/>
          </a:solidFill>
          <a:ln>
            <a:noFill/>
          </a:ln>
          <a:effectLst>
            <a:glow rad="63500">
              <a:srgbClr val="00FF41">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72983" y="2926079"/>
            <a:ext cx="3575303" cy="274320"/>
          </a:xfrm>
          <a:prstGeom prst="rect">
            <a:avLst/>
          </a:prstGeom>
          <a:noFill/>
        </p:spPr>
        <p:txBody>
          <a:bodyPr wrap="square" anchor="t" lIns="0" rIns="0" tIns="0" bIns="0">
            <a:spAutoFit/>
          </a:bodyPr>
          <a:lstStyle/>
          <a:p>
            <a:pPr algn="l">
              <a:lnSpc>
                <a:spcPct val="100000"/>
              </a:lnSpc>
            </a:pPr>
            <a:r>
              <a:rPr sz="1150" b="1" i="0" spc="110">
                <a:solidFill>
                  <a:srgbClr val="00FF41"/>
                </a:solidFill>
                <a:latin typeface="Consolas"/>
              </a:rPr>
              <a:t>GROUNDING LENS</a:t>
            </a:r>
          </a:p>
        </p:txBody>
      </p:sp>
      <p:pic>
        <p:nvPicPr>
          <p:cNvPr id="42" name="Picture 41" descr="lens-visual.jpg"/>
          <p:cNvPicPr>
            <a:picLocks noChangeAspect="1"/>
          </p:cNvPicPr>
          <p:nvPr/>
        </p:nvPicPr>
        <p:blipFill>
          <a:blip r:embed="rId3"/>
          <a:stretch>
            <a:fillRect/>
          </a:stretch>
        </p:blipFill>
        <p:spPr>
          <a:xfrm>
            <a:off x="7858506" y="3337560"/>
            <a:ext cx="3604260" cy="1965960"/>
          </a:xfrm>
          <a:prstGeom prst="rect">
            <a:avLst/>
          </a:prstGeom>
          <a:effectLst>
            <a:outerShdw blurRad="182880" dist="45720" dir="5400000" rotWithShape="0">
              <a:srgbClr val="000000">
                <a:alpha val="60000"/>
              </a:srgbClr>
            </a:outerShdw>
          </a:effectLst>
        </p:spPr>
      </p:pic>
      <p:sp>
        <p:nvSpPr>
          <p:cNvPr id="43" name="TextBox 42"/>
          <p:cNvSpPr txBox="1"/>
          <p:nvPr/>
        </p:nvSpPr>
        <p:spPr>
          <a:xfrm>
            <a:off x="7799831" y="5385816"/>
            <a:ext cx="3721608" cy="274320"/>
          </a:xfrm>
          <a:prstGeom prst="rect">
            <a:avLst/>
          </a:prstGeom>
          <a:noFill/>
        </p:spPr>
        <p:txBody>
          <a:bodyPr wrap="square" anchor="t" lIns="0" rIns="0" tIns="0" bIns="0">
            <a:spAutoFit/>
          </a:bodyPr>
          <a:lstStyle/>
          <a:p>
            <a:pPr algn="ctr">
              <a:lnSpc>
                <a:spcPct val="100000"/>
              </a:lnSpc>
            </a:pPr>
            <a:r>
              <a:rPr sz="800" b="0" i="0" spc="60">
                <a:solidFill>
                  <a:srgbClr val="00FF41"/>
                </a:solidFill>
                <a:latin typeface="Consolas"/>
              </a:rPr>
              <a:t>EVERY NUMBER TRACED TO A ROW</a:t>
            </a:r>
          </a:p>
        </p:txBody>
      </p:sp>
      <p:sp>
        <p:nvSpPr>
          <p:cNvPr id="44" name="Rounded Rectangle 43"/>
          <p:cNvSpPr/>
          <p:nvPr/>
        </p:nvSpPr>
        <p:spPr>
          <a:xfrm>
            <a:off x="502920" y="5943600"/>
            <a:ext cx="11185855" cy="457200"/>
          </a:xfrm>
          <a:prstGeom prst="roundRect">
            <a:avLst>
              <a:gd name="adj" fmla="val 50000"/>
            </a:avLst>
          </a:prstGeom>
          <a:solidFill>
            <a:srgbClr val="0D2A18">
              <a:alpha val="85000"/>
            </a:srgbClr>
          </a:solidFill>
          <a:ln w="13970">
            <a:solidFill>
              <a:srgbClr val="00FF41"/>
            </a:solidFill>
          </a:ln>
          <a:effectLst>
            <a:glow rad="63500">
              <a:srgbClr val="00FF41">
                <a:alpha val="4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22960" y="5943600"/>
            <a:ext cx="10545775" cy="457200"/>
          </a:xfrm>
          <a:prstGeom prst="rect">
            <a:avLst/>
          </a:prstGeom>
          <a:noFill/>
        </p:spPr>
        <p:txBody>
          <a:bodyPr wrap="square" anchor="ctr" lIns="0" rIns="0" tIns="0" bIns="0">
            <a:spAutoFit/>
          </a:bodyPr>
          <a:lstStyle/>
          <a:p>
            <a:pPr algn="l">
              <a:lnSpc>
                <a:spcPct val="100000"/>
              </a:lnSpc>
            </a:pPr>
            <a:r>
              <a:rPr sz="1200" b="1" i="0">
                <a:solidFill>
                  <a:srgbClr val="00FF41"/>
                </a:solidFill>
                <a:latin typeface="Consolas"/>
              </a:rPr>
              <a:t>&gt; </a:t>
            </a:r>
            <a:r>
              <a:rPr sz="1200" b="1" i="0">
                <a:solidFill>
                  <a:srgbClr val="00FF41"/>
                </a:solidFill>
                <a:latin typeface="Consolas"/>
              </a:rPr>
              <a:t>We don't ask the model to remember your revenue. We ask your database.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subtle-blue.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9281160" y="0"/>
            <a:ext cx="2514600" cy="1645920"/>
          </a:xfrm>
          <a:prstGeom prst="rect">
            <a:avLst/>
          </a:prstGeom>
          <a:noFill/>
        </p:spPr>
        <p:txBody>
          <a:bodyPr wrap="square" anchor="t" lIns="0" rIns="0" tIns="0" bIns="0">
            <a:spAutoFit/>
          </a:bodyPr>
          <a:lstStyle/>
          <a:p>
            <a:pPr algn="r">
              <a:lnSpc>
                <a:spcPct val="100000"/>
              </a:lnSpc>
            </a:pPr>
            <a:r>
              <a:rPr sz="11500" b="1" i="0">
                <a:solidFill>
                  <a:srgbClr val="EAF4FF">
                    <a:alpha val="7000"/>
                  </a:srgbClr>
                </a:solidFill>
                <a:latin typeface="Bahnschrift"/>
              </a:rPr>
              <a:t>08</a:t>
            </a:r>
          </a:p>
        </p:txBody>
      </p:sp>
      <p:sp>
        <p:nvSpPr>
          <p:cNvPr id="4" name="Rectangle 3"/>
          <p:cNvSpPr/>
          <p:nvPr/>
        </p:nvSpPr>
        <p:spPr>
          <a:xfrm>
            <a:off x="0" y="0"/>
            <a:ext cx="5120511" cy="29260"/>
          </a:xfrm>
          <a:prstGeom prst="rect">
            <a:avLst/>
          </a:prstGeom>
          <a:solidFill>
            <a:srgbClr val="00FF41"/>
          </a:solidFill>
          <a:ln>
            <a:noFill/>
          </a:ln>
          <a:effectLst>
            <a:glow rad="50800">
              <a:srgbClr val="00FF41">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120511" y="0"/>
            <a:ext cx="7071183" cy="29260"/>
          </a:xfrm>
          <a:prstGeom prst="rect">
            <a:avLst/>
          </a:prstGeom>
          <a:solidFill>
            <a:srgbClr val="00D4FF"/>
          </a:solidFill>
          <a:ln>
            <a:noFill/>
          </a:ln>
          <a:effectLst>
            <a:glow rad="50800">
              <a:srgbClr val="00D4FF">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6032" y="6254496"/>
            <a:ext cx="329184" cy="20116"/>
          </a:xfrm>
          <a:prstGeom prst="rect">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56032" y="6272784"/>
            <a:ext cx="20116" cy="347472"/>
          </a:xfrm>
          <a:prstGeom prst="rect">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6446520"/>
            <a:ext cx="11185855" cy="10972"/>
          </a:xfrm>
          <a:prstGeom prst="rect">
            <a:avLst/>
          </a:prstGeom>
          <a:solidFill>
            <a:srgbClr val="2230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501384"/>
            <a:ext cx="5669280" cy="201168"/>
          </a:xfrm>
          <a:prstGeom prst="rect">
            <a:avLst/>
          </a:prstGeom>
          <a:noFill/>
        </p:spPr>
        <p:txBody>
          <a:bodyPr wrap="square" anchor="t" lIns="0" rIns="0" tIns="0" bIns="0">
            <a:spAutoFit/>
          </a:bodyPr>
          <a:lstStyle/>
          <a:p>
            <a:pPr algn="l">
              <a:lnSpc>
                <a:spcPct val="100000"/>
              </a:lnSpc>
            </a:pPr>
            <a:r>
              <a:rPr sz="800" b="1" i="0">
                <a:solidFill>
                  <a:srgbClr val="00FF41"/>
                </a:solidFill>
                <a:latin typeface="Consolas"/>
              </a:rPr>
              <a:t>ZODIAC AI </a:t>
            </a:r>
            <a:r>
              <a:rPr sz="800" b="0" i="0">
                <a:solidFill>
                  <a:srgbClr val="5A6A85"/>
                </a:solidFill>
                <a:latin typeface="Consolas"/>
              </a:rPr>
              <a:t>// CHAT WITH YOUR DATABASE // </a:t>
            </a:r>
            <a:r>
              <a:rPr sz="800" b="0" i="0">
                <a:solidFill>
                  <a:srgbClr val="00D4FF"/>
                </a:solidFill>
                <a:latin typeface="Consolas"/>
              </a:rPr>
              <a:t>DATA MODEL</a:t>
            </a:r>
          </a:p>
        </p:txBody>
      </p:sp>
      <p:sp>
        <p:nvSpPr>
          <p:cNvPr id="10" name="TextBox 9"/>
          <p:cNvSpPr txBox="1"/>
          <p:nvPr/>
        </p:nvSpPr>
        <p:spPr>
          <a:xfrm>
            <a:off x="10728655" y="6501384"/>
            <a:ext cx="960120" cy="201168"/>
          </a:xfrm>
          <a:prstGeom prst="rect">
            <a:avLst/>
          </a:prstGeom>
          <a:noFill/>
        </p:spPr>
        <p:txBody>
          <a:bodyPr wrap="square" anchor="t" lIns="0" rIns="0" tIns="0" bIns="0">
            <a:spAutoFit/>
          </a:bodyPr>
          <a:lstStyle/>
          <a:p>
            <a:pPr algn="r">
              <a:lnSpc>
                <a:spcPct val="100000"/>
              </a:lnSpc>
            </a:pPr>
            <a:r>
              <a:rPr sz="800" b="1" i="0">
                <a:solidFill>
                  <a:srgbClr val="00FF41"/>
                </a:solidFill>
                <a:latin typeface="Consolas"/>
              </a:rPr>
              <a:t>08</a:t>
            </a:r>
            <a:r>
              <a:rPr sz="800" b="0" i="0">
                <a:solidFill>
                  <a:srgbClr val="5A6A85"/>
                </a:solidFill>
                <a:latin typeface="Consolas"/>
              </a:rPr>
              <a:t> / 11</a:t>
            </a:r>
          </a:p>
        </p:txBody>
      </p:sp>
      <p:sp>
        <p:nvSpPr>
          <p:cNvPr id="11" name="Rectangle 10"/>
          <p:cNvSpPr/>
          <p:nvPr/>
        </p:nvSpPr>
        <p:spPr>
          <a:xfrm>
            <a:off x="4198467" y="6675120"/>
            <a:ext cx="274320" cy="45720"/>
          </a:xfrm>
          <a:prstGeom prst="rect">
            <a:avLst/>
          </a:prstGeom>
          <a:solidFill>
            <a:srgbClr val="1653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50511" y="6675120"/>
            <a:ext cx="274320" cy="45720"/>
          </a:xfrm>
          <a:prstGeom prst="rect">
            <a:avLst/>
          </a:prstGeom>
          <a:solidFill>
            <a:srgbClr val="1653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902555" y="6675120"/>
            <a:ext cx="274320" cy="45720"/>
          </a:xfrm>
          <a:prstGeom prst="rect">
            <a:avLst/>
          </a:prstGeom>
          <a:solidFill>
            <a:srgbClr val="1653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254599" y="6675120"/>
            <a:ext cx="274320" cy="45720"/>
          </a:xfrm>
          <a:prstGeom prst="rect">
            <a:avLst/>
          </a:prstGeom>
          <a:solidFill>
            <a:srgbClr val="1653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06643" y="6675120"/>
            <a:ext cx="274320" cy="45720"/>
          </a:xfrm>
          <a:prstGeom prst="rect">
            <a:avLst/>
          </a:prstGeom>
          <a:solidFill>
            <a:srgbClr val="1653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958687" y="6675120"/>
            <a:ext cx="274320" cy="45720"/>
          </a:xfrm>
          <a:prstGeom prst="rect">
            <a:avLst/>
          </a:prstGeom>
          <a:solidFill>
            <a:srgbClr val="1653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310731" y="6675120"/>
            <a:ext cx="274320" cy="45720"/>
          </a:xfrm>
          <a:prstGeom prst="rect">
            <a:avLst/>
          </a:prstGeom>
          <a:solidFill>
            <a:srgbClr val="1653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662775" y="6675120"/>
            <a:ext cx="274320" cy="45720"/>
          </a:xfrm>
          <a:prstGeom prst="rect">
            <a:avLst/>
          </a:prstGeom>
          <a:solidFill>
            <a:srgbClr val="00FF41"/>
          </a:solidFill>
          <a:ln>
            <a:noFill/>
          </a:ln>
          <a:effectLst>
            <a:glow rad="63500">
              <a:srgbClr val="00FF41">
                <a:alpha val="6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014819" y="6675120"/>
            <a:ext cx="274320" cy="45720"/>
          </a:xfrm>
          <a:prstGeom prst="rect">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66863" y="6675120"/>
            <a:ext cx="274320" cy="45720"/>
          </a:xfrm>
          <a:prstGeom prst="rect">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18907" y="6675120"/>
            <a:ext cx="274320" cy="45720"/>
          </a:xfrm>
          <a:prstGeom prst="rect">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21207" y="466344"/>
            <a:ext cx="100584" cy="100584"/>
          </a:xfrm>
          <a:prstGeom prst="rect">
            <a:avLst/>
          </a:prstGeom>
          <a:solidFill>
            <a:srgbClr val="00FF41"/>
          </a:solidFill>
          <a:ln>
            <a:noFill/>
          </a:ln>
          <a:effectLst>
            <a:glow rad="63500">
              <a:srgbClr val="00FF41">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402336"/>
            <a:ext cx="10515600" cy="274320"/>
          </a:xfrm>
          <a:prstGeom prst="rect">
            <a:avLst/>
          </a:prstGeom>
          <a:noFill/>
        </p:spPr>
        <p:txBody>
          <a:bodyPr wrap="square" anchor="t" lIns="0" rIns="0" tIns="0" bIns="0">
            <a:spAutoFit/>
          </a:bodyPr>
          <a:lstStyle/>
          <a:p>
            <a:pPr algn="l">
              <a:lnSpc>
                <a:spcPct val="100000"/>
              </a:lnSpc>
            </a:pPr>
            <a:r>
              <a:rPr sz="1050" b="0" i="0" spc="170">
                <a:solidFill>
                  <a:srgbClr val="00FF41"/>
                </a:solidFill>
                <a:effectLst>
                  <a:glow rad="38100">
                    <a:srgbClr val="00FF41">
                      <a:alpha val="40000"/>
                    </a:srgbClr>
                  </a:glow>
                </a:effectLst>
                <a:latin typeface="Consolas"/>
              </a:rPr>
              <a:t>08 — DATABASE ARCHITECTURE</a:t>
            </a:r>
          </a:p>
        </p:txBody>
      </p:sp>
      <p:sp>
        <p:nvSpPr>
          <p:cNvPr id="24" name="TextBox 23"/>
          <p:cNvSpPr txBox="1"/>
          <p:nvPr/>
        </p:nvSpPr>
        <p:spPr>
          <a:xfrm>
            <a:off x="502920" y="694944"/>
            <a:ext cx="11247120" cy="566928"/>
          </a:xfrm>
          <a:prstGeom prst="rect">
            <a:avLst/>
          </a:prstGeom>
          <a:noFill/>
        </p:spPr>
        <p:txBody>
          <a:bodyPr wrap="square" anchor="t" lIns="0" rIns="0" tIns="0" bIns="0">
            <a:spAutoFit/>
          </a:bodyPr>
          <a:lstStyle/>
          <a:p>
            <a:pPr algn="l">
              <a:lnSpc>
                <a:spcPct val="100000"/>
              </a:lnSpc>
            </a:pPr>
            <a:r>
              <a:rPr sz="3000" b="1" i="0">
                <a:solidFill>
                  <a:srgbClr val="EAF4FF"/>
                </a:solidFill>
                <a:latin typeface="Bahnschrift"/>
              </a:rPr>
              <a:t>Under the Hood — </a:t>
            </a:r>
            <a:r>
              <a:rPr sz="3000" b="1" i="0">
                <a:solidFill>
                  <a:srgbClr val="00D4FF"/>
                </a:solidFill>
                <a:effectLst>
                  <a:glow rad="63500">
                    <a:srgbClr val="00D4FF">
                      <a:alpha val="35000"/>
                    </a:srgbClr>
                  </a:glow>
                </a:effectLst>
                <a:latin typeface="Bahnschrift"/>
              </a:rPr>
              <a:t>The Sample Sales Schema</a:t>
            </a:r>
          </a:p>
        </p:txBody>
      </p:sp>
      <p:sp>
        <p:nvSpPr>
          <p:cNvPr id="25" name="Rectangle 24"/>
          <p:cNvSpPr/>
          <p:nvPr/>
        </p:nvSpPr>
        <p:spPr>
          <a:xfrm>
            <a:off x="521207" y="1344168"/>
            <a:ext cx="1554480" cy="31089"/>
          </a:xfrm>
          <a:prstGeom prst="rect">
            <a:avLst/>
          </a:prstGeom>
          <a:solidFill>
            <a:srgbClr val="00FF41"/>
          </a:solidFill>
          <a:ln>
            <a:noFill/>
          </a:ln>
          <a:effectLst>
            <a:glow rad="50800">
              <a:srgbClr val="00FF41">
                <a:alpha val="5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75688" y="1344168"/>
            <a:ext cx="502920" cy="31089"/>
          </a:xfrm>
          <a:prstGeom prst="rect">
            <a:avLst/>
          </a:prstGeom>
          <a:solidFill>
            <a:srgbClr val="00D4FF"/>
          </a:solidFill>
          <a:ln>
            <a:noFill/>
          </a:ln>
          <a:effectLst>
            <a:glow rad="50800">
              <a:srgbClr val="00D4FF">
                <a:alpha val="5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502920" y="1719072"/>
            <a:ext cx="2487168" cy="1517904"/>
          </a:xfrm>
          <a:prstGeom prst="roundRect">
            <a:avLst>
              <a:gd name="adj" fmla="val 9000"/>
            </a:avLst>
          </a:prstGeom>
          <a:solidFill>
            <a:srgbClr val="10192A">
              <a:alpha val="90000"/>
            </a:srgbClr>
          </a:solidFill>
          <a:ln w="16510">
            <a:solidFill>
              <a:srgbClr val="00FF41"/>
            </a:solidFill>
          </a:ln>
          <a:effectLst>
            <a:glow rad="50800">
              <a:srgbClr val="00FF41">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12648" y="1719072"/>
            <a:ext cx="2267712" cy="41148"/>
          </a:xfrm>
          <a:prstGeom prst="rect">
            <a:avLst/>
          </a:prstGeom>
          <a:solidFill>
            <a:srgbClr val="00FF41"/>
          </a:solidFill>
          <a:ln>
            <a:noFill/>
          </a:ln>
          <a:effectLst>
            <a:glow rad="63500">
              <a:srgbClr val="00FF41">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02920" y="1865376"/>
            <a:ext cx="2487168" cy="292608"/>
          </a:xfrm>
          <a:prstGeom prst="rect">
            <a:avLst/>
          </a:prstGeom>
          <a:noFill/>
        </p:spPr>
        <p:txBody>
          <a:bodyPr wrap="square" anchor="t" lIns="0" rIns="0" tIns="0" bIns="0">
            <a:spAutoFit/>
          </a:bodyPr>
          <a:lstStyle/>
          <a:p>
            <a:pPr algn="ctr">
              <a:lnSpc>
                <a:spcPct val="100000"/>
              </a:lnSpc>
            </a:pPr>
            <a:r>
              <a:rPr sz="1250" b="1" i="0" spc="70">
                <a:solidFill>
                  <a:srgbClr val="00FF41"/>
                </a:solidFill>
                <a:latin typeface="Consolas"/>
              </a:rPr>
              <a:t>CUSTOMERS</a:t>
            </a:r>
          </a:p>
        </p:txBody>
      </p:sp>
      <p:sp>
        <p:nvSpPr>
          <p:cNvPr id="30" name="TextBox 29"/>
          <p:cNvSpPr txBox="1"/>
          <p:nvPr/>
        </p:nvSpPr>
        <p:spPr>
          <a:xfrm>
            <a:off x="594360" y="2194560"/>
            <a:ext cx="2304288" cy="256032"/>
          </a:xfrm>
          <a:prstGeom prst="rect">
            <a:avLst/>
          </a:prstGeom>
          <a:noFill/>
        </p:spPr>
        <p:txBody>
          <a:bodyPr wrap="square" anchor="t" lIns="0" rIns="0" tIns="0" bIns="0">
            <a:spAutoFit/>
          </a:bodyPr>
          <a:lstStyle/>
          <a:p>
            <a:pPr algn="ctr">
              <a:lnSpc>
                <a:spcPct val="100000"/>
              </a:lnSpc>
            </a:pPr>
            <a:r>
              <a:rPr sz="950" b="0" i="0">
                <a:solidFill>
                  <a:srgbClr val="EAF4FF"/>
                </a:solidFill>
                <a:latin typeface="Segoe UI"/>
              </a:rPr>
              <a:t>who is buying</a:t>
            </a:r>
          </a:p>
        </p:txBody>
      </p:sp>
      <p:sp>
        <p:nvSpPr>
          <p:cNvPr id="31" name="TextBox 30"/>
          <p:cNvSpPr txBox="1"/>
          <p:nvPr/>
        </p:nvSpPr>
        <p:spPr>
          <a:xfrm>
            <a:off x="576072" y="2487168"/>
            <a:ext cx="2340864" cy="658368"/>
          </a:xfrm>
          <a:prstGeom prst="rect">
            <a:avLst/>
          </a:prstGeom>
          <a:noFill/>
        </p:spPr>
        <p:txBody>
          <a:bodyPr wrap="square" anchor="t" lIns="0" rIns="0" tIns="0" bIns="0">
            <a:spAutoFit/>
          </a:bodyPr>
          <a:lstStyle/>
          <a:p>
            <a:pPr algn="ctr">
              <a:lnSpc>
                <a:spcPct val="100000"/>
              </a:lnSpc>
              <a:spcAft>
                <a:spcPts val="200"/>
              </a:spcAft>
            </a:pPr>
            <a:r>
              <a:rPr sz="800" b="0" i="0">
                <a:solidFill>
                  <a:srgbClr val="93A6C4"/>
                </a:solidFill>
                <a:latin typeface="Consolas"/>
              </a:rPr>
              <a:t>customer_id · name</a:t>
            </a:r>
          </a:p>
          <a:p>
            <a:pPr algn="ctr">
              <a:lnSpc>
                <a:spcPct val="100000"/>
              </a:lnSpc>
            </a:pPr>
            <a:r>
              <a:rPr sz="800" b="0" i="0">
                <a:solidFill>
                  <a:srgbClr val="93A6C4"/>
                </a:solidFill>
                <a:latin typeface="Consolas"/>
              </a:rPr>
              <a:t>city · signup_date</a:t>
            </a:r>
          </a:p>
        </p:txBody>
      </p:sp>
      <p:sp>
        <p:nvSpPr>
          <p:cNvPr id="32" name="TextBox 31"/>
          <p:cNvSpPr txBox="1"/>
          <p:nvPr/>
        </p:nvSpPr>
        <p:spPr>
          <a:xfrm>
            <a:off x="2944368" y="2048256"/>
            <a:ext cx="503834" cy="274320"/>
          </a:xfrm>
          <a:prstGeom prst="rect">
            <a:avLst/>
          </a:prstGeom>
          <a:noFill/>
        </p:spPr>
        <p:txBody>
          <a:bodyPr wrap="square" anchor="t" lIns="0" rIns="0" tIns="0" bIns="0">
            <a:spAutoFit/>
          </a:bodyPr>
          <a:lstStyle/>
          <a:p>
            <a:pPr algn="ctr">
              <a:lnSpc>
                <a:spcPct val="100000"/>
              </a:lnSpc>
            </a:pPr>
            <a:r>
              <a:rPr sz="1000" b="0" i="0">
                <a:solidFill>
                  <a:srgbClr val="00D4FF"/>
                </a:solidFill>
                <a:effectLst>
                  <a:glow rad="38100">
                    <a:srgbClr val="00D4FF">
                      <a:alpha val="45000"/>
                    </a:srgbClr>
                  </a:glow>
                </a:effectLst>
                <a:latin typeface="Consolas"/>
              </a:rPr>
              <a:t>━━━▶</a:t>
            </a:r>
          </a:p>
        </p:txBody>
      </p:sp>
      <p:sp>
        <p:nvSpPr>
          <p:cNvPr id="33" name="TextBox 32"/>
          <p:cNvSpPr txBox="1"/>
          <p:nvPr/>
        </p:nvSpPr>
        <p:spPr>
          <a:xfrm>
            <a:off x="2944368" y="2286000"/>
            <a:ext cx="503834" cy="274320"/>
          </a:xfrm>
          <a:prstGeom prst="rect">
            <a:avLst/>
          </a:prstGeom>
          <a:noFill/>
        </p:spPr>
        <p:txBody>
          <a:bodyPr wrap="square" anchor="t" lIns="0" rIns="0" tIns="0" bIns="0">
            <a:spAutoFit/>
          </a:bodyPr>
          <a:lstStyle/>
          <a:p>
            <a:pPr algn="ctr">
              <a:lnSpc>
                <a:spcPct val="100000"/>
              </a:lnSpc>
            </a:pPr>
            <a:r>
              <a:rPr sz="1100" b="1" i="0">
                <a:solidFill>
                  <a:srgbClr val="00D4FF"/>
                </a:solidFill>
                <a:latin typeface="Consolas"/>
              </a:rPr>
              <a:t>1 — ∞</a:t>
            </a:r>
          </a:p>
        </p:txBody>
      </p:sp>
      <p:sp>
        <p:nvSpPr>
          <p:cNvPr id="34" name="Rounded Rectangle 33"/>
          <p:cNvSpPr/>
          <p:nvPr/>
        </p:nvSpPr>
        <p:spPr>
          <a:xfrm>
            <a:off x="3402482" y="1719072"/>
            <a:ext cx="2487168" cy="1517904"/>
          </a:xfrm>
          <a:prstGeom prst="roundRect">
            <a:avLst>
              <a:gd name="adj" fmla="val 9000"/>
            </a:avLst>
          </a:prstGeom>
          <a:solidFill>
            <a:srgbClr val="10192A">
              <a:alpha val="90000"/>
            </a:srgbClr>
          </a:solidFill>
          <a:ln w="16510">
            <a:solidFill>
              <a:srgbClr val="00D4FF"/>
            </a:solidFill>
          </a:ln>
          <a:effectLst>
            <a:glow rad="50800">
              <a:srgbClr val="00D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512210" y="1719072"/>
            <a:ext cx="2267712" cy="41148"/>
          </a:xfrm>
          <a:prstGeom prst="rect">
            <a:avLst/>
          </a:prstGeom>
          <a:solidFill>
            <a:srgbClr val="00D4FF"/>
          </a:solidFill>
          <a:ln>
            <a:noFill/>
          </a:ln>
          <a:effectLst>
            <a:glow rad="63500">
              <a:srgbClr val="00D4FF">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402482" y="1865376"/>
            <a:ext cx="2487168" cy="292608"/>
          </a:xfrm>
          <a:prstGeom prst="rect">
            <a:avLst/>
          </a:prstGeom>
          <a:noFill/>
        </p:spPr>
        <p:txBody>
          <a:bodyPr wrap="square" anchor="t" lIns="0" rIns="0" tIns="0" bIns="0">
            <a:spAutoFit/>
          </a:bodyPr>
          <a:lstStyle/>
          <a:p>
            <a:pPr algn="ctr">
              <a:lnSpc>
                <a:spcPct val="100000"/>
              </a:lnSpc>
            </a:pPr>
            <a:r>
              <a:rPr sz="1250" b="1" i="0" spc="70">
                <a:solidFill>
                  <a:srgbClr val="00D4FF"/>
                </a:solidFill>
                <a:latin typeface="Consolas"/>
              </a:rPr>
              <a:t>ORDERS</a:t>
            </a:r>
          </a:p>
        </p:txBody>
      </p:sp>
      <p:sp>
        <p:nvSpPr>
          <p:cNvPr id="37" name="TextBox 36"/>
          <p:cNvSpPr txBox="1"/>
          <p:nvPr/>
        </p:nvSpPr>
        <p:spPr>
          <a:xfrm>
            <a:off x="3493922" y="2194560"/>
            <a:ext cx="2304288" cy="256032"/>
          </a:xfrm>
          <a:prstGeom prst="rect">
            <a:avLst/>
          </a:prstGeom>
          <a:noFill/>
        </p:spPr>
        <p:txBody>
          <a:bodyPr wrap="square" anchor="t" lIns="0" rIns="0" tIns="0" bIns="0">
            <a:spAutoFit/>
          </a:bodyPr>
          <a:lstStyle/>
          <a:p>
            <a:pPr algn="ctr">
              <a:lnSpc>
                <a:spcPct val="100000"/>
              </a:lnSpc>
            </a:pPr>
            <a:r>
              <a:rPr sz="950" b="0" i="0">
                <a:solidFill>
                  <a:srgbClr val="EAF4FF"/>
                </a:solidFill>
                <a:latin typeface="Segoe UI"/>
              </a:rPr>
              <a:t>the transaction header</a:t>
            </a:r>
          </a:p>
        </p:txBody>
      </p:sp>
      <p:sp>
        <p:nvSpPr>
          <p:cNvPr id="38" name="TextBox 37"/>
          <p:cNvSpPr txBox="1"/>
          <p:nvPr/>
        </p:nvSpPr>
        <p:spPr>
          <a:xfrm>
            <a:off x="3475634" y="2487168"/>
            <a:ext cx="2340864" cy="658368"/>
          </a:xfrm>
          <a:prstGeom prst="rect">
            <a:avLst/>
          </a:prstGeom>
          <a:noFill/>
        </p:spPr>
        <p:txBody>
          <a:bodyPr wrap="square" anchor="t" lIns="0" rIns="0" tIns="0" bIns="0">
            <a:spAutoFit/>
          </a:bodyPr>
          <a:lstStyle/>
          <a:p>
            <a:pPr algn="ctr">
              <a:lnSpc>
                <a:spcPct val="100000"/>
              </a:lnSpc>
              <a:spcAft>
                <a:spcPts val="200"/>
              </a:spcAft>
            </a:pPr>
            <a:r>
              <a:rPr sz="800" b="0" i="0">
                <a:solidFill>
                  <a:srgbClr val="93A6C4"/>
                </a:solidFill>
                <a:latin typeface="Consolas"/>
              </a:rPr>
              <a:t>order_id · customer_id</a:t>
            </a:r>
          </a:p>
          <a:p>
            <a:pPr algn="ctr">
              <a:lnSpc>
                <a:spcPct val="100000"/>
              </a:lnSpc>
            </a:pPr>
            <a:r>
              <a:rPr sz="800" b="0" i="0">
                <a:solidFill>
                  <a:srgbClr val="93A6C4"/>
                </a:solidFill>
                <a:latin typeface="Consolas"/>
              </a:rPr>
              <a:t>date · status</a:t>
            </a:r>
          </a:p>
        </p:txBody>
      </p:sp>
      <p:sp>
        <p:nvSpPr>
          <p:cNvPr id="39" name="TextBox 38"/>
          <p:cNvSpPr txBox="1"/>
          <p:nvPr/>
        </p:nvSpPr>
        <p:spPr>
          <a:xfrm>
            <a:off x="5843930" y="2048256"/>
            <a:ext cx="503834" cy="274320"/>
          </a:xfrm>
          <a:prstGeom prst="rect">
            <a:avLst/>
          </a:prstGeom>
          <a:noFill/>
        </p:spPr>
        <p:txBody>
          <a:bodyPr wrap="square" anchor="t" lIns="0" rIns="0" tIns="0" bIns="0">
            <a:spAutoFit/>
          </a:bodyPr>
          <a:lstStyle/>
          <a:p>
            <a:pPr algn="ctr">
              <a:lnSpc>
                <a:spcPct val="100000"/>
              </a:lnSpc>
            </a:pPr>
            <a:r>
              <a:rPr sz="1000" b="0" i="0">
                <a:solidFill>
                  <a:srgbClr val="00D4FF"/>
                </a:solidFill>
                <a:effectLst>
                  <a:glow rad="38100">
                    <a:srgbClr val="00D4FF">
                      <a:alpha val="45000"/>
                    </a:srgbClr>
                  </a:glow>
                </a:effectLst>
                <a:latin typeface="Consolas"/>
              </a:rPr>
              <a:t>━━━▶</a:t>
            </a:r>
          </a:p>
        </p:txBody>
      </p:sp>
      <p:sp>
        <p:nvSpPr>
          <p:cNvPr id="40" name="TextBox 39"/>
          <p:cNvSpPr txBox="1"/>
          <p:nvPr/>
        </p:nvSpPr>
        <p:spPr>
          <a:xfrm>
            <a:off x="5843930" y="2286000"/>
            <a:ext cx="503834" cy="274320"/>
          </a:xfrm>
          <a:prstGeom prst="rect">
            <a:avLst/>
          </a:prstGeom>
          <a:noFill/>
        </p:spPr>
        <p:txBody>
          <a:bodyPr wrap="square" anchor="t" lIns="0" rIns="0" tIns="0" bIns="0">
            <a:spAutoFit/>
          </a:bodyPr>
          <a:lstStyle/>
          <a:p>
            <a:pPr algn="ctr">
              <a:lnSpc>
                <a:spcPct val="100000"/>
              </a:lnSpc>
            </a:pPr>
            <a:r>
              <a:rPr sz="1100" b="1" i="0">
                <a:solidFill>
                  <a:srgbClr val="00D4FF"/>
                </a:solidFill>
                <a:latin typeface="Consolas"/>
              </a:rPr>
              <a:t>1 — ∞</a:t>
            </a:r>
          </a:p>
        </p:txBody>
      </p:sp>
      <p:sp>
        <p:nvSpPr>
          <p:cNvPr id="41" name="Rounded Rectangle 40"/>
          <p:cNvSpPr/>
          <p:nvPr/>
        </p:nvSpPr>
        <p:spPr>
          <a:xfrm>
            <a:off x="6302044" y="1719072"/>
            <a:ext cx="2487168" cy="1517904"/>
          </a:xfrm>
          <a:prstGeom prst="roundRect">
            <a:avLst>
              <a:gd name="adj" fmla="val 9000"/>
            </a:avLst>
          </a:prstGeom>
          <a:solidFill>
            <a:srgbClr val="10192A">
              <a:alpha val="90000"/>
            </a:srgbClr>
          </a:solidFill>
          <a:ln w="16510">
            <a:solidFill>
              <a:srgbClr val="00FF41"/>
            </a:solidFill>
          </a:ln>
          <a:effectLst>
            <a:glow rad="50800">
              <a:srgbClr val="00FF41">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411772" y="1719072"/>
            <a:ext cx="2267712" cy="41148"/>
          </a:xfrm>
          <a:prstGeom prst="rect">
            <a:avLst/>
          </a:prstGeom>
          <a:solidFill>
            <a:srgbClr val="00FF41"/>
          </a:solidFill>
          <a:ln>
            <a:noFill/>
          </a:ln>
          <a:effectLst>
            <a:glow rad="63500">
              <a:srgbClr val="00FF41">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302044" y="1865376"/>
            <a:ext cx="2487168" cy="292608"/>
          </a:xfrm>
          <a:prstGeom prst="rect">
            <a:avLst/>
          </a:prstGeom>
          <a:noFill/>
        </p:spPr>
        <p:txBody>
          <a:bodyPr wrap="square" anchor="t" lIns="0" rIns="0" tIns="0" bIns="0">
            <a:spAutoFit/>
          </a:bodyPr>
          <a:lstStyle/>
          <a:p>
            <a:pPr algn="ctr">
              <a:lnSpc>
                <a:spcPct val="100000"/>
              </a:lnSpc>
            </a:pPr>
            <a:r>
              <a:rPr sz="1250" b="1" i="0" spc="70">
                <a:solidFill>
                  <a:srgbClr val="00FF41"/>
                </a:solidFill>
                <a:latin typeface="Consolas"/>
              </a:rPr>
              <a:t>ORDER_ITEMS</a:t>
            </a:r>
          </a:p>
        </p:txBody>
      </p:sp>
      <p:sp>
        <p:nvSpPr>
          <p:cNvPr id="44" name="TextBox 43"/>
          <p:cNvSpPr txBox="1"/>
          <p:nvPr/>
        </p:nvSpPr>
        <p:spPr>
          <a:xfrm>
            <a:off x="6393484" y="2194560"/>
            <a:ext cx="2304288" cy="256032"/>
          </a:xfrm>
          <a:prstGeom prst="rect">
            <a:avLst/>
          </a:prstGeom>
          <a:noFill/>
        </p:spPr>
        <p:txBody>
          <a:bodyPr wrap="square" anchor="t" lIns="0" rIns="0" tIns="0" bIns="0">
            <a:spAutoFit/>
          </a:bodyPr>
          <a:lstStyle/>
          <a:p>
            <a:pPr algn="ctr">
              <a:lnSpc>
                <a:spcPct val="100000"/>
              </a:lnSpc>
            </a:pPr>
            <a:r>
              <a:rPr sz="950" b="0" i="0">
                <a:solidFill>
                  <a:srgbClr val="EAF4FF"/>
                </a:solidFill>
                <a:latin typeface="Segoe UI"/>
              </a:rPr>
              <a:t>line-level detail</a:t>
            </a:r>
          </a:p>
        </p:txBody>
      </p:sp>
      <p:sp>
        <p:nvSpPr>
          <p:cNvPr id="45" name="TextBox 44"/>
          <p:cNvSpPr txBox="1"/>
          <p:nvPr/>
        </p:nvSpPr>
        <p:spPr>
          <a:xfrm>
            <a:off x="6375196" y="2487168"/>
            <a:ext cx="2340864" cy="658368"/>
          </a:xfrm>
          <a:prstGeom prst="rect">
            <a:avLst/>
          </a:prstGeom>
          <a:noFill/>
        </p:spPr>
        <p:txBody>
          <a:bodyPr wrap="square" anchor="t" lIns="0" rIns="0" tIns="0" bIns="0">
            <a:spAutoFit/>
          </a:bodyPr>
          <a:lstStyle/>
          <a:p>
            <a:pPr algn="ctr">
              <a:lnSpc>
                <a:spcPct val="100000"/>
              </a:lnSpc>
              <a:spcAft>
                <a:spcPts val="200"/>
              </a:spcAft>
            </a:pPr>
            <a:r>
              <a:rPr sz="800" b="0" i="0">
                <a:solidFill>
                  <a:srgbClr val="93A6C4"/>
                </a:solidFill>
                <a:latin typeface="Consolas"/>
              </a:rPr>
              <a:t>order_id · product_id</a:t>
            </a:r>
          </a:p>
          <a:p>
            <a:pPr algn="ctr">
              <a:lnSpc>
                <a:spcPct val="100000"/>
              </a:lnSpc>
            </a:pPr>
            <a:r>
              <a:rPr sz="800" b="0" i="0">
                <a:solidFill>
                  <a:srgbClr val="93A6C4"/>
                </a:solidFill>
                <a:latin typeface="Consolas"/>
              </a:rPr>
              <a:t>qty · price</a:t>
            </a:r>
          </a:p>
        </p:txBody>
      </p:sp>
      <p:sp>
        <p:nvSpPr>
          <p:cNvPr id="46" name="TextBox 45"/>
          <p:cNvSpPr txBox="1"/>
          <p:nvPr/>
        </p:nvSpPr>
        <p:spPr>
          <a:xfrm>
            <a:off x="8743492" y="2048256"/>
            <a:ext cx="503834" cy="274320"/>
          </a:xfrm>
          <a:prstGeom prst="rect">
            <a:avLst/>
          </a:prstGeom>
          <a:noFill/>
        </p:spPr>
        <p:txBody>
          <a:bodyPr wrap="square" anchor="t" lIns="0" rIns="0" tIns="0" bIns="0">
            <a:spAutoFit/>
          </a:bodyPr>
          <a:lstStyle/>
          <a:p>
            <a:pPr algn="ctr">
              <a:lnSpc>
                <a:spcPct val="100000"/>
              </a:lnSpc>
            </a:pPr>
            <a:r>
              <a:rPr sz="1000" b="0" i="0">
                <a:solidFill>
                  <a:srgbClr val="00D4FF"/>
                </a:solidFill>
                <a:effectLst>
                  <a:glow rad="38100">
                    <a:srgbClr val="00D4FF">
                      <a:alpha val="45000"/>
                    </a:srgbClr>
                  </a:glow>
                </a:effectLst>
                <a:latin typeface="Consolas"/>
              </a:rPr>
              <a:t>◀━━━</a:t>
            </a:r>
          </a:p>
        </p:txBody>
      </p:sp>
      <p:sp>
        <p:nvSpPr>
          <p:cNvPr id="47" name="TextBox 46"/>
          <p:cNvSpPr txBox="1"/>
          <p:nvPr/>
        </p:nvSpPr>
        <p:spPr>
          <a:xfrm>
            <a:off x="8743492" y="2286000"/>
            <a:ext cx="503834" cy="274320"/>
          </a:xfrm>
          <a:prstGeom prst="rect">
            <a:avLst/>
          </a:prstGeom>
          <a:noFill/>
        </p:spPr>
        <p:txBody>
          <a:bodyPr wrap="square" anchor="t" lIns="0" rIns="0" tIns="0" bIns="0">
            <a:spAutoFit/>
          </a:bodyPr>
          <a:lstStyle/>
          <a:p>
            <a:pPr algn="ctr">
              <a:lnSpc>
                <a:spcPct val="100000"/>
              </a:lnSpc>
            </a:pPr>
            <a:r>
              <a:rPr sz="1100" b="1" i="0">
                <a:solidFill>
                  <a:srgbClr val="00D4FF"/>
                </a:solidFill>
                <a:latin typeface="Consolas"/>
              </a:rPr>
              <a:t>∞ — 1</a:t>
            </a:r>
          </a:p>
        </p:txBody>
      </p:sp>
      <p:sp>
        <p:nvSpPr>
          <p:cNvPr id="48" name="Rounded Rectangle 47"/>
          <p:cNvSpPr/>
          <p:nvPr/>
        </p:nvSpPr>
        <p:spPr>
          <a:xfrm>
            <a:off x="9201607" y="1719072"/>
            <a:ext cx="2487168" cy="1517904"/>
          </a:xfrm>
          <a:prstGeom prst="roundRect">
            <a:avLst>
              <a:gd name="adj" fmla="val 9000"/>
            </a:avLst>
          </a:prstGeom>
          <a:solidFill>
            <a:srgbClr val="10192A">
              <a:alpha val="90000"/>
            </a:srgbClr>
          </a:solidFill>
          <a:ln w="16510">
            <a:solidFill>
              <a:srgbClr val="00D4FF"/>
            </a:solidFill>
          </a:ln>
          <a:effectLst>
            <a:glow rad="50800">
              <a:srgbClr val="00D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9311335" y="1719072"/>
            <a:ext cx="2267712" cy="41148"/>
          </a:xfrm>
          <a:prstGeom prst="rect">
            <a:avLst/>
          </a:prstGeom>
          <a:solidFill>
            <a:srgbClr val="00D4FF"/>
          </a:solidFill>
          <a:ln>
            <a:noFill/>
          </a:ln>
          <a:effectLst>
            <a:glow rad="63500">
              <a:srgbClr val="00D4FF">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201607" y="1865376"/>
            <a:ext cx="2487168" cy="292608"/>
          </a:xfrm>
          <a:prstGeom prst="rect">
            <a:avLst/>
          </a:prstGeom>
          <a:noFill/>
        </p:spPr>
        <p:txBody>
          <a:bodyPr wrap="square" anchor="t" lIns="0" rIns="0" tIns="0" bIns="0">
            <a:spAutoFit/>
          </a:bodyPr>
          <a:lstStyle/>
          <a:p>
            <a:pPr algn="ctr">
              <a:lnSpc>
                <a:spcPct val="100000"/>
              </a:lnSpc>
            </a:pPr>
            <a:r>
              <a:rPr sz="1250" b="1" i="0" spc="70">
                <a:solidFill>
                  <a:srgbClr val="00D4FF"/>
                </a:solidFill>
                <a:latin typeface="Consolas"/>
              </a:rPr>
              <a:t>PRODUCTS</a:t>
            </a:r>
          </a:p>
        </p:txBody>
      </p:sp>
      <p:sp>
        <p:nvSpPr>
          <p:cNvPr id="51" name="TextBox 50"/>
          <p:cNvSpPr txBox="1"/>
          <p:nvPr/>
        </p:nvSpPr>
        <p:spPr>
          <a:xfrm>
            <a:off x="9293047" y="2194560"/>
            <a:ext cx="2304288" cy="256032"/>
          </a:xfrm>
          <a:prstGeom prst="rect">
            <a:avLst/>
          </a:prstGeom>
          <a:noFill/>
        </p:spPr>
        <p:txBody>
          <a:bodyPr wrap="square" anchor="t" lIns="0" rIns="0" tIns="0" bIns="0">
            <a:spAutoFit/>
          </a:bodyPr>
          <a:lstStyle/>
          <a:p>
            <a:pPr algn="ctr">
              <a:lnSpc>
                <a:spcPct val="100000"/>
              </a:lnSpc>
            </a:pPr>
            <a:r>
              <a:rPr sz="950" b="0" i="0">
                <a:solidFill>
                  <a:srgbClr val="EAF4FF"/>
                </a:solidFill>
                <a:latin typeface="Segoe UI"/>
              </a:rPr>
              <a:t>what is being sold</a:t>
            </a:r>
          </a:p>
        </p:txBody>
      </p:sp>
      <p:sp>
        <p:nvSpPr>
          <p:cNvPr id="52" name="TextBox 51"/>
          <p:cNvSpPr txBox="1"/>
          <p:nvPr/>
        </p:nvSpPr>
        <p:spPr>
          <a:xfrm>
            <a:off x="9274759" y="2487168"/>
            <a:ext cx="2340864" cy="658368"/>
          </a:xfrm>
          <a:prstGeom prst="rect">
            <a:avLst/>
          </a:prstGeom>
          <a:noFill/>
        </p:spPr>
        <p:txBody>
          <a:bodyPr wrap="square" anchor="t" lIns="0" rIns="0" tIns="0" bIns="0">
            <a:spAutoFit/>
          </a:bodyPr>
          <a:lstStyle/>
          <a:p>
            <a:pPr algn="ctr">
              <a:lnSpc>
                <a:spcPct val="100000"/>
              </a:lnSpc>
              <a:spcAft>
                <a:spcPts val="200"/>
              </a:spcAft>
            </a:pPr>
            <a:r>
              <a:rPr sz="800" b="0" i="0">
                <a:solidFill>
                  <a:srgbClr val="93A6C4"/>
                </a:solidFill>
                <a:latin typeface="Consolas"/>
              </a:rPr>
              <a:t>product_id · name</a:t>
            </a:r>
          </a:p>
          <a:p>
            <a:pPr algn="ctr">
              <a:lnSpc>
                <a:spcPct val="100000"/>
              </a:lnSpc>
            </a:pPr>
            <a:r>
              <a:rPr sz="800" b="0" i="0">
                <a:solidFill>
                  <a:srgbClr val="93A6C4"/>
                </a:solidFill>
                <a:latin typeface="Consolas"/>
              </a:rPr>
              <a:t>category · price</a:t>
            </a:r>
          </a:p>
        </p:txBody>
      </p:sp>
      <p:sp>
        <p:nvSpPr>
          <p:cNvPr id="53" name="TextBox 52"/>
          <p:cNvSpPr txBox="1"/>
          <p:nvPr/>
        </p:nvSpPr>
        <p:spPr>
          <a:xfrm>
            <a:off x="804672" y="3611880"/>
            <a:ext cx="10607040" cy="1691640"/>
          </a:xfrm>
          <a:prstGeom prst="rect">
            <a:avLst/>
          </a:prstGeom>
          <a:noFill/>
        </p:spPr>
        <p:txBody>
          <a:bodyPr wrap="square" anchor="t" lIns="0" rIns="0" tIns="0" bIns="0">
            <a:spAutoFit/>
          </a:bodyPr>
          <a:lstStyle/>
          <a:p>
            <a:pPr algn="l" marL="237744" indent="-237744">
              <a:lnSpc>
                <a:spcPct val="112000"/>
              </a:lnSpc>
              <a:spcAft>
                <a:spcPts val="1200"/>
              </a:spcAft>
            </a:pPr>
            <a:r>
              <a:rPr sz="1250" b="1" i="0">
                <a:solidFill>
                  <a:srgbClr val="00FF41"/>
                </a:solidFill>
                <a:latin typeface="Consolas"/>
              </a:rPr>
              <a:t>▸  </a:t>
            </a:r>
            <a:r>
              <a:rPr sz="1250" b="1" i="0">
                <a:solidFill>
                  <a:srgbClr val="EAF4FF"/>
                </a:solidFill>
                <a:latin typeface="Segoe UI"/>
              </a:rPr>
              <a:t>Normalized e-commerce model — four tables, one star</a:t>
            </a:r>
            <a:r>
              <a:rPr sz="1250" b="0" i="0">
                <a:solidFill>
                  <a:srgbClr val="93A6C4"/>
                </a:solidFill>
                <a:latin typeface="Segoe UI"/>
              </a:rPr>
              <a:t> — join-rich by design: every interesting question crosses at least one join</a:t>
            </a:r>
          </a:p>
          <a:p>
            <a:pPr algn="l" marL="237744" indent="-237744">
              <a:lnSpc>
                <a:spcPct val="112000"/>
              </a:lnSpc>
              <a:spcAft>
                <a:spcPts val="1200"/>
              </a:spcAft>
            </a:pPr>
            <a:r>
              <a:rPr sz="1250" b="1" i="0">
                <a:solidFill>
                  <a:srgbClr val="00FF41"/>
                </a:solidFill>
                <a:latin typeface="Consolas"/>
              </a:rPr>
              <a:t>▸  </a:t>
            </a:r>
            <a:r>
              <a:rPr sz="1250" b="1" i="0">
                <a:solidFill>
                  <a:srgbClr val="EAF4FF"/>
                </a:solidFill>
                <a:latin typeface="Segoe UI"/>
              </a:rPr>
              <a:t>The schema that stresses text-to-SQL edge cases</a:t>
            </a:r>
            <a:r>
              <a:rPr sz="1250" b="0" i="0">
                <a:solidFill>
                  <a:srgbClr val="93A6C4"/>
                </a:solidFill>
                <a:latin typeface="Segoe UI"/>
              </a:rPr>
              <a:t> — if the agent is correct here, it generalizes</a:t>
            </a:r>
          </a:p>
          <a:p>
            <a:pPr algn="l" marL="237744" indent="-237744">
              <a:lnSpc>
                <a:spcPct val="112000"/>
              </a:lnSpc>
              <a:spcAft>
                <a:spcPts val="1200"/>
              </a:spcAft>
            </a:pPr>
            <a:r>
              <a:rPr sz="1250" b="1" i="0">
                <a:solidFill>
                  <a:srgbClr val="00FF41"/>
                </a:solidFill>
                <a:latin typeface="Consolas"/>
              </a:rPr>
              <a:t>▸  </a:t>
            </a:r>
            <a:r>
              <a:rPr sz="1250" b="1" i="0">
                <a:solidFill>
                  <a:srgbClr val="EAF4FF"/>
                </a:solidFill>
                <a:latin typeface="Segoe UI"/>
              </a:rPr>
              <a:t>Nothing is hardcoded</a:t>
            </a:r>
            <a:r>
              <a:rPr sz="1250" b="0" i="0">
                <a:solidFill>
                  <a:srgbClr val="93A6C4"/>
                </a:solidFill>
                <a:latin typeface="Segoe UI"/>
              </a:rPr>
              <a:t> — the agent maps all relationships at runtime via get_schema</a:t>
            </a:r>
          </a:p>
        </p:txBody>
      </p:sp>
      <p:sp>
        <p:nvSpPr>
          <p:cNvPr id="54" name="Rounded Rectangle 53"/>
          <p:cNvSpPr/>
          <p:nvPr/>
        </p:nvSpPr>
        <p:spPr>
          <a:xfrm>
            <a:off x="502920" y="5623560"/>
            <a:ext cx="11185855" cy="420624"/>
          </a:xfrm>
          <a:prstGeom prst="roundRect">
            <a:avLst>
              <a:gd name="adj" fmla="val 50000"/>
            </a:avLst>
          </a:prstGeom>
          <a:solidFill>
            <a:srgbClr val="10192A">
              <a:alpha val="88000"/>
            </a:srgbClr>
          </a:solidFill>
          <a:ln w="12700">
            <a:solidFill>
              <a:srgbClr val="223046"/>
            </a:solidFill>
          </a:ln>
          <a:effectLst>
            <a:outerShdw blurRad="128016" dist="36576" dir="5400000" rotWithShape="0">
              <a:srgbClr val="000000">
                <a:alpha val="5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694944" y="5724144"/>
            <a:ext cx="54864" cy="219456"/>
          </a:xfrm>
          <a:prstGeom prst="rect">
            <a:avLst/>
          </a:prstGeom>
          <a:solidFill>
            <a:srgbClr val="00FF41"/>
          </a:solidFill>
          <a:ln>
            <a:noFill/>
          </a:ln>
          <a:effectLst>
            <a:glow rad="50800">
              <a:srgbClr val="00FF41">
                <a:alpha val="6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14400" y="5623560"/>
            <a:ext cx="10180015" cy="420624"/>
          </a:xfrm>
          <a:prstGeom prst="rect">
            <a:avLst/>
          </a:prstGeom>
          <a:noFill/>
        </p:spPr>
        <p:txBody>
          <a:bodyPr wrap="square" anchor="ctr" lIns="0" rIns="0" tIns="0" bIns="0">
            <a:spAutoFit/>
          </a:bodyPr>
          <a:lstStyle/>
          <a:p>
            <a:pPr algn="l">
              <a:lnSpc>
                <a:spcPct val="100000"/>
              </a:lnSpc>
            </a:pPr>
            <a:r>
              <a:rPr sz="1050" b="1" i="0" spc="55">
                <a:solidFill>
                  <a:srgbClr val="00FF41"/>
                </a:solidFill>
                <a:effectLst>
                  <a:glow rad="38100">
                    <a:srgbClr val="00FF41">
                      <a:alpha val="30000"/>
                    </a:srgbClr>
                  </a:glow>
                </a:effectLst>
                <a:latin typeface="Consolas"/>
              </a:rPr>
              <a:t>SCHEMA DISCOVERED LIVE — NEVER BAKED INTO PROMPTS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subtle-green.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9281160" y="0"/>
            <a:ext cx="2514600" cy="1645920"/>
          </a:xfrm>
          <a:prstGeom prst="rect">
            <a:avLst/>
          </a:prstGeom>
          <a:noFill/>
        </p:spPr>
        <p:txBody>
          <a:bodyPr wrap="square" anchor="t" lIns="0" rIns="0" tIns="0" bIns="0">
            <a:spAutoFit/>
          </a:bodyPr>
          <a:lstStyle/>
          <a:p>
            <a:pPr algn="r">
              <a:lnSpc>
                <a:spcPct val="100000"/>
              </a:lnSpc>
            </a:pPr>
            <a:r>
              <a:rPr sz="11500" b="1" i="0">
                <a:solidFill>
                  <a:srgbClr val="EAF4FF">
                    <a:alpha val="7000"/>
                  </a:srgbClr>
                </a:solidFill>
                <a:latin typeface="Bahnschrift"/>
              </a:rPr>
              <a:t>09</a:t>
            </a:r>
          </a:p>
        </p:txBody>
      </p:sp>
      <p:sp>
        <p:nvSpPr>
          <p:cNvPr id="4" name="Rectangle 3"/>
          <p:cNvSpPr/>
          <p:nvPr/>
        </p:nvSpPr>
        <p:spPr>
          <a:xfrm>
            <a:off x="0" y="0"/>
            <a:ext cx="5120511" cy="29260"/>
          </a:xfrm>
          <a:prstGeom prst="rect">
            <a:avLst/>
          </a:prstGeom>
          <a:solidFill>
            <a:srgbClr val="00FF41"/>
          </a:solidFill>
          <a:ln>
            <a:noFill/>
          </a:ln>
          <a:effectLst>
            <a:glow rad="50800">
              <a:srgbClr val="00FF41">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120511" y="0"/>
            <a:ext cx="7071183" cy="29260"/>
          </a:xfrm>
          <a:prstGeom prst="rect">
            <a:avLst/>
          </a:prstGeom>
          <a:solidFill>
            <a:srgbClr val="00D4FF"/>
          </a:solidFill>
          <a:ln>
            <a:noFill/>
          </a:ln>
          <a:effectLst>
            <a:glow rad="50800">
              <a:srgbClr val="00D4FF">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6032" y="6254496"/>
            <a:ext cx="329184" cy="20116"/>
          </a:xfrm>
          <a:prstGeom prst="rect">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56032" y="6272784"/>
            <a:ext cx="20116" cy="347472"/>
          </a:xfrm>
          <a:prstGeom prst="rect">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6446520"/>
            <a:ext cx="11185855" cy="10972"/>
          </a:xfrm>
          <a:prstGeom prst="rect">
            <a:avLst/>
          </a:prstGeom>
          <a:solidFill>
            <a:srgbClr val="2230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501384"/>
            <a:ext cx="5669280" cy="201168"/>
          </a:xfrm>
          <a:prstGeom prst="rect">
            <a:avLst/>
          </a:prstGeom>
          <a:noFill/>
        </p:spPr>
        <p:txBody>
          <a:bodyPr wrap="square" anchor="t" lIns="0" rIns="0" tIns="0" bIns="0">
            <a:spAutoFit/>
          </a:bodyPr>
          <a:lstStyle/>
          <a:p>
            <a:pPr algn="l">
              <a:lnSpc>
                <a:spcPct val="100000"/>
              </a:lnSpc>
            </a:pPr>
            <a:r>
              <a:rPr sz="800" b="1" i="0">
                <a:solidFill>
                  <a:srgbClr val="00FF41"/>
                </a:solidFill>
                <a:latin typeface="Consolas"/>
              </a:rPr>
              <a:t>ZODIAC AI </a:t>
            </a:r>
            <a:r>
              <a:rPr sz="800" b="0" i="0">
                <a:solidFill>
                  <a:srgbClr val="5A6A85"/>
                </a:solidFill>
                <a:latin typeface="Consolas"/>
              </a:rPr>
              <a:t>// CHAT WITH YOUR DATABASE // </a:t>
            </a:r>
            <a:r>
              <a:rPr sz="800" b="0" i="0">
                <a:solidFill>
                  <a:srgbClr val="00D4FF"/>
                </a:solidFill>
                <a:latin typeface="Consolas"/>
              </a:rPr>
              <a:t>SAMPLE PROMPTS</a:t>
            </a:r>
          </a:p>
        </p:txBody>
      </p:sp>
      <p:sp>
        <p:nvSpPr>
          <p:cNvPr id="10" name="TextBox 9"/>
          <p:cNvSpPr txBox="1"/>
          <p:nvPr/>
        </p:nvSpPr>
        <p:spPr>
          <a:xfrm>
            <a:off x="10728655" y="6501384"/>
            <a:ext cx="960120" cy="201168"/>
          </a:xfrm>
          <a:prstGeom prst="rect">
            <a:avLst/>
          </a:prstGeom>
          <a:noFill/>
        </p:spPr>
        <p:txBody>
          <a:bodyPr wrap="square" anchor="t" lIns="0" rIns="0" tIns="0" bIns="0">
            <a:spAutoFit/>
          </a:bodyPr>
          <a:lstStyle/>
          <a:p>
            <a:pPr algn="r">
              <a:lnSpc>
                <a:spcPct val="100000"/>
              </a:lnSpc>
            </a:pPr>
            <a:r>
              <a:rPr sz="800" b="1" i="0">
                <a:solidFill>
                  <a:srgbClr val="00FF41"/>
                </a:solidFill>
                <a:latin typeface="Consolas"/>
              </a:rPr>
              <a:t>09</a:t>
            </a:r>
            <a:r>
              <a:rPr sz="800" b="0" i="0">
                <a:solidFill>
                  <a:srgbClr val="5A6A85"/>
                </a:solidFill>
                <a:latin typeface="Consolas"/>
              </a:rPr>
              <a:t> / 11</a:t>
            </a:r>
          </a:p>
        </p:txBody>
      </p:sp>
      <p:sp>
        <p:nvSpPr>
          <p:cNvPr id="11" name="Rectangle 10"/>
          <p:cNvSpPr/>
          <p:nvPr/>
        </p:nvSpPr>
        <p:spPr>
          <a:xfrm>
            <a:off x="4198467" y="6675120"/>
            <a:ext cx="274320" cy="45720"/>
          </a:xfrm>
          <a:prstGeom prst="rect">
            <a:avLst/>
          </a:prstGeom>
          <a:solidFill>
            <a:srgbClr val="1653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50511" y="6675120"/>
            <a:ext cx="274320" cy="45720"/>
          </a:xfrm>
          <a:prstGeom prst="rect">
            <a:avLst/>
          </a:prstGeom>
          <a:solidFill>
            <a:srgbClr val="1653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902555" y="6675120"/>
            <a:ext cx="274320" cy="45720"/>
          </a:xfrm>
          <a:prstGeom prst="rect">
            <a:avLst/>
          </a:prstGeom>
          <a:solidFill>
            <a:srgbClr val="1653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254599" y="6675120"/>
            <a:ext cx="274320" cy="45720"/>
          </a:xfrm>
          <a:prstGeom prst="rect">
            <a:avLst/>
          </a:prstGeom>
          <a:solidFill>
            <a:srgbClr val="1653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06643" y="6675120"/>
            <a:ext cx="274320" cy="45720"/>
          </a:xfrm>
          <a:prstGeom prst="rect">
            <a:avLst/>
          </a:prstGeom>
          <a:solidFill>
            <a:srgbClr val="1653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958687" y="6675120"/>
            <a:ext cx="274320" cy="45720"/>
          </a:xfrm>
          <a:prstGeom prst="rect">
            <a:avLst/>
          </a:prstGeom>
          <a:solidFill>
            <a:srgbClr val="1653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310731" y="6675120"/>
            <a:ext cx="274320" cy="45720"/>
          </a:xfrm>
          <a:prstGeom prst="rect">
            <a:avLst/>
          </a:prstGeom>
          <a:solidFill>
            <a:srgbClr val="1653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662775" y="6675120"/>
            <a:ext cx="274320" cy="45720"/>
          </a:xfrm>
          <a:prstGeom prst="rect">
            <a:avLst/>
          </a:prstGeom>
          <a:solidFill>
            <a:srgbClr val="1653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014819" y="6675120"/>
            <a:ext cx="274320" cy="45720"/>
          </a:xfrm>
          <a:prstGeom prst="rect">
            <a:avLst/>
          </a:prstGeom>
          <a:solidFill>
            <a:srgbClr val="00FF41"/>
          </a:solidFill>
          <a:ln>
            <a:noFill/>
          </a:ln>
          <a:effectLst>
            <a:glow rad="63500">
              <a:srgbClr val="00FF41">
                <a:alpha val="6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66863" y="6675120"/>
            <a:ext cx="274320" cy="45720"/>
          </a:xfrm>
          <a:prstGeom prst="rect">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18907" y="6675120"/>
            <a:ext cx="274320" cy="45720"/>
          </a:xfrm>
          <a:prstGeom prst="rect">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21207" y="466344"/>
            <a:ext cx="100584" cy="100584"/>
          </a:xfrm>
          <a:prstGeom prst="rect">
            <a:avLst/>
          </a:prstGeom>
          <a:solidFill>
            <a:srgbClr val="00FF41"/>
          </a:solidFill>
          <a:ln>
            <a:noFill/>
          </a:ln>
          <a:effectLst>
            <a:glow rad="63500">
              <a:srgbClr val="00FF41">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402336"/>
            <a:ext cx="10515600" cy="274320"/>
          </a:xfrm>
          <a:prstGeom prst="rect">
            <a:avLst/>
          </a:prstGeom>
          <a:noFill/>
        </p:spPr>
        <p:txBody>
          <a:bodyPr wrap="square" anchor="t" lIns="0" rIns="0" tIns="0" bIns="0">
            <a:spAutoFit/>
          </a:bodyPr>
          <a:lstStyle/>
          <a:p>
            <a:pPr algn="l">
              <a:lnSpc>
                <a:spcPct val="100000"/>
              </a:lnSpc>
            </a:pPr>
            <a:r>
              <a:rPr sz="1050" b="0" i="0" spc="170">
                <a:solidFill>
                  <a:srgbClr val="00FF41"/>
                </a:solidFill>
                <a:effectLst>
                  <a:glow rad="38100">
                    <a:srgbClr val="00FF41">
                      <a:alpha val="40000"/>
                    </a:srgbClr>
                  </a:glow>
                </a:effectLst>
                <a:latin typeface="Consolas"/>
              </a:rPr>
              <a:t>09 — VALID QUERY CATEGORIES &amp; SAMPLE PROMPTS</a:t>
            </a:r>
          </a:p>
        </p:txBody>
      </p:sp>
      <p:sp>
        <p:nvSpPr>
          <p:cNvPr id="24" name="TextBox 23"/>
          <p:cNvSpPr txBox="1"/>
          <p:nvPr/>
        </p:nvSpPr>
        <p:spPr>
          <a:xfrm>
            <a:off x="502920" y="694944"/>
            <a:ext cx="11247120" cy="566928"/>
          </a:xfrm>
          <a:prstGeom prst="rect">
            <a:avLst/>
          </a:prstGeom>
          <a:noFill/>
        </p:spPr>
        <p:txBody>
          <a:bodyPr wrap="square" anchor="t" lIns="0" rIns="0" tIns="0" bIns="0">
            <a:spAutoFit/>
          </a:bodyPr>
          <a:lstStyle/>
          <a:p>
            <a:pPr algn="l">
              <a:lnSpc>
                <a:spcPct val="100000"/>
              </a:lnSpc>
            </a:pPr>
            <a:r>
              <a:rPr sz="3000" b="1" i="0">
                <a:solidFill>
                  <a:srgbClr val="EAF4FF"/>
                </a:solidFill>
                <a:latin typeface="Bahnschrift"/>
              </a:rPr>
              <a:t>Ask It Anything </a:t>
            </a:r>
            <a:r>
              <a:rPr sz="3000" b="1" i="0">
                <a:solidFill>
                  <a:srgbClr val="00D4FF"/>
                </a:solidFill>
                <a:effectLst>
                  <a:glow rad="63500">
                    <a:srgbClr val="00D4FF">
                      <a:alpha val="35000"/>
                    </a:srgbClr>
                  </a:glow>
                </a:effectLst>
                <a:latin typeface="Bahnschrift"/>
              </a:rPr>
              <a:t>(Structured)</a:t>
            </a:r>
          </a:p>
        </p:txBody>
      </p:sp>
      <p:sp>
        <p:nvSpPr>
          <p:cNvPr id="25" name="Rectangle 24"/>
          <p:cNvSpPr/>
          <p:nvPr/>
        </p:nvSpPr>
        <p:spPr>
          <a:xfrm>
            <a:off x="521207" y="1344168"/>
            <a:ext cx="1554480" cy="31089"/>
          </a:xfrm>
          <a:prstGeom prst="rect">
            <a:avLst/>
          </a:prstGeom>
          <a:solidFill>
            <a:srgbClr val="00FF41"/>
          </a:solidFill>
          <a:ln>
            <a:noFill/>
          </a:ln>
          <a:effectLst>
            <a:glow rad="50800">
              <a:srgbClr val="00FF41">
                <a:alpha val="5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75688" y="1344168"/>
            <a:ext cx="502920" cy="31089"/>
          </a:xfrm>
          <a:prstGeom prst="rect">
            <a:avLst/>
          </a:prstGeom>
          <a:solidFill>
            <a:srgbClr val="00D4FF"/>
          </a:solidFill>
          <a:ln>
            <a:noFill/>
          </a:ln>
          <a:effectLst>
            <a:glow rad="50800">
              <a:srgbClr val="00D4FF">
                <a:alpha val="5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502920" y="1691640"/>
            <a:ext cx="3594506" cy="1389888"/>
          </a:xfrm>
          <a:prstGeom prst="roundRect">
            <a:avLst>
              <a:gd name="adj" fmla="val 9000"/>
            </a:avLst>
          </a:prstGeom>
          <a:solidFill>
            <a:srgbClr val="10192A">
              <a:alpha val="90000"/>
            </a:srgbClr>
          </a:solidFill>
          <a:ln w="12700">
            <a:solidFill>
              <a:srgbClr val="223046"/>
            </a:solidFill>
          </a:ln>
          <a:effectLst>
            <a:outerShdw blurRad="137160" dist="36576" dir="5400000" rotWithShape="0">
              <a:srgbClr val="000000">
                <a:alpha val="5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02920" y="1819656"/>
            <a:ext cx="50292" cy="1133856"/>
          </a:xfrm>
          <a:prstGeom prst="rect">
            <a:avLst/>
          </a:prstGeom>
          <a:solidFill>
            <a:srgbClr val="00D4FF"/>
          </a:solidFill>
          <a:ln>
            <a:noFill/>
          </a:ln>
          <a:effectLst>
            <a:glow rad="50800">
              <a:srgbClr val="00D4FF">
                <a:alpha val="5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0664" y="1847088"/>
            <a:ext cx="3183026" cy="274320"/>
          </a:xfrm>
          <a:prstGeom prst="rect">
            <a:avLst/>
          </a:prstGeom>
          <a:noFill/>
        </p:spPr>
        <p:txBody>
          <a:bodyPr wrap="square" anchor="t" lIns="0" rIns="0" tIns="0" bIns="0">
            <a:spAutoFit/>
          </a:bodyPr>
          <a:lstStyle/>
          <a:p>
            <a:pPr algn="l">
              <a:lnSpc>
                <a:spcPct val="100000"/>
              </a:lnSpc>
            </a:pPr>
            <a:r>
              <a:rPr sz="1000" b="0" i="0">
                <a:solidFill>
                  <a:srgbClr val="5A6A85"/>
                </a:solidFill>
                <a:latin typeface="Consolas"/>
              </a:rPr>
              <a:t>// </a:t>
            </a:r>
            <a:r>
              <a:rPr sz="1050" b="1" i="0" spc="130">
                <a:solidFill>
                  <a:srgbClr val="00D4FF"/>
                </a:solidFill>
                <a:latin typeface="Consolas"/>
              </a:rPr>
              <a:t>AGGREGATION</a:t>
            </a:r>
          </a:p>
        </p:txBody>
      </p:sp>
      <p:sp>
        <p:nvSpPr>
          <p:cNvPr id="30" name="TextBox 29"/>
          <p:cNvSpPr txBox="1"/>
          <p:nvPr/>
        </p:nvSpPr>
        <p:spPr>
          <a:xfrm>
            <a:off x="740664" y="2167128"/>
            <a:ext cx="3183026" cy="777240"/>
          </a:xfrm>
          <a:prstGeom prst="rect">
            <a:avLst/>
          </a:prstGeom>
          <a:noFill/>
        </p:spPr>
        <p:txBody>
          <a:bodyPr wrap="square" anchor="t" lIns="0" rIns="0" tIns="0" bIns="0">
            <a:spAutoFit/>
          </a:bodyPr>
          <a:lstStyle/>
          <a:p>
            <a:pPr algn="l">
              <a:lnSpc>
                <a:spcPct val="115000"/>
              </a:lnSpc>
              <a:spcAft>
                <a:spcPts val="100"/>
              </a:spcAft>
            </a:pPr>
            <a:r>
              <a:rPr sz="1200" b="0" i="1">
                <a:solidFill>
                  <a:srgbClr val="EAF4FF"/>
                </a:solidFill>
                <a:latin typeface="Segoe UI"/>
              </a:rPr>
              <a:t>"What was total revenue</a:t>
            </a:r>
          </a:p>
          <a:p>
            <a:pPr algn="l">
              <a:lnSpc>
                <a:spcPct val="115000"/>
              </a:lnSpc>
            </a:pPr>
            <a:r>
              <a:rPr sz="1200" b="0" i="1">
                <a:solidFill>
                  <a:srgbClr val="EAF4FF"/>
                </a:solidFill>
                <a:latin typeface="Segoe UI"/>
              </a:rPr>
              <a:t>per month this year?"</a:t>
            </a:r>
          </a:p>
        </p:txBody>
      </p:sp>
      <p:sp>
        <p:nvSpPr>
          <p:cNvPr id="31" name="Rounded Rectangle 30"/>
          <p:cNvSpPr/>
          <p:nvPr/>
        </p:nvSpPr>
        <p:spPr>
          <a:xfrm>
            <a:off x="502920" y="3264408"/>
            <a:ext cx="3594506" cy="1389888"/>
          </a:xfrm>
          <a:prstGeom prst="roundRect">
            <a:avLst>
              <a:gd name="adj" fmla="val 9000"/>
            </a:avLst>
          </a:prstGeom>
          <a:solidFill>
            <a:srgbClr val="10192A">
              <a:alpha val="90000"/>
            </a:srgbClr>
          </a:solidFill>
          <a:ln w="12700">
            <a:solidFill>
              <a:srgbClr val="223046"/>
            </a:solidFill>
          </a:ln>
          <a:effectLst>
            <a:outerShdw blurRad="137160" dist="36576" dir="5400000" rotWithShape="0">
              <a:srgbClr val="000000">
                <a:alpha val="5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02920" y="3392424"/>
            <a:ext cx="50292" cy="1133856"/>
          </a:xfrm>
          <a:prstGeom prst="rect">
            <a:avLst/>
          </a:prstGeom>
          <a:solidFill>
            <a:srgbClr val="00FF41"/>
          </a:solidFill>
          <a:ln>
            <a:noFill/>
          </a:ln>
          <a:effectLst>
            <a:glow rad="50800">
              <a:srgbClr val="00FF41">
                <a:alpha val="5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40664" y="3419856"/>
            <a:ext cx="3183026" cy="274320"/>
          </a:xfrm>
          <a:prstGeom prst="rect">
            <a:avLst/>
          </a:prstGeom>
          <a:noFill/>
        </p:spPr>
        <p:txBody>
          <a:bodyPr wrap="square" anchor="t" lIns="0" rIns="0" tIns="0" bIns="0">
            <a:spAutoFit/>
          </a:bodyPr>
          <a:lstStyle/>
          <a:p>
            <a:pPr algn="l">
              <a:lnSpc>
                <a:spcPct val="100000"/>
              </a:lnSpc>
            </a:pPr>
            <a:r>
              <a:rPr sz="1000" b="0" i="0">
                <a:solidFill>
                  <a:srgbClr val="5A6A85"/>
                </a:solidFill>
                <a:latin typeface="Consolas"/>
              </a:rPr>
              <a:t>// </a:t>
            </a:r>
            <a:r>
              <a:rPr sz="1050" b="1" i="0" spc="130">
                <a:solidFill>
                  <a:srgbClr val="00FF41"/>
                </a:solidFill>
                <a:latin typeface="Consolas"/>
              </a:rPr>
              <a:t>RANKING</a:t>
            </a:r>
          </a:p>
        </p:txBody>
      </p:sp>
      <p:sp>
        <p:nvSpPr>
          <p:cNvPr id="34" name="TextBox 33"/>
          <p:cNvSpPr txBox="1"/>
          <p:nvPr/>
        </p:nvSpPr>
        <p:spPr>
          <a:xfrm>
            <a:off x="740664" y="3739896"/>
            <a:ext cx="3183026" cy="777240"/>
          </a:xfrm>
          <a:prstGeom prst="rect">
            <a:avLst/>
          </a:prstGeom>
          <a:noFill/>
        </p:spPr>
        <p:txBody>
          <a:bodyPr wrap="square" anchor="t" lIns="0" rIns="0" tIns="0" bIns="0">
            <a:spAutoFit/>
          </a:bodyPr>
          <a:lstStyle/>
          <a:p>
            <a:pPr algn="l">
              <a:lnSpc>
                <a:spcPct val="115000"/>
              </a:lnSpc>
              <a:spcAft>
                <a:spcPts val="100"/>
              </a:spcAft>
            </a:pPr>
            <a:r>
              <a:rPr sz="1200" b="0" i="1">
                <a:solidFill>
                  <a:srgbClr val="EAF4FF"/>
                </a:solidFill>
                <a:latin typeface="Segoe UI"/>
              </a:rPr>
              <a:t>"Show me the top 10 customers</a:t>
            </a:r>
          </a:p>
          <a:p>
            <a:pPr algn="l">
              <a:lnSpc>
                <a:spcPct val="115000"/>
              </a:lnSpc>
            </a:pPr>
            <a:r>
              <a:rPr sz="1200" b="0" i="1">
                <a:solidFill>
                  <a:srgbClr val="EAF4FF"/>
                </a:solidFill>
                <a:latin typeface="Segoe UI"/>
              </a:rPr>
              <a:t>by lifetime value."</a:t>
            </a:r>
          </a:p>
        </p:txBody>
      </p:sp>
      <p:sp>
        <p:nvSpPr>
          <p:cNvPr id="35" name="Rounded Rectangle 34"/>
          <p:cNvSpPr/>
          <p:nvPr/>
        </p:nvSpPr>
        <p:spPr>
          <a:xfrm>
            <a:off x="502920" y="4837176"/>
            <a:ext cx="3594506" cy="1389888"/>
          </a:xfrm>
          <a:prstGeom prst="roundRect">
            <a:avLst>
              <a:gd name="adj" fmla="val 9000"/>
            </a:avLst>
          </a:prstGeom>
          <a:solidFill>
            <a:srgbClr val="10192A">
              <a:alpha val="90000"/>
            </a:srgbClr>
          </a:solidFill>
          <a:ln w="12700">
            <a:solidFill>
              <a:srgbClr val="223046"/>
            </a:solidFill>
          </a:ln>
          <a:effectLst>
            <a:outerShdw blurRad="137160" dist="36576" dir="5400000" rotWithShape="0">
              <a:srgbClr val="000000">
                <a:alpha val="5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02920" y="4965192"/>
            <a:ext cx="50292" cy="1133856"/>
          </a:xfrm>
          <a:prstGeom prst="rect">
            <a:avLst/>
          </a:prstGeom>
          <a:solidFill>
            <a:srgbClr val="00D4FF"/>
          </a:solidFill>
          <a:ln>
            <a:noFill/>
          </a:ln>
          <a:effectLst>
            <a:glow rad="50800">
              <a:srgbClr val="00D4FF">
                <a:alpha val="5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40664" y="4992624"/>
            <a:ext cx="3183026" cy="274320"/>
          </a:xfrm>
          <a:prstGeom prst="rect">
            <a:avLst/>
          </a:prstGeom>
          <a:noFill/>
        </p:spPr>
        <p:txBody>
          <a:bodyPr wrap="square" anchor="t" lIns="0" rIns="0" tIns="0" bIns="0">
            <a:spAutoFit/>
          </a:bodyPr>
          <a:lstStyle/>
          <a:p>
            <a:pPr algn="l">
              <a:lnSpc>
                <a:spcPct val="100000"/>
              </a:lnSpc>
            </a:pPr>
            <a:r>
              <a:rPr sz="1000" b="0" i="0">
                <a:solidFill>
                  <a:srgbClr val="5A6A85"/>
                </a:solidFill>
                <a:latin typeface="Consolas"/>
              </a:rPr>
              <a:t>// </a:t>
            </a:r>
            <a:r>
              <a:rPr sz="1050" b="1" i="0" spc="130">
                <a:solidFill>
                  <a:srgbClr val="00D4FF"/>
                </a:solidFill>
                <a:latin typeface="Consolas"/>
              </a:rPr>
              <a:t>TREND</a:t>
            </a:r>
          </a:p>
        </p:txBody>
      </p:sp>
      <p:sp>
        <p:nvSpPr>
          <p:cNvPr id="38" name="TextBox 37"/>
          <p:cNvSpPr txBox="1"/>
          <p:nvPr/>
        </p:nvSpPr>
        <p:spPr>
          <a:xfrm>
            <a:off x="740664" y="5312664"/>
            <a:ext cx="3183026" cy="777240"/>
          </a:xfrm>
          <a:prstGeom prst="rect">
            <a:avLst/>
          </a:prstGeom>
          <a:noFill/>
        </p:spPr>
        <p:txBody>
          <a:bodyPr wrap="square" anchor="t" lIns="0" rIns="0" tIns="0" bIns="0">
            <a:spAutoFit/>
          </a:bodyPr>
          <a:lstStyle/>
          <a:p>
            <a:pPr algn="l">
              <a:lnSpc>
                <a:spcPct val="115000"/>
              </a:lnSpc>
              <a:spcAft>
                <a:spcPts val="100"/>
              </a:spcAft>
            </a:pPr>
            <a:r>
              <a:rPr sz="1200" b="0" i="1">
                <a:solidFill>
                  <a:srgbClr val="EAF4FF"/>
                </a:solidFill>
                <a:latin typeface="Segoe UI"/>
              </a:rPr>
              <a:t>"Plot quarterly sales growth</a:t>
            </a:r>
          </a:p>
          <a:p>
            <a:pPr algn="l">
              <a:lnSpc>
                <a:spcPct val="115000"/>
              </a:lnSpc>
            </a:pPr>
            <a:r>
              <a:rPr sz="1200" b="0" i="1">
                <a:solidFill>
                  <a:srgbClr val="EAF4FF"/>
                </a:solidFill>
                <a:latin typeface="Segoe UI"/>
              </a:rPr>
              <a:t>as a line chart."</a:t>
            </a:r>
          </a:p>
        </p:txBody>
      </p:sp>
      <p:sp>
        <p:nvSpPr>
          <p:cNvPr id="39" name="Rounded Rectangle 38"/>
          <p:cNvSpPr/>
          <p:nvPr/>
        </p:nvSpPr>
        <p:spPr>
          <a:xfrm>
            <a:off x="4298594" y="1691640"/>
            <a:ext cx="3594506" cy="1389888"/>
          </a:xfrm>
          <a:prstGeom prst="roundRect">
            <a:avLst>
              <a:gd name="adj" fmla="val 9000"/>
            </a:avLst>
          </a:prstGeom>
          <a:solidFill>
            <a:srgbClr val="10192A">
              <a:alpha val="90000"/>
            </a:srgbClr>
          </a:solidFill>
          <a:ln w="12700">
            <a:solidFill>
              <a:srgbClr val="223046"/>
            </a:solidFill>
          </a:ln>
          <a:effectLst>
            <a:outerShdw blurRad="137160" dist="36576" dir="5400000" rotWithShape="0">
              <a:srgbClr val="000000">
                <a:alpha val="5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298594" y="1819656"/>
            <a:ext cx="50292" cy="1133856"/>
          </a:xfrm>
          <a:prstGeom prst="rect">
            <a:avLst/>
          </a:prstGeom>
          <a:solidFill>
            <a:srgbClr val="00FF41"/>
          </a:solidFill>
          <a:ln>
            <a:noFill/>
          </a:ln>
          <a:effectLst>
            <a:glow rad="50800">
              <a:srgbClr val="00FF41">
                <a:alpha val="5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536338" y="1847088"/>
            <a:ext cx="3183026" cy="274320"/>
          </a:xfrm>
          <a:prstGeom prst="rect">
            <a:avLst/>
          </a:prstGeom>
          <a:noFill/>
        </p:spPr>
        <p:txBody>
          <a:bodyPr wrap="square" anchor="t" lIns="0" rIns="0" tIns="0" bIns="0">
            <a:spAutoFit/>
          </a:bodyPr>
          <a:lstStyle/>
          <a:p>
            <a:pPr algn="l">
              <a:lnSpc>
                <a:spcPct val="100000"/>
              </a:lnSpc>
            </a:pPr>
            <a:r>
              <a:rPr sz="1000" b="0" i="0">
                <a:solidFill>
                  <a:srgbClr val="5A6A85"/>
                </a:solidFill>
                <a:latin typeface="Consolas"/>
              </a:rPr>
              <a:t>// </a:t>
            </a:r>
            <a:r>
              <a:rPr sz="1050" b="1" i="0" spc="130">
                <a:solidFill>
                  <a:srgbClr val="00FF41"/>
                </a:solidFill>
                <a:latin typeface="Consolas"/>
              </a:rPr>
              <a:t>JOIN</a:t>
            </a:r>
          </a:p>
        </p:txBody>
      </p:sp>
      <p:sp>
        <p:nvSpPr>
          <p:cNvPr id="42" name="TextBox 41"/>
          <p:cNvSpPr txBox="1"/>
          <p:nvPr/>
        </p:nvSpPr>
        <p:spPr>
          <a:xfrm>
            <a:off x="4536338" y="2167128"/>
            <a:ext cx="3183026" cy="777240"/>
          </a:xfrm>
          <a:prstGeom prst="rect">
            <a:avLst/>
          </a:prstGeom>
          <a:noFill/>
        </p:spPr>
        <p:txBody>
          <a:bodyPr wrap="square" anchor="t" lIns="0" rIns="0" tIns="0" bIns="0">
            <a:spAutoFit/>
          </a:bodyPr>
          <a:lstStyle/>
          <a:p>
            <a:pPr algn="l">
              <a:lnSpc>
                <a:spcPct val="115000"/>
              </a:lnSpc>
              <a:spcAft>
                <a:spcPts val="100"/>
              </a:spcAft>
            </a:pPr>
            <a:r>
              <a:rPr sz="1200" b="0" i="1">
                <a:solidFill>
                  <a:srgbClr val="EAF4FF"/>
                </a:solidFill>
                <a:latin typeface="Segoe UI"/>
              </a:rPr>
              <a:t>"Which products are most</a:t>
            </a:r>
          </a:p>
          <a:p>
            <a:pPr algn="l">
              <a:lnSpc>
                <a:spcPct val="115000"/>
              </a:lnSpc>
            </a:pPr>
            <a:r>
              <a:rPr sz="1200" b="0" i="1">
                <a:solidFill>
                  <a:srgbClr val="EAF4FF"/>
                </a:solidFill>
                <a:latin typeface="Segoe UI"/>
              </a:rPr>
              <a:t>frequently bought together?"</a:t>
            </a:r>
          </a:p>
        </p:txBody>
      </p:sp>
      <p:sp>
        <p:nvSpPr>
          <p:cNvPr id="43" name="Rounded Rectangle 42"/>
          <p:cNvSpPr/>
          <p:nvPr/>
        </p:nvSpPr>
        <p:spPr>
          <a:xfrm>
            <a:off x="4298594" y="3264408"/>
            <a:ext cx="3594506" cy="1389888"/>
          </a:xfrm>
          <a:prstGeom prst="roundRect">
            <a:avLst>
              <a:gd name="adj" fmla="val 9000"/>
            </a:avLst>
          </a:prstGeom>
          <a:solidFill>
            <a:srgbClr val="10192A">
              <a:alpha val="90000"/>
            </a:srgbClr>
          </a:solidFill>
          <a:ln w="12700">
            <a:solidFill>
              <a:srgbClr val="223046"/>
            </a:solidFill>
          </a:ln>
          <a:effectLst>
            <a:outerShdw blurRad="137160" dist="36576" dir="5400000" rotWithShape="0">
              <a:srgbClr val="000000">
                <a:alpha val="5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4298594" y="3392424"/>
            <a:ext cx="50292" cy="1133856"/>
          </a:xfrm>
          <a:prstGeom prst="rect">
            <a:avLst/>
          </a:prstGeom>
          <a:solidFill>
            <a:srgbClr val="00D4FF"/>
          </a:solidFill>
          <a:ln>
            <a:noFill/>
          </a:ln>
          <a:effectLst>
            <a:glow rad="50800">
              <a:srgbClr val="00D4FF">
                <a:alpha val="5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536338" y="3419856"/>
            <a:ext cx="3183026" cy="274320"/>
          </a:xfrm>
          <a:prstGeom prst="rect">
            <a:avLst/>
          </a:prstGeom>
          <a:noFill/>
        </p:spPr>
        <p:txBody>
          <a:bodyPr wrap="square" anchor="t" lIns="0" rIns="0" tIns="0" bIns="0">
            <a:spAutoFit/>
          </a:bodyPr>
          <a:lstStyle/>
          <a:p>
            <a:pPr algn="l">
              <a:lnSpc>
                <a:spcPct val="100000"/>
              </a:lnSpc>
            </a:pPr>
            <a:r>
              <a:rPr sz="1000" b="0" i="0">
                <a:solidFill>
                  <a:srgbClr val="5A6A85"/>
                </a:solidFill>
                <a:latin typeface="Consolas"/>
              </a:rPr>
              <a:t>// </a:t>
            </a:r>
            <a:r>
              <a:rPr sz="1050" b="1" i="0" spc="130">
                <a:solidFill>
                  <a:srgbClr val="00D4FF"/>
                </a:solidFill>
                <a:latin typeface="Consolas"/>
              </a:rPr>
              <a:t>SCHEMA</a:t>
            </a:r>
          </a:p>
        </p:txBody>
      </p:sp>
      <p:sp>
        <p:nvSpPr>
          <p:cNvPr id="46" name="TextBox 45"/>
          <p:cNvSpPr txBox="1"/>
          <p:nvPr/>
        </p:nvSpPr>
        <p:spPr>
          <a:xfrm>
            <a:off x="4536338" y="3739896"/>
            <a:ext cx="3183026" cy="777240"/>
          </a:xfrm>
          <a:prstGeom prst="rect">
            <a:avLst/>
          </a:prstGeom>
          <a:noFill/>
        </p:spPr>
        <p:txBody>
          <a:bodyPr wrap="square" anchor="t" lIns="0" rIns="0" tIns="0" bIns="0">
            <a:spAutoFit/>
          </a:bodyPr>
          <a:lstStyle/>
          <a:p>
            <a:pPr algn="l">
              <a:lnSpc>
                <a:spcPct val="115000"/>
              </a:lnSpc>
              <a:spcAft>
                <a:spcPts val="100"/>
              </a:spcAft>
            </a:pPr>
            <a:r>
              <a:rPr sz="1200" b="0" i="1">
                <a:solidFill>
                  <a:srgbClr val="EAF4FF"/>
                </a:solidFill>
                <a:latin typeface="Segoe UI"/>
              </a:rPr>
              <a:t>"Diagram how my tables</a:t>
            </a:r>
          </a:p>
          <a:p>
            <a:pPr algn="l">
              <a:lnSpc>
                <a:spcPct val="115000"/>
              </a:lnSpc>
            </a:pPr>
            <a:r>
              <a:rPr sz="1200" b="0" i="1">
                <a:solidFill>
                  <a:srgbClr val="EAF4FF"/>
                </a:solidFill>
                <a:latin typeface="Segoe UI"/>
              </a:rPr>
              <a:t>relate to each other."</a:t>
            </a:r>
          </a:p>
        </p:txBody>
      </p:sp>
      <p:sp>
        <p:nvSpPr>
          <p:cNvPr id="47" name="Rounded Rectangle 46"/>
          <p:cNvSpPr/>
          <p:nvPr/>
        </p:nvSpPr>
        <p:spPr>
          <a:xfrm>
            <a:off x="4298594" y="4837176"/>
            <a:ext cx="3594506" cy="1389888"/>
          </a:xfrm>
          <a:prstGeom prst="roundRect">
            <a:avLst>
              <a:gd name="adj" fmla="val 9000"/>
            </a:avLst>
          </a:prstGeom>
          <a:solidFill>
            <a:srgbClr val="10192A">
              <a:alpha val="90000"/>
            </a:srgbClr>
          </a:solidFill>
          <a:ln w="12700">
            <a:solidFill>
              <a:srgbClr val="223046"/>
            </a:solidFill>
          </a:ln>
          <a:effectLst>
            <a:outerShdw blurRad="137160" dist="36576" dir="5400000" rotWithShape="0">
              <a:srgbClr val="000000">
                <a:alpha val="5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4298594" y="4965192"/>
            <a:ext cx="50292" cy="1133856"/>
          </a:xfrm>
          <a:prstGeom prst="rect">
            <a:avLst/>
          </a:prstGeom>
          <a:solidFill>
            <a:srgbClr val="00FF41"/>
          </a:solidFill>
          <a:ln>
            <a:noFill/>
          </a:ln>
          <a:effectLst>
            <a:glow rad="50800">
              <a:srgbClr val="00FF41">
                <a:alpha val="5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536338" y="4992624"/>
            <a:ext cx="3183026" cy="274320"/>
          </a:xfrm>
          <a:prstGeom prst="rect">
            <a:avLst/>
          </a:prstGeom>
          <a:noFill/>
        </p:spPr>
        <p:txBody>
          <a:bodyPr wrap="square" anchor="t" lIns="0" rIns="0" tIns="0" bIns="0">
            <a:spAutoFit/>
          </a:bodyPr>
          <a:lstStyle/>
          <a:p>
            <a:pPr algn="l">
              <a:lnSpc>
                <a:spcPct val="100000"/>
              </a:lnSpc>
            </a:pPr>
            <a:r>
              <a:rPr sz="1000" b="0" i="0">
                <a:solidFill>
                  <a:srgbClr val="5A6A85"/>
                </a:solidFill>
                <a:latin typeface="Consolas"/>
              </a:rPr>
              <a:t>// </a:t>
            </a:r>
            <a:r>
              <a:rPr sz="1050" b="1" i="0" spc="130">
                <a:solidFill>
                  <a:srgbClr val="00FF41"/>
                </a:solidFill>
                <a:latin typeface="Consolas"/>
              </a:rPr>
              <a:t>QUALITY</a:t>
            </a:r>
          </a:p>
        </p:txBody>
      </p:sp>
      <p:sp>
        <p:nvSpPr>
          <p:cNvPr id="50" name="TextBox 49"/>
          <p:cNvSpPr txBox="1"/>
          <p:nvPr/>
        </p:nvSpPr>
        <p:spPr>
          <a:xfrm>
            <a:off x="4536338" y="5312664"/>
            <a:ext cx="3183026" cy="777240"/>
          </a:xfrm>
          <a:prstGeom prst="rect">
            <a:avLst/>
          </a:prstGeom>
          <a:noFill/>
        </p:spPr>
        <p:txBody>
          <a:bodyPr wrap="square" anchor="t" lIns="0" rIns="0" tIns="0" bIns="0">
            <a:spAutoFit/>
          </a:bodyPr>
          <a:lstStyle/>
          <a:p>
            <a:pPr algn="l">
              <a:lnSpc>
                <a:spcPct val="115000"/>
              </a:lnSpc>
              <a:spcAft>
                <a:spcPts val="100"/>
              </a:spcAft>
            </a:pPr>
            <a:r>
              <a:rPr sz="1200" b="0" i="1">
                <a:solidFill>
                  <a:srgbClr val="EAF4FF"/>
                </a:solidFill>
                <a:latin typeface="Segoe UI"/>
              </a:rPr>
              <a:t>"Are there any orders</a:t>
            </a:r>
          </a:p>
          <a:p>
            <a:pPr algn="l">
              <a:lnSpc>
                <a:spcPct val="115000"/>
              </a:lnSpc>
            </a:pPr>
            <a:r>
              <a:rPr sz="1200" b="0" i="1">
                <a:solidFill>
                  <a:srgbClr val="EAF4FF"/>
                </a:solidFill>
                <a:latin typeface="Segoe UI"/>
              </a:rPr>
              <a:t>with no line items?"</a:t>
            </a:r>
          </a:p>
        </p:txBody>
      </p:sp>
      <p:sp>
        <p:nvSpPr>
          <p:cNvPr id="51" name="Rounded Rectangle 50"/>
          <p:cNvSpPr/>
          <p:nvPr/>
        </p:nvSpPr>
        <p:spPr>
          <a:xfrm>
            <a:off x="502920" y="5120640"/>
            <a:ext cx="11185855" cy="420624"/>
          </a:xfrm>
          <a:prstGeom prst="roundRect">
            <a:avLst>
              <a:gd name="adj" fmla="val 50000"/>
            </a:avLst>
          </a:prstGeom>
          <a:solidFill>
            <a:srgbClr val="10192A">
              <a:alpha val="88000"/>
            </a:srgbClr>
          </a:solidFill>
          <a:ln w="12700">
            <a:solidFill>
              <a:srgbClr val="223046"/>
            </a:solidFill>
          </a:ln>
          <a:effectLst>
            <a:outerShdw blurRad="128016" dist="36576" dir="5400000" rotWithShape="0">
              <a:srgbClr val="000000">
                <a:alpha val="5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694944" y="5221224"/>
            <a:ext cx="54864" cy="219456"/>
          </a:xfrm>
          <a:prstGeom prst="rect">
            <a:avLst/>
          </a:prstGeom>
          <a:solidFill>
            <a:srgbClr val="00FF41"/>
          </a:solidFill>
          <a:ln>
            <a:noFill/>
          </a:ln>
          <a:effectLst>
            <a:glow rad="50800">
              <a:srgbClr val="00FF41">
                <a:alpha val="6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14400" y="5120640"/>
            <a:ext cx="10180015" cy="420624"/>
          </a:xfrm>
          <a:prstGeom prst="rect">
            <a:avLst/>
          </a:prstGeom>
          <a:noFill/>
        </p:spPr>
        <p:txBody>
          <a:bodyPr wrap="square" anchor="ctr" lIns="0" rIns="0" tIns="0" bIns="0">
            <a:spAutoFit/>
          </a:bodyPr>
          <a:lstStyle/>
          <a:p>
            <a:pPr algn="l">
              <a:lnSpc>
                <a:spcPct val="100000"/>
              </a:lnSpc>
            </a:pPr>
            <a:r>
              <a:rPr sz="1050" b="1" i="0" spc="55">
                <a:solidFill>
                  <a:srgbClr val="00FF41"/>
                </a:solidFill>
                <a:effectLst>
                  <a:glow rad="38100">
                    <a:srgbClr val="00FF41">
                      <a:alpha val="30000"/>
                    </a:srgbClr>
                  </a:glow>
                </a:effectLst>
                <a:latin typeface="Consolas"/>
              </a:rPr>
              <a:t>EVERY ANSWER = EXACT SQL + INTERACTIVE CHART + GROUNDED EXPLANATION</a:t>
            </a:r>
          </a:p>
        </p:txBody>
      </p:sp>
      <p:sp>
        <p:nvSpPr>
          <p:cNvPr id="54" name="Rounded Rectangle 53"/>
          <p:cNvSpPr/>
          <p:nvPr/>
        </p:nvSpPr>
        <p:spPr>
          <a:xfrm>
            <a:off x="502920" y="5742432"/>
            <a:ext cx="3977639" cy="457200"/>
          </a:xfrm>
          <a:prstGeom prst="roundRect">
            <a:avLst>
              <a:gd name="adj" fmla="val 50000"/>
            </a:avLst>
          </a:prstGeom>
          <a:solidFill>
            <a:srgbClr val="0B111C">
              <a:alpha val="90000"/>
            </a:srgbClr>
          </a:solidFill>
          <a:ln w="12700">
            <a:solidFill>
              <a:srgbClr val="223046"/>
            </a:solidFill>
          </a:ln>
          <a:effectLst>
            <a:outerShdw blurRad="118872" dist="36576" dir="5400000" rotWithShape="0">
              <a:srgbClr val="000000">
                <a:alpha val="5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77240" y="5742432"/>
            <a:ext cx="3657600" cy="457200"/>
          </a:xfrm>
          <a:prstGeom prst="rect">
            <a:avLst/>
          </a:prstGeom>
          <a:noFill/>
        </p:spPr>
        <p:txBody>
          <a:bodyPr wrap="square" anchor="ctr" lIns="0" rIns="0" tIns="0" bIns="0">
            <a:spAutoFit/>
          </a:bodyPr>
          <a:lstStyle/>
          <a:p>
            <a:pPr algn="l">
              <a:lnSpc>
                <a:spcPct val="100000"/>
              </a:lnSpc>
            </a:pPr>
            <a:r>
              <a:rPr sz="1300" b="1" i="0">
                <a:solidFill>
                  <a:srgbClr val="00FF41"/>
                </a:solidFill>
                <a:latin typeface="Consolas"/>
              </a:rPr>
              <a:t>&gt; </a:t>
            </a:r>
            <a:r>
              <a:rPr sz="1300" b="0" i="0">
                <a:solidFill>
                  <a:srgbClr val="EAF4FF"/>
                </a:solidFill>
                <a:latin typeface="Consolas"/>
              </a:rPr>
              <a:t>ask anything</a:t>
            </a:r>
            <a:r>
              <a:rPr sz="1300" b="1" i="0">
                <a:solidFill>
                  <a:srgbClr val="00FF41"/>
                </a:solidFill>
                <a:effectLst>
                  <a:glow rad="50800">
                    <a:srgbClr val="00FF41">
                      <a:alpha val="60000"/>
                    </a:srgbClr>
                  </a:glow>
                </a:effectLst>
                <a:latin typeface="Consolas"/>
              </a:rPr>
              <a:t>_</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subtle-blue.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9281160" y="0"/>
            <a:ext cx="2514600" cy="1645920"/>
          </a:xfrm>
          <a:prstGeom prst="rect">
            <a:avLst/>
          </a:prstGeom>
          <a:noFill/>
        </p:spPr>
        <p:txBody>
          <a:bodyPr wrap="square" anchor="t" lIns="0" rIns="0" tIns="0" bIns="0">
            <a:spAutoFit/>
          </a:bodyPr>
          <a:lstStyle/>
          <a:p>
            <a:pPr algn="r">
              <a:lnSpc>
                <a:spcPct val="100000"/>
              </a:lnSpc>
            </a:pPr>
            <a:r>
              <a:rPr sz="11500" b="1" i="0">
                <a:solidFill>
                  <a:srgbClr val="EAF4FF">
                    <a:alpha val="7000"/>
                  </a:srgbClr>
                </a:solidFill>
                <a:latin typeface="Bahnschrift"/>
              </a:rPr>
              <a:t>10</a:t>
            </a:r>
          </a:p>
        </p:txBody>
      </p:sp>
      <p:sp>
        <p:nvSpPr>
          <p:cNvPr id="4" name="Rectangle 3"/>
          <p:cNvSpPr/>
          <p:nvPr/>
        </p:nvSpPr>
        <p:spPr>
          <a:xfrm>
            <a:off x="0" y="0"/>
            <a:ext cx="5120511" cy="29260"/>
          </a:xfrm>
          <a:prstGeom prst="rect">
            <a:avLst/>
          </a:prstGeom>
          <a:solidFill>
            <a:srgbClr val="00FF41"/>
          </a:solidFill>
          <a:ln>
            <a:noFill/>
          </a:ln>
          <a:effectLst>
            <a:glow rad="50800">
              <a:srgbClr val="00FF41">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120511" y="0"/>
            <a:ext cx="7071183" cy="29260"/>
          </a:xfrm>
          <a:prstGeom prst="rect">
            <a:avLst/>
          </a:prstGeom>
          <a:solidFill>
            <a:srgbClr val="00D4FF"/>
          </a:solidFill>
          <a:ln>
            <a:noFill/>
          </a:ln>
          <a:effectLst>
            <a:glow rad="50800">
              <a:srgbClr val="00D4FF">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6032" y="6254496"/>
            <a:ext cx="329184" cy="20116"/>
          </a:xfrm>
          <a:prstGeom prst="rect">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56032" y="6272784"/>
            <a:ext cx="20116" cy="347472"/>
          </a:xfrm>
          <a:prstGeom prst="rect">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6446520"/>
            <a:ext cx="11185855" cy="10972"/>
          </a:xfrm>
          <a:prstGeom prst="rect">
            <a:avLst/>
          </a:prstGeom>
          <a:solidFill>
            <a:srgbClr val="2230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501384"/>
            <a:ext cx="5669280" cy="201168"/>
          </a:xfrm>
          <a:prstGeom prst="rect">
            <a:avLst/>
          </a:prstGeom>
          <a:noFill/>
        </p:spPr>
        <p:txBody>
          <a:bodyPr wrap="square" anchor="t" lIns="0" rIns="0" tIns="0" bIns="0">
            <a:spAutoFit/>
          </a:bodyPr>
          <a:lstStyle/>
          <a:p>
            <a:pPr algn="l">
              <a:lnSpc>
                <a:spcPct val="100000"/>
              </a:lnSpc>
            </a:pPr>
            <a:r>
              <a:rPr sz="800" b="1" i="0">
                <a:solidFill>
                  <a:srgbClr val="00FF41"/>
                </a:solidFill>
                <a:latin typeface="Consolas"/>
              </a:rPr>
              <a:t>ZODIAC AI </a:t>
            </a:r>
            <a:r>
              <a:rPr sz="800" b="0" i="0">
                <a:solidFill>
                  <a:srgbClr val="5A6A85"/>
                </a:solidFill>
                <a:latin typeface="Consolas"/>
              </a:rPr>
              <a:t>// CHAT WITH YOUR DATABASE // </a:t>
            </a:r>
            <a:r>
              <a:rPr sz="800" b="0" i="0">
                <a:solidFill>
                  <a:srgbClr val="00D4FF"/>
                </a:solidFill>
                <a:latin typeface="Consolas"/>
              </a:rPr>
              <a:t>GETTING STARTED</a:t>
            </a:r>
          </a:p>
        </p:txBody>
      </p:sp>
      <p:sp>
        <p:nvSpPr>
          <p:cNvPr id="10" name="TextBox 9"/>
          <p:cNvSpPr txBox="1"/>
          <p:nvPr/>
        </p:nvSpPr>
        <p:spPr>
          <a:xfrm>
            <a:off x="10728655" y="6501384"/>
            <a:ext cx="960120" cy="201168"/>
          </a:xfrm>
          <a:prstGeom prst="rect">
            <a:avLst/>
          </a:prstGeom>
          <a:noFill/>
        </p:spPr>
        <p:txBody>
          <a:bodyPr wrap="square" anchor="t" lIns="0" rIns="0" tIns="0" bIns="0">
            <a:spAutoFit/>
          </a:bodyPr>
          <a:lstStyle/>
          <a:p>
            <a:pPr algn="r">
              <a:lnSpc>
                <a:spcPct val="100000"/>
              </a:lnSpc>
            </a:pPr>
            <a:r>
              <a:rPr sz="800" b="1" i="0">
                <a:solidFill>
                  <a:srgbClr val="00FF41"/>
                </a:solidFill>
                <a:latin typeface="Consolas"/>
              </a:rPr>
              <a:t>10</a:t>
            </a:r>
            <a:r>
              <a:rPr sz="800" b="0" i="0">
                <a:solidFill>
                  <a:srgbClr val="5A6A85"/>
                </a:solidFill>
                <a:latin typeface="Consolas"/>
              </a:rPr>
              <a:t> / 11</a:t>
            </a:r>
          </a:p>
        </p:txBody>
      </p:sp>
      <p:sp>
        <p:nvSpPr>
          <p:cNvPr id="11" name="Rectangle 10"/>
          <p:cNvSpPr/>
          <p:nvPr/>
        </p:nvSpPr>
        <p:spPr>
          <a:xfrm>
            <a:off x="4198467" y="6675120"/>
            <a:ext cx="274320" cy="45720"/>
          </a:xfrm>
          <a:prstGeom prst="rect">
            <a:avLst/>
          </a:prstGeom>
          <a:solidFill>
            <a:srgbClr val="1653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50511" y="6675120"/>
            <a:ext cx="274320" cy="45720"/>
          </a:xfrm>
          <a:prstGeom prst="rect">
            <a:avLst/>
          </a:prstGeom>
          <a:solidFill>
            <a:srgbClr val="1653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902555" y="6675120"/>
            <a:ext cx="274320" cy="45720"/>
          </a:xfrm>
          <a:prstGeom prst="rect">
            <a:avLst/>
          </a:prstGeom>
          <a:solidFill>
            <a:srgbClr val="1653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254599" y="6675120"/>
            <a:ext cx="274320" cy="45720"/>
          </a:xfrm>
          <a:prstGeom prst="rect">
            <a:avLst/>
          </a:prstGeom>
          <a:solidFill>
            <a:srgbClr val="1653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06643" y="6675120"/>
            <a:ext cx="274320" cy="45720"/>
          </a:xfrm>
          <a:prstGeom prst="rect">
            <a:avLst/>
          </a:prstGeom>
          <a:solidFill>
            <a:srgbClr val="1653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958687" y="6675120"/>
            <a:ext cx="274320" cy="45720"/>
          </a:xfrm>
          <a:prstGeom prst="rect">
            <a:avLst/>
          </a:prstGeom>
          <a:solidFill>
            <a:srgbClr val="1653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310731" y="6675120"/>
            <a:ext cx="274320" cy="45720"/>
          </a:xfrm>
          <a:prstGeom prst="rect">
            <a:avLst/>
          </a:prstGeom>
          <a:solidFill>
            <a:srgbClr val="1653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662775" y="6675120"/>
            <a:ext cx="274320" cy="45720"/>
          </a:xfrm>
          <a:prstGeom prst="rect">
            <a:avLst/>
          </a:prstGeom>
          <a:solidFill>
            <a:srgbClr val="1653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014819" y="6675120"/>
            <a:ext cx="274320" cy="45720"/>
          </a:xfrm>
          <a:prstGeom prst="rect">
            <a:avLst/>
          </a:prstGeom>
          <a:solidFill>
            <a:srgbClr val="1653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66863" y="6675120"/>
            <a:ext cx="274320" cy="45720"/>
          </a:xfrm>
          <a:prstGeom prst="rect">
            <a:avLst/>
          </a:prstGeom>
          <a:solidFill>
            <a:srgbClr val="00FF41"/>
          </a:solidFill>
          <a:ln>
            <a:noFill/>
          </a:ln>
          <a:effectLst>
            <a:glow rad="63500">
              <a:srgbClr val="00FF41">
                <a:alpha val="6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18907" y="6675120"/>
            <a:ext cx="274320" cy="45720"/>
          </a:xfrm>
          <a:prstGeom prst="rect">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21207" y="466344"/>
            <a:ext cx="100584" cy="100584"/>
          </a:xfrm>
          <a:prstGeom prst="rect">
            <a:avLst/>
          </a:prstGeom>
          <a:solidFill>
            <a:srgbClr val="00FF41"/>
          </a:solidFill>
          <a:ln>
            <a:noFill/>
          </a:ln>
          <a:effectLst>
            <a:glow rad="63500">
              <a:srgbClr val="00FF41">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402336"/>
            <a:ext cx="10515600" cy="274320"/>
          </a:xfrm>
          <a:prstGeom prst="rect">
            <a:avLst/>
          </a:prstGeom>
          <a:noFill/>
        </p:spPr>
        <p:txBody>
          <a:bodyPr wrap="square" anchor="t" lIns="0" rIns="0" tIns="0" bIns="0">
            <a:spAutoFit/>
          </a:bodyPr>
          <a:lstStyle/>
          <a:p>
            <a:pPr algn="l">
              <a:lnSpc>
                <a:spcPct val="100000"/>
              </a:lnSpc>
            </a:pPr>
            <a:r>
              <a:rPr sz="1050" b="0" i="0" spc="170">
                <a:solidFill>
                  <a:srgbClr val="00FF41"/>
                </a:solidFill>
                <a:effectLst>
                  <a:glow rad="38100">
                    <a:srgbClr val="00FF41">
                      <a:alpha val="40000"/>
                    </a:srgbClr>
                  </a:glow>
                </a:effectLst>
                <a:latin typeface="Consolas"/>
              </a:rPr>
              <a:t>10 — GETTING STARTED</a:t>
            </a:r>
          </a:p>
        </p:txBody>
      </p:sp>
      <p:sp>
        <p:nvSpPr>
          <p:cNvPr id="24" name="TextBox 23"/>
          <p:cNvSpPr txBox="1"/>
          <p:nvPr/>
        </p:nvSpPr>
        <p:spPr>
          <a:xfrm>
            <a:off x="502920" y="694944"/>
            <a:ext cx="11247120" cy="566928"/>
          </a:xfrm>
          <a:prstGeom prst="rect">
            <a:avLst/>
          </a:prstGeom>
          <a:noFill/>
        </p:spPr>
        <p:txBody>
          <a:bodyPr wrap="square" anchor="t" lIns="0" rIns="0" tIns="0" bIns="0">
            <a:spAutoFit/>
          </a:bodyPr>
          <a:lstStyle/>
          <a:p>
            <a:pPr algn="l">
              <a:lnSpc>
                <a:spcPct val="100000"/>
              </a:lnSpc>
            </a:pPr>
            <a:r>
              <a:rPr sz="3000" b="1" i="0">
                <a:solidFill>
                  <a:srgbClr val="EAF4FF"/>
                </a:solidFill>
                <a:latin typeface="Bahnschrift"/>
              </a:rPr>
              <a:t>Zero to Query in </a:t>
            </a:r>
            <a:r>
              <a:rPr sz="3000" b="1" i="0">
                <a:solidFill>
                  <a:srgbClr val="00FF41"/>
                </a:solidFill>
                <a:effectLst>
                  <a:glow rad="63500">
                    <a:srgbClr val="00FF41">
                      <a:alpha val="35000"/>
                    </a:srgbClr>
                  </a:glow>
                </a:effectLst>
                <a:latin typeface="Bahnschrift"/>
              </a:rPr>
              <a:t>Five Minutes</a:t>
            </a:r>
          </a:p>
        </p:txBody>
      </p:sp>
      <p:sp>
        <p:nvSpPr>
          <p:cNvPr id="25" name="Rectangle 24"/>
          <p:cNvSpPr/>
          <p:nvPr/>
        </p:nvSpPr>
        <p:spPr>
          <a:xfrm>
            <a:off x="521207" y="1344168"/>
            <a:ext cx="1554480" cy="31089"/>
          </a:xfrm>
          <a:prstGeom prst="rect">
            <a:avLst/>
          </a:prstGeom>
          <a:solidFill>
            <a:srgbClr val="00FF41"/>
          </a:solidFill>
          <a:ln>
            <a:noFill/>
          </a:ln>
          <a:effectLst>
            <a:glow rad="50800">
              <a:srgbClr val="00FF41">
                <a:alpha val="5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75688" y="1344168"/>
            <a:ext cx="502920" cy="31089"/>
          </a:xfrm>
          <a:prstGeom prst="rect">
            <a:avLst/>
          </a:prstGeom>
          <a:solidFill>
            <a:srgbClr val="00D4FF"/>
          </a:solidFill>
          <a:ln>
            <a:noFill/>
          </a:ln>
          <a:effectLst>
            <a:glow rad="50800">
              <a:srgbClr val="00D4FF">
                <a:alpha val="5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502920" y="1627632"/>
            <a:ext cx="6903720" cy="4023360"/>
          </a:xfrm>
          <a:prstGeom prst="roundRect">
            <a:avLst>
              <a:gd name="adj" fmla="val 4500"/>
            </a:avLst>
          </a:prstGeom>
          <a:solidFill>
            <a:srgbClr val="0B111C">
              <a:alpha val="93000"/>
            </a:srgbClr>
          </a:solidFill>
          <a:ln w="12700">
            <a:solidFill>
              <a:srgbClr val="223046"/>
            </a:solidFill>
          </a:ln>
          <a:effectLst>
            <a:outerShdw blurRad="164592" dist="45720" dir="5400000" rotWithShape="0">
              <a:srgbClr val="000000">
                <a:alpha val="5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30936" y="1627632"/>
            <a:ext cx="6647688" cy="41148"/>
          </a:xfrm>
          <a:prstGeom prst="rect">
            <a:avLst/>
          </a:prstGeom>
          <a:solidFill>
            <a:srgbClr val="00FF41"/>
          </a:solidFill>
          <a:ln>
            <a:noFill/>
          </a:ln>
          <a:effectLst>
            <a:glow rad="63500">
              <a:srgbClr val="00FF41">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67512" y="1773936"/>
            <a:ext cx="100584" cy="100584"/>
          </a:xfrm>
          <a:prstGeom prst="ellipse">
            <a:avLst/>
          </a:prstGeom>
          <a:solidFill>
            <a:srgbClr val="FF5F56"/>
          </a:solidFill>
          <a:ln>
            <a:noFill/>
          </a:ln>
          <a:effectLst>
            <a:glow rad="38100">
              <a:srgbClr val="FF5F56">
                <a:alpha val="4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32103" y="1773936"/>
            <a:ext cx="100584" cy="100584"/>
          </a:xfrm>
          <a:prstGeom prst="ellipse">
            <a:avLst/>
          </a:prstGeom>
          <a:solidFill>
            <a:srgbClr val="FFBD2E"/>
          </a:solidFill>
          <a:ln>
            <a:noFill/>
          </a:ln>
          <a:effectLst>
            <a:glow rad="38100">
              <a:srgbClr val="FFBD2E">
                <a:alpha val="4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996695" y="1773936"/>
            <a:ext cx="100584" cy="100584"/>
          </a:xfrm>
          <a:prstGeom prst="ellipse">
            <a:avLst/>
          </a:prstGeom>
          <a:solidFill>
            <a:srgbClr val="27C93F"/>
          </a:solidFill>
          <a:ln>
            <a:noFill/>
          </a:ln>
          <a:effectLst>
            <a:glow rad="38100">
              <a:srgbClr val="27C93F">
                <a:alpha val="4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280160" y="1746504"/>
            <a:ext cx="5897879" cy="237744"/>
          </a:xfrm>
          <a:prstGeom prst="rect">
            <a:avLst/>
          </a:prstGeom>
          <a:noFill/>
        </p:spPr>
        <p:txBody>
          <a:bodyPr wrap="square" anchor="t" lIns="0" rIns="0" tIns="0" bIns="0">
            <a:spAutoFit/>
          </a:bodyPr>
          <a:lstStyle/>
          <a:p>
            <a:pPr algn="l">
              <a:lnSpc>
                <a:spcPct val="100000"/>
              </a:lnSpc>
            </a:pPr>
            <a:r>
              <a:rPr sz="1000" b="0" i="0">
                <a:solidFill>
                  <a:srgbClr val="5A6A85"/>
                </a:solidFill>
                <a:latin typeface="Consolas"/>
              </a:rPr>
              <a:t>zodiac:~ </a:t>
            </a:r>
            <a:r>
              <a:rPr sz="1000" b="1" i="0">
                <a:solidFill>
                  <a:srgbClr val="00FF41"/>
                </a:solidFill>
                <a:latin typeface="Consolas"/>
              </a:rPr>
              <a:t>boot-sequence — zodiac-ai</a:t>
            </a:r>
          </a:p>
        </p:txBody>
      </p:sp>
      <p:sp>
        <p:nvSpPr>
          <p:cNvPr id="33" name="Rectangle 32"/>
          <p:cNvSpPr/>
          <p:nvPr/>
        </p:nvSpPr>
        <p:spPr>
          <a:xfrm>
            <a:off x="612648" y="2194560"/>
            <a:ext cx="6684264" cy="14630"/>
          </a:xfrm>
          <a:prstGeom prst="rect">
            <a:avLst/>
          </a:prstGeom>
          <a:solidFill>
            <a:srgbClr val="00D4F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12648" y="2318004"/>
            <a:ext cx="6684264" cy="14630"/>
          </a:xfrm>
          <a:prstGeom prst="rect">
            <a:avLst/>
          </a:prstGeom>
          <a:solidFill>
            <a:srgbClr val="00D4F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12648" y="2441448"/>
            <a:ext cx="6684264" cy="14630"/>
          </a:xfrm>
          <a:prstGeom prst="rect">
            <a:avLst/>
          </a:prstGeom>
          <a:solidFill>
            <a:srgbClr val="00D4F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12648" y="2564891"/>
            <a:ext cx="6684264" cy="14630"/>
          </a:xfrm>
          <a:prstGeom prst="rect">
            <a:avLst/>
          </a:prstGeom>
          <a:solidFill>
            <a:srgbClr val="00D4F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12648" y="2688335"/>
            <a:ext cx="6684264" cy="14630"/>
          </a:xfrm>
          <a:prstGeom prst="rect">
            <a:avLst/>
          </a:prstGeom>
          <a:solidFill>
            <a:srgbClr val="00D4F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12648" y="2811779"/>
            <a:ext cx="6684264" cy="14630"/>
          </a:xfrm>
          <a:prstGeom prst="rect">
            <a:avLst/>
          </a:prstGeom>
          <a:solidFill>
            <a:srgbClr val="00D4F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12648" y="2935223"/>
            <a:ext cx="6684264" cy="14630"/>
          </a:xfrm>
          <a:prstGeom prst="rect">
            <a:avLst/>
          </a:prstGeom>
          <a:solidFill>
            <a:srgbClr val="00D4F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12648" y="3058667"/>
            <a:ext cx="6684264" cy="14630"/>
          </a:xfrm>
          <a:prstGeom prst="rect">
            <a:avLst/>
          </a:prstGeom>
          <a:solidFill>
            <a:srgbClr val="00D4F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12648" y="3182111"/>
            <a:ext cx="6684264" cy="14630"/>
          </a:xfrm>
          <a:prstGeom prst="rect">
            <a:avLst/>
          </a:prstGeom>
          <a:solidFill>
            <a:srgbClr val="00D4F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12648" y="3305555"/>
            <a:ext cx="6684264" cy="14630"/>
          </a:xfrm>
          <a:prstGeom prst="rect">
            <a:avLst/>
          </a:prstGeom>
          <a:solidFill>
            <a:srgbClr val="00D4F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12648" y="3428999"/>
            <a:ext cx="6684264" cy="14630"/>
          </a:xfrm>
          <a:prstGeom prst="rect">
            <a:avLst/>
          </a:prstGeom>
          <a:solidFill>
            <a:srgbClr val="00D4F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12648" y="3552443"/>
            <a:ext cx="6684264" cy="14630"/>
          </a:xfrm>
          <a:prstGeom prst="rect">
            <a:avLst/>
          </a:prstGeom>
          <a:solidFill>
            <a:srgbClr val="00D4F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612648" y="3675887"/>
            <a:ext cx="6684264" cy="14630"/>
          </a:xfrm>
          <a:prstGeom prst="rect">
            <a:avLst/>
          </a:prstGeom>
          <a:solidFill>
            <a:srgbClr val="00D4F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12648" y="3799331"/>
            <a:ext cx="6684264" cy="14630"/>
          </a:xfrm>
          <a:prstGeom prst="rect">
            <a:avLst/>
          </a:prstGeom>
          <a:solidFill>
            <a:srgbClr val="00D4F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12648" y="3922775"/>
            <a:ext cx="6684264" cy="14630"/>
          </a:xfrm>
          <a:prstGeom prst="rect">
            <a:avLst/>
          </a:prstGeom>
          <a:solidFill>
            <a:srgbClr val="00D4F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12648" y="4046219"/>
            <a:ext cx="6684264" cy="14630"/>
          </a:xfrm>
          <a:prstGeom prst="rect">
            <a:avLst/>
          </a:prstGeom>
          <a:solidFill>
            <a:srgbClr val="00D4F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612648" y="4169663"/>
            <a:ext cx="6684264" cy="14630"/>
          </a:xfrm>
          <a:prstGeom prst="rect">
            <a:avLst/>
          </a:prstGeom>
          <a:solidFill>
            <a:srgbClr val="00D4F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612648" y="4293107"/>
            <a:ext cx="6684264" cy="14630"/>
          </a:xfrm>
          <a:prstGeom prst="rect">
            <a:avLst/>
          </a:prstGeom>
          <a:solidFill>
            <a:srgbClr val="00D4F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12648" y="4416551"/>
            <a:ext cx="6684264" cy="14630"/>
          </a:xfrm>
          <a:prstGeom prst="rect">
            <a:avLst/>
          </a:prstGeom>
          <a:solidFill>
            <a:srgbClr val="00D4F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612648" y="4539995"/>
            <a:ext cx="6684264" cy="14630"/>
          </a:xfrm>
          <a:prstGeom prst="rect">
            <a:avLst/>
          </a:prstGeom>
          <a:solidFill>
            <a:srgbClr val="00D4F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612648" y="4663439"/>
            <a:ext cx="6684264" cy="14630"/>
          </a:xfrm>
          <a:prstGeom prst="rect">
            <a:avLst/>
          </a:prstGeom>
          <a:solidFill>
            <a:srgbClr val="00D4F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612648" y="4786883"/>
            <a:ext cx="6684264" cy="14630"/>
          </a:xfrm>
          <a:prstGeom prst="rect">
            <a:avLst/>
          </a:prstGeom>
          <a:solidFill>
            <a:srgbClr val="00D4F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612648" y="4910327"/>
            <a:ext cx="6684264" cy="14630"/>
          </a:xfrm>
          <a:prstGeom prst="rect">
            <a:avLst/>
          </a:prstGeom>
          <a:solidFill>
            <a:srgbClr val="00D4F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612648" y="5033771"/>
            <a:ext cx="6684264" cy="14630"/>
          </a:xfrm>
          <a:prstGeom prst="rect">
            <a:avLst/>
          </a:prstGeom>
          <a:solidFill>
            <a:srgbClr val="00D4F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612648" y="5157215"/>
            <a:ext cx="6684264" cy="14630"/>
          </a:xfrm>
          <a:prstGeom prst="rect">
            <a:avLst/>
          </a:prstGeom>
          <a:solidFill>
            <a:srgbClr val="00D4F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612648" y="5280659"/>
            <a:ext cx="6684264" cy="14630"/>
          </a:xfrm>
          <a:prstGeom prst="rect">
            <a:avLst/>
          </a:prstGeom>
          <a:solidFill>
            <a:srgbClr val="00D4F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612648" y="5404103"/>
            <a:ext cx="6684264" cy="14630"/>
          </a:xfrm>
          <a:prstGeom prst="rect">
            <a:avLst/>
          </a:prstGeom>
          <a:solidFill>
            <a:srgbClr val="00D4F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612648" y="5527547"/>
            <a:ext cx="6684264" cy="14630"/>
          </a:xfrm>
          <a:prstGeom prst="rect">
            <a:avLst/>
          </a:prstGeom>
          <a:solidFill>
            <a:srgbClr val="00D4FF">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22960" y="2249424"/>
            <a:ext cx="6355080" cy="3291840"/>
          </a:xfrm>
          <a:prstGeom prst="rect">
            <a:avLst/>
          </a:prstGeom>
          <a:noFill/>
        </p:spPr>
        <p:txBody>
          <a:bodyPr wrap="square" anchor="t" lIns="0" rIns="0" tIns="0" bIns="0">
            <a:spAutoFit/>
          </a:bodyPr>
          <a:lstStyle/>
          <a:p>
            <a:pPr algn="l">
              <a:lnSpc>
                <a:spcPct val="100000"/>
              </a:lnSpc>
              <a:spcAft>
                <a:spcPts val="400"/>
              </a:spcAft>
            </a:pPr>
            <a:r>
              <a:rPr sz="1150" b="1" i="0">
                <a:solidFill>
                  <a:srgbClr val="00FF41"/>
                </a:solidFill>
                <a:effectLst>
                  <a:glow rad="38100">
                    <a:srgbClr val="00FF41">
                      <a:alpha val="45000"/>
                    </a:srgbClr>
                  </a:glow>
                </a:effectLst>
                <a:latin typeface="Consolas"/>
              </a:rPr>
              <a:t>$ </a:t>
            </a:r>
            <a:r>
              <a:rPr sz="1150" b="0" i="0">
                <a:solidFill>
                  <a:srgbClr val="EAF4FF"/>
                </a:solidFill>
                <a:latin typeface="Consolas"/>
              </a:rPr>
              <a:t>git clone https://github.com/&lt;org&gt;/zodiac-ai.git</a:t>
            </a:r>
          </a:p>
          <a:p>
            <a:pPr algn="l">
              <a:lnSpc>
                <a:spcPct val="100000"/>
              </a:lnSpc>
              <a:spcAft>
                <a:spcPts val="900"/>
              </a:spcAft>
            </a:pPr>
            <a:r>
              <a:rPr sz="1150" b="1" i="0">
                <a:solidFill>
                  <a:srgbClr val="00FF41"/>
                </a:solidFill>
                <a:effectLst>
                  <a:glow rad="38100">
                    <a:srgbClr val="00FF41">
                      <a:alpha val="45000"/>
                    </a:srgbClr>
                  </a:glow>
                </a:effectLst>
                <a:latin typeface="Consolas"/>
              </a:rPr>
              <a:t>$ </a:t>
            </a:r>
            <a:r>
              <a:rPr sz="1150" b="0" i="0">
                <a:solidFill>
                  <a:srgbClr val="EAF4FF"/>
                </a:solidFill>
                <a:latin typeface="Consolas"/>
              </a:rPr>
              <a:t>cd zodiac-ai</a:t>
            </a:r>
          </a:p>
          <a:p>
            <a:pPr algn="l">
              <a:lnSpc>
                <a:spcPct val="100000"/>
              </a:lnSpc>
              <a:spcAft>
                <a:spcPts val="400"/>
              </a:spcAft>
            </a:pPr>
            <a:r>
              <a:rPr sz="1050" b="0" i="0">
                <a:solidFill>
                  <a:srgbClr val="5A6A85"/>
                </a:solidFill>
                <a:latin typeface="Consolas"/>
              </a:rPr>
              <a:t># .env</a:t>
            </a:r>
          </a:p>
          <a:p>
            <a:pPr algn="l">
              <a:lnSpc>
                <a:spcPct val="100000"/>
              </a:lnSpc>
              <a:spcAft>
                <a:spcPts val="400"/>
              </a:spcAft>
            </a:pPr>
            <a:r>
              <a:rPr sz="1100" b="1" i="0">
                <a:solidFill>
                  <a:srgbClr val="00FF41"/>
                </a:solidFill>
                <a:latin typeface="Consolas"/>
              </a:rPr>
              <a:t>GROQ_API_KEY</a:t>
            </a:r>
            <a:r>
              <a:rPr sz="1100" b="0" i="0">
                <a:solidFill>
                  <a:srgbClr val="EAF4FF"/>
                </a:solidFill>
                <a:latin typeface="Consolas"/>
              </a:rPr>
              <a:t>=••••••••••</a:t>
            </a:r>
            <a:r>
              <a:rPr sz="950" b="0" i="0">
                <a:solidFill>
                  <a:srgbClr val="5A6A85"/>
                </a:solidFill>
                <a:latin typeface="Consolas"/>
              </a:rPr>
              <a:t>   # primary provider</a:t>
            </a:r>
          </a:p>
          <a:p>
            <a:pPr algn="l">
              <a:lnSpc>
                <a:spcPct val="100000"/>
              </a:lnSpc>
              <a:spcAft>
                <a:spcPts val="900"/>
              </a:spcAft>
            </a:pPr>
            <a:r>
              <a:rPr sz="1100" b="1" i="0">
                <a:solidFill>
                  <a:srgbClr val="00D4FF"/>
                </a:solidFill>
                <a:latin typeface="Consolas"/>
              </a:rPr>
              <a:t>GEMINI_API_KEY</a:t>
            </a:r>
            <a:r>
              <a:rPr sz="1100" b="0" i="0">
                <a:solidFill>
                  <a:srgbClr val="EAF4FF"/>
                </a:solidFill>
                <a:latin typeface="Consolas"/>
              </a:rPr>
              <a:t>=••••••••••</a:t>
            </a:r>
            <a:r>
              <a:rPr sz="950" b="0" i="0">
                <a:solidFill>
                  <a:srgbClr val="5A6A85"/>
                </a:solidFill>
                <a:latin typeface="Consolas"/>
              </a:rPr>
              <a:t>   # optional fallback</a:t>
            </a:r>
          </a:p>
          <a:p>
            <a:pPr algn="l">
              <a:lnSpc>
                <a:spcPct val="100000"/>
              </a:lnSpc>
              <a:spcAft>
                <a:spcPts val="400"/>
              </a:spcAft>
            </a:pPr>
            <a:r>
              <a:rPr sz="1150" b="1" i="0">
                <a:solidFill>
                  <a:srgbClr val="00FF41"/>
                </a:solidFill>
                <a:effectLst>
                  <a:glow rad="38100">
                    <a:srgbClr val="00FF41">
                      <a:alpha val="45000"/>
                    </a:srgbClr>
                  </a:glow>
                </a:effectLst>
                <a:latin typeface="Consolas"/>
              </a:rPr>
              <a:t>$ </a:t>
            </a:r>
            <a:r>
              <a:rPr sz="1150" b="0" i="0">
                <a:solidFill>
                  <a:srgbClr val="EAF4FF"/>
                </a:solidFill>
                <a:latin typeface="Consolas"/>
              </a:rPr>
              <a:t>pip install -r requirements.txt</a:t>
            </a:r>
            <a:r>
              <a:rPr sz="950" b="0" i="0">
                <a:solidFill>
                  <a:srgbClr val="5A6A85"/>
                </a:solidFill>
                <a:latin typeface="Consolas"/>
              </a:rPr>
              <a:t>  # backend ✓</a:t>
            </a:r>
          </a:p>
          <a:p>
            <a:pPr algn="l">
              <a:lnSpc>
                <a:spcPct val="100000"/>
              </a:lnSpc>
              <a:spcAft>
                <a:spcPts val="800"/>
              </a:spcAft>
            </a:pPr>
            <a:r>
              <a:rPr sz="1150" b="1" i="0">
                <a:solidFill>
                  <a:srgbClr val="00FF41"/>
                </a:solidFill>
                <a:effectLst>
                  <a:glow rad="38100">
                    <a:srgbClr val="00FF41">
                      <a:alpha val="45000"/>
                    </a:srgbClr>
                  </a:glow>
                </a:effectLst>
                <a:latin typeface="Consolas"/>
              </a:rPr>
              <a:t>$ </a:t>
            </a:r>
            <a:r>
              <a:rPr sz="1150" b="0" i="0">
                <a:solidFill>
                  <a:srgbClr val="EAF4FF"/>
                </a:solidFill>
                <a:latin typeface="Consolas"/>
              </a:rPr>
              <a:t>npm install &amp;&amp; npm run dev</a:t>
            </a:r>
            <a:r>
              <a:rPr sz="950" b="0" i="0">
                <a:solidFill>
                  <a:srgbClr val="5A6A85"/>
                </a:solidFill>
                <a:latin typeface="Consolas"/>
              </a:rPr>
              <a:t>         # frontend ✓</a:t>
            </a:r>
          </a:p>
          <a:p>
            <a:pPr algn="l">
              <a:lnSpc>
                <a:spcPct val="100000"/>
              </a:lnSpc>
              <a:spcAft>
                <a:spcPts val="800"/>
              </a:spcAft>
            </a:pPr>
            <a:r>
              <a:rPr sz="1100" b="0" i="0">
                <a:solidFill>
                  <a:srgbClr val="5A6A85"/>
                </a:solidFill>
                <a:latin typeface="Consolas"/>
              </a:rPr>
              <a:t>[</a:t>
            </a:r>
            <a:r>
              <a:rPr sz="1100" b="0" i="0">
                <a:solidFill>
                  <a:srgbClr val="00FF41"/>
                </a:solidFill>
                <a:effectLst>
                  <a:glow rad="38100">
                    <a:srgbClr val="00FF41">
                      <a:alpha val="40000"/>
                    </a:srgbClr>
                  </a:glow>
                </a:effectLst>
                <a:latin typeface="Consolas"/>
              </a:rPr>
              <a:t>██████████░░</a:t>
            </a:r>
            <a:r>
              <a:rPr sz="1100" b="0" i="0">
                <a:solidFill>
                  <a:srgbClr val="5A6A85"/>
                </a:solidFill>
                <a:latin typeface="Consolas"/>
              </a:rPr>
              <a:t>]</a:t>
            </a:r>
            <a:r>
              <a:rPr sz="1000" b="0" i="0">
                <a:solidFill>
                  <a:srgbClr val="93A6C4"/>
                </a:solidFill>
                <a:latin typeface="Consolas"/>
              </a:rPr>
              <a:t> LOADING...</a:t>
            </a:r>
          </a:p>
          <a:p>
            <a:pPr algn="l">
              <a:lnSpc>
                <a:spcPct val="100000"/>
              </a:lnSpc>
            </a:pPr>
            <a:r>
              <a:rPr sz="1200" b="1" i="0">
                <a:solidFill>
                  <a:srgbClr val="00D4FF"/>
                </a:solidFill>
                <a:effectLst>
                  <a:glow rad="38100">
                    <a:srgbClr val="00D4FF">
                      <a:alpha val="45000"/>
                    </a:srgbClr>
                  </a:glow>
                </a:effectLst>
                <a:latin typeface="Consolas"/>
              </a:rPr>
              <a:t>▲ </a:t>
            </a:r>
            <a:r>
              <a:rPr sz="1200" b="1" i="0">
                <a:solidFill>
                  <a:srgbClr val="00D4FF"/>
                </a:solidFill>
                <a:latin typeface="Consolas"/>
              </a:rPr>
              <a:t>open the local URL  →  start asking</a:t>
            </a:r>
          </a:p>
        </p:txBody>
      </p:sp>
      <p:sp>
        <p:nvSpPr>
          <p:cNvPr id="62" name="Rounded Rectangle 61"/>
          <p:cNvSpPr/>
          <p:nvPr/>
        </p:nvSpPr>
        <p:spPr>
          <a:xfrm>
            <a:off x="7680960" y="1627632"/>
            <a:ext cx="4005072" cy="4023360"/>
          </a:xfrm>
          <a:prstGeom prst="roundRect">
            <a:avLst>
              <a:gd name="adj" fmla="val 5000"/>
            </a:avLst>
          </a:prstGeom>
          <a:solidFill>
            <a:srgbClr val="10192A">
              <a:alpha val="90000"/>
            </a:srgbClr>
          </a:solidFill>
          <a:ln w="12700">
            <a:solidFill>
              <a:srgbClr val="223046"/>
            </a:solidFill>
          </a:ln>
          <a:effectLst>
            <a:outerShdw blurRad="164592" dist="45720" dir="5400000" rotWithShape="0">
              <a:srgbClr val="000000">
                <a:alpha val="5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7808976" y="1627632"/>
            <a:ext cx="3749039" cy="41148"/>
          </a:xfrm>
          <a:prstGeom prst="rect">
            <a:avLst/>
          </a:prstGeom>
          <a:solidFill>
            <a:srgbClr val="00D4FF"/>
          </a:solidFill>
          <a:ln>
            <a:noFill/>
          </a:ln>
          <a:effectLst>
            <a:glow rad="63500">
              <a:srgbClr val="00D4FF">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7918704" y="1764792"/>
            <a:ext cx="3529584" cy="274320"/>
          </a:xfrm>
          <a:prstGeom prst="rect">
            <a:avLst/>
          </a:prstGeom>
          <a:noFill/>
        </p:spPr>
        <p:txBody>
          <a:bodyPr wrap="square" anchor="t" lIns="0" rIns="0" tIns="0" bIns="0">
            <a:spAutoFit/>
          </a:bodyPr>
          <a:lstStyle/>
          <a:p>
            <a:pPr algn="l">
              <a:lnSpc>
                <a:spcPct val="100000"/>
              </a:lnSpc>
            </a:pPr>
            <a:r>
              <a:rPr sz="1150" b="1" i="0" spc="110">
                <a:solidFill>
                  <a:srgbClr val="00D4FF"/>
                </a:solidFill>
                <a:latin typeface="Consolas"/>
              </a:rPr>
              <a:t>RUN NOTES</a:t>
            </a:r>
          </a:p>
        </p:txBody>
      </p:sp>
      <p:sp>
        <p:nvSpPr>
          <p:cNvPr id="65" name="TextBox 64"/>
          <p:cNvSpPr txBox="1"/>
          <p:nvPr/>
        </p:nvSpPr>
        <p:spPr>
          <a:xfrm>
            <a:off x="7955279" y="2240279"/>
            <a:ext cx="3520440" cy="3200400"/>
          </a:xfrm>
          <a:prstGeom prst="rect">
            <a:avLst/>
          </a:prstGeom>
          <a:noFill/>
        </p:spPr>
        <p:txBody>
          <a:bodyPr wrap="square" anchor="t" lIns="0" rIns="0" tIns="0" bIns="0">
            <a:spAutoFit/>
          </a:bodyPr>
          <a:lstStyle/>
          <a:p>
            <a:pPr algn="l" marL="237744" indent="-237744">
              <a:lnSpc>
                <a:spcPct val="112000"/>
              </a:lnSpc>
              <a:spcAft>
                <a:spcPts val="900"/>
              </a:spcAft>
            </a:pPr>
            <a:r>
              <a:rPr sz="1100" b="1" i="0">
                <a:solidFill>
                  <a:srgbClr val="00D4FF"/>
                </a:solidFill>
                <a:latin typeface="Consolas"/>
              </a:rPr>
              <a:t>▸  </a:t>
            </a:r>
            <a:r>
              <a:rPr sz="1100" b="1" i="0">
                <a:solidFill>
                  <a:srgbClr val="EAF4FF"/>
                </a:solidFill>
                <a:latin typeface="Segoe UI"/>
              </a:rPr>
              <a:t>Prerequisites</a:t>
            </a:r>
            <a:r>
              <a:rPr sz="1100" b="0" i="0">
                <a:solidFill>
                  <a:srgbClr val="93A6C4"/>
                </a:solidFill>
                <a:latin typeface="Segoe UI"/>
              </a:rPr>
              <a:t> — Python 3.10+ · Node 18+ · Git · ≥ 1 API key</a:t>
            </a:r>
          </a:p>
          <a:p>
            <a:pPr algn="l" marL="237744" indent="-237744">
              <a:lnSpc>
                <a:spcPct val="112000"/>
              </a:lnSpc>
              <a:spcAft>
                <a:spcPts val="900"/>
              </a:spcAft>
            </a:pPr>
            <a:r>
              <a:rPr sz="1100" b="1" i="0">
                <a:solidFill>
                  <a:srgbClr val="00D4FF"/>
                </a:solidFill>
                <a:latin typeface="Consolas"/>
              </a:rPr>
              <a:t>▸  </a:t>
            </a:r>
            <a:r>
              <a:rPr sz="1100" b="1" i="0">
                <a:solidFill>
                  <a:srgbClr val="EAF4FF"/>
                </a:solidFill>
                <a:latin typeface="Segoe UI"/>
              </a:rPr>
              <a:t>No DB server</a:t>
            </a:r>
            <a:r>
              <a:rPr sz="1100" b="0" i="0">
                <a:solidFill>
                  <a:srgbClr val="93A6C4"/>
                </a:solidFill>
                <a:latin typeface="Segoe UI"/>
              </a:rPr>
              <a:t> — SQLite ships inside the repo</a:t>
            </a:r>
          </a:p>
          <a:p>
            <a:pPr algn="l" marL="237744" indent="-237744">
              <a:lnSpc>
                <a:spcPct val="112000"/>
              </a:lnSpc>
              <a:spcAft>
                <a:spcPts val="900"/>
              </a:spcAft>
            </a:pPr>
            <a:r>
              <a:rPr sz="1100" b="1" i="0">
                <a:solidFill>
                  <a:srgbClr val="00D4FF"/>
                </a:solidFill>
                <a:latin typeface="Consolas"/>
              </a:rPr>
              <a:t>▸  </a:t>
            </a:r>
            <a:r>
              <a:rPr sz="1100" b="1" i="0">
                <a:solidFill>
                  <a:srgbClr val="EAF4FF"/>
                </a:solidFill>
                <a:latin typeface="Segoe UI"/>
              </a:rPr>
              <a:t>One key runs it</a:t>
            </a:r>
            <a:r>
              <a:rPr sz="1100" b="0" i="0">
                <a:solidFill>
                  <a:srgbClr val="93A6C4"/>
                </a:solidFill>
                <a:latin typeface="Segoe UI"/>
              </a:rPr>
              <a:t> — a second key activates the failover router</a:t>
            </a:r>
          </a:p>
          <a:p>
            <a:pPr algn="l" marL="237744" indent="-237744">
              <a:lnSpc>
                <a:spcPct val="112000"/>
              </a:lnSpc>
              <a:spcAft>
                <a:spcPts val="900"/>
              </a:spcAft>
            </a:pPr>
            <a:r>
              <a:rPr sz="1100" b="1" i="0">
                <a:solidFill>
                  <a:srgbClr val="00D4FF"/>
                </a:solidFill>
                <a:latin typeface="Consolas"/>
              </a:rPr>
              <a:t>▸  </a:t>
            </a:r>
            <a:r>
              <a:rPr sz="1100" b="1" i="0">
                <a:solidFill>
                  <a:srgbClr val="EAF4FF"/>
                </a:solidFill>
                <a:latin typeface="Segoe UI"/>
              </a:rPr>
              <a:t>&lt; 5 minutes</a:t>
            </a:r>
            <a:r>
              <a:rPr sz="1100" b="0" i="0">
                <a:solidFill>
                  <a:srgbClr val="93A6C4"/>
                </a:solidFill>
                <a:latin typeface="Segoe UI"/>
              </a:rPr>
              <a:t> — from git clone to first grounded answer</a:t>
            </a:r>
          </a:p>
        </p:txBody>
      </p:sp>
      <p:sp>
        <p:nvSpPr>
          <p:cNvPr id="66" name="Rounded Rectangle 65"/>
          <p:cNvSpPr/>
          <p:nvPr/>
        </p:nvSpPr>
        <p:spPr>
          <a:xfrm>
            <a:off x="502920" y="5870448"/>
            <a:ext cx="11185855" cy="420624"/>
          </a:xfrm>
          <a:prstGeom prst="roundRect">
            <a:avLst>
              <a:gd name="adj" fmla="val 50000"/>
            </a:avLst>
          </a:prstGeom>
          <a:solidFill>
            <a:srgbClr val="10192A">
              <a:alpha val="88000"/>
            </a:srgbClr>
          </a:solidFill>
          <a:ln w="12700">
            <a:solidFill>
              <a:srgbClr val="223046"/>
            </a:solidFill>
          </a:ln>
          <a:effectLst>
            <a:outerShdw blurRad="128016" dist="36576" dir="5400000" rotWithShape="0">
              <a:srgbClr val="000000">
                <a:alpha val="5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694944" y="5971032"/>
            <a:ext cx="54864" cy="219456"/>
          </a:xfrm>
          <a:prstGeom prst="rect">
            <a:avLst/>
          </a:prstGeom>
          <a:solidFill>
            <a:srgbClr val="00FF41"/>
          </a:solidFill>
          <a:ln>
            <a:noFill/>
          </a:ln>
          <a:effectLst>
            <a:glow rad="50800">
              <a:srgbClr val="00FF41">
                <a:alpha val="6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914400" y="5870448"/>
            <a:ext cx="10180015" cy="420624"/>
          </a:xfrm>
          <a:prstGeom prst="rect">
            <a:avLst/>
          </a:prstGeom>
          <a:noFill/>
        </p:spPr>
        <p:txBody>
          <a:bodyPr wrap="square" anchor="ctr" lIns="0" rIns="0" tIns="0" bIns="0">
            <a:spAutoFit/>
          </a:bodyPr>
          <a:lstStyle/>
          <a:p>
            <a:pPr algn="l">
              <a:lnSpc>
                <a:spcPct val="100000"/>
              </a:lnSpc>
            </a:pPr>
            <a:r>
              <a:rPr sz="1050" b="1" i="0" spc="55">
                <a:solidFill>
                  <a:srgbClr val="00FF41"/>
                </a:solidFill>
                <a:effectLst>
                  <a:glow rad="38100">
                    <a:srgbClr val="00FF41">
                      <a:alpha val="30000"/>
                    </a:srgbClr>
                  </a:glow>
                </a:effectLst>
                <a:latin typeface="Consolas"/>
              </a:rPr>
              <a:t>CLONE IT DURING Q&amp;A — THE DEMO IS THE PITCH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ero-closing.jp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8229600" cy="6858000"/>
          </a:xfrm>
          <a:prstGeom prst="rect">
            <a:avLst/>
          </a:prstGeom>
          <a:gradFill rotWithShape="1">
            <a:gsLst>
              <a:gs pos="0">
                <a:srgbClr val="0A0E14">
                  <a:alpha val="95000"/>
                </a:srgbClr>
              </a:gs>
              <a:gs pos="60000">
                <a:srgbClr val="0A0E14">
                  <a:alpha val="78000"/>
                </a:srgbClr>
              </a:gs>
              <a:gs pos="100000">
                <a:srgbClr val="0A0E14">
                  <a:alpha val="0"/>
                </a:srgbClr>
              </a:gs>
            </a:gsLst>
            <a:lin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120511" cy="36576"/>
          </a:xfrm>
          <a:prstGeom prst="rect">
            <a:avLst/>
          </a:prstGeom>
          <a:solidFill>
            <a:srgbClr val="00FF41"/>
          </a:solidFill>
          <a:ln>
            <a:noFill/>
          </a:ln>
          <a:effectLst>
            <a:glow rad="63500">
              <a:srgbClr val="00FF41">
                <a:alpha val="4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120511" y="0"/>
            <a:ext cx="7071183" cy="36576"/>
          </a:xfrm>
          <a:prstGeom prst="rect">
            <a:avLst/>
          </a:prstGeom>
          <a:solidFill>
            <a:srgbClr val="00D4FF"/>
          </a:solidFill>
          <a:ln>
            <a:noFill/>
          </a:ln>
          <a:effectLst>
            <a:glow rad="63500">
              <a:srgbClr val="00D4FF">
                <a:alpha val="4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457200"/>
            <a:ext cx="8229600" cy="274320"/>
          </a:xfrm>
          <a:prstGeom prst="rect">
            <a:avLst/>
          </a:prstGeom>
          <a:noFill/>
        </p:spPr>
        <p:txBody>
          <a:bodyPr wrap="square" anchor="t" lIns="0" rIns="0" tIns="0" bIns="0">
            <a:spAutoFit/>
          </a:bodyPr>
          <a:lstStyle/>
          <a:p>
            <a:pPr algn="l">
              <a:lnSpc>
                <a:spcPct val="100000"/>
              </a:lnSpc>
            </a:pPr>
            <a:r>
              <a:rPr sz="1100" b="0" i="0">
                <a:solidFill>
                  <a:srgbClr val="93A6C4"/>
                </a:solidFill>
                <a:latin typeface="Consolas"/>
              </a:rPr>
              <a:t>$ status: </a:t>
            </a:r>
            <a:r>
              <a:rPr sz="1100" b="1" i="0">
                <a:solidFill>
                  <a:srgbClr val="00FF41"/>
                </a:solidFill>
                <a:effectLst>
                  <a:glow rad="50800">
                    <a:srgbClr val="00FF41">
                      <a:alpha val="50000"/>
                    </a:srgbClr>
                  </a:glow>
                </a:effectLst>
                <a:latin typeface="Consolas"/>
              </a:rPr>
              <a:t>ALL SYSTEMS OPERATIONAL</a:t>
            </a:r>
          </a:p>
        </p:txBody>
      </p:sp>
      <p:sp>
        <p:nvSpPr>
          <p:cNvPr id="7" name="TextBox 6"/>
          <p:cNvSpPr txBox="1"/>
          <p:nvPr/>
        </p:nvSpPr>
        <p:spPr>
          <a:xfrm>
            <a:off x="566928" y="896112"/>
            <a:ext cx="8778240" cy="548640"/>
          </a:xfrm>
          <a:prstGeom prst="rect">
            <a:avLst/>
          </a:prstGeom>
          <a:noFill/>
        </p:spPr>
        <p:txBody>
          <a:bodyPr wrap="square" anchor="t" lIns="0" rIns="0" tIns="0" bIns="0">
            <a:spAutoFit/>
          </a:bodyPr>
          <a:lstStyle/>
          <a:p>
            <a:pPr algn="l">
              <a:lnSpc>
                <a:spcPct val="100000"/>
              </a:lnSpc>
            </a:pPr>
            <a:r>
              <a:rPr sz="3100" b="1" i="0">
                <a:solidFill>
                  <a:srgbClr val="EAF4FF"/>
                </a:solidFill>
                <a:latin typeface="Bahnschrift"/>
              </a:rPr>
              <a:t>The Database Is Now </a:t>
            </a:r>
            <a:r>
              <a:rPr sz="3100" b="1" i="0">
                <a:solidFill>
                  <a:srgbClr val="00D4FF"/>
                </a:solidFill>
                <a:effectLst>
                  <a:glow rad="63500">
                    <a:srgbClr val="00D4FF">
                      <a:alpha val="35000"/>
                    </a:srgbClr>
                  </a:glow>
                </a:effectLst>
                <a:latin typeface="Bahnschrift"/>
              </a:rPr>
              <a:t>a Conversation</a:t>
            </a:r>
          </a:p>
        </p:txBody>
      </p:sp>
      <p:sp>
        <p:nvSpPr>
          <p:cNvPr id="8" name="Rectangle 7"/>
          <p:cNvSpPr/>
          <p:nvPr/>
        </p:nvSpPr>
        <p:spPr>
          <a:xfrm>
            <a:off x="585216" y="1536192"/>
            <a:ext cx="1554480" cy="31089"/>
          </a:xfrm>
          <a:prstGeom prst="rect">
            <a:avLst/>
          </a:prstGeom>
          <a:solidFill>
            <a:srgbClr val="00FF41"/>
          </a:solidFill>
          <a:ln>
            <a:noFill/>
          </a:ln>
          <a:effectLst>
            <a:glow rad="50800">
              <a:srgbClr val="00FF41">
                <a:alpha val="5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139696" y="1536192"/>
            <a:ext cx="502920" cy="31089"/>
          </a:xfrm>
          <a:prstGeom prst="rect">
            <a:avLst/>
          </a:prstGeom>
          <a:solidFill>
            <a:srgbClr val="00D4FF"/>
          </a:solidFill>
          <a:ln>
            <a:noFill/>
          </a:ln>
          <a:effectLst>
            <a:glow rad="50800">
              <a:srgbClr val="00D4FF">
                <a:alpha val="5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1828800"/>
            <a:ext cx="7589520" cy="2926080"/>
          </a:xfrm>
          <a:prstGeom prst="rect">
            <a:avLst/>
          </a:prstGeom>
          <a:noFill/>
        </p:spPr>
        <p:txBody>
          <a:bodyPr wrap="square" anchor="t" lIns="0" rIns="0" tIns="0" bIns="0">
            <a:spAutoFit/>
          </a:bodyPr>
          <a:lstStyle/>
          <a:p>
            <a:pPr algn="l" marL="237744" indent="-237744">
              <a:lnSpc>
                <a:spcPct val="112000"/>
              </a:lnSpc>
              <a:spcAft>
                <a:spcPts val="1200"/>
              </a:spcAft>
            </a:pPr>
            <a:r>
              <a:rPr sz="1250" b="1" i="0">
                <a:solidFill>
                  <a:srgbClr val="00FF41"/>
                </a:solidFill>
                <a:effectLst>
                  <a:glow rad="38100">
                    <a:srgbClr val="00FF41">
                      <a:alpha val="45000"/>
                    </a:srgbClr>
                  </a:glow>
                </a:effectLst>
                <a:latin typeface="Consolas"/>
              </a:rPr>
              <a:t>▸  </a:t>
            </a:r>
            <a:r>
              <a:rPr sz="1250" b="1" i="0">
                <a:solidFill>
                  <a:srgbClr val="EAF4FF"/>
                </a:solidFill>
                <a:latin typeface="Segoe UI"/>
              </a:rPr>
              <a:t>What we built</a:t>
            </a:r>
            <a:r>
              <a:rPr sz="1250" b="0" i="0">
                <a:solidFill>
                  <a:srgbClr val="93A6C4"/>
                </a:solidFill>
                <a:latin typeface="Segoe UI"/>
              </a:rPr>
              <a:t> — exact SQL · interactive Plotly charts · live Mermaid diagrams · grounded explanations</a:t>
            </a:r>
          </a:p>
          <a:p>
            <a:pPr algn="l" marL="237744" indent="-237744">
              <a:lnSpc>
                <a:spcPct val="112000"/>
              </a:lnSpc>
              <a:spcAft>
                <a:spcPts val="1200"/>
              </a:spcAft>
            </a:pPr>
            <a:r>
              <a:rPr sz="1250" b="1" i="0">
                <a:solidFill>
                  <a:srgbClr val="00FF41"/>
                </a:solidFill>
                <a:effectLst>
                  <a:glow rad="38100">
                    <a:srgbClr val="00FF41">
                      <a:alpha val="45000"/>
                    </a:srgbClr>
                  </a:glow>
                </a:effectLst>
                <a:latin typeface="Consolas"/>
              </a:rPr>
              <a:t>▸  </a:t>
            </a:r>
            <a:r>
              <a:rPr sz="1250" b="1" i="0">
                <a:solidFill>
                  <a:srgbClr val="EAF4FF"/>
                </a:solidFill>
                <a:latin typeface="Segoe UI"/>
              </a:rPr>
              <a:t>Why it matters</a:t>
            </a:r>
            <a:r>
              <a:rPr sz="1250" b="0" i="0">
                <a:solidFill>
                  <a:srgbClr val="93A6C4"/>
                </a:solidFill>
                <a:latin typeface="Segoe UI"/>
              </a:rPr>
              <a:t> — analytics at conversational speed — without the hallucination tax</a:t>
            </a:r>
          </a:p>
          <a:p>
            <a:pPr algn="l" marL="237744" indent="-237744">
              <a:lnSpc>
                <a:spcPct val="112000"/>
              </a:lnSpc>
              <a:spcAft>
                <a:spcPts val="1200"/>
              </a:spcAft>
            </a:pPr>
            <a:r>
              <a:rPr sz="1250" b="1" i="0">
                <a:solidFill>
                  <a:srgbClr val="00FF41"/>
                </a:solidFill>
                <a:effectLst>
                  <a:glow rad="38100">
                    <a:srgbClr val="00FF41">
                      <a:alpha val="45000"/>
                    </a:srgbClr>
                  </a:glow>
                </a:effectLst>
                <a:latin typeface="Consolas"/>
              </a:rPr>
              <a:t>▸  </a:t>
            </a:r>
            <a:r>
              <a:rPr sz="1250" b="1" i="0">
                <a:solidFill>
                  <a:srgbClr val="EAF4FF"/>
                </a:solidFill>
                <a:latin typeface="Segoe UI"/>
              </a:rPr>
              <a:t>How it holds up</a:t>
            </a:r>
            <a:r>
              <a:rPr sz="1250" b="0" i="0">
                <a:solidFill>
                  <a:srgbClr val="93A6C4"/>
                </a:solidFill>
                <a:latin typeface="Segoe UI"/>
              </a:rPr>
              <a:t> — read-only guardrails · runtime schema awareness · multi-provider failover · 8-step reasoning</a:t>
            </a:r>
          </a:p>
          <a:p>
            <a:pPr algn="l" marL="237744" indent="-237744">
              <a:lnSpc>
                <a:spcPct val="112000"/>
              </a:lnSpc>
              <a:spcAft>
                <a:spcPts val="1200"/>
              </a:spcAft>
            </a:pPr>
            <a:r>
              <a:rPr sz="1250" b="1" i="0">
                <a:solidFill>
                  <a:srgbClr val="00FF41"/>
                </a:solidFill>
                <a:effectLst>
                  <a:glow rad="38100">
                    <a:srgbClr val="00FF41">
                      <a:alpha val="45000"/>
                    </a:srgbClr>
                  </a:glow>
                </a:effectLst>
                <a:latin typeface="Consolas"/>
              </a:rPr>
              <a:t>▸  </a:t>
            </a:r>
            <a:r>
              <a:rPr sz="1250" b="1" i="0">
                <a:solidFill>
                  <a:srgbClr val="EAF4FF"/>
                </a:solidFill>
                <a:latin typeface="Segoe UI"/>
              </a:rPr>
              <a:t>What's next</a:t>
            </a:r>
            <a:r>
              <a:rPr sz="1250" b="0" i="0">
                <a:solidFill>
                  <a:srgbClr val="93A6C4"/>
                </a:solidFill>
                <a:latin typeface="Segoe UI"/>
              </a:rPr>
              <a:t> — Postgres / MySQL connectors · richer chart grammar · conversational follow-ups · shared query memory</a:t>
            </a:r>
          </a:p>
        </p:txBody>
      </p:sp>
      <p:sp>
        <p:nvSpPr>
          <p:cNvPr id="11" name="Rounded Rectangle 10"/>
          <p:cNvSpPr/>
          <p:nvPr/>
        </p:nvSpPr>
        <p:spPr>
          <a:xfrm>
            <a:off x="566928" y="4956048"/>
            <a:ext cx="4206240" cy="493776"/>
          </a:xfrm>
          <a:prstGeom prst="roundRect">
            <a:avLst>
              <a:gd name="adj" fmla="val 50000"/>
            </a:avLst>
          </a:prstGeom>
          <a:solidFill>
            <a:srgbClr val="0A0E14">
              <a:alpha val="62000"/>
            </a:srgbClr>
          </a:solidFill>
          <a:ln w="15240">
            <a:solidFill>
              <a:srgbClr val="00FF41"/>
            </a:solidFill>
          </a:ln>
          <a:effectLst>
            <a:glow rad="76200">
              <a:srgbClr val="00FF41">
                <a:alpha val="4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4956048"/>
            <a:ext cx="4206240" cy="493776"/>
          </a:xfrm>
          <a:prstGeom prst="rect">
            <a:avLst/>
          </a:prstGeom>
          <a:noFill/>
        </p:spPr>
        <p:txBody>
          <a:bodyPr wrap="square" anchor="ctr" lIns="0" rIns="0" tIns="0" bIns="0">
            <a:spAutoFit/>
          </a:bodyPr>
          <a:lstStyle/>
          <a:p>
            <a:pPr algn="ctr">
              <a:lnSpc>
                <a:spcPct val="100000"/>
              </a:lnSpc>
            </a:pPr>
            <a:r>
              <a:rPr sz="1400" b="1" i="0">
                <a:solidFill>
                  <a:srgbClr val="00FF41"/>
                </a:solidFill>
                <a:latin typeface="Consolas"/>
              </a:rPr>
              <a:t>▸ </a:t>
            </a:r>
            <a:r>
              <a:rPr sz="1300" b="1" i="0" spc="100">
                <a:solidFill>
                  <a:srgbClr val="00FF41"/>
                </a:solidFill>
                <a:effectLst>
                  <a:glow rad="38100">
                    <a:srgbClr val="00FF41">
                      <a:alpha val="35000"/>
                    </a:srgbClr>
                  </a:glow>
                </a:effectLst>
                <a:latin typeface="Consolas"/>
              </a:rPr>
              <a:t>CLONE IT. QUERY IT. BREAK IT.</a:t>
            </a:r>
          </a:p>
        </p:txBody>
      </p:sp>
      <p:sp>
        <p:nvSpPr>
          <p:cNvPr id="13" name="TextBox 12"/>
          <p:cNvSpPr txBox="1"/>
          <p:nvPr/>
        </p:nvSpPr>
        <p:spPr>
          <a:xfrm>
            <a:off x="8247888" y="4023359"/>
            <a:ext cx="3566160" cy="1554480"/>
          </a:xfrm>
          <a:prstGeom prst="rect">
            <a:avLst/>
          </a:prstGeom>
          <a:noFill/>
        </p:spPr>
        <p:txBody>
          <a:bodyPr wrap="square" anchor="t" lIns="0" rIns="0" tIns="0" bIns="0">
            <a:spAutoFit/>
          </a:bodyPr>
          <a:lstStyle/>
          <a:p>
            <a:pPr algn="l">
              <a:lnSpc>
                <a:spcPct val="100000"/>
              </a:lnSpc>
            </a:pPr>
            <a:r>
              <a:rPr sz="9200" b="1" i="0">
                <a:solidFill>
                  <a:srgbClr val="00D4FF">
                    <a:alpha val="55000"/>
                  </a:srgbClr>
                </a:solidFill>
                <a:latin typeface="Bahnschrift"/>
              </a:rPr>
              <a:t>Q&amp;A</a:t>
            </a:r>
          </a:p>
        </p:txBody>
      </p:sp>
      <p:sp>
        <p:nvSpPr>
          <p:cNvPr id="14" name="TextBox 13"/>
          <p:cNvSpPr txBox="1"/>
          <p:nvPr/>
        </p:nvSpPr>
        <p:spPr>
          <a:xfrm>
            <a:off x="8183879" y="3977639"/>
            <a:ext cx="3566160" cy="1554480"/>
          </a:xfrm>
          <a:prstGeom prst="rect">
            <a:avLst/>
          </a:prstGeom>
          <a:noFill/>
        </p:spPr>
        <p:txBody>
          <a:bodyPr wrap="square" anchor="t" lIns="0" rIns="0" tIns="0" bIns="0">
            <a:spAutoFit/>
          </a:bodyPr>
          <a:lstStyle/>
          <a:p>
            <a:pPr algn="l">
              <a:lnSpc>
                <a:spcPct val="100000"/>
              </a:lnSpc>
            </a:pPr>
            <a:r>
              <a:rPr sz="9200" b="1" i="0">
                <a:solidFill>
                  <a:srgbClr val="FFFFFF"/>
                </a:solidFill>
                <a:effectLst>
                  <a:glow rad="139700">
                    <a:srgbClr val="00FF41">
                      <a:alpha val="50000"/>
                    </a:srgbClr>
                  </a:glow>
                </a:effectLst>
                <a:latin typeface="Bahnschrift"/>
              </a:rPr>
              <a:t>Q&amp;A</a:t>
            </a:r>
          </a:p>
        </p:txBody>
      </p:sp>
      <p:sp>
        <p:nvSpPr>
          <p:cNvPr id="15" name="TextBox 14"/>
          <p:cNvSpPr txBox="1"/>
          <p:nvPr/>
        </p:nvSpPr>
        <p:spPr>
          <a:xfrm>
            <a:off x="8229600" y="5596128"/>
            <a:ext cx="3474720" cy="320040"/>
          </a:xfrm>
          <a:prstGeom prst="rect">
            <a:avLst/>
          </a:prstGeom>
          <a:noFill/>
        </p:spPr>
        <p:txBody>
          <a:bodyPr wrap="square" anchor="t" lIns="0" rIns="0" tIns="0" bIns="0">
            <a:spAutoFit/>
          </a:bodyPr>
          <a:lstStyle/>
          <a:p>
            <a:pPr algn="ctr">
              <a:lnSpc>
                <a:spcPct val="100000"/>
              </a:lnSpc>
            </a:pPr>
            <a:r>
              <a:rPr sz="1300" b="0" i="0">
                <a:solidFill>
                  <a:srgbClr val="EAF4FF"/>
                </a:solidFill>
                <a:latin typeface="Consolas"/>
              </a:rPr>
              <a:t>&gt; ask anything</a:t>
            </a:r>
            <a:r>
              <a:rPr sz="1300" b="1" i="0">
                <a:solidFill>
                  <a:srgbClr val="00FF41"/>
                </a:solidFill>
                <a:effectLst>
                  <a:glow rad="50800">
                    <a:srgbClr val="00FF41">
                      <a:alpha val="60000"/>
                    </a:srgbClr>
                  </a:glow>
                </a:effectLst>
                <a:latin typeface="Consolas"/>
              </a:rPr>
              <a:t>_</a:t>
            </a:r>
          </a:p>
        </p:txBody>
      </p:sp>
      <p:sp>
        <p:nvSpPr>
          <p:cNvPr id="16" name="TextBox 15"/>
          <p:cNvSpPr txBox="1"/>
          <p:nvPr/>
        </p:nvSpPr>
        <p:spPr>
          <a:xfrm>
            <a:off x="566928" y="6355080"/>
            <a:ext cx="7315200" cy="274320"/>
          </a:xfrm>
          <a:prstGeom prst="rect">
            <a:avLst/>
          </a:prstGeom>
          <a:noFill/>
        </p:spPr>
        <p:txBody>
          <a:bodyPr wrap="square" anchor="t" lIns="0" rIns="0" tIns="0" bIns="0">
            <a:spAutoFit/>
          </a:bodyPr>
          <a:lstStyle/>
          <a:p>
            <a:pPr algn="l">
              <a:lnSpc>
                <a:spcPct val="100000"/>
              </a:lnSpc>
            </a:pPr>
            <a:r>
              <a:rPr sz="900" b="0" i="0" spc="280">
                <a:solidFill>
                  <a:srgbClr val="5A6A85"/>
                </a:solidFill>
                <a:latin typeface="Consolas"/>
              </a:rPr>
              <a:t>ZODIAC AI // 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Zodiac AI — Pitch Deck &amp; Technical Overview</dc:title>
  <dc:subject>Chat with your Database — text-to-SQL agent</dc:subject>
  <dc:creator>Zodiac AI</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