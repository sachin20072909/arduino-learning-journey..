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judges. Every minute, our cities generate millions of data points — yet the people running them still can't see the whole picture. This is CityVerse AI — a living digital twin of an entire city. It watches every signal in real time, predicts what happens next, and helps authorities act before problems occur. Over the next six minutes, I'll show you how a city learns to see itself. (Click once to build the scene.)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problem. A city's traffic, pollution, energy, infrastructure and emergency data all live in different departments, different dashboards, different formats. Traffic control doesn't talk to the pollution board; the power utility doesn't talk to disaster management. So decisions are slow, reactive, and too late. City data exists in silos — and in a siloed city, proactive planning is nearly impossible. That's exactly the gap CityVerse attacks.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we asked a simple question — what if a city could see itself? CityVerse AI mirrors the physical city into a live digital twin, layer by layer. IoT signals stream in, the twin updates continuously, AI looks ahead, and planners finally get decisions instead of just data. Physical city, to live twin, to predictions, to action — one continuous learning loop. That's our vision.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Meet CityVerse AI — five modules around one living model. At the core, the Live Digital City: a real-time replica of every road, building and signal. Around it, Infrastructure Health monitoring, Traffic Intelligence, Energy and Pollution analytics, and Emergency Simulation. Every module reads from the same twin — so a change anywhere is visible everywhere. One city, one model, five superpowers. Now let me show you the engine underneath.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is a five-stage pipeline. IoT sensors — traffic cameras, air-quality monitors, smart meters, road-vibration sensors and weather feeds — stream into a GIS layer that geotags everything in real time. The AI engine finds patterns and makes predictions. The digital twin engine turns those into a living simulation. And the governance dashboard turns insight into one-click decisions. It's fully modular — every layer is swappable and scalable.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live digital city — the command-center view. Every road, building, hospital, school and signal, mapped on a real GIS canvas, with sensors streaming in real time. Check the vitals on the right: traffic is moderate, AQI at 82, energy load at 74 percent, road health good. The moment anything changes in the real city, the twin updates — sub-second. Nobody waits for a monthly PDF ever again.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monitoring isn't enough. CityVerse doesn't just watch — it predicts. Traffic models forecast congestion thirty minutes before it forms. Infrastructure models detect stress signatures on roads and bridges before they fail. Environmental models flag tomorrow's pollution hotspots today. Every prediction carries a confidence score, so planners know what to trust. You fix the problem on Tuesday — instead of apologizing for it on Friday.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where it gets powerful: cities can test emergencies before they happen. We simulate a flood in Sector 4 — the AI instantly analyzes exposure, reroutes traffic around the danger zone, computes the fastest path for every emergency vehicle, and shows authorities the complete impact — before a single drop of rain falls. You don't rehearse disaster response during the disaster. You plan it in the twin, safely, as many times as you need.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converges on one screen. Live traffic heatmap, energy consumption, air-quality trends, infrastructure health, and active alerts. But the star feature is the AI recommendation engine — it doesn't just show problems, it suggests actions: 'reroute traffic from Sector 4, reduce congestion by eighteen percent.' One click on Apply, and the city adapts. That is what data-driven governance actually looks like.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the hood — a stack realistic for a student team, yet genuinely scalable. React with Mapbox GL renders the twin in the browser. Node and Python services ingest streams over REST and WebSockets. The AI layer runs LSTM forecasting and anomaly detection. PostGIS stores the geography; a time-series store handles the sensor firehose. It all ships containerized to the cloud — and every layer is modular and swappable.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does this mean in numbers? Published smart-city studies show platforms like this deliver 20 to 30 percent faster incident response, 15 to 25 percent better traffic flow, and 10 to 20 percent energy savings — plus early detection of infrastructure risks before they become failures. Citizens get safer, cleaner commutes. Planners simulate before they build. Emergency services save the minutes that save lives. And governments spend every rupee smarter.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We'll leave you with this. The smartest city isn't the one with the most sensors — it's the one that understands what they're saying. CityVerse AI gives cities that understanding: see the city, predict the future, act before it happens. We're a student team with a working blueprint and a scalable prototype — and we'd love to build this for real. Thank you. We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hero" descr="hero_city_twin.png"/>
          <p:cNvPicPr>
            <a:picLocks noChangeAspect="1"/>
          </p:cNvPicPr>
          <p:nvPr/>
        </p:nvPicPr>
        <p:blipFill>
          <a:blip r:embed="rId2"/>
          <a:stretch>
            <a:fillRect/>
          </a:stretch>
        </p:blipFill>
        <p:spPr>
          <a:xfrm>
            <a:off x="0" y="0"/>
            <a:ext cx="12191695" cy="6858000"/>
          </a:xfrm>
          <a:prstGeom prst="rect">
            <a:avLst/>
          </a:prstGeom>
          <a:effectLst/>
        </p:spPr>
      </p:pic>
      <p:sp>
        <p:nvSpPr>
          <p:cNvPr id="3" name="Rectangle 2"/>
          <p:cNvSpPr/>
          <p:nvPr/>
        </p:nvSpPr>
        <p:spPr>
          <a:xfrm>
            <a:off x="0" y="0"/>
            <a:ext cx="12191695" cy="1371600"/>
          </a:xfrm>
          <a:prstGeom prst="rect">
            <a:avLst/>
          </a:prstGeom>
          <a:ln>
            <a:noFill/>
          </a:ln>
          <a:effectLst/>
          <a:gradFill>
            <a:gsLst>
              <a:gs pos="0">
                <a:srgbClr val="02040C">
                  <a:alpha val="72000"/>
                </a:srgbClr>
              </a:gs>
              <a:gs pos="100000">
                <a:srgbClr val="02040C">
                  <a:alpha val="0"/>
                </a:srgbClr>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834640"/>
            <a:ext cx="12191695" cy="4023360"/>
          </a:xfrm>
          <a:prstGeom prst="rect">
            <a:avLst/>
          </a:prstGeom>
          <a:ln>
            <a:noFill/>
          </a:ln>
          <a:effectLst/>
          <a:gradFill>
            <a:gsLst>
              <a:gs pos="0">
                <a:srgbClr val="02040C">
                  <a:alpha val="0"/>
                </a:srgbClr>
              </a:gs>
              <a:gs pos="62000">
                <a:srgbClr val="02040C">
                  <a:alpha val="55000"/>
                </a:srgbClr>
              </a:gs>
              <a:gs pos="100000">
                <a:srgbClr val="02040C">
                  <a:alpha val="86000"/>
                </a:srgbClr>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flipV="1">
            <a:off x="310896" y="310896"/>
            <a:ext cx="0" cy="475488"/>
          </a:xfrm>
          <a:prstGeom prst="line">
            <a:avLst/>
          </a:prstGeom>
          <a:ln w="15240" cap="rnd">
            <a:solidFill>
              <a:srgbClr val="9FD8FF">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0896" y="310896"/>
            <a:ext cx="475488" cy="0"/>
          </a:xfrm>
          <a:prstGeom prst="line">
            <a:avLst/>
          </a:prstGeom>
          <a:ln w="15240" cap="rnd">
            <a:solidFill>
              <a:srgbClr val="9FD8FF">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405311" y="310896"/>
            <a:ext cx="475488" cy="0"/>
          </a:xfrm>
          <a:prstGeom prst="line">
            <a:avLst/>
          </a:prstGeom>
          <a:ln w="15240" cap="rnd">
            <a:solidFill>
              <a:srgbClr val="9FD8FF">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880799" y="310896"/>
            <a:ext cx="0" cy="475488"/>
          </a:xfrm>
          <a:prstGeom prst="line">
            <a:avLst/>
          </a:prstGeom>
          <a:ln w="15240" cap="rnd">
            <a:solidFill>
              <a:srgbClr val="9FD8FF">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10896" y="6071616"/>
            <a:ext cx="0" cy="475488"/>
          </a:xfrm>
          <a:prstGeom prst="line">
            <a:avLst/>
          </a:prstGeom>
          <a:ln w="15240" cap="rnd">
            <a:solidFill>
              <a:srgbClr val="9FD8FF">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10896" y="6547104"/>
            <a:ext cx="475488" cy="0"/>
          </a:xfrm>
          <a:prstGeom prst="line">
            <a:avLst/>
          </a:prstGeom>
          <a:ln w="15240" cap="rnd">
            <a:solidFill>
              <a:srgbClr val="9FD8FF">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405311" y="6547104"/>
            <a:ext cx="475488" cy="0"/>
          </a:xfrm>
          <a:prstGeom prst="line">
            <a:avLst/>
          </a:prstGeom>
          <a:ln w="15240" cap="rnd">
            <a:solidFill>
              <a:srgbClr val="9FD8FF">
                <a:alpha val="55000"/>
              </a:srgbClr>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880799" y="6071616"/>
            <a:ext cx="0" cy="475488"/>
          </a:xfrm>
          <a:prstGeom prst="line">
            <a:avLst/>
          </a:prstGeom>
          <a:ln w="15240" cap="rnd">
            <a:solidFill>
              <a:srgbClr val="9FD8FF">
                <a:alpha val="55000"/>
              </a:srgbClr>
            </a:solidFill>
          </a:ln>
          <a:effectLst/>
        </p:spPr>
        <p:style>
          <a:lnRef idx="2">
            <a:schemeClr val="accent1"/>
          </a:lnRef>
          <a:fillRef idx="0">
            <a:schemeClr val="accent1"/>
          </a:fillRef>
          <a:effectRef idx="1">
            <a:schemeClr val="accent1"/>
          </a:effectRef>
          <a:fontRef idx="minor">
            <a:schemeClr val="tx1"/>
          </a:fontRef>
        </p:style>
      </p:cxnSp>
      <p:sp>
        <p:nvSpPr>
          <p:cNvPr id="13" name="kicker"/>
          <p:cNvSpPr txBox="1"/>
          <p:nvPr/>
        </p:nvSpPr>
        <p:spPr>
          <a:xfrm>
            <a:off x="2438704" y="566928"/>
            <a:ext cx="7315200" cy="292608"/>
          </a:xfrm>
          <a:prstGeom prst="rect">
            <a:avLst/>
          </a:prstGeom>
          <a:noFill/>
        </p:spPr>
        <p:txBody>
          <a:bodyPr wrap="square" anchor="t" lIns="0" rIns="0" tIns="0" bIns="0">
            <a:spAutoFit/>
          </a:bodyPr>
          <a:lstStyle/>
          <a:p>
            <a:pPr algn="ctr"/>
            <a:r>
              <a:rPr sz="1100" b="1" i="0" spc="340">
                <a:solidFill>
                  <a:srgbClr val="22D3EE"/>
                </a:solidFill>
                <a:latin typeface="Segoe UI"/>
              </a:rPr>
              <a:t>NATIONAL HACKATHON</a:t>
            </a:r>
            <a:r>
              <a:rPr sz="1100" b="1" i="0">
                <a:solidFill>
                  <a:srgbClr val="5A6E8C"/>
                </a:solidFill>
                <a:latin typeface="Segoe UI"/>
              </a:rPr>
              <a:t>   ·   </a:t>
            </a:r>
            <a:r>
              <a:rPr sz="1100" b="1" i="0" spc="340">
                <a:solidFill>
                  <a:srgbClr val="9FD8FF"/>
                </a:solidFill>
                <a:latin typeface="Segoe UI"/>
              </a:rPr>
              <a:t>SMART CITIES TRACK</a:t>
            </a:r>
          </a:p>
        </p:txBody>
      </p:sp>
      <p:sp>
        <p:nvSpPr>
          <p:cNvPr id="14" name="title"/>
          <p:cNvSpPr txBox="1"/>
          <p:nvPr/>
        </p:nvSpPr>
        <p:spPr>
          <a:xfrm>
            <a:off x="1524304" y="4041648"/>
            <a:ext cx="9144000" cy="1051560"/>
          </a:xfrm>
          <a:prstGeom prst="rect">
            <a:avLst/>
          </a:prstGeom>
          <a:noFill/>
          <a:effectLst>
            <a:glow rad="203200">
              <a:srgbClr val="22D3EE">
                <a:alpha val="45000"/>
              </a:srgbClr>
            </a:glow>
          </a:effectLst>
        </p:spPr>
        <p:txBody>
          <a:bodyPr wrap="square" anchor="ctr" lIns="0" rIns="0" tIns="0" bIns="0">
            <a:spAutoFit/>
          </a:bodyPr>
          <a:lstStyle/>
          <a:p>
            <a:pPr algn="ctr"/>
            <a:r>
              <a:rPr sz="6400" b="1" i="0">
                <a:solidFill>
                  <a:srgbClr val="F1F5F9"/>
                </a:solidFill>
                <a:latin typeface="Segoe UI"/>
              </a:rPr>
              <a:t>CityVerse </a:t>
            </a:r>
            <a:r>
              <a:rPr sz="6400" b="1" i="0">
                <a:gradFill>
                  <a:gsLst>
                    <a:gs pos="0">
                      <a:srgbClr val="22D3EE"/>
                    </a:gs>
                    <a:gs pos="55000">
                      <a:srgbClr val="3B82F6"/>
                    </a:gs>
                    <a:gs pos="100000">
                      <a:srgbClr val="8B5CF6"/>
                    </a:gs>
                  </a:gsLst>
                  <a:lin ang="0" scaled="1"/>
                </a:gradFill>
                <a:latin typeface="Segoe UI"/>
              </a:rPr>
              <a:t>AI</a:t>
            </a:r>
          </a:p>
        </p:txBody>
      </p:sp>
      <p:sp>
        <p:nvSpPr>
          <p:cNvPr id="15" name="subtitle"/>
          <p:cNvSpPr txBox="1"/>
          <p:nvPr/>
        </p:nvSpPr>
        <p:spPr>
          <a:xfrm>
            <a:off x="1981504" y="5138928"/>
            <a:ext cx="8229600" cy="384048"/>
          </a:xfrm>
          <a:prstGeom prst="rect">
            <a:avLst/>
          </a:prstGeom>
          <a:noFill/>
        </p:spPr>
        <p:txBody>
          <a:bodyPr wrap="square" anchor="t" lIns="0" rIns="0" tIns="0" bIns="0">
            <a:spAutoFit/>
          </a:bodyPr>
          <a:lstStyle/>
          <a:p>
            <a:pPr algn="ctr"/>
            <a:r>
              <a:rPr sz="1650" b="0" i="0">
                <a:solidFill>
                  <a:srgbClr val="DBE7FB"/>
                </a:solidFill>
                <a:latin typeface="Segoe UI Light"/>
              </a:rPr>
              <a:t>A Living Digital Twin for Smarter, Safer &amp; Sustainable Cities</a:t>
            </a:r>
          </a:p>
        </p:txBody>
      </p:sp>
      <p:cxnSp>
        <p:nvCxnSpPr>
          <p:cNvPr id="16" name="Connector 15"/>
          <p:cNvCxnSpPr/>
          <p:nvPr/>
        </p:nvCxnSpPr>
        <p:spPr>
          <a:xfrm>
            <a:off x="4041648" y="5870448"/>
            <a:ext cx="1188720" cy="0"/>
          </a:xfrm>
          <a:prstGeom prst="line">
            <a:avLst/>
          </a:prstGeom>
          <a:ln w="15240" cap="rnd">
            <a:solidFill>
              <a:srgbClr val="22D3EE">
                <a:alpha val="70000"/>
              </a:srgbClr>
            </a:solidFill>
          </a:ln>
          <a:effectLst>
            <a:glow rad="50800">
              <a:srgbClr val="22D3EE">
                <a:alpha val="60000"/>
              </a:srgbClr>
            </a:glow>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967728" y="5870448"/>
            <a:ext cx="1188720" cy="0"/>
          </a:xfrm>
          <a:prstGeom prst="line">
            <a:avLst/>
          </a:prstGeom>
          <a:ln w="15240" cap="rnd">
            <a:solidFill>
              <a:srgbClr val="22D3EE">
                <a:alpha val="70000"/>
              </a:srgbClr>
            </a:solidFill>
          </a:ln>
          <a:effectLst>
            <a:glow rad="50800">
              <a:srgbClr val="22D3EE">
                <a:alpha val="60000"/>
              </a:srgbClr>
            </a:glow>
          </a:effectLst>
        </p:spPr>
        <p:style>
          <a:lnRef idx="2">
            <a:schemeClr val="accent1"/>
          </a:lnRef>
          <a:fillRef idx="0">
            <a:schemeClr val="accent1"/>
          </a:fillRef>
          <a:effectRef idx="1">
            <a:schemeClr val="accent1"/>
          </a:effectRef>
          <a:fontRef idx="minor">
            <a:schemeClr val="tx1"/>
          </a:fontRef>
        </p:style>
      </p:cxnSp>
      <p:sp>
        <p:nvSpPr>
          <p:cNvPr id="18" name="tagline"/>
          <p:cNvSpPr txBox="1"/>
          <p:nvPr/>
        </p:nvSpPr>
        <p:spPr>
          <a:xfrm>
            <a:off x="1067104" y="5687568"/>
            <a:ext cx="10058400" cy="329184"/>
          </a:xfrm>
          <a:prstGeom prst="rect">
            <a:avLst/>
          </a:prstGeom>
          <a:noFill/>
        </p:spPr>
        <p:txBody>
          <a:bodyPr wrap="square" anchor="t" lIns="0" rIns="0" tIns="0" bIns="0">
            <a:spAutoFit/>
          </a:bodyPr>
          <a:lstStyle/>
          <a:p>
            <a:pPr algn="ctr"/>
            <a:r>
              <a:rPr sz="1150" b="1" i="0" spc="280">
                <a:solidFill>
                  <a:srgbClr val="9FD8FF"/>
                </a:solidFill>
                <a:latin typeface="Segoe UI"/>
              </a:rPr>
              <a:t>SEE THE CITY  ·  PREDICT THE FUTURE  ·  ACT BEFORE IT HAPPENS</a:t>
            </a:r>
          </a:p>
        </p:txBody>
      </p:sp>
    </p:spTree>
  </p:cSld>
  <p:clrMapOvr>
    <a:masterClrMapping/>
  </p:clrMapOvr>
  <mc:AlternateContent xmlns:mc="http://schemas.openxmlformats.org/markup-compatibility/2006">
    <mc:Choice xmlns:p14="http://schemas.microsoft.com/office/powerpoint/2010/main" Requires="p14">
      <p:transition spd="slow" p14:dur="1250">
        <p14:morph option="byObject"/>
      </p:transition>
    </mc:Choice>
    <mc:Fallback>
      <p:transition spd="slow" advClick="1">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500"/>
                                        <p:tgtEl>
                                          <p:spTgt spid="2"/>
                                        </p:tgtEl>
                                      </p:cBhvr>
                                    </p:animEffect>
                                  </p:childTnLst>
                                </p:cTn>
                              </p:par>
                              <p:par>
                                <p:cTn id="11" presetID="10" presetClass="entr" presetSubtype="0" fill="hold" grpId="0" nodeType="afterEffect">
                                  <p:stCondLst>
                                    <p:cond delay="2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900"/>
                                        <p:tgtEl>
                                          <p:spTgt spid="3"/>
                                        </p:tgtEl>
                                      </p:cBhvr>
                                    </p:animEffect>
                                  </p:childTnLst>
                                </p:cTn>
                              </p:par>
                              <p:par>
                                <p:cTn id="14"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900"/>
                                        <p:tgtEl>
                                          <p:spTgt spid="4"/>
                                        </p:tgtEl>
                                      </p:cBhvr>
                                    </p:animEffect>
                                  </p:childTnLst>
                                </p:cTn>
                              </p:par>
                              <p:par>
                                <p:cTn id="17" presetID="10" presetClass="entr" presetSubtype="0" fill="hold" grpId="0" nodeType="afterEffect">
                                  <p:stCondLst>
                                    <p:cond delay="50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700"/>
                                        <p:tgtEl>
                                          <p:spTgt spid="13"/>
                                        </p:tgtEl>
                                      </p:cBhvr>
                                    </p:animEffect>
                                  </p:childTnLst>
                                </p:cTn>
                              </p:par>
                              <p:par>
                                <p:cTn id="19" presetID="64" presetClass="path" presetSubtype="0" fill="hold" grpId="0" nodeType="afterEffect">
                                  <p:stCondLst>
                                    <p:cond delay="250"/>
                                  </p:stCondLst>
                                  <p:childTnLst>
                                    <p:animMotion origin="layout" path="M 0.0 0.045 L 0.0 0.0" pathEditMode="relative" rAng="0" ptsTypes="">
                                      <p:cBhvr>
                                        <p:cTn id="18" dur="900" fill="hold"/>
                                        <p:tgtEl>
                                          <p:spTgt spid="14"/>
                                        </p:tgtEl>
                                      </p:cBhvr>
                                    </p:animMotion>
                                  </p:childTnLst>
                                </p:cTn>
                              </p:par>
                              <p:par>
                                <p:cTn id="22" presetID="10" presetClass="entr" presetSubtype="0" fill="hold" grpId="0" nodeType="withEffect">
                                  <p:stCondLst>
                                    <p:cond delay="25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900"/>
                                        <p:tgtEl>
                                          <p:spTgt spid="14"/>
                                        </p:tgtEl>
                                      </p:cBhvr>
                                    </p:animEffect>
                                  </p:childTnLst>
                                </p:cTn>
                              </p:par>
                              <p:par>
                                <p:cTn id="25" presetID="10" presetClass="entr" presetSubtype="0" fill="hold" grpId="0" nodeType="afterEffect">
                                  <p:stCondLst>
                                    <p:cond delay="35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800"/>
                                        <p:tgtEl>
                                          <p:spTgt spid="15"/>
                                        </p:tgtEl>
                                      </p:cBhvr>
                                    </p:animEffect>
                                  </p:childTnLst>
                                </p:cTn>
                              </p:par>
                              <p:par>
                                <p:cTn id="28" presetID="10" presetClass="entr" presetSubtype="0" fill="hold" grpId="0" nodeType="afterEffect">
                                  <p:stCondLst>
                                    <p:cond delay="25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800"/>
                                        <p:tgtEl>
                                          <p:spTgt spid="18"/>
                                        </p:tgtEl>
                                      </p:cBhvr>
                                    </p:animEffect>
                                  </p:childTnLst>
                                </p:cTn>
                              </p:par>
                              <p:par>
                                <p:cTn id="31" presetID="10" presetClass="entr" presetSubtype="0" fill="hold" grpId="0" nodeType="with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500"/>
                                        <p:tgtEl>
                                          <p:spTgt spid="5"/>
                                        </p:tgtEl>
                                      </p:cBhvr>
                                    </p:animEffect>
                                  </p:childTnLst>
                                </p:cTn>
                              </p:par>
                              <p:par>
                                <p:cTn id="34" presetID="10" presetClass="entr" presetSubtype="0" fill="hold" grpId="0" nodeType="with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500"/>
                                        <p:tgtEl>
                                          <p:spTgt spid="6"/>
                                        </p:tgtEl>
                                      </p:cBhvr>
                                    </p:animEffect>
                                  </p:childTnLst>
                                </p:cTn>
                              </p:par>
                              <p:par>
                                <p:cTn id="37" presetID="10" presetClass="entr" presetSubtype="0"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par>
                                <p:cTn id="40" presetID="10" presetClass="entr" presetSubtype="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par>
                                <p:cTn id="43" presetID="10" presetClass="entr" presetSubtype="0" fill="hold" grpId="0" nodeType="with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500"/>
                                        <p:tgtEl>
                                          <p:spTgt spid="9"/>
                                        </p:tgtEl>
                                      </p:cBhvr>
                                    </p:animEffect>
                                  </p:childTnLst>
                                </p:cTn>
                              </p:par>
                              <p:par>
                                <p:cTn id="46" presetID="10" presetClass="entr" presetSubtype="0" fill="hold" grpId="0" nodeType="with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500"/>
                                        <p:tgtEl>
                                          <p:spTgt spid="10"/>
                                        </p:tgtEl>
                                      </p:cBhvr>
                                    </p:animEffect>
                                  </p:childTnLst>
                                </p:cTn>
                              </p:par>
                              <p:par>
                                <p:cTn id="49" presetID="10" presetClass="entr" presetSubtype="0"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500"/>
                                        <p:tgtEl>
                                          <p:spTgt spid="11"/>
                                        </p:tgtEl>
                                      </p:cBhvr>
                                    </p:animEffect>
                                  </p:childTnLst>
                                </p:cTn>
                              </p:par>
                              <p:par>
                                <p:cTn id="52" presetID="10" presetClass="entr" presetSubtype="0" fill="hold" grpId="0" nodeType="with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ln>
            <a:noFill/>
          </a:ln>
          <a:effectLst/>
          <a:solidFill>
            <a:srgbClr val="050A1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2011680"/>
            <a:ext cx="4754880" cy="4754880"/>
          </a:xfrm>
          <a:prstGeom prst="ellipse">
            <a:avLst/>
          </a:prstGeom>
          <a:gradFill>
            <a:gsLst>
              <a:gs pos="0">
                <a:srgbClr val="3B82F6">
                  <a:alpha val="20000"/>
                </a:srgbClr>
              </a:gs>
              <a:gs pos="65000">
                <a:srgbClr val="3B82F6">
                  <a:alpha val="6000"/>
                </a:srgbClr>
              </a:gs>
              <a:gs pos="100000">
                <a:srgbClr val="3B82F6">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463039" y="4480560"/>
            <a:ext cx="4206240" cy="4206240"/>
          </a:xfrm>
          <a:prstGeom prst="ellipse">
            <a:avLst/>
          </a:prstGeom>
          <a:gradFill>
            <a:gsLst>
              <a:gs pos="0">
                <a:srgbClr val="8B5CF6">
                  <a:alpha val="16000"/>
                </a:srgbClr>
              </a:gs>
              <a:gs pos="65000">
                <a:srgbClr val="8B5CF6">
                  <a:alpha val="5000"/>
                </a:srgbClr>
              </a:gs>
              <a:gs pos="100000">
                <a:srgbClr val="8B5CF6">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kbar"/>
          <p:cNvSpPr/>
          <p:nvPr/>
        </p:nvSpPr>
        <p:spPr>
          <a:xfrm>
            <a:off x="566928" y="603504"/>
            <a:ext cx="274320" cy="47548"/>
          </a:xfrm>
          <a:prstGeom prst="rect">
            <a:avLst/>
          </a:prstGeom>
          <a:ln>
            <a:noFill/>
          </a:ln>
          <a:solidFill>
            <a:srgbClr val="22D3EE"/>
          </a:solidFill>
          <a:effectLst>
            <a:glow rad="762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kicker"/>
          <p:cNvSpPr txBox="1"/>
          <p:nvPr/>
        </p:nvSpPr>
        <p:spPr>
          <a:xfrm>
            <a:off x="932688" y="489204"/>
            <a:ext cx="7772400" cy="292608"/>
          </a:xfrm>
          <a:prstGeom prst="rect">
            <a:avLst/>
          </a:prstGeom>
          <a:noFill/>
        </p:spPr>
        <p:txBody>
          <a:bodyPr wrap="square" anchor="t" lIns="0" rIns="0" tIns="0" bIns="0">
            <a:spAutoFit/>
          </a:bodyPr>
          <a:lstStyle/>
          <a:p>
            <a:pPr algn="l"/>
            <a:r>
              <a:rPr sz="1050" b="1" i="0" spc="320">
                <a:solidFill>
                  <a:srgbClr val="22D3EE"/>
                </a:solidFill>
                <a:latin typeface="Segoe UI"/>
              </a:rPr>
              <a:t>THE PROBLEM</a:t>
            </a:r>
          </a:p>
        </p:txBody>
      </p:sp>
      <p:sp>
        <p:nvSpPr>
          <p:cNvPr id="7" name="title"/>
          <p:cNvSpPr txBox="1"/>
          <p:nvPr/>
        </p:nvSpPr>
        <p:spPr>
          <a:xfrm>
            <a:off x="566928" y="868680"/>
            <a:ext cx="11064240" cy="658368"/>
          </a:xfrm>
          <a:prstGeom prst="rect">
            <a:avLst/>
          </a:prstGeom>
          <a:noFill/>
        </p:spPr>
        <p:txBody>
          <a:bodyPr wrap="square" anchor="t" lIns="0" rIns="0" tIns="0" bIns="0">
            <a:spAutoFit/>
          </a:bodyPr>
          <a:lstStyle/>
          <a:p>
            <a:pPr algn="l"/>
            <a:r>
              <a:rPr sz="3300" b="1" i="0">
                <a:solidFill>
                  <a:srgbClr val="F1F5F9"/>
                </a:solidFill>
                <a:latin typeface="Segoe UI"/>
              </a:rPr>
              <a:t>Cities Have Data. But Not a Unified View.</a:t>
            </a:r>
          </a:p>
        </p:txBody>
      </p:sp>
      <p:sp>
        <p:nvSpPr>
          <p:cNvPr id="8" name="pageno"/>
          <p:cNvSpPr txBox="1"/>
          <p:nvPr/>
        </p:nvSpPr>
        <p:spPr>
          <a:xfrm>
            <a:off x="10835640" y="6519672"/>
            <a:ext cx="786384" cy="219456"/>
          </a:xfrm>
          <a:prstGeom prst="rect">
            <a:avLst/>
          </a:prstGeom>
          <a:noFill/>
        </p:spPr>
        <p:txBody>
          <a:bodyPr wrap="square" anchor="t" lIns="0" rIns="0" tIns="0" bIns="0">
            <a:spAutoFit/>
          </a:bodyPr>
          <a:lstStyle/>
          <a:p>
            <a:pPr algn="r"/>
            <a:r>
              <a:rPr sz="900" b="1" i="0">
                <a:solidFill>
                  <a:srgbClr val="8EA3C0"/>
                </a:solidFill>
                <a:latin typeface="Segoe UI"/>
              </a:rPr>
              <a:t>02</a:t>
            </a:r>
            <a:r>
              <a:rPr sz="900" b="0" i="0">
                <a:solidFill>
                  <a:srgbClr val="5A6E8C"/>
                </a:solidFill>
                <a:latin typeface="Segoe UI"/>
              </a:rPr>
              <a:t> / 12</a:t>
            </a:r>
          </a:p>
        </p:txBody>
      </p:sp>
      <p:sp>
        <p:nvSpPr>
          <p:cNvPr id="9" name="footer"/>
          <p:cNvSpPr txBox="1"/>
          <p:nvPr/>
        </p:nvSpPr>
        <p:spPr>
          <a:xfrm>
            <a:off x="566928" y="6519672"/>
            <a:ext cx="5486400" cy="219456"/>
          </a:xfrm>
          <a:prstGeom prst="rect">
            <a:avLst/>
          </a:prstGeom>
          <a:noFill/>
        </p:spPr>
        <p:txBody>
          <a:bodyPr wrap="square" anchor="t" lIns="0" rIns="0" tIns="0" bIns="0">
            <a:spAutoFit/>
          </a:bodyPr>
          <a:lstStyle/>
          <a:p>
            <a:pPr algn="l"/>
            <a:r>
              <a:rPr sz="800" b="1" i="0" spc="260">
                <a:solidFill>
                  <a:srgbClr val="5A6E8C"/>
                </a:solidFill>
                <a:latin typeface="Segoe UI"/>
              </a:rPr>
              <a:t>CITYVERSE AI</a:t>
            </a:r>
            <a:r>
              <a:rPr sz="800" b="0" i="0" spc="180">
                <a:solidFill>
                  <a:srgbClr val="5A6E8C"/>
                </a:solidFill>
                <a:latin typeface="Segoe UI"/>
              </a:rPr>
              <a:t>  ·  SMART DIGITAL TWIN PLATFORM</a:t>
            </a:r>
          </a:p>
        </p:txBody>
      </p:sp>
      <p:sp>
        <p:nvSpPr>
          <p:cNvPr id="10" name="chaosCard"/>
          <p:cNvSpPr/>
          <p:nvPr/>
        </p:nvSpPr>
        <p:spPr>
          <a:xfrm>
            <a:off x="566928" y="1783080"/>
            <a:ext cx="5413248" cy="3767328"/>
          </a:xfrm>
          <a:prstGeom prst="roundRect">
            <a:avLst>
              <a:gd name="adj" fmla="val 16000"/>
            </a:avLst>
          </a:prstGeom>
          <a:ln w="12700" cap="rnd">
            <a:solidFill>
              <a:srgbClr val="F43F5E">
                <a:alpha val="28000"/>
              </a:srgbClr>
            </a:solidFill>
          </a:ln>
          <a:effectLst/>
          <a:solidFill>
            <a:srgbClr val="0D1B33">
              <a:alpha val="5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1993392"/>
            <a:ext cx="4572000" cy="274320"/>
          </a:xfrm>
          <a:prstGeom prst="rect">
            <a:avLst/>
          </a:prstGeom>
          <a:noFill/>
        </p:spPr>
        <p:txBody>
          <a:bodyPr wrap="square" anchor="t" lIns="0" rIns="0" tIns="0" bIns="0">
            <a:spAutoFit/>
          </a:bodyPr>
          <a:lstStyle/>
          <a:p>
            <a:pPr algn="l"/>
            <a:r>
              <a:rPr sz="1050" b="1" i="0" spc="280">
                <a:solidFill>
                  <a:srgbClr val="F43F5E"/>
                </a:solidFill>
                <a:latin typeface="Segoe UI"/>
              </a:rPr>
              <a:t>WHAT CITIES FACE EVERY DAY</a:t>
            </a:r>
          </a:p>
        </p:txBody>
      </p:sp>
      <p:sp>
        <p:nvSpPr>
          <p:cNvPr id="12" name="Oval 11"/>
          <p:cNvSpPr/>
          <p:nvPr/>
        </p:nvSpPr>
        <p:spPr>
          <a:xfrm>
            <a:off x="918972" y="2519172"/>
            <a:ext cx="100584" cy="100584"/>
          </a:xfrm>
          <a:prstGeom prst="ellipse">
            <a:avLst/>
          </a:prstGeom>
          <a:ln>
            <a:noFill/>
          </a:ln>
          <a:solidFill>
            <a:srgbClr val="F43F5E"/>
          </a:solidFill>
          <a:effectLst>
            <a:glow rad="76200">
              <a:srgbClr val="F43F5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07008" y="2395728"/>
            <a:ext cx="4480560" cy="274320"/>
          </a:xfrm>
          <a:prstGeom prst="rect">
            <a:avLst/>
          </a:prstGeom>
          <a:noFill/>
        </p:spPr>
        <p:txBody>
          <a:bodyPr wrap="square" anchor="t" lIns="0" rIns="0" tIns="0" bIns="0">
            <a:spAutoFit/>
          </a:bodyPr>
          <a:lstStyle/>
          <a:p>
            <a:pPr algn="l"/>
            <a:r>
              <a:rPr sz="1350" b="1" i="0">
                <a:solidFill>
                  <a:srgbClr val="F1F5F9"/>
                </a:solidFill>
                <a:latin typeface="Segoe UI"/>
              </a:rPr>
              <a:t>Traffic Congestion</a:t>
            </a:r>
          </a:p>
        </p:txBody>
      </p:sp>
      <p:sp>
        <p:nvSpPr>
          <p:cNvPr id="14" name="TextBox 13"/>
          <p:cNvSpPr txBox="1"/>
          <p:nvPr/>
        </p:nvSpPr>
        <p:spPr>
          <a:xfrm>
            <a:off x="1207008" y="2638044"/>
            <a:ext cx="4480560" cy="219456"/>
          </a:xfrm>
          <a:prstGeom prst="rect">
            <a:avLst/>
          </a:prstGeom>
          <a:noFill/>
        </p:spPr>
        <p:txBody>
          <a:bodyPr wrap="square" anchor="t" lIns="0" rIns="0" tIns="0" bIns="0">
            <a:spAutoFit/>
          </a:bodyPr>
          <a:lstStyle/>
          <a:p>
            <a:pPr algn="l"/>
            <a:r>
              <a:rPr sz="950" b="0" i="0">
                <a:solidFill>
                  <a:srgbClr val="8EA3C0"/>
                </a:solidFill>
                <a:latin typeface="Segoe UI"/>
              </a:rPr>
              <a:t>gridlock decides the morning</a:t>
            </a:r>
          </a:p>
        </p:txBody>
      </p:sp>
      <p:cxnSp>
        <p:nvCxnSpPr>
          <p:cNvPr id="15" name="Connector 14"/>
          <p:cNvCxnSpPr/>
          <p:nvPr/>
        </p:nvCxnSpPr>
        <p:spPr>
          <a:xfrm>
            <a:off x="1207008" y="2944368"/>
            <a:ext cx="4480560" cy="0"/>
          </a:xfrm>
          <a:prstGeom prst="line">
            <a:avLst/>
          </a:prstGeom>
          <a:ln w="9525" cap="rnd">
            <a:solidFill>
              <a:srgbClr val="1B2B4A">
                <a:alpha val="60000"/>
              </a:srgbClr>
            </a:solidFill>
          </a:ln>
          <a:effectLst/>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918972" y="3127248"/>
            <a:ext cx="100584" cy="100584"/>
          </a:xfrm>
          <a:prstGeom prst="ellipse">
            <a:avLst/>
          </a:prstGeom>
          <a:ln>
            <a:noFill/>
          </a:ln>
          <a:solidFill>
            <a:srgbClr val="F43F5E"/>
          </a:solidFill>
          <a:effectLst>
            <a:glow rad="76200">
              <a:srgbClr val="F43F5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07008" y="3003804"/>
            <a:ext cx="4480560" cy="274320"/>
          </a:xfrm>
          <a:prstGeom prst="rect">
            <a:avLst/>
          </a:prstGeom>
          <a:noFill/>
        </p:spPr>
        <p:txBody>
          <a:bodyPr wrap="square" anchor="t" lIns="0" rIns="0" tIns="0" bIns="0">
            <a:spAutoFit/>
          </a:bodyPr>
          <a:lstStyle/>
          <a:p>
            <a:pPr algn="l"/>
            <a:r>
              <a:rPr sz="1350" b="1" i="0">
                <a:solidFill>
                  <a:srgbClr val="F1F5F9"/>
                </a:solidFill>
                <a:latin typeface="Segoe UI"/>
              </a:rPr>
              <a:t>Air Pollution</a:t>
            </a:r>
          </a:p>
        </p:txBody>
      </p:sp>
      <p:sp>
        <p:nvSpPr>
          <p:cNvPr id="18" name="TextBox 17"/>
          <p:cNvSpPr txBox="1"/>
          <p:nvPr/>
        </p:nvSpPr>
        <p:spPr>
          <a:xfrm>
            <a:off x="1207008" y="3246120"/>
            <a:ext cx="4480560" cy="219456"/>
          </a:xfrm>
          <a:prstGeom prst="rect">
            <a:avLst/>
          </a:prstGeom>
          <a:noFill/>
        </p:spPr>
        <p:txBody>
          <a:bodyPr wrap="square" anchor="t" lIns="0" rIns="0" tIns="0" bIns="0">
            <a:spAutoFit/>
          </a:bodyPr>
          <a:lstStyle/>
          <a:p>
            <a:pPr algn="l"/>
            <a:r>
              <a:rPr sz="950" b="0" i="0">
                <a:solidFill>
                  <a:srgbClr val="8EA3C0"/>
                </a:solidFill>
                <a:latin typeface="Segoe UI"/>
              </a:rPr>
              <a:t>AQI spikes go unnoticed</a:t>
            </a:r>
          </a:p>
        </p:txBody>
      </p:sp>
      <p:cxnSp>
        <p:nvCxnSpPr>
          <p:cNvPr id="19" name="Connector 18"/>
          <p:cNvCxnSpPr/>
          <p:nvPr/>
        </p:nvCxnSpPr>
        <p:spPr>
          <a:xfrm>
            <a:off x="1207008" y="3552444"/>
            <a:ext cx="4480560" cy="0"/>
          </a:xfrm>
          <a:prstGeom prst="line">
            <a:avLst/>
          </a:prstGeom>
          <a:ln w="9525" cap="rnd">
            <a:solidFill>
              <a:srgbClr val="1B2B4A">
                <a:alpha val="60000"/>
              </a:srgbClr>
            </a:solidFill>
          </a:ln>
          <a:effectLst/>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918972" y="3735324"/>
            <a:ext cx="100584" cy="100584"/>
          </a:xfrm>
          <a:prstGeom prst="ellipse">
            <a:avLst/>
          </a:prstGeom>
          <a:ln>
            <a:noFill/>
          </a:ln>
          <a:solidFill>
            <a:srgbClr val="F43F5E"/>
          </a:solidFill>
          <a:effectLst>
            <a:glow rad="76200">
              <a:srgbClr val="F43F5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07008" y="3611880"/>
            <a:ext cx="4480560" cy="274320"/>
          </a:xfrm>
          <a:prstGeom prst="rect">
            <a:avLst/>
          </a:prstGeom>
          <a:noFill/>
        </p:spPr>
        <p:txBody>
          <a:bodyPr wrap="square" anchor="t" lIns="0" rIns="0" tIns="0" bIns="0">
            <a:spAutoFit/>
          </a:bodyPr>
          <a:lstStyle/>
          <a:p>
            <a:pPr algn="l"/>
            <a:r>
              <a:rPr sz="1350" b="1" i="0">
                <a:solidFill>
                  <a:srgbClr val="F1F5F9"/>
                </a:solidFill>
                <a:latin typeface="Segoe UI"/>
              </a:rPr>
              <a:t>Energy Waste</a:t>
            </a:r>
          </a:p>
        </p:txBody>
      </p:sp>
      <p:sp>
        <p:nvSpPr>
          <p:cNvPr id="22" name="TextBox 21"/>
          <p:cNvSpPr txBox="1"/>
          <p:nvPr/>
        </p:nvSpPr>
        <p:spPr>
          <a:xfrm>
            <a:off x="1207008" y="3854196"/>
            <a:ext cx="4480560" cy="219456"/>
          </a:xfrm>
          <a:prstGeom prst="rect">
            <a:avLst/>
          </a:prstGeom>
          <a:noFill/>
        </p:spPr>
        <p:txBody>
          <a:bodyPr wrap="square" anchor="t" lIns="0" rIns="0" tIns="0" bIns="0">
            <a:spAutoFit/>
          </a:bodyPr>
          <a:lstStyle/>
          <a:p>
            <a:pPr algn="l"/>
            <a:r>
              <a:rPr sz="950" b="0" i="0">
                <a:solidFill>
                  <a:srgbClr val="8EA3C0"/>
                </a:solidFill>
                <a:latin typeface="Segoe UI"/>
              </a:rPr>
              <a:t>consumption blind spots</a:t>
            </a:r>
          </a:p>
        </p:txBody>
      </p:sp>
      <p:cxnSp>
        <p:nvCxnSpPr>
          <p:cNvPr id="23" name="Connector 22"/>
          <p:cNvCxnSpPr/>
          <p:nvPr/>
        </p:nvCxnSpPr>
        <p:spPr>
          <a:xfrm>
            <a:off x="1207008" y="4160520"/>
            <a:ext cx="4480560" cy="0"/>
          </a:xfrm>
          <a:prstGeom prst="line">
            <a:avLst/>
          </a:prstGeom>
          <a:ln w="9525" cap="rnd">
            <a:solidFill>
              <a:srgbClr val="1B2B4A">
                <a:alpha val="60000"/>
              </a:srgbClr>
            </a:solidFill>
          </a:ln>
          <a:effectLst/>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918972" y="4343400"/>
            <a:ext cx="100584" cy="100584"/>
          </a:xfrm>
          <a:prstGeom prst="ellipse">
            <a:avLst/>
          </a:prstGeom>
          <a:ln>
            <a:noFill/>
          </a:ln>
          <a:solidFill>
            <a:srgbClr val="F43F5E"/>
          </a:solidFill>
          <a:effectLst>
            <a:glow rad="76200">
              <a:srgbClr val="F43F5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07008" y="4219956"/>
            <a:ext cx="4480560" cy="274320"/>
          </a:xfrm>
          <a:prstGeom prst="rect">
            <a:avLst/>
          </a:prstGeom>
          <a:noFill/>
        </p:spPr>
        <p:txBody>
          <a:bodyPr wrap="square" anchor="t" lIns="0" rIns="0" tIns="0" bIns="0">
            <a:spAutoFit/>
          </a:bodyPr>
          <a:lstStyle/>
          <a:p>
            <a:pPr algn="l"/>
            <a:r>
              <a:rPr sz="1350" b="1" i="0">
                <a:solidFill>
                  <a:srgbClr val="F1F5F9"/>
                </a:solidFill>
                <a:latin typeface="Segoe UI"/>
              </a:rPr>
              <a:t>Aging Infrastructure</a:t>
            </a:r>
          </a:p>
        </p:txBody>
      </p:sp>
      <p:sp>
        <p:nvSpPr>
          <p:cNvPr id="26" name="TextBox 25"/>
          <p:cNvSpPr txBox="1"/>
          <p:nvPr/>
        </p:nvSpPr>
        <p:spPr>
          <a:xfrm>
            <a:off x="1207008" y="4462272"/>
            <a:ext cx="4480560" cy="219456"/>
          </a:xfrm>
          <a:prstGeom prst="rect">
            <a:avLst/>
          </a:prstGeom>
          <a:noFill/>
        </p:spPr>
        <p:txBody>
          <a:bodyPr wrap="square" anchor="t" lIns="0" rIns="0" tIns="0" bIns="0">
            <a:spAutoFit/>
          </a:bodyPr>
          <a:lstStyle/>
          <a:p>
            <a:pPr algn="l"/>
            <a:r>
              <a:rPr sz="950" b="0" i="0">
                <a:solidFill>
                  <a:srgbClr val="8EA3C0"/>
                </a:solidFill>
                <a:latin typeface="Segoe UI"/>
              </a:rPr>
              <a:t>failures found too late</a:t>
            </a:r>
          </a:p>
        </p:txBody>
      </p:sp>
      <p:cxnSp>
        <p:nvCxnSpPr>
          <p:cNvPr id="27" name="Connector 26"/>
          <p:cNvCxnSpPr/>
          <p:nvPr/>
        </p:nvCxnSpPr>
        <p:spPr>
          <a:xfrm>
            <a:off x="1207008" y="4768596"/>
            <a:ext cx="4480560" cy="0"/>
          </a:xfrm>
          <a:prstGeom prst="line">
            <a:avLst/>
          </a:prstGeom>
          <a:ln w="9525" cap="rnd">
            <a:solidFill>
              <a:srgbClr val="1B2B4A">
                <a:alpha val="60000"/>
              </a:srgbClr>
            </a:solidFill>
          </a:ln>
          <a:effectLst/>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918972" y="4951476"/>
            <a:ext cx="100584" cy="100584"/>
          </a:xfrm>
          <a:prstGeom prst="ellipse">
            <a:avLst/>
          </a:prstGeom>
          <a:ln>
            <a:noFill/>
          </a:ln>
          <a:solidFill>
            <a:srgbClr val="F43F5E"/>
          </a:solidFill>
          <a:effectLst>
            <a:glow rad="76200">
              <a:srgbClr val="F43F5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07008" y="4828032"/>
            <a:ext cx="4480560" cy="274320"/>
          </a:xfrm>
          <a:prstGeom prst="rect">
            <a:avLst/>
          </a:prstGeom>
          <a:noFill/>
        </p:spPr>
        <p:txBody>
          <a:bodyPr wrap="square" anchor="t" lIns="0" rIns="0" tIns="0" bIns="0">
            <a:spAutoFit/>
          </a:bodyPr>
          <a:lstStyle/>
          <a:p>
            <a:pPr algn="l"/>
            <a:r>
              <a:rPr sz="1350" b="1" i="0">
                <a:solidFill>
                  <a:srgbClr val="F1F5F9"/>
                </a:solidFill>
                <a:latin typeface="Segoe UI"/>
              </a:rPr>
              <a:t>Emergency Delays</a:t>
            </a:r>
          </a:p>
        </p:txBody>
      </p:sp>
      <p:sp>
        <p:nvSpPr>
          <p:cNvPr id="30" name="TextBox 29"/>
          <p:cNvSpPr txBox="1"/>
          <p:nvPr/>
        </p:nvSpPr>
        <p:spPr>
          <a:xfrm>
            <a:off x="1207008" y="5070348"/>
            <a:ext cx="4480560" cy="219456"/>
          </a:xfrm>
          <a:prstGeom prst="rect">
            <a:avLst/>
          </a:prstGeom>
          <a:noFill/>
        </p:spPr>
        <p:txBody>
          <a:bodyPr wrap="square" anchor="t" lIns="0" rIns="0" tIns="0" bIns="0">
            <a:spAutoFit/>
          </a:bodyPr>
          <a:lstStyle/>
          <a:p>
            <a:pPr algn="l"/>
            <a:r>
              <a:rPr sz="950" b="0" i="0">
                <a:solidFill>
                  <a:srgbClr val="8EA3C0"/>
                </a:solidFill>
                <a:latin typeface="Segoe UI"/>
              </a:rPr>
              <a:t>when minutes decide lives</a:t>
            </a:r>
          </a:p>
        </p:txBody>
      </p:sp>
      <p:sp>
        <p:nvSpPr>
          <p:cNvPr id="31" name="siloCard"/>
          <p:cNvSpPr/>
          <p:nvPr/>
        </p:nvSpPr>
        <p:spPr>
          <a:xfrm>
            <a:off x="6236208" y="1783080"/>
            <a:ext cx="5376672" cy="3767328"/>
          </a:xfrm>
          <a:prstGeom prst="roundRect">
            <a:avLst>
              <a:gd name="adj" fmla="val 16000"/>
            </a:avLst>
          </a:prstGeom>
          <a:ln w="12700" cap="rnd">
            <a:solidFill>
              <a:srgbClr val="22D3EE">
                <a:alpha val="26000"/>
              </a:srgbClr>
            </a:solidFill>
          </a:ln>
          <a:effectLst/>
          <a:solidFill>
            <a:srgbClr val="0D1B33">
              <a:alpha val="5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10528" y="1993392"/>
            <a:ext cx="4572000" cy="274320"/>
          </a:xfrm>
          <a:prstGeom prst="rect">
            <a:avLst/>
          </a:prstGeom>
          <a:noFill/>
        </p:spPr>
        <p:txBody>
          <a:bodyPr wrap="square" anchor="t" lIns="0" rIns="0" tIns="0" bIns="0">
            <a:spAutoFit/>
          </a:bodyPr>
          <a:lstStyle/>
          <a:p>
            <a:pPr algn="l"/>
            <a:r>
              <a:rPr sz="1050" b="1" i="0" spc="280">
                <a:solidFill>
                  <a:srgbClr val="9FD8FF"/>
                </a:solidFill>
                <a:latin typeface="Segoe UI"/>
              </a:rPr>
              <a:t>WHAT PLANNERS ACTUALLY HAVE</a:t>
            </a:r>
          </a:p>
        </p:txBody>
      </p:sp>
      <p:sp>
        <p:nvSpPr>
          <p:cNvPr id="33" name="silo0"/>
          <p:cNvSpPr/>
          <p:nvPr/>
        </p:nvSpPr>
        <p:spPr>
          <a:xfrm>
            <a:off x="6510528" y="2395728"/>
            <a:ext cx="2377440" cy="987552"/>
          </a:xfrm>
          <a:prstGeom prst="roundRect">
            <a:avLst>
              <a:gd name="adj" fmla="val 14000"/>
            </a:avLst>
          </a:prstGeom>
          <a:ln w="12700" cap="rnd">
            <a:solidFill>
              <a:srgbClr val="5A6E8C">
                <a:alpha val="45000"/>
              </a:srgbClr>
            </a:solidFill>
            <a:prstDash val="dash"/>
          </a:ln>
          <a:effectLst/>
          <a:solidFill>
            <a:srgbClr val="0D1B33">
              <a:alpha val="38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11696" y="2560320"/>
            <a:ext cx="2011680" cy="274320"/>
          </a:xfrm>
          <a:prstGeom prst="rect">
            <a:avLst/>
          </a:prstGeom>
          <a:noFill/>
        </p:spPr>
        <p:txBody>
          <a:bodyPr wrap="square" anchor="t" lIns="0" rIns="0" tIns="0" bIns="0">
            <a:spAutoFit/>
          </a:bodyPr>
          <a:lstStyle/>
          <a:p>
            <a:pPr algn="l"/>
            <a:r>
              <a:rPr sz="1200" b="1" i="0">
                <a:solidFill>
                  <a:srgbClr val="D7E1F2"/>
                </a:solidFill>
                <a:latin typeface="Segoe UI"/>
              </a:rPr>
              <a:t>Traffic Control</a:t>
            </a:r>
          </a:p>
        </p:txBody>
      </p:sp>
      <p:sp>
        <p:nvSpPr>
          <p:cNvPr id="35" name="TextBox 34"/>
          <p:cNvSpPr txBox="1"/>
          <p:nvPr/>
        </p:nvSpPr>
        <p:spPr>
          <a:xfrm>
            <a:off x="6711696" y="2852928"/>
            <a:ext cx="2011680" cy="237744"/>
          </a:xfrm>
          <a:prstGeom prst="rect">
            <a:avLst/>
          </a:prstGeom>
          <a:noFill/>
        </p:spPr>
        <p:txBody>
          <a:bodyPr wrap="square" anchor="t" lIns="0" rIns="0" tIns="0" bIns="0">
            <a:spAutoFit/>
          </a:bodyPr>
          <a:lstStyle/>
          <a:p>
            <a:pPr algn="l"/>
            <a:r>
              <a:rPr sz="900" b="0" i="0">
                <a:solidFill>
                  <a:srgbClr val="5A6E8C"/>
                </a:solidFill>
                <a:latin typeface="Segoe UI"/>
              </a:rPr>
              <a:t>own portal</a:t>
            </a:r>
          </a:p>
        </p:txBody>
      </p:sp>
      <p:cxnSp>
        <p:nvCxnSpPr>
          <p:cNvPr id="36" name="Connector 35"/>
          <p:cNvCxnSpPr/>
          <p:nvPr/>
        </p:nvCxnSpPr>
        <p:spPr>
          <a:xfrm>
            <a:off x="8558784" y="2542032"/>
            <a:ext cx="146304" cy="146304"/>
          </a:xfrm>
          <a:prstGeom prst="line">
            <a:avLst/>
          </a:prstGeom>
          <a:ln w="20320" cap="rnd">
            <a:solidFill>
              <a:srgbClr val="F43F5E">
                <a:alpha val="80000"/>
              </a:srgbClr>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8558784" y="2542032"/>
            <a:ext cx="146304" cy="146304"/>
          </a:xfrm>
          <a:prstGeom prst="line">
            <a:avLst/>
          </a:prstGeom>
          <a:ln w="20320" cap="rnd">
            <a:solidFill>
              <a:srgbClr val="F43F5E">
                <a:alpha val="80000"/>
              </a:srgbClr>
            </a:solidFill>
          </a:ln>
          <a:effectLst/>
        </p:spPr>
        <p:style>
          <a:lnRef idx="2">
            <a:schemeClr val="accent1"/>
          </a:lnRef>
          <a:fillRef idx="0">
            <a:schemeClr val="accent1"/>
          </a:fillRef>
          <a:effectRef idx="1">
            <a:schemeClr val="accent1"/>
          </a:effectRef>
          <a:fontRef idx="minor">
            <a:schemeClr val="tx1"/>
          </a:fontRef>
        </p:style>
      </p:cxnSp>
      <p:sp>
        <p:nvSpPr>
          <p:cNvPr id="38" name="silo1"/>
          <p:cNvSpPr/>
          <p:nvPr/>
        </p:nvSpPr>
        <p:spPr>
          <a:xfrm>
            <a:off x="9034272" y="2395728"/>
            <a:ext cx="2377440" cy="987552"/>
          </a:xfrm>
          <a:prstGeom prst="roundRect">
            <a:avLst>
              <a:gd name="adj" fmla="val 14000"/>
            </a:avLst>
          </a:prstGeom>
          <a:ln w="12700" cap="rnd">
            <a:solidFill>
              <a:srgbClr val="5A6E8C">
                <a:alpha val="45000"/>
              </a:srgbClr>
            </a:solidFill>
            <a:prstDash val="dash"/>
          </a:ln>
          <a:effectLst/>
          <a:solidFill>
            <a:srgbClr val="0D1B33">
              <a:alpha val="38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235440" y="2560320"/>
            <a:ext cx="2011680" cy="274320"/>
          </a:xfrm>
          <a:prstGeom prst="rect">
            <a:avLst/>
          </a:prstGeom>
          <a:noFill/>
        </p:spPr>
        <p:txBody>
          <a:bodyPr wrap="square" anchor="t" lIns="0" rIns="0" tIns="0" bIns="0">
            <a:spAutoFit/>
          </a:bodyPr>
          <a:lstStyle/>
          <a:p>
            <a:pPr algn="l"/>
            <a:r>
              <a:rPr sz="1200" b="1" i="0">
                <a:solidFill>
                  <a:srgbClr val="D7E1F2"/>
                </a:solidFill>
                <a:latin typeface="Segoe UI"/>
              </a:rPr>
              <a:t>Pollution Board</a:t>
            </a:r>
          </a:p>
        </p:txBody>
      </p:sp>
      <p:sp>
        <p:nvSpPr>
          <p:cNvPr id="40" name="TextBox 39"/>
          <p:cNvSpPr txBox="1"/>
          <p:nvPr/>
        </p:nvSpPr>
        <p:spPr>
          <a:xfrm>
            <a:off x="9235440" y="2852928"/>
            <a:ext cx="2011680" cy="237744"/>
          </a:xfrm>
          <a:prstGeom prst="rect">
            <a:avLst/>
          </a:prstGeom>
          <a:noFill/>
        </p:spPr>
        <p:txBody>
          <a:bodyPr wrap="square" anchor="t" lIns="0" rIns="0" tIns="0" bIns="0">
            <a:spAutoFit/>
          </a:bodyPr>
          <a:lstStyle/>
          <a:p>
            <a:pPr algn="l"/>
            <a:r>
              <a:rPr sz="900" b="0" i="0">
                <a:solidFill>
                  <a:srgbClr val="5A6E8C"/>
                </a:solidFill>
                <a:latin typeface="Segoe UI"/>
              </a:rPr>
              <a:t>PDF reports</a:t>
            </a:r>
          </a:p>
        </p:txBody>
      </p:sp>
      <p:cxnSp>
        <p:nvCxnSpPr>
          <p:cNvPr id="41" name="Connector 40"/>
          <p:cNvCxnSpPr/>
          <p:nvPr/>
        </p:nvCxnSpPr>
        <p:spPr>
          <a:xfrm>
            <a:off x="11082528" y="2542032"/>
            <a:ext cx="146304" cy="146304"/>
          </a:xfrm>
          <a:prstGeom prst="line">
            <a:avLst/>
          </a:prstGeom>
          <a:ln w="20320" cap="rnd">
            <a:solidFill>
              <a:srgbClr val="F43F5E">
                <a:alpha val="80000"/>
              </a:srgbClr>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11082528" y="2542032"/>
            <a:ext cx="146304" cy="146304"/>
          </a:xfrm>
          <a:prstGeom prst="line">
            <a:avLst/>
          </a:prstGeom>
          <a:ln w="20320" cap="rnd">
            <a:solidFill>
              <a:srgbClr val="F43F5E">
                <a:alpha val="80000"/>
              </a:srgbClr>
            </a:solidFill>
          </a:ln>
          <a:effectLst/>
        </p:spPr>
        <p:style>
          <a:lnRef idx="2">
            <a:schemeClr val="accent1"/>
          </a:lnRef>
          <a:fillRef idx="0">
            <a:schemeClr val="accent1"/>
          </a:fillRef>
          <a:effectRef idx="1">
            <a:schemeClr val="accent1"/>
          </a:effectRef>
          <a:fontRef idx="minor">
            <a:schemeClr val="tx1"/>
          </a:fontRef>
        </p:style>
      </p:cxnSp>
      <p:sp>
        <p:nvSpPr>
          <p:cNvPr id="43" name="silo2"/>
          <p:cNvSpPr/>
          <p:nvPr/>
        </p:nvSpPr>
        <p:spPr>
          <a:xfrm>
            <a:off x="6510528" y="3529584"/>
            <a:ext cx="2377440" cy="987552"/>
          </a:xfrm>
          <a:prstGeom prst="roundRect">
            <a:avLst>
              <a:gd name="adj" fmla="val 14000"/>
            </a:avLst>
          </a:prstGeom>
          <a:ln w="12700" cap="rnd">
            <a:solidFill>
              <a:srgbClr val="5A6E8C">
                <a:alpha val="45000"/>
              </a:srgbClr>
            </a:solidFill>
            <a:prstDash val="dash"/>
          </a:ln>
          <a:effectLst/>
          <a:solidFill>
            <a:srgbClr val="0D1B33">
              <a:alpha val="38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711696" y="3694176"/>
            <a:ext cx="2011680" cy="274320"/>
          </a:xfrm>
          <a:prstGeom prst="rect">
            <a:avLst/>
          </a:prstGeom>
          <a:noFill/>
        </p:spPr>
        <p:txBody>
          <a:bodyPr wrap="square" anchor="t" lIns="0" rIns="0" tIns="0" bIns="0">
            <a:spAutoFit/>
          </a:bodyPr>
          <a:lstStyle/>
          <a:p>
            <a:pPr algn="l"/>
            <a:r>
              <a:rPr sz="1200" b="1" i="0">
                <a:solidFill>
                  <a:srgbClr val="D7E1F2"/>
                </a:solidFill>
                <a:latin typeface="Segoe UI"/>
              </a:rPr>
              <a:t>Power Utility</a:t>
            </a:r>
          </a:p>
        </p:txBody>
      </p:sp>
      <p:sp>
        <p:nvSpPr>
          <p:cNvPr id="45" name="TextBox 44"/>
          <p:cNvSpPr txBox="1"/>
          <p:nvPr/>
        </p:nvSpPr>
        <p:spPr>
          <a:xfrm>
            <a:off x="6711696" y="3986784"/>
            <a:ext cx="2011680" cy="237744"/>
          </a:xfrm>
          <a:prstGeom prst="rect">
            <a:avLst/>
          </a:prstGeom>
          <a:noFill/>
        </p:spPr>
        <p:txBody>
          <a:bodyPr wrap="square" anchor="t" lIns="0" rIns="0" tIns="0" bIns="0">
            <a:spAutoFit/>
          </a:bodyPr>
          <a:lstStyle/>
          <a:p>
            <a:pPr algn="l"/>
            <a:r>
              <a:rPr sz="900" b="0" i="0">
                <a:solidFill>
                  <a:srgbClr val="5A6E8C"/>
                </a:solidFill>
                <a:latin typeface="Segoe UI"/>
              </a:rPr>
              <a:t>monthly CSV</a:t>
            </a:r>
          </a:p>
        </p:txBody>
      </p:sp>
      <p:cxnSp>
        <p:nvCxnSpPr>
          <p:cNvPr id="46" name="Connector 45"/>
          <p:cNvCxnSpPr/>
          <p:nvPr/>
        </p:nvCxnSpPr>
        <p:spPr>
          <a:xfrm>
            <a:off x="8558784" y="3675888"/>
            <a:ext cx="146304" cy="146304"/>
          </a:xfrm>
          <a:prstGeom prst="line">
            <a:avLst/>
          </a:prstGeom>
          <a:ln w="20320" cap="rnd">
            <a:solidFill>
              <a:srgbClr val="F43F5E">
                <a:alpha val="80000"/>
              </a:srgbClr>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8558784" y="3675888"/>
            <a:ext cx="146304" cy="146304"/>
          </a:xfrm>
          <a:prstGeom prst="line">
            <a:avLst/>
          </a:prstGeom>
          <a:ln w="20320" cap="rnd">
            <a:solidFill>
              <a:srgbClr val="F43F5E">
                <a:alpha val="80000"/>
              </a:srgbClr>
            </a:solidFill>
          </a:ln>
          <a:effectLst/>
        </p:spPr>
        <p:style>
          <a:lnRef idx="2">
            <a:schemeClr val="accent1"/>
          </a:lnRef>
          <a:fillRef idx="0">
            <a:schemeClr val="accent1"/>
          </a:fillRef>
          <a:effectRef idx="1">
            <a:schemeClr val="accent1"/>
          </a:effectRef>
          <a:fontRef idx="minor">
            <a:schemeClr val="tx1"/>
          </a:fontRef>
        </p:style>
      </p:cxnSp>
      <p:sp>
        <p:nvSpPr>
          <p:cNvPr id="48" name="silo3"/>
          <p:cNvSpPr/>
          <p:nvPr/>
        </p:nvSpPr>
        <p:spPr>
          <a:xfrm>
            <a:off x="9034272" y="3529584"/>
            <a:ext cx="2377440" cy="987552"/>
          </a:xfrm>
          <a:prstGeom prst="roundRect">
            <a:avLst>
              <a:gd name="adj" fmla="val 14000"/>
            </a:avLst>
          </a:prstGeom>
          <a:ln w="12700" cap="rnd">
            <a:solidFill>
              <a:srgbClr val="5A6E8C">
                <a:alpha val="45000"/>
              </a:srgbClr>
            </a:solidFill>
            <a:prstDash val="dash"/>
          </a:ln>
          <a:effectLst/>
          <a:solidFill>
            <a:srgbClr val="0D1B33">
              <a:alpha val="38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235440" y="3694176"/>
            <a:ext cx="2011680" cy="274320"/>
          </a:xfrm>
          <a:prstGeom prst="rect">
            <a:avLst/>
          </a:prstGeom>
          <a:noFill/>
        </p:spPr>
        <p:txBody>
          <a:bodyPr wrap="square" anchor="t" lIns="0" rIns="0" tIns="0" bIns="0">
            <a:spAutoFit/>
          </a:bodyPr>
          <a:lstStyle/>
          <a:p>
            <a:pPr algn="l"/>
            <a:r>
              <a:rPr sz="1200" b="1" i="0">
                <a:solidFill>
                  <a:srgbClr val="D7E1F2"/>
                </a:solidFill>
                <a:latin typeface="Segoe UI"/>
              </a:rPr>
              <a:t>Disaster Mgmt</a:t>
            </a:r>
          </a:p>
        </p:txBody>
      </p:sp>
      <p:sp>
        <p:nvSpPr>
          <p:cNvPr id="50" name="TextBox 49"/>
          <p:cNvSpPr txBox="1"/>
          <p:nvPr/>
        </p:nvSpPr>
        <p:spPr>
          <a:xfrm>
            <a:off x="9235440" y="3986784"/>
            <a:ext cx="2011680" cy="237744"/>
          </a:xfrm>
          <a:prstGeom prst="rect">
            <a:avLst/>
          </a:prstGeom>
          <a:noFill/>
        </p:spPr>
        <p:txBody>
          <a:bodyPr wrap="square" anchor="t" lIns="0" rIns="0" tIns="0" bIns="0">
            <a:spAutoFit/>
          </a:bodyPr>
          <a:lstStyle/>
          <a:p>
            <a:pPr algn="l"/>
            <a:r>
              <a:rPr sz="900" b="0" i="0">
                <a:solidFill>
                  <a:srgbClr val="5A6E8C"/>
                </a:solidFill>
                <a:latin typeface="Segoe UI"/>
              </a:rPr>
              <a:t>phone lines</a:t>
            </a:r>
          </a:p>
        </p:txBody>
      </p:sp>
      <p:cxnSp>
        <p:nvCxnSpPr>
          <p:cNvPr id="51" name="Connector 50"/>
          <p:cNvCxnSpPr/>
          <p:nvPr/>
        </p:nvCxnSpPr>
        <p:spPr>
          <a:xfrm>
            <a:off x="11082528" y="3675888"/>
            <a:ext cx="146304" cy="146304"/>
          </a:xfrm>
          <a:prstGeom prst="line">
            <a:avLst/>
          </a:prstGeom>
          <a:ln w="20320" cap="rnd">
            <a:solidFill>
              <a:srgbClr val="F43F5E">
                <a:alpha val="80000"/>
              </a:srgbClr>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11082528" y="3675888"/>
            <a:ext cx="146304" cy="146304"/>
          </a:xfrm>
          <a:prstGeom prst="line">
            <a:avLst/>
          </a:prstGeom>
          <a:ln w="20320" cap="rnd">
            <a:solidFill>
              <a:srgbClr val="F43F5E">
                <a:alpha val="80000"/>
              </a:srgbClr>
            </a:solidFill>
          </a:ln>
          <a:effectLst/>
        </p:spPr>
        <p:style>
          <a:lnRef idx="2">
            <a:schemeClr val="accent1"/>
          </a:lnRef>
          <a:fillRef idx="0">
            <a:schemeClr val="accent1"/>
          </a:fillRef>
          <a:effectRef idx="1">
            <a:schemeClr val="accent1"/>
          </a:effectRef>
          <a:fontRef idx="minor">
            <a:schemeClr val="tx1"/>
          </a:fontRef>
        </p:style>
      </p:cxnSp>
      <p:sp>
        <p:nvSpPr>
          <p:cNvPr id="53" name="Oval 52"/>
          <p:cNvSpPr/>
          <p:nvPr/>
        </p:nvSpPr>
        <p:spPr>
          <a:xfrm>
            <a:off x="11194542" y="2087117"/>
            <a:ext cx="68580" cy="68580"/>
          </a:xfrm>
          <a:prstGeom prst="ellipse">
            <a:avLst/>
          </a:prstGeom>
          <a:ln>
            <a:noFill/>
          </a:ln>
          <a:solidFill>
            <a:srgbClr val="F43F5E"/>
          </a:solidFill>
          <a:effectLst>
            <a:glow rad="76200">
              <a:srgbClr val="F43F5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1340846" y="2087117"/>
            <a:ext cx="68580" cy="68580"/>
          </a:xfrm>
          <a:prstGeom prst="ellipse">
            <a:avLst/>
          </a:prstGeom>
          <a:ln>
            <a:noFill/>
          </a:ln>
          <a:solidFill>
            <a:srgbClr val="F43F5E"/>
          </a:solidFill>
          <a:effectLst>
            <a:glow rad="76200">
              <a:srgbClr val="F43F5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11487150" y="2087117"/>
            <a:ext cx="68580" cy="68580"/>
          </a:xfrm>
          <a:prstGeom prst="ellipse">
            <a:avLst/>
          </a:prstGeom>
          <a:ln>
            <a:noFill/>
          </a:ln>
          <a:solidFill>
            <a:srgbClr val="F43F5E"/>
          </a:solidFill>
          <a:effectLst>
            <a:glow rad="76200">
              <a:srgbClr val="F43F5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alertChip"/>
          <p:cNvSpPr/>
          <p:nvPr/>
        </p:nvSpPr>
        <p:spPr>
          <a:xfrm>
            <a:off x="6510528" y="4663440"/>
            <a:ext cx="4864608" cy="566928"/>
          </a:xfrm>
          <a:prstGeom prst="roundRect">
            <a:avLst>
              <a:gd name="adj" fmla="val 50000"/>
            </a:avLst>
          </a:prstGeom>
          <a:ln w="13970" cap="rnd">
            <a:solidFill>
              <a:srgbClr val="F43F5E">
                <a:alpha val="55000"/>
              </a:srgbClr>
            </a:solidFill>
          </a:ln>
          <a:effectLst/>
          <a:solidFill>
            <a:srgbClr val="F43F5E">
              <a:alpha val="13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510528" y="4663440"/>
            <a:ext cx="4864608" cy="566928"/>
          </a:xfrm>
          <a:prstGeom prst="rect">
            <a:avLst/>
          </a:prstGeom>
          <a:noFill/>
        </p:spPr>
        <p:txBody>
          <a:bodyPr wrap="square" anchor="ctr" lIns="0" rIns="0" tIns="0" bIns="0">
            <a:spAutoFit/>
          </a:bodyPr>
          <a:lstStyle/>
          <a:p>
            <a:pPr algn="ctr"/>
            <a:r>
              <a:rPr sz="1300" b="1" i="0">
                <a:solidFill>
                  <a:srgbClr val="F43F5E"/>
                </a:solidFill>
                <a:latin typeface="Segoe UI"/>
              </a:rPr>
              <a:t>⚠</a:t>
            </a:r>
            <a:r>
              <a:rPr sz="1150" b="1" i="0" spc="160">
                <a:solidFill>
                  <a:srgbClr val="F43F5E"/>
                </a:solidFill>
                <a:latin typeface="Segoe UI"/>
              </a:rPr>
              <a:t>  SIX SYSTEMS. ZERO CONVERSATION.</a:t>
            </a:r>
          </a:p>
        </p:txBody>
      </p:sp>
      <p:sp>
        <p:nvSpPr>
          <p:cNvPr id="58" name="Rectangle 57"/>
          <p:cNvSpPr/>
          <p:nvPr/>
        </p:nvSpPr>
        <p:spPr>
          <a:xfrm>
            <a:off x="566928" y="5815584"/>
            <a:ext cx="77724" cy="566928"/>
          </a:xfrm>
          <a:prstGeom prst="rect">
            <a:avLst/>
          </a:prstGeom>
          <a:ln>
            <a:noFill/>
          </a:ln>
          <a:effectLst/>
          <a:gradFill>
            <a:gsLst>
              <a:gs pos="0">
                <a:srgbClr val="F43F5E"/>
              </a:gs>
              <a:gs pos="100000">
                <a:srgbClr val="F59E0B"/>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quote"/>
          <p:cNvSpPr txBox="1"/>
          <p:nvPr/>
        </p:nvSpPr>
        <p:spPr>
          <a:xfrm>
            <a:off x="841248" y="5852160"/>
            <a:ext cx="10424160" cy="512064"/>
          </a:xfrm>
          <a:prstGeom prst="rect">
            <a:avLst/>
          </a:prstGeom>
          <a:noFill/>
        </p:spPr>
        <p:txBody>
          <a:bodyPr wrap="square" anchor="ctr" lIns="0" rIns="0" tIns="0" bIns="0">
            <a:spAutoFit/>
          </a:bodyPr>
          <a:lstStyle/>
          <a:p>
            <a:pPr algn="l"/>
            <a:r>
              <a:rPr sz="1650" b="0" i="1">
                <a:solidFill>
                  <a:srgbClr val="E8EEF9"/>
                </a:solidFill>
                <a:latin typeface="Segoe UI"/>
              </a:rPr>
              <a:t>“City data exists in silos — making proactive planning nearly impossible.”</a:t>
            </a:r>
          </a:p>
        </p:txBody>
      </p:sp>
    </p:spTree>
  </p:cSld>
  <p:clrMapOvr>
    <a:masterClrMapping/>
  </p:clrMapOvr>
  <mc:AlternateContent xmlns:mc="http://schemas.openxmlformats.org/markup-compatibility/2006">
    <mc:Choice xmlns:p14="http://schemas.microsoft.com/office/powerpoint/2010/main" Requires="p14">
      <p:transition spd="slow" p14:dur="1100">
        <p14:morph option="byObject"/>
      </p:transition>
    </mc:Choice>
    <mc:Fallback>
      <p:transition spd="slow" advClick="1">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22" presetClass="entr" presetSubtype="2"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fromLeft)">
                                      <p:cBhvr>
                                        <p:cTn id="7" dur="650"/>
                                        <p:tgtEl>
                                          <p:spTgt spid="10"/>
                                        </p:tgtEl>
                                      </p:cBhvr>
                                    </p:animEffect>
                                  </p:childTnLst>
                                </p:cTn>
                              </p:par>
                              <p:par>
                                <p:cTn id="11" presetID="10" presetClass="entr" presetSubtype="0" fill="hold" grpId="0" nodeType="afterEffect">
                                  <p:stCondLst>
                                    <p:cond delay="25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4" presetID="10" presetClass="entr" presetSubtype="0" fill="hold" grpId="0" nodeType="afterEffect">
                                  <p:stCondLst>
                                    <p:cond delay="9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7" presetID="10" presetClass="entr" presetSubtype="0" fill="hold" grpId="0" nodeType="afterEffect">
                                  <p:stCondLst>
                                    <p:cond delay="9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par>
                                <p:cTn id="20" presetID="10" presetClass="entr" presetSubtype="0" fill="hold" grpId="0" nodeType="afterEffect">
                                  <p:stCondLst>
                                    <p:cond delay="9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par>
                                <p:cTn id="23" presetID="10" presetClass="entr" presetSubtype="0" fill="hold" grpId="0" nodeType="afterEffect">
                                  <p:stCondLst>
                                    <p:cond delay="9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400"/>
                                        <p:tgtEl>
                                          <p:spTgt spid="17"/>
                                        </p:tgtEl>
                                      </p:cBhvr>
                                    </p:animEffect>
                                  </p:childTnLst>
                                </p:cTn>
                              </p:par>
                              <p:par>
                                <p:cTn id="26" presetID="10" presetClass="entr" presetSubtype="0" fill="hold" grpId="0" nodeType="afterEffect">
                                  <p:stCondLst>
                                    <p:cond delay="9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400"/>
                                        <p:tgtEl>
                                          <p:spTgt spid="18"/>
                                        </p:tgtEl>
                                      </p:cBhvr>
                                    </p:animEffect>
                                  </p:childTnLst>
                                </p:cTn>
                              </p:par>
                              <p:par>
                                <p:cTn id="29" presetID="10" presetClass="entr" presetSubtype="0" fill="hold" grpId="0" nodeType="afterEffect">
                                  <p:stCondLst>
                                    <p:cond delay="9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32" presetID="10" presetClass="entr" presetSubtype="0" fill="hold" grpId="0" nodeType="afterEffect">
                                  <p:stCondLst>
                                    <p:cond delay="9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5" presetID="10" presetClass="entr" presetSubtype="0" fill="hold" grpId="0" nodeType="afterEffect">
                                  <p:stCondLst>
                                    <p:cond delay="9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8" presetID="10" presetClass="entr" presetSubtype="0" fill="hold" grpId="0" nodeType="afterEffect">
                                  <p:stCondLst>
                                    <p:cond delay="9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400"/>
                                        <p:tgtEl>
                                          <p:spTgt spid="24"/>
                                        </p:tgtEl>
                                      </p:cBhvr>
                                    </p:animEffect>
                                  </p:childTnLst>
                                </p:cTn>
                              </p:par>
                              <p:par>
                                <p:cTn id="41" presetID="10" presetClass="entr" presetSubtype="0" fill="hold" grpId="0" nodeType="afterEffect">
                                  <p:stCondLst>
                                    <p:cond delay="9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400"/>
                                        <p:tgtEl>
                                          <p:spTgt spid="25"/>
                                        </p:tgtEl>
                                      </p:cBhvr>
                                    </p:animEffect>
                                  </p:childTnLst>
                                </p:cTn>
                              </p:par>
                              <p:par>
                                <p:cTn id="44" presetID="10" presetClass="entr" presetSubtype="0" fill="hold" grpId="0" nodeType="afterEffect">
                                  <p:stCondLst>
                                    <p:cond delay="9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400"/>
                                        <p:tgtEl>
                                          <p:spTgt spid="26"/>
                                        </p:tgtEl>
                                      </p:cBhvr>
                                    </p:animEffect>
                                  </p:childTnLst>
                                </p:cTn>
                              </p:par>
                              <p:par>
                                <p:cTn id="47" presetID="10" presetClass="entr" presetSubtype="0" fill="hold" grpId="0" nodeType="afterEffect">
                                  <p:stCondLst>
                                    <p:cond delay="9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400"/>
                                        <p:tgtEl>
                                          <p:spTgt spid="28"/>
                                        </p:tgtEl>
                                      </p:cBhvr>
                                    </p:animEffect>
                                  </p:childTnLst>
                                </p:cTn>
                              </p:par>
                              <p:par>
                                <p:cTn id="50" presetID="10" presetClass="entr" presetSubtype="0" fill="hold" grpId="0" nodeType="afterEffect">
                                  <p:stCondLst>
                                    <p:cond delay="9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400"/>
                                        <p:tgtEl>
                                          <p:spTgt spid="29"/>
                                        </p:tgtEl>
                                      </p:cBhvr>
                                    </p:animEffect>
                                  </p:childTnLst>
                                </p:cTn>
                              </p:par>
                              <p:par>
                                <p:cTn id="53" presetID="10" presetClass="entr" presetSubtype="0" fill="hold" grpId="0" nodeType="afterEffect">
                                  <p:stCondLst>
                                    <p:cond delay="9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400"/>
                                        <p:tgtEl>
                                          <p:spTgt spid="30"/>
                                        </p:tgtEl>
                                      </p:cBhvr>
                                    </p:animEffect>
                                  </p:childTnLst>
                                </p:cTn>
                              </p:par>
                              <p:par>
                                <p:cTn id="56" presetID="10" presetClass="entr" presetSubtype="0" fill="hold" grpId="0" nodeType="afterEffect">
                                  <p:stCondLst>
                                    <p:cond delay="250"/>
                                  </p:stCondLst>
                                  <p:childTnLst>
                                    <p:set>
                                      <p:cBhvr>
                                        <p:cTn id="54" dur="1" fill="hold">
                                          <p:stCondLst>
                                            <p:cond delay="0"/>
                                          </p:stCondLst>
                                        </p:cTn>
                                        <p:tgtEl>
                                          <p:spTgt spid="31"/>
                                        </p:tgtEl>
                                        <p:attrNameLst>
                                          <p:attrName>style.visibility</p:attrName>
                                        </p:attrNameLst>
                                      </p:cBhvr>
                                      <p:to>
                                        <p:strVal val="visible"/>
                                      </p:to>
                                    </p:set>
                                    <p:animEffect transition="in" filter="fade">
                                      <p:cBhvr>
                                        <p:cTn id="55" dur="600"/>
                                        <p:tgtEl>
                                          <p:spTgt spid="31"/>
                                        </p:tgtEl>
                                      </p:cBhvr>
                                    </p:animEffect>
                                  </p:childTnLst>
                                </p:cTn>
                              </p:par>
                              <p:par>
                                <p:cTn id="60" presetID="53" presetClass="entr" presetSubtype="0" fill="hold" grpId="0" nodeType="afterEffect">
                                  <p:stCondLst>
                                    <p:cond delay="120"/>
                                  </p:stCondLst>
                                  <p:childTnLst>
                                    <p:set>
                                      <p:cBhvr>
                                        <p:cTn id="58" dur="1" fill="hold">
                                          <p:stCondLst>
                                            <p:cond delay="0"/>
                                          </p:stCondLst>
                                        </p:cTn>
                                        <p:tgtEl>
                                          <p:spTgt spid="33"/>
                                        </p:tgtEl>
                                        <p:attrNameLst>
                                          <p:attrName>style.visibility</p:attrName>
                                        </p:attrNameLst>
                                      </p:cBhvr>
                                      <p:to>
                                        <p:strVal val="visible"/>
                                      </p:to>
                                    </p:set>
                                    <p:animEffect transition="in" filter="fade">
                                      <p:cBhvr>
                                        <p:cTn id="59" dur="420"/>
                                        <p:tgtEl>
                                          <p:spTgt spid="33"/>
                                        </p:tgtEl>
                                      </p:cBhvr>
                                    </p:animEffect>
                                    <p:animScale>
                                      <p:cBhvr>
                                        <p:cTn id="57" dur="420"/>
                                        <p:tgtEl>
                                          <p:spTgt spid="33"/>
                                        </p:tgtEl>
                                      </p:cBhvr>
                                      <p:from x="60%" y="60%"/>
                                      <p:to x="100%" y="100%"/>
                                    </p:animScale>
                                  </p:childTnLst>
                                </p:cTn>
                              </p:par>
                              <p:par>
                                <p:cTn id="64" presetID="53" presetClass="entr" presetSubtype="0" fill="hold" grpId="0" nodeType="afterEffect">
                                  <p:stCondLst>
                                    <p:cond delay="60"/>
                                  </p:stCondLst>
                                  <p:childTnLst>
                                    <p:set>
                                      <p:cBhvr>
                                        <p:cTn id="62" dur="1" fill="hold">
                                          <p:stCondLst>
                                            <p:cond delay="0"/>
                                          </p:stCondLst>
                                        </p:cTn>
                                        <p:tgtEl>
                                          <p:spTgt spid="36"/>
                                        </p:tgtEl>
                                        <p:attrNameLst>
                                          <p:attrName>style.visibility</p:attrName>
                                        </p:attrNameLst>
                                      </p:cBhvr>
                                      <p:to>
                                        <p:strVal val="visible"/>
                                      </p:to>
                                    </p:set>
                                    <p:animEffect transition="in" filter="fade">
                                      <p:cBhvr>
                                        <p:cTn id="63" dur="420"/>
                                        <p:tgtEl>
                                          <p:spTgt spid="36"/>
                                        </p:tgtEl>
                                      </p:cBhvr>
                                    </p:animEffect>
                                    <p:animScale>
                                      <p:cBhvr>
                                        <p:cTn id="61" dur="420"/>
                                        <p:tgtEl>
                                          <p:spTgt spid="36"/>
                                        </p:tgtEl>
                                      </p:cBhvr>
                                      <p:from x="60%" y="60%"/>
                                      <p:to x="100%" y="100%"/>
                                    </p:animScale>
                                  </p:childTnLst>
                                </p:cTn>
                              </p:par>
                              <p:par>
                                <p:cTn id="68" presetID="53" presetClass="entr" presetSubtype="0" fill="hold" grpId="0" nodeType="afterEffect">
                                  <p:stCondLst>
                                    <p:cond delay="60"/>
                                  </p:stCondLst>
                                  <p:childTnLst>
                                    <p:set>
                                      <p:cBhvr>
                                        <p:cTn id="66" dur="1" fill="hold">
                                          <p:stCondLst>
                                            <p:cond delay="0"/>
                                          </p:stCondLst>
                                        </p:cTn>
                                        <p:tgtEl>
                                          <p:spTgt spid="37"/>
                                        </p:tgtEl>
                                        <p:attrNameLst>
                                          <p:attrName>style.visibility</p:attrName>
                                        </p:attrNameLst>
                                      </p:cBhvr>
                                      <p:to>
                                        <p:strVal val="visible"/>
                                      </p:to>
                                    </p:set>
                                    <p:animEffect transition="in" filter="fade">
                                      <p:cBhvr>
                                        <p:cTn id="67" dur="420"/>
                                        <p:tgtEl>
                                          <p:spTgt spid="37"/>
                                        </p:tgtEl>
                                      </p:cBhvr>
                                    </p:animEffect>
                                    <p:animScale>
                                      <p:cBhvr>
                                        <p:cTn id="65" dur="420"/>
                                        <p:tgtEl>
                                          <p:spTgt spid="37"/>
                                        </p:tgtEl>
                                      </p:cBhvr>
                                      <p:from x="60%" y="60%"/>
                                      <p:to x="100%" y="100%"/>
                                    </p:animScale>
                                  </p:childTnLst>
                                </p:cTn>
                              </p:par>
                              <p:par>
                                <p:cTn id="72" presetID="53" presetClass="entr" presetSubtype="0" fill="hold" grpId="0" nodeType="afterEffect">
                                  <p:stCondLst>
                                    <p:cond delay="60"/>
                                  </p:stCondLst>
                                  <p:childTnLst>
                                    <p:set>
                                      <p:cBhvr>
                                        <p:cTn id="70" dur="1" fill="hold">
                                          <p:stCondLst>
                                            <p:cond delay="0"/>
                                          </p:stCondLst>
                                        </p:cTn>
                                        <p:tgtEl>
                                          <p:spTgt spid="38"/>
                                        </p:tgtEl>
                                        <p:attrNameLst>
                                          <p:attrName>style.visibility</p:attrName>
                                        </p:attrNameLst>
                                      </p:cBhvr>
                                      <p:to>
                                        <p:strVal val="visible"/>
                                      </p:to>
                                    </p:set>
                                    <p:animEffect transition="in" filter="fade">
                                      <p:cBhvr>
                                        <p:cTn id="71" dur="420"/>
                                        <p:tgtEl>
                                          <p:spTgt spid="38"/>
                                        </p:tgtEl>
                                      </p:cBhvr>
                                    </p:animEffect>
                                    <p:animScale>
                                      <p:cBhvr>
                                        <p:cTn id="69" dur="420"/>
                                        <p:tgtEl>
                                          <p:spTgt spid="38"/>
                                        </p:tgtEl>
                                      </p:cBhvr>
                                      <p:from x="60%" y="60%"/>
                                      <p:to x="100%" y="100%"/>
                                    </p:animScale>
                                  </p:childTnLst>
                                </p:cTn>
                              </p:par>
                              <p:par>
                                <p:cTn id="76" presetID="53" presetClass="entr" presetSubtype="0" fill="hold" grpId="0" nodeType="afterEffect">
                                  <p:stCondLst>
                                    <p:cond delay="60"/>
                                  </p:stCondLst>
                                  <p:childTnLst>
                                    <p:set>
                                      <p:cBhvr>
                                        <p:cTn id="74" dur="1" fill="hold">
                                          <p:stCondLst>
                                            <p:cond delay="0"/>
                                          </p:stCondLst>
                                        </p:cTn>
                                        <p:tgtEl>
                                          <p:spTgt spid="41"/>
                                        </p:tgtEl>
                                        <p:attrNameLst>
                                          <p:attrName>style.visibility</p:attrName>
                                        </p:attrNameLst>
                                      </p:cBhvr>
                                      <p:to>
                                        <p:strVal val="visible"/>
                                      </p:to>
                                    </p:set>
                                    <p:animEffect transition="in" filter="fade">
                                      <p:cBhvr>
                                        <p:cTn id="75" dur="420"/>
                                        <p:tgtEl>
                                          <p:spTgt spid="41"/>
                                        </p:tgtEl>
                                      </p:cBhvr>
                                    </p:animEffect>
                                    <p:animScale>
                                      <p:cBhvr>
                                        <p:cTn id="73" dur="420"/>
                                        <p:tgtEl>
                                          <p:spTgt spid="41"/>
                                        </p:tgtEl>
                                      </p:cBhvr>
                                      <p:from x="60%" y="60%"/>
                                      <p:to x="100%" y="100%"/>
                                    </p:animScale>
                                  </p:childTnLst>
                                </p:cTn>
                              </p:par>
                              <p:par>
                                <p:cTn id="80" presetID="53" presetClass="entr" presetSubtype="0" fill="hold" grpId="0" nodeType="afterEffect">
                                  <p:stCondLst>
                                    <p:cond delay="60"/>
                                  </p:stCondLst>
                                  <p:childTnLst>
                                    <p:set>
                                      <p:cBhvr>
                                        <p:cTn id="78" dur="1" fill="hold">
                                          <p:stCondLst>
                                            <p:cond delay="0"/>
                                          </p:stCondLst>
                                        </p:cTn>
                                        <p:tgtEl>
                                          <p:spTgt spid="42"/>
                                        </p:tgtEl>
                                        <p:attrNameLst>
                                          <p:attrName>style.visibility</p:attrName>
                                        </p:attrNameLst>
                                      </p:cBhvr>
                                      <p:to>
                                        <p:strVal val="visible"/>
                                      </p:to>
                                    </p:set>
                                    <p:animEffect transition="in" filter="fade">
                                      <p:cBhvr>
                                        <p:cTn id="79" dur="420"/>
                                        <p:tgtEl>
                                          <p:spTgt spid="42"/>
                                        </p:tgtEl>
                                      </p:cBhvr>
                                    </p:animEffect>
                                    <p:animScale>
                                      <p:cBhvr>
                                        <p:cTn id="77" dur="420"/>
                                        <p:tgtEl>
                                          <p:spTgt spid="42"/>
                                        </p:tgtEl>
                                      </p:cBhvr>
                                      <p:from x="60%" y="60%"/>
                                      <p:to x="100%" y="100%"/>
                                    </p:animScale>
                                  </p:childTnLst>
                                </p:cTn>
                              </p:par>
                              <p:par>
                                <p:cTn id="84" presetID="53" presetClass="entr" presetSubtype="0" fill="hold" grpId="0" nodeType="afterEffect">
                                  <p:stCondLst>
                                    <p:cond delay="60"/>
                                  </p:stCondLst>
                                  <p:childTnLst>
                                    <p:set>
                                      <p:cBhvr>
                                        <p:cTn id="82" dur="1" fill="hold">
                                          <p:stCondLst>
                                            <p:cond delay="0"/>
                                          </p:stCondLst>
                                        </p:cTn>
                                        <p:tgtEl>
                                          <p:spTgt spid="43"/>
                                        </p:tgtEl>
                                        <p:attrNameLst>
                                          <p:attrName>style.visibility</p:attrName>
                                        </p:attrNameLst>
                                      </p:cBhvr>
                                      <p:to>
                                        <p:strVal val="visible"/>
                                      </p:to>
                                    </p:set>
                                    <p:animEffect transition="in" filter="fade">
                                      <p:cBhvr>
                                        <p:cTn id="83" dur="420"/>
                                        <p:tgtEl>
                                          <p:spTgt spid="43"/>
                                        </p:tgtEl>
                                      </p:cBhvr>
                                    </p:animEffect>
                                    <p:animScale>
                                      <p:cBhvr>
                                        <p:cTn id="81" dur="420"/>
                                        <p:tgtEl>
                                          <p:spTgt spid="43"/>
                                        </p:tgtEl>
                                      </p:cBhvr>
                                      <p:from x="60%" y="60%"/>
                                      <p:to x="100%" y="100%"/>
                                    </p:animScale>
                                  </p:childTnLst>
                                </p:cTn>
                              </p:par>
                              <p:par>
                                <p:cTn id="88" presetID="53" presetClass="entr" presetSubtype="0" fill="hold" grpId="0" nodeType="afterEffect">
                                  <p:stCondLst>
                                    <p:cond delay="60"/>
                                  </p:stCondLst>
                                  <p:childTnLst>
                                    <p:set>
                                      <p:cBhvr>
                                        <p:cTn id="86" dur="1" fill="hold">
                                          <p:stCondLst>
                                            <p:cond delay="0"/>
                                          </p:stCondLst>
                                        </p:cTn>
                                        <p:tgtEl>
                                          <p:spTgt spid="46"/>
                                        </p:tgtEl>
                                        <p:attrNameLst>
                                          <p:attrName>style.visibility</p:attrName>
                                        </p:attrNameLst>
                                      </p:cBhvr>
                                      <p:to>
                                        <p:strVal val="visible"/>
                                      </p:to>
                                    </p:set>
                                    <p:animEffect transition="in" filter="fade">
                                      <p:cBhvr>
                                        <p:cTn id="87" dur="420"/>
                                        <p:tgtEl>
                                          <p:spTgt spid="46"/>
                                        </p:tgtEl>
                                      </p:cBhvr>
                                    </p:animEffect>
                                    <p:animScale>
                                      <p:cBhvr>
                                        <p:cTn id="85" dur="420"/>
                                        <p:tgtEl>
                                          <p:spTgt spid="46"/>
                                        </p:tgtEl>
                                      </p:cBhvr>
                                      <p:from x="60%" y="60%"/>
                                      <p:to x="100%" y="100%"/>
                                    </p:animScale>
                                  </p:childTnLst>
                                </p:cTn>
                              </p:par>
                              <p:par>
                                <p:cTn id="92" presetID="53" presetClass="entr" presetSubtype="0" fill="hold" grpId="0" nodeType="afterEffect">
                                  <p:stCondLst>
                                    <p:cond delay="60"/>
                                  </p:stCondLst>
                                  <p:childTnLst>
                                    <p:set>
                                      <p:cBhvr>
                                        <p:cTn id="90" dur="1" fill="hold">
                                          <p:stCondLst>
                                            <p:cond delay="0"/>
                                          </p:stCondLst>
                                        </p:cTn>
                                        <p:tgtEl>
                                          <p:spTgt spid="47"/>
                                        </p:tgtEl>
                                        <p:attrNameLst>
                                          <p:attrName>style.visibility</p:attrName>
                                        </p:attrNameLst>
                                      </p:cBhvr>
                                      <p:to>
                                        <p:strVal val="visible"/>
                                      </p:to>
                                    </p:set>
                                    <p:animEffect transition="in" filter="fade">
                                      <p:cBhvr>
                                        <p:cTn id="91" dur="420"/>
                                        <p:tgtEl>
                                          <p:spTgt spid="47"/>
                                        </p:tgtEl>
                                      </p:cBhvr>
                                    </p:animEffect>
                                    <p:animScale>
                                      <p:cBhvr>
                                        <p:cTn id="89" dur="420"/>
                                        <p:tgtEl>
                                          <p:spTgt spid="47"/>
                                        </p:tgtEl>
                                      </p:cBhvr>
                                      <p:from x="60%" y="60%"/>
                                      <p:to x="100%" y="100%"/>
                                    </p:animScale>
                                  </p:childTnLst>
                                </p:cTn>
                              </p:par>
                              <p:par>
                                <p:cTn id="96" presetID="53" presetClass="entr" presetSubtype="0" fill="hold" grpId="0" nodeType="afterEffect">
                                  <p:stCondLst>
                                    <p:cond delay="60"/>
                                  </p:stCondLst>
                                  <p:childTnLst>
                                    <p:set>
                                      <p:cBhvr>
                                        <p:cTn id="94" dur="1" fill="hold">
                                          <p:stCondLst>
                                            <p:cond delay="0"/>
                                          </p:stCondLst>
                                        </p:cTn>
                                        <p:tgtEl>
                                          <p:spTgt spid="48"/>
                                        </p:tgtEl>
                                        <p:attrNameLst>
                                          <p:attrName>style.visibility</p:attrName>
                                        </p:attrNameLst>
                                      </p:cBhvr>
                                      <p:to>
                                        <p:strVal val="visible"/>
                                      </p:to>
                                    </p:set>
                                    <p:animEffect transition="in" filter="fade">
                                      <p:cBhvr>
                                        <p:cTn id="95" dur="420"/>
                                        <p:tgtEl>
                                          <p:spTgt spid="48"/>
                                        </p:tgtEl>
                                      </p:cBhvr>
                                    </p:animEffect>
                                    <p:animScale>
                                      <p:cBhvr>
                                        <p:cTn id="93" dur="420"/>
                                        <p:tgtEl>
                                          <p:spTgt spid="48"/>
                                        </p:tgtEl>
                                      </p:cBhvr>
                                      <p:from x="60%" y="60%"/>
                                      <p:to x="100%" y="100%"/>
                                    </p:animScale>
                                  </p:childTnLst>
                                </p:cTn>
                              </p:par>
                              <p:par>
                                <p:cTn id="100" presetID="53" presetClass="entr" presetSubtype="0" fill="hold" grpId="0" nodeType="afterEffect">
                                  <p:stCondLst>
                                    <p:cond delay="60"/>
                                  </p:stCondLst>
                                  <p:childTnLst>
                                    <p:set>
                                      <p:cBhvr>
                                        <p:cTn id="98" dur="1" fill="hold">
                                          <p:stCondLst>
                                            <p:cond delay="0"/>
                                          </p:stCondLst>
                                        </p:cTn>
                                        <p:tgtEl>
                                          <p:spTgt spid="51"/>
                                        </p:tgtEl>
                                        <p:attrNameLst>
                                          <p:attrName>style.visibility</p:attrName>
                                        </p:attrNameLst>
                                      </p:cBhvr>
                                      <p:to>
                                        <p:strVal val="visible"/>
                                      </p:to>
                                    </p:set>
                                    <p:animEffect transition="in" filter="fade">
                                      <p:cBhvr>
                                        <p:cTn id="99" dur="420"/>
                                        <p:tgtEl>
                                          <p:spTgt spid="51"/>
                                        </p:tgtEl>
                                      </p:cBhvr>
                                    </p:animEffect>
                                    <p:animScale>
                                      <p:cBhvr>
                                        <p:cTn id="97" dur="420"/>
                                        <p:tgtEl>
                                          <p:spTgt spid="51"/>
                                        </p:tgtEl>
                                      </p:cBhvr>
                                      <p:from x="60%" y="60%"/>
                                      <p:to x="100%" y="100%"/>
                                    </p:animScale>
                                  </p:childTnLst>
                                </p:cTn>
                              </p:par>
                              <p:par>
                                <p:cTn id="104" presetID="53" presetClass="entr" presetSubtype="0" fill="hold" grpId="0" nodeType="afterEffect">
                                  <p:stCondLst>
                                    <p:cond delay="60"/>
                                  </p:stCondLst>
                                  <p:childTnLst>
                                    <p:set>
                                      <p:cBhvr>
                                        <p:cTn id="102" dur="1" fill="hold">
                                          <p:stCondLst>
                                            <p:cond delay="0"/>
                                          </p:stCondLst>
                                        </p:cTn>
                                        <p:tgtEl>
                                          <p:spTgt spid="52"/>
                                        </p:tgtEl>
                                        <p:attrNameLst>
                                          <p:attrName>style.visibility</p:attrName>
                                        </p:attrNameLst>
                                      </p:cBhvr>
                                      <p:to>
                                        <p:strVal val="visible"/>
                                      </p:to>
                                    </p:set>
                                    <p:animEffect transition="in" filter="fade">
                                      <p:cBhvr>
                                        <p:cTn id="103" dur="420"/>
                                        <p:tgtEl>
                                          <p:spTgt spid="52"/>
                                        </p:tgtEl>
                                      </p:cBhvr>
                                    </p:animEffect>
                                    <p:animScale>
                                      <p:cBhvr>
                                        <p:cTn id="101" dur="420"/>
                                        <p:tgtEl>
                                          <p:spTgt spid="52"/>
                                        </p:tgtEl>
                                      </p:cBhvr>
                                      <p:from x="60%" y="60%"/>
                                      <p:to x="100%" y="100%"/>
                                    </p:animScale>
                                  </p:childTnLst>
                                </p:cTn>
                              </p:par>
                              <p:par>
                                <p:cTn id="107" presetID="10" presetClass="entr" presetSubtype="0" fill="hold" grpId="0" nodeType="afterEffect">
                                  <p:stCondLst>
                                    <p:cond delay="300"/>
                                  </p:stCondLst>
                                  <p:childTnLst>
                                    <p:set>
                                      <p:cBhvr>
                                        <p:cTn id="105" dur="1" fill="hold">
                                          <p:stCondLst>
                                            <p:cond delay="0"/>
                                          </p:stCondLst>
                                        </p:cTn>
                                        <p:tgtEl>
                                          <p:spTgt spid="56"/>
                                        </p:tgtEl>
                                        <p:attrNameLst>
                                          <p:attrName>style.visibility</p:attrName>
                                        </p:attrNameLst>
                                      </p:cBhvr>
                                      <p:to>
                                        <p:strVal val="visible"/>
                                      </p:to>
                                    </p:set>
                                    <p:animEffect transition="in" filter="fade">
                                      <p:cBhvr>
                                        <p:cTn id="106" dur="500"/>
                                        <p:tgtEl>
                                          <p:spTgt spid="56"/>
                                        </p:tgtEl>
                                      </p:cBhvr>
                                    </p:animEffect>
                                  </p:childTnLst>
                                </p:cTn>
                              </p:par>
                              <p:par>
                                <p:cTn id="109" presetID="8" presetClass="emph" presetSubtype="0" fill="hold" grpId="0" nodeType="withEffect">
                                  <p:stCondLst>
                                    <p:cond delay="0"/>
                                  </p:stCondLst>
                                  <p:childTnLst>
                                    <p:animEffect transition="out" filter="fade">
                                      <p:cBhvr>
                                        <p:cTn id="108" dur="1400" autoRev="1" repeatCount="indefinite"/>
                                        <p:tgtEl>
                                          <p:spTgt spid="56"/>
                                        </p:tgtEl>
                                      </p:cBhvr>
                                    </p:animEffect>
                                  </p:childTnLst>
                                </p:cTn>
                              </p:par>
                              <p:par>
                                <p:cTn id="111" presetID="8" presetClass="emph" presetSubtype="0" fill="hold" grpId="0" nodeType="withEffect">
                                  <p:stCondLst>
                                    <p:cond delay="0"/>
                                  </p:stCondLst>
                                  <p:childTnLst>
                                    <p:animEffect transition="out" filter="fade">
                                      <p:cBhvr>
                                        <p:cTn id="110" dur="900" autoRev="1" repeatCount="indefinite"/>
                                        <p:tgtEl>
                                          <p:spTgt spid="53"/>
                                        </p:tgtEl>
                                      </p:cBhvr>
                                    </p:animEffect>
                                  </p:childTnLst>
                                </p:cTn>
                              </p:par>
                              <p:par>
                                <p:cTn id="113" presetID="8" presetClass="emph" presetSubtype="0" fill="hold" grpId="0" nodeType="withEffect">
                                  <p:stCondLst>
                                    <p:cond delay="0"/>
                                  </p:stCondLst>
                                  <p:childTnLst>
                                    <p:animEffect transition="out" filter="fade">
                                      <p:cBhvr>
                                        <p:cTn id="112" dur="900" autoRev="1" repeatCount="indefinite"/>
                                        <p:tgtEl>
                                          <p:spTgt spid="54"/>
                                        </p:tgtEl>
                                      </p:cBhvr>
                                    </p:animEffect>
                                  </p:childTnLst>
                                </p:cTn>
                              </p:par>
                              <p:par>
                                <p:cTn id="115" presetID="8" presetClass="emph" presetSubtype="0" fill="hold" grpId="0" nodeType="withEffect">
                                  <p:stCondLst>
                                    <p:cond delay="0"/>
                                  </p:stCondLst>
                                  <p:childTnLst>
                                    <p:animEffect transition="out" filter="fade">
                                      <p:cBhvr>
                                        <p:cTn id="114" dur="900" autoRev="1" repeatCount="indefinite"/>
                                        <p:tgtEl>
                                          <p:spTgt spid="55"/>
                                        </p:tgtEl>
                                      </p:cBhvr>
                                    </p:animEffect>
                                  </p:childTnLst>
                                </p:cTn>
                              </p:par>
                              <p:par>
                                <p:cTn id="118" presetID="22" presetClass="entr" presetSubtype="2" fill="hold" grpId="0" nodeType="afterEffect">
                                  <p:stCondLst>
                                    <p:cond delay="350"/>
                                  </p:stCondLst>
                                  <p:childTnLst>
                                    <p:set>
                                      <p:cBhvr>
                                        <p:cTn id="116" dur="1" fill="hold">
                                          <p:stCondLst>
                                            <p:cond delay="0"/>
                                          </p:stCondLst>
                                        </p:cTn>
                                        <p:tgtEl>
                                          <p:spTgt spid="59"/>
                                        </p:tgtEl>
                                        <p:attrNameLst>
                                          <p:attrName>style.visibility</p:attrName>
                                        </p:attrNameLst>
                                      </p:cBhvr>
                                      <p:to>
                                        <p:strVal val="visible"/>
                                      </p:to>
                                    </p:set>
                                    <p:animEffect transition="in" filter="wipe(fromLeft)">
                                      <p:cBhvr>
                                        <p:cTn id="117" dur="7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vision" descr="city_transform.png"/>
          <p:cNvPicPr>
            <a:picLocks noChangeAspect="1"/>
          </p:cNvPicPr>
          <p:nvPr/>
        </p:nvPicPr>
        <p:blipFill>
          <a:blip r:embed="rId2"/>
          <a:stretch>
            <a:fillRect/>
          </a:stretch>
        </p:blipFill>
        <p:spPr>
          <a:xfrm>
            <a:off x="0" y="0"/>
            <a:ext cx="12191695" cy="6858000"/>
          </a:xfrm>
          <a:prstGeom prst="rect">
            <a:avLst/>
          </a:prstGeom>
          <a:effectLst/>
        </p:spPr>
      </p:pic>
      <p:sp>
        <p:nvSpPr>
          <p:cNvPr id="3" name="Rectangle 2"/>
          <p:cNvSpPr/>
          <p:nvPr/>
        </p:nvSpPr>
        <p:spPr>
          <a:xfrm>
            <a:off x="0" y="0"/>
            <a:ext cx="12191695" cy="6858000"/>
          </a:xfrm>
          <a:prstGeom prst="rect">
            <a:avLst/>
          </a:prstGeom>
          <a:ln>
            <a:noFill/>
          </a:ln>
          <a:effectLst/>
          <a:solidFill>
            <a:srgbClr val="040812">
              <a:alpha val="58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480560"/>
            <a:ext cx="12191695" cy="2377440"/>
          </a:xfrm>
          <a:prstGeom prst="rect">
            <a:avLst/>
          </a:prstGeom>
          <a:ln>
            <a:noFill/>
          </a:ln>
          <a:effectLst/>
          <a:gradFill>
            <a:gsLst>
              <a:gs pos="0">
                <a:srgbClr val="02040C">
                  <a:alpha val="0"/>
                </a:srgbClr>
              </a:gs>
              <a:gs pos="100000">
                <a:srgbClr val="02040C">
                  <a:alpha val="80000"/>
                </a:srgbClr>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353104" y="603504"/>
            <a:ext cx="5486400" cy="274320"/>
          </a:xfrm>
          <a:prstGeom prst="rect">
            <a:avLst/>
          </a:prstGeom>
          <a:noFill/>
        </p:spPr>
        <p:txBody>
          <a:bodyPr wrap="square" anchor="t" lIns="0" rIns="0" tIns="0" bIns="0">
            <a:spAutoFit/>
          </a:bodyPr>
          <a:lstStyle/>
          <a:p>
            <a:pPr algn="ctr"/>
            <a:r>
              <a:rPr sz="1050" b="1" i="0" spc="380">
                <a:solidFill>
                  <a:srgbClr val="22D3EE"/>
                </a:solidFill>
                <a:latin typeface="Segoe UI"/>
              </a:rPr>
              <a:t>OUR VISION</a:t>
            </a:r>
          </a:p>
        </p:txBody>
      </p:sp>
      <p:sp>
        <p:nvSpPr>
          <p:cNvPr id="6" name="TextBox 5"/>
          <p:cNvSpPr txBox="1"/>
          <p:nvPr/>
        </p:nvSpPr>
        <p:spPr>
          <a:xfrm>
            <a:off x="1524304" y="932688"/>
            <a:ext cx="9144000" cy="640080"/>
          </a:xfrm>
          <a:prstGeom prst="rect">
            <a:avLst/>
          </a:prstGeom>
          <a:noFill/>
        </p:spPr>
        <p:txBody>
          <a:bodyPr wrap="square" anchor="t" lIns="0" rIns="0" tIns="0" bIns="0">
            <a:spAutoFit/>
          </a:bodyPr>
          <a:lstStyle/>
          <a:p>
            <a:pPr algn="ctr"/>
            <a:r>
              <a:rPr sz="3800" b="1" i="0">
                <a:solidFill>
                  <a:srgbClr val="F1F5F9"/>
                </a:solidFill>
                <a:latin typeface="Segoe UI"/>
              </a:rPr>
              <a:t>What If a City Could See Itself?</a:t>
            </a:r>
          </a:p>
        </p:txBody>
      </p:sp>
      <p:sp>
        <p:nvSpPr>
          <p:cNvPr id="7" name="stage0"/>
          <p:cNvSpPr/>
          <p:nvPr/>
        </p:nvSpPr>
        <p:spPr>
          <a:xfrm>
            <a:off x="618591" y="3127248"/>
            <a:ext cx="2340864" cy="1005840"/>
          </a:xfrm>
          <a:prstGeom prst="roundRect">
            <a:avLst>
              <a:gd name="adj" fmla="val 18000"/>
            </a:avLst>
          </a:prstGeom>
          <a:ln w="12700" cap="rnd">
            <a:solidFill>
              <a:srgbClr val="9FD8FF">
                <a:alpha val="45000"/>
              </a:srgbClr>
            </a:solidFill>
          </a:ln>
          <a:solidFill>
            <a:srgbClr val="0D1B33">
              <a:alpha val="52000"/>
            </a:srgbClr>
          </a:solidFill>
          <a:effectLst>
            <a:glow rad="1016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8591" y="3310128"/>
            <a:ext cx="2340864" cy="292608"/>
          </a:xfrm>
          <a:prstGeom prst="rect">
            <a:avLst/>
          </a:prstGeom>
          <a:noFill/>
        </p:spPr>
        <p:txBody>
          <a:bodyPr wrap="square" anchor="t" lIns="0" rIns="0" tIns="0" bIns="0">
            <a:spAutoFit/>
          </a:bodyPr>
          <a:lstStyle/>
          <a:p>
            <a:pPr algn="ctr"/>
            <a:r>
              <a:rPr sz="1500" b="1" i="0">
                <a:solidFill>
                  <a:srgbClr val="F1F5F9"/>
                </a:solidFill>
                <a:latin typeface="Segoe UI"/>
              </a:rPr>
              <a:t>Physical City</a:t>
            </a:r>
          </a:p>
        </p:txBody>
      </p:sp>
      <p:sp>
        <p:nvSpPr>
          <p:cNvPr id="9" name="TextBox 8"/>
          <p:cNvSpPr txBox="1"/>
          <p:nvPr/>
        </p:nvSpPr>
        <p:spPr>
          <a:xfrm>
            <a:off x="618591" y="3621024"/>
            <a:ext cx="2340864" cy="256032"/>
          </a:xfrm>
          <a:prstGeom prst="rect">
            <a:avLst/>
          </a:prstGeom>
          <a:noFill/>
        </p:spPr>
        <p:txBody>
          <a:bodyPr wrap="square" anchor="t" lIns="0" rIns="0" tIns="0" bIns="0">
            <a:spAutoFit/>
          </a:bodyPr>
          <a:lstStyle/>
          <a:p>
            <a:pPr algn="ctr"/>
            <a:r>
              <a:rPr sz="950" b="0" i="0">
                <a:solidFill>
                  <a:srgbClr val="8EA3C0"/>
                </a:solidFill>
                <a:latin typeface="Segoe UI"/>
              </a:rPr>
              <a:t>streets · signals · sensors</a:t>
            </a:r>
          </a:p>
        </p:txBody>
      </p:sp>
      <p:cxnSp>
        <p:nvCxnSpPr>
          <p:cNvPr id="10" name="Connector 9"/>
          <p:cNvCxnSpPr/>
          <p:nvPr/>
        </p:nvCxnSpPr>
        <p:spPr>
          <a:xfrm>
            <a:off x="3028035" y="3630168"/>
            <a:ext cx="393192" cy="0"/>
          </a:xfrm>
          <a:prstGeom prst="line">
            <a:avLst/>
          </a:prstGeom>
          <a:ln w="27940" cap="rnd">
            <a:solidFill>
              <a:srgbClr val="22D3EE">
                <a:alpha val="85000"/>
              </a:srgbClr>
            </a:solidFill>
            <a:tailEnd type="triangle" w="med" len="med"/>
          </a:ln>
          <a:effectLst>
            <a:glow rad="63500">
              <a:srgbClr val="22D3EE">
                <a:alpha val="60000"/>
              </a:srgbClr>
            </a:glow>
          </a:effectLst>
        </p:spPr>
        <p:style>
          <a:lnRef idx="2">
            <a:schemeClr val="accent1"/>
          </a:lnRef>
          <a:fillRef idx="0">
            <a:schemeClr val="accent1"/>
          </a:fillRef>
          <a:effectRef idx="1">
            <a:schemeClr val="accent1"/>
          </a:effectRef>
          <a:fontRef idx="minor">
            <a:schemeClr val="tx1"/>
          </a:fontRef>
        </p:style>
      </p:cxnSp>
      <p:sp>
        <p:nvSpPr>
          <p:cNvPr id="11" name="stage1"/>
          <p:cNvSpPr/>
          <p:nvPr/>
        </p:nvSpPr>
        <p:spPr>
          <a:xfrm>
            <a:off x="3489807" y="3127248"/>
            <a:ext cx="2340864" cy="1005840"/>
          </a:xfrm>
          <a:prstGeom prst="roundRect">
            <a:avLst>
              <a:gd name="adj" fmla="val 18000"/>
            </a:avLst>
          </a:prstGeom>
          <a:ln w="12700" cap="rnd">
            <a:solidFill>
              <a:srgbClr val="22D3EE">
                <a:alpha val="45000"/>
              </a:srgbClr>
            </a:solidFill>
          </a:ln>
          <a:solidFill>
            <a:srgbClr val="0D1B33">
              <a:alpha val="52000"/>
            </a:srgbClr>
          </a:solidFill>
          <a:effectLst>
            <a:glow rad="1016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89807" y="3310128"/>
            <a:ext cx="2340864" cy="292608"/>
          </a:xfrm>
          <a:prstGeom prst="rect">
            <a:avLst/>
          </a:prstGeom>
          <a:noFill/>
        </p:spPr>
        <p:txBody>
          <a:bodyPr wrap="square" anchor="t" lIns="0" rIns="0" tIns="0" bIns="0">
            <a:spAutoFit/>
          </a:bodyPr>
          <a:lstStyle/>
          <a:p>
            <a:pPr algn="ctr"/>
            <a:r>
              <a:rPr sz="1500" b="1" i="0">
                <a:solidFill>
                  <a:srgbClr val="F1F5F9"/>
                </a:solidFill>
                <a:latin typeface="Segoe UI"/>
              </a:rPr>
              <a:t>Live Digital Twin</a:t>
            </a:r>
          </a:p>
        </p:txBody>
      </p:sp>
      <p:sp>
        <p:nvSpPr>
          <p:cNvPr id="13" name="TextBox 12"/>
          <p:cNvSpPr txBox="1"/>
          <p:nvPr/>
        </p:nvSpPr>
        <p:spPr>
          <a:xfrm>
            <a:off x="3489807" y="3621024"/>
            <a:ext cx="2340864" cy="256032"/>
          </a:xfrm>
          <a:prstGeom prst="rect">
            <a:avLst/>
          </a:prstGeom>
          <a:noFill/>
        </p:spPr>
        <p:txBody>
          <a:bodyPr wrap="square" anchor="t" lIns="0" rIns="0" tIns="0" bIns="0">
            <a:spAutoFit/>
          </a:bodyPr>
          <a:lstStyle/>
          <a:p>
            <a:pPr algn="ctr"/>
            <a:r>
              <a:rPr sz="950" b="0" i="0">
                <a:solidFill>
                  <a:srgbClr val="8EA3C0"/>
                </a:solidFill>
                <a:latin typeface="Segoe UI"/>
              </a:rPr>
              <a:t>a real-time virtual replica</a:t>
            </a:r>
          </a:p>
        </p:txBody>
      </p:sp>
      <p:cxnSp>
        <p:nvCxnSpPr>
          <p:cNvPr id="14" name="Connector 13"/>
          <p:cNvCxnSpPr/>
          <p:nvPr/>
        </p:nvCxnSpPr>
        <p:spPr>
          <a:xfrm>
            <a:off x="5899251" y="3630168"/>
            <a:ext cx="393192" cy="0"/>
          </a:xfrm>
          <a:prstGeom prst="line">
            <a:avLst/>
          </a:prstGeom>
          <a:ln w="27940" cap="rnd">
            <a:solidFill>
              <a:srgbClr val="22D3EE">
                <a:alpha val="85000"/>
              </a:srgbClr>
            </a:solidFill>
            <a:tailEnd type="triangle" w="med" len="med"/>
          </a:ln>
          <a:effectLst>
            <a:glow rad="63500">
              <a:srgbClr val="22D3EE">
                <a:alpha val="60000"/>
              </a:srgbClr>
            </a:glow>
          </a:effectLst>
        </p:spPr>
        <p:style>
          <a:lnRef idx="2">
            <a:schemeClr val="accent1"/>
          </a:lnRef>
          <a:fillRef idx="0">
            <a:schemeClr val="accent1"/>
          </a:fillRef>
          <a:effectRef idx="1">
            <a:schemeClr val="accent1"/>
          </a:effectRef>
          <a:fontRef idx="minor">
            <a:schemeClr val="tx1"/>
          </a:fontRef>
        </p:style>
      </p:cxnSp>
      <p:sp>
        <p:nvSpPr>
          <p:cNvPr id="15" name="stage2"/>
          <p:cNvSpPr/>
          <p:nvPr/>
        </p:nvSpPr>
        <p:spPr>
          <a:xfrm>
            <a:off x="6361023" y="3127248"/>
            <a:ext cx="2340864" cy="1005840"/>
          </a:xfrm>
          <a:prstGeom prst="roundRect">
            <a:avLst>
              <a:gd name="adj" fmla="val 18000"/>
            </a:avLst>
          </a:prstGeom>
          <a:ln w="12700" cap="rnd">
            <a:solidFill>
              <a:srgbClr val="22D3EE">
                <a:alpha val="45000"/>
              </a:srgbClr>
            </a:solidFill>
          </a:ln>
          <a:solidFill>
            <a:srgbClr val="0D1B33">
              <a:alpha val="52000"/>
            </a:srgbClr>
          </a:solidFill>
          <a:effectLst>
            <a:glow rad="1016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61023" y="3310128"/>
            <a:ext cx="2340864" cy="292608"/>
          </a:xfrm>
          <a:prstGeom prst="rect">
            <a:avLst/>
          </a:prstGeom>
          <a:noFill/>
        </p:spPr>
        <p:txBody>
          <a:bodyPr wrap="square" anchor="t" lIns="0" rIns="0" tIns="0" bIns="0">
            <a:spAutoFit/>
          </a:bodyPr>
          <a:lstStyle/>
          <a:p>
            <a:pPr algn="ctr"/>
            <a:r>
              <a:rPr sz="1500" b="1" i="0">
                <a:solidFill>
                  <a:srgbClr val="F1F5F9"/>
                </a:solidFill>
                <a:latin typeface="Segoe UI"/>
              </a:rPr>
              <a:t>AI Predictions</a:t>
            </a:r>
          </a:p>
        </p:txBody>
      </p:sp>
      <p:sp>
        <p:nvSpPr>
          <p:cNvPr id="17" name="TextBox 16"/>
          <p:cNvSpPr txBox="1"/>
          <p:nvPr/>
        </p:nvSpPr>
        <p:spPr>
          <a:xfrm>
            <a:off x="6361023" y="3621024"/>
            <a:ext cx="2340864" cy="256032"/>
          </a:xfrm>
          <a:prstGeom prst="rect">
            <a:avLst/>
          </a:prstGeom>
          <a:noFill/>
        </p:spPr>
        <p:txBody>
          <a:bodyPr wrap="square" anchor="t" lIns="0" rIns="0" tIns="0" bIns="0">
            <a:spAutoFit/>
          </a:bodyPr>
          <a:lstStyle/>
          <a:p>
            <a:pPr algn="ctr"/>
            <a:r>
              <a:rPr sz="950" b="0" i="0">
                <a:solidFill>
                  <a:srgbClr val="8EA3C0"/>
                </a:solidFill>
                <a:latin typeface="Segoe UI"/>
              </a:rPr>
              <a:t>see the next 30 minutes</a:t>
            </a:r>
          </a:p>
        </p:txBody>
      </p:sp>
      <p:cxnSp>
        <p:nvCxnSpPr>
          <p:cNvPr id="18" name="Connector 17"/>
          <p:cNvCxnSpPr/>
          <p:nvPr/>
        </p:nvCxnSpPr>
        <p:spPr>
          <a:xfrm>
            <a:off x="8770467" y="3630168"/>
            <a:ext cx="393192" cy="0"/>
          </a:xfrm>
          <a:prstGeom prst="line">
            <a:avLst/>
          </a:prstGeom>
          <a:ln w="27940" cap="rnd">
            <a:solidFill>
              <a:srgbClr val="22D3EE">
                <a:alpha val="85000"/>
              </a:srgbClr>
            </a:solidFill>
            <a:tailEnd type="triangle" w="med" len="med"/>
          </a:ln>
          <a:effectLst>
            <a:glow rad="63500">
              <a:srgbClr val="22D3EE">
                <a:alpha val="60000"/>
              </a:srgbClr>
            </a:glow>
          </a:effectLst>
        </p:spPr>
        <p:style>
          <a:lnRef idx="2">
            <a:schemeClr val="accent1"/>
          </a:lnRef>
          <a:fillRef idx="0">
            <a:schemeClr val="accent1"/>
          </a:fillRef>
          <a:effectRef idx="1">
            <a:schemeClr val="accent1"/>
          </a:effectRef>
          <a:fontRef idx="minor">
            <a:schemeClr val="tx1"/>
          </a:fontRef>
        </p:style>
      </p:cxnSp>
      <p:sp>
        <p:nvSpPr>
          <p:cNvPr id="19" name="stage3"/>
          <p:cNvSpPr/>
          <p:nvPr/>
        </p:nvSpPr>
        <p:spPr>
          <a:xfrm>
            <a:off x="9232239" y="3127248"/>
            <a:ext cx="2340864" cy="1005840"/>
          </a:xfrm>
          <a:prstGeom prst="roundRect">
            <a:avLst>
              <a:gd name="adj" fmla="val 18000"/>
            </a:avLst>
          </a:prstGeom>
          <a:ln w="12700" cap="rnd">
            <a:solidFill>
              <a:srgbClr val="22D3EE">
                <a:alpha val="45000"/>
              </a:srgbClr>
            </a:solidFill>
          </a:ln>
          <a:solidFill>
            <a:srgbClr val="0D1B33">
              <a:alpha val="52000"/>
            </a:srgbClr>
          </a:solidFill>
          <a:effectLst>
            <a:glow rad="1016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32239" y="3310128"/>
            <a:ext cx="2340864" cy="292608"/>
          </a:xfrm>
          <a:prstGeom prst="rect">
            <a:avLst/>
          </a:prstGeom>
          <a:noFill/>
        </p:spPr>
        <p:txBody>
          <a:bodyPr wrap="square" anchor="t" lIns="0" rIns="0" tIns="0" bIns="0">
            <a:spAutoFit/>
          </a:bodyPr>
          <a:lstStyle/>
          <a:p>
            <a:pPr algn="ctr"/>
            <a:r>
              <a:rPr sz="1500" b="1" i="0">
                <a:solidFill>
                  <a:srgbClr val="F1F5F9"/>
                </a:solidFill>
                <a:latin typeface="Segoe UI"/>
              </a:rPr>
              <a:t>Better Decisions</a:t>
            </a:r>
          </a:p>
        </p:txBody>
      </p:sp>
      <p:sp>
        <p:nvSpPr>
          <p:cNvPr id="21" name="TextBox 20"/>
          <p:cNvSpPr txBox="1"/>
          <p:nvPr/>
        </p:nvSpPr>
        <p:spPr>
          <a:xfrm>
            <a:off x="9232239" y="3621024"/>
            <a:ext cx="2340864" cy="256032"/>
          </a:xfrm>
          <a:prstGeom prst="rect">
            <a:avLst/>
          </a:prstGeom>
          <a:noFill/>
        </p:spPr>
        <p:txBody>
          <a:bodyPr wrap="square" anchor="t" lIns="0" rIns="0" tIns="0" bIns="0">
            <a:spAutoFit/>
          </a:bodyPr>
          <a:lstStyle/>
          <a:p>
            <a:pPr algn="ctr"/>
            <a:r>
              <a:rPr sz="950" b="0" i="0">
                <a:solidFill>
                  <a:srgbClr val="8EA3C0"/>
                </a:solidFill>
                <a:latin typeface="Segoe UI"/>
              </a:rPr>
              <a:t>act before it happens</a:t>
            </a:r>
          </a:p>
        </p:txBody>
      </p:sp>
      <p:sp>
        <p:nvSpPr>
          <p:cNvPr id="22" name="TextBox 21"/>
          <p:cNvSpPr txBox="1"/>
          <p:nvPr/>
        </p:nvSpPr>
        <p:spPr>
          <a:xfrm>
            <a:off x="2438704" y="4864608"/>
            <a:ext cx="7315200" cy="365760"/>
          </a:xfrm>
          <a:prstGeom prst="rect">
            <a:avLst/>
          </a:prstGeom>
          <a:noFill/>
        </p:spPr>
        <p:txBody>
          <a:bodyPr wrap="square" anchor="t" lIns="0" rIns="0" tIns="0" bIns="0">
            <a:spAutoFit/>
          </a:bodyPr>
          <a:lstStyle/>
          <a:p>
            <a:pPr algn="ctr"/>
            <a:r>
              <a:rPr sz="1450" b="0" i="1">
                <a:solidFill>
                  <a:srgbClr val="9FD8FF"/>
                </a:solidFill>
                <a:latin typeface="Segoe UI Light"/>
              </a:rPr>
              <a:t>One living model. Every signal. Zero guesswork.</a:t>
            </a:r>
          </a:p>
        </p:txBody>
      </p:sp>
      <p:sp>
        <p:nvSpPr>
          <p:cNvPr id="23" name="Oval 22"/>
          <p:cNvSpPr/>
          <p:nvPr/>
        </p:nvSpPr>
        <p:spPr>
          <a:xfrm>
            <a:off x="2934309" y="3605022"/>
            <a:ext cx="50292" cy="50292"/>
          </a:xfrm>
          <a:prstGeom prst="ellipse">
            <a:avLst/>
          </a:prstGeom>
          <a:ln>
            <a:noFill/>
          </a:ln>
          <a:solidFill>
            <a:srgbClr val="22D3EE"/>
          </a:solidFill>
          <a:effectLst>
            <a:glow rad="762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117189" y="3605022"/>
            <a:ext cx="50292" cy="50292"/>
          </a:xfrm>
          <a:prstGeom prst="ellipse">
            <a:avLst/>
          </a:prstGeom>
          <a:ln>
            <a:noFill/>
          </a:ln>
          <a:solidFill>
            <a:srgbClr val="22D3EE"/>
          </a:solidFill>
          <a:effectLst>
            <a:glow rad="762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300069" y="3605022"/>
            <a:ext cx="50292" cy="50292"/>
          </a:xfrm>
          <a:prstGeom prst="ellipse">
            <a:avLst/>
          </a:prstGeom>
          <a:ln>
            <a:noFill/>
          </a:ln>
          <a:solidFill>
            <a:srgbClr val="22D3EE"/>
          </a:solidFill>
          <a:effectLst>
            <a:glow rad="762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mc:AlternateContent xmlns:mc="http://schemas.openxmlformats.org/markup-compatibility/2006">
    <mc:Choice xmlns:p14="http://schemas.microsoft.com/office/powerpoint/2010/main" Requires="p14">
      <p:transition spd="slow" p14:dur="1100">
        <p14:morph option="byObject"/>
      </p:transition>
    </mc:Choice>
    <mc:Fallback>
      <p:transition spd="slow" advClick="1">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64" presetClass="path" presetSubtype="0" fill="hold" grpId="0" nodeType="withEffect">
                                  <p:stCondLst>
                                    <p:cond delay="0"/>
                                  </p:stCondLst>
                                  <p:childTnLst>
                                    <p:animMotion origin="layout" path="M 0 0 L 0.72 0" pathEditMode="relative" rAng="0" ptsTypes="">
                                      <p:cBhvr>
                                        <p:cTn id="6" dur="3400" fill="hold" repeatCount="indefinite"/>
                                        <p:tgtEl>
                                          <p:spTgt spid="23"/>
                                        </p:tgtEl>
                                      </p:cBhvr>
                                    </p:animMotion>
                                  </p:childTnLst>
                                </p:cTn>
                              </p:par>
                              <p:par>
                                <p:cTn id="9" presetID="8" presetClass="emph" presetSubtype="0" fill="hold" grpId="0" nodeType="withEffect">
                                  <p:stCondLst>
                                    <p:cond delay="0"/>
                                  </p:stCondLst>
                                  <p:childTnLst>
                                    <p:animEffect transition="out" filter="fade">
                                      <p:cBhvr>
                                        <p:cTn id="8" dur="3400" autoRev="1" repeatCount="indefinite"/>
                                        <p:tgtEl>
                                          <p:spTgt spid="23"/>
                                        </p:tgtEl>
                                      </p:cBhvr>
                                    </p:animEffect>
                                  </p:childTnLst>
                                </p:cTn>
                              </p:par>
                              <p:par>
                                <p:cTn id="11" presetID="64" presetClass="path" presetSubtype="0" fill="hold" grpId="0" nodeType="withEffect">
                                  <p:stCondLst>
                                    <p:cond delay="1100"/>
                                  </p:stCondLst>
                                  <p:childTnLst>
                                    <p:animMotion origin="layout" path="M 0 0 L 0.72 0" pathEditMode="relative" rAng="0" ptsTypes="">
                                      <p:cBhvr>
                                        <p:cTn id="10" dur="3400" fill="hold" repeatCount="indefinite"/>
                                        <p:tgtEl>
                                          <p:spTgt spid="24"/>
                                        </p:tgtEl>
                                      </p:cBhvr>
                                    </p:animMotion>
                                  </p:childTnLst>
                                </p:cTn>
                              </p:par>
                              <p:par>
                                <p:cTn id="13" presetID="8" presetClass="emph" presetSubtype="0" fill="hold" grpId="0" nodeType="withEffect">
                                  <p:stCondLst>
                                    <p:cond delay="1100"/>
                                  </p:stCondLst>
                                  <p:childTnLst>
                                    <p:animEffect transition="out" filter="fade">
                                      <p:cBhvr>
                                        <p:cTn id="12" dur="3400" autoRev="1" repeatCount="indefinite"/>
                                        <p:tgtEl>
                                          <p:spTgt spid="24"/>
                                        </p:tgtEl>
                                      </p:cBhvr>
                                    </p:animEffect>
                                  </p:childTnLst>
                                </p:cTn>
                              </p:par>
                              <p:par>
                                <p:cTn id="15" presetID="64" presetClass="path" presetSubtype="0" fill="hold" grpId="0" nodeType="withEffect">
                                  <p:stCondLst>
                                    <p:cond delay="2200"/>
                                  </p:stCondLst>
                                  <p:childTnLst>
                                    <p:animMotion origin="layout" path="M 0 0 L 0.72 0" pathEditMode="relative" rAng="0" ptsTypes="">
                                      <p:cBhvr>
                                        <p:cTn id="14" dur="3400" fill="hold" repeatCount="indefinite"/>
                                        <p:tgtEl>
                                          <p:spTgt spid="25"/>
                                        </p:tgtEl>
                                      </p:cBhvr>
                                    </p:animMotion>
                                  </p:childTnLst>
                                </p:cTn>
                              </p:par>
                              <p:par>
                                <p:cTn id="17" presetID="8" presetClass="emph" presetSubtype="0" fill="hold" grpId="0" nodeType="withEffect">
                                  <p:stCondLst>
                                    <p:cond delay="2200"/>
                                  </p:stCondLst>
                                  <p:childTnLst>
                                    <p:animEffect transition="out" filter="fade">
                                      <p:cBhvr>
                                        <p:cTn id="16" dur="3400" autoRev="1" repeatCount="indefinite"/>
                                        <p:tgtEl>
                                          <p:spTgt spid="25"/>
                                        </p:tgtEl>
                                      </p:cBhvr>
                                    </p:animEffect>
                                  </p:childTnLst>
                                </p:cTn>
                              </p:par>
                              <p:par>
                                <p:cTn id="20" presetID="10"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300"/>
                                        <p:tgtEl>
                                          <p:spTgt spid="2"/>
                                        </p:tgtEl>
                                      </p:cBhvr>
                                    </p:animEffect>
                                  </p:childTnLst>
                                </p:cTn>
                              </p:par>
                              <p:par>
                                <p:cTn id="22" presetID="64" presetClass="path" presetSubtype="0" fill="hold" grpId="0" nodeType="afterEffect">
                                  <p:stCondLst>
                                    <p:cond delay="300"/>
                                  </p:stCondLst>
                                  <p:childTnLst>
                                    <p:animMotion origin="layout" path="M 0.0 0.045 L 0.0 0.0" pathEditMode="relative" rAng="0" ptsTypes="">
                                      <p:cBhvr>
                                        <p:cTn id="21" dur="800" fill="hold"/>
                                        <p:tgtEl>
                                          <p:spTgt spid="6"/>
                                        </p:tgtEl>
                                      </p:cBhvr>
                                    </p:animMotion>
                                  </p:childTnLst>
                                </p:cTn>
                              </p:par>
                              <p:par>
                                <p:cTn id="25" presetID="10" presetClass="entr" presetSubtype="0" fill="hold" grpId="0" nodeType="withEffect">
                                  <p:stCondLst>
                                    <p:cond delay="30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800"/>
                                        <p:tgtEl>
                                          <p:spTgt spid="6"/>
                                        </p:tgtEl>
                                      </p:cBhvr>
                                    </p:animEffect>
                                  </p:childTnLst>
                                </p:cTn>
                              </p:par>
                              <p:par>
                                <p:cTn id="28" presetID="10" presetClass="entr" presetSubtype="0" fill="hold" grpId="0" nodeType="with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600"/>
                                        <p:tgtEl>
                                          <p:spTgt spid="5"/>
                                        </p:tgtEl>
                                      </p:cBhvr>
                                    </p:animEffect>
                                  </p:childTnLst>
                                </p:cTn>
                              </p:par>
                              <p:par>
                                <p:cTn id="30" presetID="64" presetClass="path" presetSubtype="0" fill="hold" grpId="0" nodeType="afterEffect">
                                  <p:stCondLst>
                                    <p:cond delay="300"/>
                                  </p:stCondLst>
                                  <p:childTnLst>
                                    <p:animMotion origin="layout" path="M 0.0 0.045 L 0.0 0.0" pathEditMode="relative" rAng="0" ptsTypes="">
                                      <p:cBhvr>
                                        <p:cTn id="29" dur="650" fill="hold"/>
                                        <p:tgtEl>
                                          <p:spTgt spid="7"/>
                                        </p:tgtEl>
                                      </p:cBhvr>
                                    </p:animMotion>
                                  </p:childTnLst>
                                </p:cTn>
                              </p:par>
                              <p:par>
                                <p:cTn id="33" presetID="10" presetClass="entr" presetSubtype="0" fill="hold" grpId="0" nodeType="withEffect">
                                  <p:stCondLst>
                                    <p:cond delay="30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650"/>
                                        <p:tgtEl>
                                          <p:spTgt spid="7"/>
                                        </p:tgtEl>
                                      </p:cBhvr>
                                    </p:animEffect>
                                  </p:childTnLst>
                                </p:cTn>
                              </p:par>
                              <p:par>
                                <p:cTn id="36" presetID="22" presetClass="entr" presetSubtype="2" fill="hold" grpId="0" nodeType="afterEffect">
                                  <p:stCondLst>
                                    <p:cond delay="80"/>
                                  </p:stCondLst>
                                  <p:childTnLst>
                                    <p:set>
                                      <p:cBhvr>
                                        <p:cTn id="34" dur="1" fill="hold">
                                          <p:stCondLst>
                                            <p:cond delay="0"/>
                                          </p:stCondLst>
                                        </p:cTn>
                                        <p:tgtEl>
                                          <p:spTgt spid="10"/>
                                        </p:tgtEl>
                                        <p:attrNameLst>
                                          <p:attrName>style.visibility</p:attrName>
                                        </p:attrNameLst>
                                      </p:cBhvr>
                                      <p:to>
                                        <p:strVal val="visible"/>
                                      </p:to>
                                    </p:set>
                                    <p:animEffect transition="in" filter="wipe(fromLeft)">
                                      <p:cBhvr>
                                        <p:cTn id="35" dur="450"/>
                                        <p:tgtEl>
                                          <p:spTgt spid="10"/>
                                        </p:tgtEl>
                                      </p:cBhvr>
                                    </p:animEffect>
                                  </p:childTnLst>
                                </p:cTn>
                              </p:par>
                              <p:par>
                                <p:cTn id="38" presetID="64" presetClass="path" presetSubtype="0" fill="hold" grpId="0" nodeType="afterEffect">
                                  <p:stCondLst>
                                    <p:cond delay="160"/>
                                  </p:stCondLst>
                                  <p:childTnLst>
                                    <p:animMotion origin="layout" path="M 0.0 0.045 L 0.0 0.0" pathEditMode="relative" rAng="0" ptsTypes="">
                                      <p:cBhvr>
                                        <p:cTn id="37" dur="650" fill="hold"/>
                                        <p:tgtEl>
                                          <p:spTgt spid="11"/>
                                        </p:tgtEl>
                                      </p:cBhvr>
                                    </p:animMotion>
                                  </p:childTnLst>
                                </p:cTn>
                              </p:par>
                              <p:par>
                                <p:cTn id="41" presetID="10" presetClass="entr" presetSubtype="0" fill="hold" grpId="0" nodeType="withEffect">
                                  <p:stCondLst>
                                    <p:cond delay="16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650"/>
                                        <p:tgtEl>
                                          <p:spTgt spid="11"/>
                                        </p:tgtEl>
                                      </p:cBhvr>
                                    </p:animEffect>
                                  </p:childTnLst>
                                </p:cTn>
                              </p:par>
                              <p:par>
                                <p:cTn id="44" presetID="22" presetClass="entr" presetSubtype="2" fill="hold" grpId="0" nodeType="afterEffect">
                                  <p:stCondLst>
                                    <p:cond delay="80"/>
                                  </p:stCondLst>
                                  <p:childTnLst>
                                    <p:set>
                                      <p:cBhvr>
                                        <p:cTn id="42" dur="1" fill="hold">
                                          <p:stCondLst>
                                            <p:cond delay="0"/>
                                          </p:stCondLst>
                                        </p:cTn>
                                        <p:tgtEl>
                                          <p:spTgt spid="14"/>
                                        </p:tgtEl>
                                        <p:attrNameLst>
                                          <p:attrName>style.visibility</p:attrName>
                                        </p:attrNameLst>
                                      </p:cBhvr>
                                      <p:to>
                                        <p:strVal val="visible"/>
                                      </p:to>
                                    </p:set>
                                    <p:animEffect transition="in" filter="wipe(fromLeft)">
                                      <p:cBhvr>
                                        <p:cTn id="43" dur="450"/>
                                        <p:tgtEl>
                                          <p:spTgt spid="14"/>
                                        </p:tgtEl>
                                      </p:cBhvr>
                                    </p:animEffect>
                                  </p:childTnLst>
                                </p:cTn>
                              </p:par>
                              <p:par>
                                <p:cTn id="46" presetID="64" presetClass="path" presetSubtype="0" fill="hold" grpId="0" nodeType="afterEffect">
                                  <p:stCondLst>
                                    <p:cond delay="160"/>
                                  </p:stCondLst>
                                  <p:childTnLst>
                                    <p:animMotion origin="layout" path="M 0.0 0.045 L 0.0 0.0" pathEditMode="relative" rAng="0" ptsTypes="">
                                      <p:cBhvr>
                                        <p:cTn id="45" dur="650" fill="hold"/>
                                        <p:tgtEl>
                                          <p:spTgt spid="15"/>
                                        </p:tgtEl>
                                      </p:cBhvr>
                                    </p:animMotion>
                                  </p:childTnLst>
                                </p:cTn>
                              </p:par>
                              <p:par>
                                <p:cTn id="49" presetID="10" presetClass="entr" presetSubtype="0" fill="hold" grpId="0" nodeType="withEffect">
                                  <p:stCondLst>
                                    <p:cond delay="16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650"/>
                                        <p:tgtEl>
                                          <p:spTgt spid="15"/>
                                        </p:tgtEl>
                                      </p:cBhvr>
                                    </p:animEffect>
                                  </p:childTnLst>
                                </p:cTn>
                              </p:par>
                              <p:par>
                                <p:cTn id="52" presetID="22" presetClass="entr" presetSubtype="2" fill="hold" grpId="0" nodeType="afterEffect">
                                  <p:stCondLst>
                                    <p:cond delay="80"/>
                                  </p:stCondLst>
                                  <p:childTnLst>
                                    <p:set>
                                      <p:cBhvr>
                                        <p:cTn id="50" dur="1" fill="hold">
                                          <p:stCondLst>
                                            <p:cond delay="0"/>
                                          </p:stCondLst>
                                        </p:cTn>
                                        <p:tgtEl>
                                          <p:spTgt spid="18"/>
                                        </p:tgtEl>
                                        <p:attrNameLst>
                                          <p:attrName>style.visibility</p:attrName>
                                        </p:attrNameLst>
                                      </p:cBhvr>
                                      <p:to>
                                        <p:strVal val="visible"/>
                                      </p:to>
                                    </p:set>
                                    <p:animEffect transition="in" filter="wipe(fromLeft)">
                                      <p:cBhvr>
                                        <p:cTn id="51" dur="450"/>
                                        <p:tgtEl>
                                          <p:spTgt spid="18"/>
                                        </p:tgtEl>
                                      </p:cBhvr>
                                    </p:animEffect>
                                  </p:childTnLst>
                                </p:cTn>
                              </p:par>
                              <p:par>
                                <p:cTn id="54" presetID="64" presetClass="path" presetSubtype="0" fill="hold" grpId="0" nodeType="afterEffect">
                                  <p:stCondLst>
                                    <p:cond delay="160"/>
                                  </p:stCondLst>
                                  <p:childTnLst>
                                    <p:animMotion origin="layout" path="M 0.0 0.045 L 0.0 0.0" pathEditMode="relative" rAng="0" ptsTypes="">
                                      <p:cBhvr>
                                        <p:cTn id="53" dur="650" fill="hold"/>
                                        <p:tgtEl>
                                          <p:spTgt spid="19"/>
                                        </p:tgtEl>
                                      </p:cBhvr>
                                    </p:animMotion>
                                  </p:childTnLst>
                                </p:cTn>
                              </p:par>
                              <p:par>
                                <p:cTn id="57" presetID="10" presetClass="entr" presetSubtype="0" fill="hold" grpId="0" nodeType="withEffect">
                                  <p:stCondLst>
                                    <p:cond delay="16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650"/>
                                        <p:tgtEl>
                                          <p:spTgt spid="19"/>
                                        </p:tgtEl>
                                      </p:cBhvr>
                                    </p:animEffect>
                                  </p:childTnLst>
                                </p:cTn>
                              </p:par>
                              <p:par>
                                <p:cTn id="60" presetID="10" presetClass="entr" presetSubtype="0" fill="hold" grpId="0" nodeType="afterEffect">
                                  <p:stCondLst>
                                    <p:cond delay="30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7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ln>
            <a:noFill/>
          </a:ln>
          <a:effectLst/>
          <a:solidFill>
            <a:srgbClr val="050A1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2011680"/>
            <a:ext cx="4754880" cy="4754880"/>
          </a:xfrm>
          <a:prstGeom prst="ellipse">
            <a:avLst/>
          </a:prstGeom>
          <a:gradFill>
            <a:gsLst>
              <a:gs pos="0">
                <a:srgbClr val="3B82F6">
                  <a:alpha val="20000"/>
                </a:srgbClr>
              </a:gs>
              <a:gs pos="65000">
                <a:srgbClr val="3B82F6">
                  <a:alpha val="6000"/>
                </a:srgbClr>
              </a:gs>
              <a:gs pos="100000">
                <a:srgbClr val="3B82F6">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463039" y="4480560"/>
            <a:ext cx="4206240" cy="4206240"/>
          </a:xfrm>
          <a:prstGeom prst="ellipse">
            <a:avLst/>
          </a:prstGeom>
          <a:gradFill>
            <a:gsLst>
              <a:gs pos="0">
                <a:srgbClr val="8B5CF6">
                  <a:alpha val="16000"/>
                </a:srgbClr>
              </a:gs>
              <a:gs pos="65000">
                <a:srgbClr val="8B5CF6">
                  <a:alpha val="5000"/>
                </a:srgbClr>
              </a:gs>
              <a:gs pos="100000">
                <a:srgbClr val="8B5CF6">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kbar"/>
          <p:cNvSpPr/>
          <p:nvPr/>
        </p:nvSpPr>
        <p:spPr>
          <a:xfrm>
            <a:off x="566928" y="603504"/>
            <a:ext cx="274320" cy="47548"/>
          </a:xfrm>
          <a:prstGeom prst="rect">
            <a:avLst/>
          </a:prstGeom>
          <a:ln>
            <a:noFill/>
          </a:ln>
          <a:solidFill>
            <a:srgbClr val="22D3EE"/>
          </a:solidFill>
          <a:effectLst>
            <a:glow rad="762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kicker"/>
          <p:cNvSpPr txBox="1"/>
          <p:nvPr/>
        </p:nvSpPr>
        <p:spPr>
          <a:xfrm>
            <a:off x="932688" y="489204"/>
            <a:ext cx="7772400" cy="292608"/>
          </a:xfrm>
          <a:prstGeom prst="rect">
            <a:avLst/>
          </a:prstGeom>
          <a:noFill/>
        </p:spPr>
        <p:txBody>
          <a:bodyPr wrap="square" anchor="t" lIns="0" rIns="0" tIns="0" bIns="0">
            <a:spAutoFit/>
          </a:bodyPr>
          <a:lstStyle/>
          <a:p>
            <a:pPr algn="l"/>
            <a:r>
              <a:rPr sz="1050" b="1" i="0" spc="320">
                <a:solidFill>
                  <a:srgbClr val="22D3EE"/>
                </a:solidFill>
                <a:latin typeface="Segoe UI"/>
              </a:rPr>
              <a:t>THE SOLUTION</a:t>
            </a:r>
          </a:p>
        </p:txBody>
      </p:sp>
      <p:sp>
        <p:nvSpPr>
          <p:cNvPr id="7" name="title"/>
          <p:cNvSpPr txBox="1"/>
          <p:nvPr/>
        </p:nvSpPr>
        <p:spPr>
          <a:xfrm>
            <a:off x="566928" y="868680"/>
            <a:ext cx="11064240" cy="658368"/>
          </a:xfrm>
          <a:prstGeom prst="rect">
            <a:avLst/>
          </a:prstGeom>
          <a:noFill/>
        </p:spPr>
        <p:txBody>
          <a:bodyPr wrap="square" anchor="t" lIns="0" rIns="0" tIns="0" bIns="0">
            <a:spAutoFit/>
          </a:bodyPr>
          <a:lstStyle/>
          <a:p>
            <a:pPr algn="l"/>
            <a:r>
              <a:rPr sz="3300" b="1" i="0">
                <a:solidFill>
                  <a:srgbClr val="F1F5F9"/>
                </a:solidFill>
                <a:latin typeface="Segoe UI"/>
              </a:rPr>
              <a:t>Meet CityVerse AI</a:t>
            </a:r>
          </a:p>
        </p:txBody>
      </p:sp>
      <p:sp>
        <p:nvSpPr>
          <p:cNvPr id="8" name="pageno"/>
          <p:cNvSpPr txBox="1"/>
          <p:nvPr/>
        </p:nvSpPr>
        <p:spPr>
          <a:xfrm>
            <a:off x="10835640" y="6519672"/>
            <a:ext cx="786384" cy="219456"/>
          </a:xfrm>
          <a:prstGeom prst="rect">
            <a:avLst/>
          </a:prstGeom>
          <a:noFill/>
        </p:spPr>
        <p:txBody>
          <a:bodyPr wrap="square" anchor="t" lIns="0" rIns="0" tIns="0" bIns="0">
            <a:spAutoFit/>
          </a:bodyPr>
          <a:lstStyle/>
          <a:p>
            <a:pPr algn="r"/>
            <a:r>
              <a:rPr sz="900" b="1" i="0">
                <a:solidFill>
                  <a:srgbClr val="8EA3C0"/>
                </a:solidFill>
                <a:latin typeface="Segoe UI"/>
              </a:rPr>
              <a:t>04</a:t>
            </a:r>
            <a:r>
              <a:rPr sz="900" b="0" i="0">
                <a:solidFill>
                  <a:srgbClr val="5A6E8C"/>
                </a:solidFill>
                <a:latin typeface="Segoe UI"/>
              </a:rPr>
              <a:t> / 12</a:t>
            </a:r>
          </a:p>
        </p:txBody>
      </p:sp>
      <p:sp>
        <p:nvSpPr>
          <p:cNvPr id="9" name="footer"/>
          <p:cNvSpPr txBox="1"/>
          <p:nvPr/>
        </p:nvSpPr>
        <p:spPr>
          <a:xfrm>
            <a:off x="566928" y="6519672"/>
            <a:ext cx="5486400" cy="219456"/>
          </a:xfrm>
          <a:prstGeom prst="rect">
            <a:avLst/>
          </a:prstGeom>
          <a:noFill/>
        </p:spPr>
        <p:txBody>
          <a:bodyPr wrap="square" anchor="t" lIns="0" rIns="0" tIns="0" bIns="0">
            <a:spAutoFit/>
          </a:bodyPr>
          <a:lstStyle/>
          <a:p>
            <a:pPr algn="l"/>
            <a:r>
              <a:rPr sz="800" b="1" i="0" spc="260">
                <a:solidFill>
                  <a:srgbClr val="5A6E8C"/>
                </a:solidFill>
                <a:latin typeface="Segoe UI"/>
              </a:rPr>
              <a:t>CITYVERSE AI</a:t>
            </a:r>
            <a:r>
              <a:rPr sz="800" b="0" i="0" spc="180">
                <a:solidFill>
                  <a:srgbClr val="5A6E8C"/>
                </a:solidFill>
                <a:latin typeface="Segoe UI"/>
              </a:rPr>
              <a:t>  ·  SMART DIGITAL TWIN PLATFORM</a:t>
            </a:r>
          </a:p>
        </p:txBody>
      </p:sp>
      <p:cxnSp>
        <p:nvCxnSpPr>
          <p:cNvPr id="10" name="Connector 9"/>
          <p:cNvCxnSpPr/>
          <p:nvPr/>
        </p:nvCxnSpPr>
        <p:spPr>
          <a:xfrm flipV="1">
            <a:off x="6096304" y="2029968"/>
            <a:ext cx="0" cy="2084832"/>
          </a:xfrm>
          <a:prstGeom prst="line">
            <a:avLst/>
          </a:prstGeom>
          <a:ln w="12700" cap="rnd">
            <a:solidFill>
              <a:srgbClr val="22D3EE">
                <a:alpha val="30000"/>
              </a:srgbClr>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6096304" y="3470551"/>
            <a:ext cx="2626331" cy="644249"/>
          </a:xfrm>
          <a:prstGeom prst="line">
            <a:avLst/>
          </a:prstGeom>
          <a:ln w="12700" cap="rnd">
            <a:solidFill>
              <a:srgbClr val="22D3EE">
                <a:alpha val="30000"/>
              </a:srgbClr>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6304" y="4114800"/>
            <a:ext cx="1623162" cy="1686664"/>
          </a:xfrm>
          <a:prstGeom prst="line">
            <a:avLst/>
          </a:prstGeom>
          <a:ln w="12700" cap="rnd">
            <a:solidFill>
              <a:srgbClr val="22D3EE">
                <a:alpha val="30000"/>
              </a:srgbClr>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473142" y="4114800"/>
            <a:ext cx="1623162" cy="1686664"/>
          </a:xfrm>
          <a:prstGeom prst="line">
            <a:avLst/>
          </a:prstGeom>
          <a:ln w="12700" cap="rnd">
            <a:solidFill>
              <a:srgbClr val="22D3EE">
                <a:alpha val="30000"/>
              </a:srgbClr>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flipV="1">
            <a:off x="3469973" y="3470551"/>
            <a:ext cx="2626331" cy="644249"/>
          </a:xfrm>
          <a:prstGeom prst="line">
            <a:avLst/>
          </a:prstGeom>
          <a:ln w="12700" cap="rnd">
            <a:solidFill>
              <a:srgbClr val="22D3EE">
                <a:alpha val="30000"/>
              </a:srgbClr>
            </a:solidFill>
          </a:ln>
          <a:effectLst/>
        </p:spPr>
        <p:style>
          <a:lnRef idx="2">
            <a:schemeClr val="accent1"/>
          </a:lnRef>
          <a:fillRef idx="0">
            <a:schemeClr val="accent1"/>
          </a:fillRef>
          <a:effectRef idx="1">
            <a:schemeClr val="accent1"/>
          </a:effectRef>
          <a:fontRef idx="minor">
            <a:schemeClr val="tx1"/>
          </a:fontRef>
        </p:style>
      </p:cxnSp>
      <p:sp>
        <p:nvSpPr>
          <p:cNvPr id="15" name="hubRing"/>
          <p:cNvSpPr/>
          <p:nvPr/>
        </p:nvSpPr>
        <p:spPr>
          <a:xfrm>
            <a:off x="4761280" y="2779776"/>
            <a:ext cx="2670048" cy="2670048"/>
          </a:xfrm>
          <a:prstGeom prst="ellipse">
            <a:avLst/>
          </a:prstGeom>
          <a:noFill/>
          <a:ln w="13970" cap="rnd">
            <a:solidFill>
              <a:srgbClr val="22D3EE">
                <a:alpha val="45000"/>
              </a:srgbClr>
            </a:solidFill>
          </a:ln>
          <a:effectLst>
            <a:glow rad="1270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hub" descr="hero_city_twin.png"/>
          <p:cNvPicPr>
            <a:picLocks noChangeAspect="1"/>
          </p:cNvPicPr>
          <p:nvPr/>
        </p:nvPicPr>
        <p:blipFill>
          <a:blip r:embed="rId2"/>
          <a:stretch>
            <a:fillRect/>
          </a:stretch>
        </p:blipFill>
        <p:spPr>
          <a:xfrm>
            <a:off x="5072176" y="3090672"/>
            <a:ext cx="2048256" cy="2048256"/>
          </a:xfrm>
          <a:effectLst/>
          <a:prstGeom prst="ellipse">
            <a:avLst/>
          </a:prstGeom>
        </p:spPr>
      </p:pic>
      <p:sp>
        <p:nvSpPr>
          <p:cNvPr id="17" name="Oval 16"/>
          <p:cNvSpPr/>
          <p:nvPr/>
        </p:nvSpPr>
        <p:spPr>
          <a:xfrm>
            <a:off x="5026456" y="3044952"/>
            <a:ext cx="2139696" cy="2139696"/>
          </a:xfrm>
          <a:prstGeom prst="ellipse">
            <a:avLst/>
          </a:prstGeom>
          <a:noFill/>
          <a:ln w="12700" cap="rnd">
            <a:solidFill>
              <a:srgbClr val="9FD8FF">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mod01"/>
          <p:cNvSpPr/>
          <p:nvPr/>
        </p:nvSpPr>
        <p:spPr>
          <a:xfrm>
            <a:off x="4916728" y="1554480"/>
            <a:ext cx="2359152" cy="950976"/>
          </a:xfrm>
          <a:prstGeom prst="roundRect">
            <a:avLst>
              <a:gd name="adj" fmla="val 15000"/>
            </a:avLst>
          </a:prstGeom>
          <a:ln w="12700" cap="rnd">
            <a:solidFill>
              <a:srgbClr val="22D3EE">
                <a:alpha val="38000"/>
              </a:srgbClr>
            </a:solidFill>
          </a:ln>
          <a:effectLst/>
          <a:solidFill>
            <a:srgbClr val="0D1B33">
              <a:alpha val="62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72176" y="1801368"/>
            <a:ext cx="502920" cy="457200"/>
          </a:xfrm>
          <a:prstGeom prst="rect">
            <a:avLst/>
          </a:prstGeom>
          <a:noFill/>
        </p:spPr>
        <p:txBody>
          <a:bodyPr wrap="square" anchor="t" lIns="0" rIns="0" tIns="0" bIns="0">
            <a:spAutoFit/>
          </a:bodyPr>
          <a:lstStyle/>
          <a:p>
            <a:pPr algn="l"/>
            <a:r>
              <a:rPr sz="1700" b="1" i="0">
                <a:solidFill>
                  <a:srgbClr val="22D3EE"/>
                </a:solidFill>
                <a:latin typeface="Segoe UI Semibold"/>
              </a:rPr>
              <a:t>01</a:t>
            </a:r>
          </a:p>
        </p:txBody>
      </p:sp>
      <p:sp>
        <p:nvSpPr>
          <p:cNvPr id="20" name="TextBox 19"/>
          <p:cNvSpPr txBox="1"/>
          <p:nvPr/>
        </p:nvSpPr>
        <p:spPr>
          <a:xfrm>
            <a:off x="5556808" y="1659636"/>
            <a:ext cx="1591056" cy="512064"/>
          </a:xfrm>
          <a:prstGeom prst="rect">
            <a:avLst/>
          </a:prstGeom>
          <a:noFill/>
        </p:spPr>
        <p:txBody>
          <a:bodyPr wrap="square" anchor="t" lIns="0" rIns="0" tIns="0" bIns="0">
            <a:spAutoFit/>
          </a:bodyPr>
          <a:lstStyle/>
          <a:p>
            <a:pPr algn="l">
              <a:lnSpc>
                <a:spcPct val="100000"/>
              </a:lnSpc>
            </a:pPr>
            <a:r>
              <a:rPr sz="1150" b="1" i="0">
                <a:solidFill>
                  <a:srgbClr val="F1F5F9"/>
                </a:solidFill>
                <a:latin typeface="Segoe UI"/>
              </a:rPr>
              <a:t>Live Digital City</a:t>
            </a:r>
          </a:p>
        </p:txBody>
      </p:sp>
      <p:sp>
        <p:nvSpPr>
          <p:cNvPr id="21" name="TextBox 20"/>
          <p:cNvSpPr txBox="1"/>
          <p:nvPr/>
        </p:nvSpPr>
        <p:spPr>
          <a:xfrm>
            <a:off x="5556808" y="2176272"/>
            <a:ext cx="1591056" cy="256032"/>
          </a:xfrm>
          <a:prstGeom prst="rect">
            <a:avLst/>
          </a:prstGeom>
          <a:noFill/>
        </p:spPr>
        <p:txBody>
          <a:bodyPr wrap="square" anchor="t" lIns="0" rIns="0" tIns="0" bIns="0">
            <a:spAutoFit/>
          </a:bodyPr>
          <a:lstStyle/>
          <a:p>
            <a:pPr algn="l"/>
            <a:r>
              <a:rPr sz="800" b="0" i="0">
                <a:solidFill>
                  <a:srgbClr val="8EA3C0"/>
                </a:solidFill>
                <a:latin typeface="Segoe UI"/>
              </a:rPr>
              <a:t>the city, mirrored in real time</a:t>
            </a:r>
          </a:p>
        </p:txBody>
      </p:sp>
      <p:sp>
        <p:nvSpPr>
          <p:cNvPr id="22" name="mod02"/>
          <p:cNvSpPr/>
          <p:nvPr/>
        </p:nvSpPr>
        <p:spPr>
          <a:xfrm>
            <a:off x="7543059" y="2995063"/>
            <a:ext cx="2359152" cy="950976"/>
          </a:xfrm>
          <a:prstGeom prst="roundRect">
            <a:avLst>
              <a:gd name="adj" fmla="val 15000"/>
            </a:avLst>
          </a:prstGeom>
          <a:ln w="12700" cap="rnd">
            <a:solidFill>
              <a:srgbClr val="22D3EE">
                <a:alpha val="38000"/>
              </a:srgbClr>
            </a:solidFill>
          </a:ln>
          <a:effectLst/>
          <a:solidFill>
            <a:srgbClr val="0D1B33">
              <a:alpha val="62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8507" y="3241951"/>
            <a:ext cx="502920" cy="457200"/>
          </a:xfrm>
          <a:prstGeom prst="rect">
            <a:avLst/>
          </a:prstGeom>
          <a:noFill/>
        </p:spPr>
        <p:txBody>
          <a:bodyPr wrap="square" anchor="t" lIns="0" rIns="0" tIns="0" bIns="0">
            <a:spAutoFit/>
          </a:bodyPr>
          <a:lstStyle/>
          <a:p>
            <a:pPr algn="l"/>
            <a:r>
              <a:rPr sz="1700" b="1" i="0">
                <a:solidFill>
                  <a:srgbClr val="22D3EE"/>
                </a:solidFill>
                <a:latin typeface="Segoe UI Semibold"/>
              </a:rPr>
              <a:t>02</a:t>
            </a:r>
          </a:p>
        </p:txBody>
      </p:sp>
      <p:sp>
        <p:nvSpPr>
          <p:cNvPr id="24" name="TextBox 23"/>
          <p:cNvSpPr txBox="1"/>
          <p:nvPr/>
        </p:nvSpPr>
        <p:spPr>
          <a:xfrm>
            <a:off x="8183139" y="3100219"/>
            <a:ext cx="1591056" cy="512064"/>
          </a:xfrm>
          <a:prstGeom prst="rect">
            <a:avLst/>
          </a:prstGeom>
          <a:noFill/>
        </p:spPr>
        <p:txBody>
          <a:bodyPr wrap="square" anchor="t" lIns="0" rIns="0" tIns="0" bIns="0">
            <a:spAutoFit/>
          </a:bodyPr>
          <a:lstStyle/>
          <a:p>
            <a:pPr algn="l">
              <a:lnSpc>
                <a:spcPct val="100000"/>
              </a:lnSpc>
            </a:pPr>
            <a:r>
              <a:rPr sz="1150" b="1" i="0">
                <a:solidFill>
                  <a:srgbClr val="F1F5F9"/>
                </a:solidFill>
                <a:latin typeface="Segoe UI"/>
              </a:rPr>
              <a:t>Infrastructure Health</a:t>
            </a:r>
          </a:p>
        </p:txBody>
      </p:sp>
      <p:sp>
        <p:nvSpPr>
          <p:cNvPr id="25" name="TextBox 24"/>
          <p:cNvSpPr txBox="1"/>
          <p:nvPr/>
        </p:nvSpPr>
        <p:spPr>
          <a:xfrm>
            <a:off x="8183139" y="3616855"/>
            <a:ext cx="1591056" cy="256032"/>
          </a:xfrm>
          <a:prstGeom prst="rect">
            <a:avLst/>
          </a:prstGeom>
          <a:noFill/>
        </p:spPr>
        <p:txBody>
          <a:bodyPr wrap="square" anchor="t" lIns="0" rIns="0" tIns="0" bIns="0">
            <a:spAutoFit/>
          </a:bodyPr>
          <a:lstStyle/>
          <a:p>
            <a:pPr algn="l"/>
            <a:r>
              <a:rPr sz="800" b="0" i="0">
                <a:solidFill>
                  <a:srgbClr val="8EA3C0"/>
                </a:solidFill>
                <a:latin typeface="Segoe UI"/>
              </a:rPr>
              <a:t>roads &amp; bridges, self-reporting</a:t>
            </a:r>
          </a:p>
        </p:txBody>
      </p:sp>
      <p:sp>
        <p:nvSpPr>
          <p:cNvPr id="26" name="mod03"/>
          <p:cNvSpPr/>
          <p:nvPr/>
        </p:nvSpPr>
        <p:spPr>
          <a:xfrm>
            <a:off x="6539890" y="5325976"/>
            <a:ext cx="2359152" cy="950976"/>
          </a:xfrm>
          <a:prstGeom prst="roundRect">
            <a:avLst>
              <a:gd name="adj" fmla="val 15000"/>
            </a:avLst>
          </a:prstGeom>
          <a:ln w="12700" cap="rnd">
            <a:solidFill>
              <a:srgbClr val="22D3EE">
                <a:alpha val="38000"/>
              </a:srgbClr>
            </a:solidFill>
          </a:ln>
          <a:effectLst/>
          <a:solidFill>
            <a:srgbClr val="0D1B33">
              <a:alpha val="62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95338" y="5572864"/>
            <a:ext cx="502920" cy="457200"/>
          </a:xfrm>
          <a:prstGeom prst="rect">
            <a:avLst/>
          </a:prstGeom>
          <a:noFill/>
        </p:spPr>
        <p:txBody>
          <a:bodyPr wrap="square" anchor="t" lIns="0" rIns="0" tIns="0" bIns="0">
            <a:spAutoFit/>
          </a:bodyPr>
          <a:lstStyle/>
          <a:p>
            <a:pPr algn="l"/>
            <a:r>
              <a:rPr sz="1700" b="1" i="0">
                <a:solidFill>
                  <a:srgbClr val="22D3EE"/>
                </a:solidFill>
                <a:latin typeface="Segoe UI Semibold"/>
              </a:rPr>
              <a:t>03</a:t>
            </a:r>
          </a:p>
        </p:txBody>
      </p:sp>
      <p:sp>
        <p:nvSpPr>
          <p:cNvPr id="28" name="TextBox 27"/>
          <p:cNvSpPr txBox="1"/>
          <p:nvPr/>
        </p:nvSpPr>
        <p:spPr>
          <a:xfrm>
            <a:off x="7179970" y="5431132"/>
            <a:ext cx="1591056" cy="512064"/>
          </a:xfrm>
          <a:prstGeom prst="rect">
            <a:avLst/>
          </a:prstGeom>
          <a:noFill/>
        </p:spPr>
        <p:txBody>
          <a:bodyPr wrap="square" anchor="t" lIns="0" rIns="0" tIns="0" bIns="0">
            <a:spAutoFit/>
          </a:bodyPr>
          <a:lstStyle/>
          <a:p>
            <a:pPr algn="l">
              <a:lnSpc>
                <a:spcPct val="100000"/>
              </a:lnSpc>
            </a:pPr>
            <a:r>
              <a:rPr sz="1150" b="1" i="0">
                <a:solidFill>
                  <a:srgbClr val="F1F5F9"/>
                </a:solidFill>
                <a:latin typeface="Segoe UI"/>
              </a:rPr>
              <a:t>Traffic Intelligence</a:t>
            </a:r>
          </a:p>
        </p:txBody>
      </p:sp>
      <p:sp>
        <p:nvSpPr>
          <p:cNvPr id="29" name="TextBox 28"/>
          <p:cNvSpPr txBox="1"/>
          <p:nvPr/>
        </p:nvSpPr>
        <p:spPr>
          <a:xfrm>
            <a:off x="7179970" y="5947768"/>
            <a:ext cx="1591056" cy="256032"/>
          </a:xfrm>
          <a:prstGeom prst="rect">
            <a:avLst/>
          </a:prstGeom>
          <a:noFill/>
        </p:spPr>
        <p:txBody>
          <a:bodyPr wrap="square" anchor="t" lIns="0" rIns="0" tIns="0" bIns="0">
            <a:spAutoFit/>
          </a:bodyPr>
          <a:lstStyle/>
          <a:p>
            <a:pPr algn="l"/>
            <a:r>
              <a:rPr sz="800" b="0" i="0">
                <a:solidFill>
                  <a:srgbClr val="8EA3C0"/>
                </a:solidFill>
                <a:latin typeface="Segoe UI"/>
              </a:rPr>
              <a:t>flow simulated and eased</a:t>
            </a:r>
          </a:p>
        </p:txBody>
      </p:sp>
      <p:sp>
        <p:nvSpPr>
          <p:cNvPr id="30" name="mod04"/>
          <p:cNvSpPr/>
          <p:nvPr/>
        </p:nvSpPr>
        <p:spPr>
          <a:xfrm>
            <a:off x="3293566" y="5325976"/>
            <a:ext cx="2359152" cy="950976"/>
          </a:xfrm>
          <a:prstGeom prst="roundRect">
            <a:avLst>
              <a:gd name="adj" fmla="val 15000"/>
            </a:avLst>
          </a:prstGeom>
          <a:ln w="12700" cap="rnd">
            <a:solidFill>
              <a:srgbClr val="22D3EE">
                <a:alpha val="38000"/>
              </a:srgbClr>
            </a:solidFill>
          </a:ln>
          <a:effectLst/>
          <a:solidFill>
            <a:srgbClr val="0D1B33">
              <a:alpha val="62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449014" y="5572864"/>
            <a:ext cx="502920" cy="457200"/>
          </a:xfrm>
          <a:prstGeom prst="rect">
            <a:avLst/>
          </a:prstGeom>
          <a:noFill/>
        </p:spPr>
        <p:txBody>
          <a:bodyPr wrap="square" anchor="t" lIns="0" rIns="0" tIns="0" bIns="0">
            <a:spAutoFit/>
          </a:bodyPr>
          <a:lstStyle/>
          <a:p>
            <a:pPr algn="l"/>
            <a:r>
              <a:rPr sz="1700" b="1" i="0">
                <a:solidFill>
                  <a:srgbClr val="22D3EE"/>
                </a:solidFill>
                <a:latin typeface="Segoe UI Semibold"/>
              </a:rPr>
              <a:t>04</a:t>
            </a:r>
          </a:p>
        </p:txBody>
      </p:sp>
      <p:sp>
        <p:nvSpPr>
          <p:cNvPr id="32" name="TextBox 31"/>
          <p:cNvSpPr txBox="1"/>
          <p:nvPr/>
        </p:nvSpPr>
        <p:spPr>
          <a:xfrm>
            <a:off x="3933646" y="5431132"/>
            <a:ext cx="1591056" cy="512064"/>
          </a:xfrm>
          <a:prstGeom prst="rect">
            <a:avLst/>
          </a:prstGeom>
          <a:noFill/>
        </p:spPr>
        <p:txBody>
          <a:bodyPr wrap="square" anchor="t" lIns="0" rIns="0" tIns="0" bIns="0">
            <a:spAutoFit/>
          </a:bodyPr>
          <a:lstStyle/>
          <a:p>
            <a:pPr algn="l">
              <a:lnSpc>
                <a:spcPct val="100000"/>
              </a:lnSpc>
            </a:pPr>
            <a:r>
              <a:rPr sz="1150" b="1" i="0">
                <a:solidFill>
                  <a:srgbClr val="F1F5F9"/>
                </a:solidFill>
                <a:latin typeface="Segoe UI"/>
              </a:rPr>
              <a:t>Energy &amp; Pollution</a:t>
            </a:r>
          </a:p>
        </p:txBody>
      </p:sp>
      <p:sp>
        <p:nvSpPr>
          <p:cNvPr id="33" name="TextBox 32"/>
          <p:cNvSpPr txBox="1"/>
          <p:nvPr/>
        </p:nvSpPr>
        <p:spPr>
          <a:xfrm>
            <a:off x="3933646" y="5947768"/>
            <a:ext cx="1591056" cy="256032"/>
          </a:xfrm>
          <a:prstGeom prst="rect">
            <a:avLst/>
          </a:prstGeom>
          <a:noFill/>
        </p:spPr>
        <p:txBody>
          <a:bodyPr wrap="square" anchor="t" lIns="0" rIns="0" tIns="0" bIns="0">
            <a:spAutoFit/>
          </a:bodyPr>
          <a:lstStyle/>
          <a:p>
            <a:pPr algn="l"/>
            <a:r>
              <a:rPr sz="800" b="0" i="0">
                <a:solidFill>
                  <a:srgbClr val="8EA3C0"/>
                </a:solidFill>
                <a:latin typeface="Segoe UI"/>
              </a:rPr>
              <a:t>consumption &amp; AQI analytics</a:t>
            </a:r>
          </a:p>
        </p:txBody>
      </p:sp>
      <p:sp>
        <p:nvSpPr>
          <p:cNvPr id="34" name="mod05"/>
          <p:cNvSpPr/>
          <p:nvPr/>
        </p:nvSpPr>
        <p:spPr>
          <a:xfrm>
            <a:off x="2290397" y="2995063"/>
            <a:ext cx="2359152" cy="950976"/>
          </a:xfrm>
          <a:prstGeom prst="roundRect">
            <a:avLst>
              <a:gd name="adj" fmla="val 15000"/>
            </a:avLst>
          </a:prstGeom>
          <a:ln w="12700" cap="rnd">
            <a:solidFill>
              <a:srgbClr val="22D3EE">
                <a:alpha val="38000"/>
              </a:srgbClr>
            </a:solidFill>
          </a:ln>
          <a:effectLst/>
          <a:solidFill>
            <a:srgbClr val="0D1B33">
              <a:alpha val="62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445845" y="3241951"/>
            <a:ext cx="502920" cy="457200"/>
          </a:xfrm>
          <a:prstGeom prst="rect">
            <a:avLst/>
          </a:prstGeom>
          <a:noFill/>
        </p:spPr>
        <p:txBody>
          <a:bodyPr wrap="square" anchor="t" lIns="0" rIns="0" tIns="0" bIns="0">
            <a:spAutoFit/>
          </a:bodyPr>
          <a:lstStyle/>
          <a:p>
            <a:pPr algn="l"/>
            <a:r>
              <a:rPr sz="1700" b="1" i="0">
                <a:solidFill>
                  <a:srgbClr val="22D3EE"/>
                </a:solidFill>
                <a:latin typeface="Segoe UI Semibold"/>
              </a:rPr>
              <a:t>05</a:t>
            </a:r>
          </a:p>
        </p:txBody>
      </p:sp>
      <p:sp>
        <p:nvSpPr>
          <p:cNvPr id="36" name="TextBox 35"/>
          <p:cNvSpPr txBox="1"/>
          <p:nvPr/>
        </p:nvSpPr>
        <p:spPr>
          <a:xfrm>
            <a:off x="2930477" y="3100219"/>
            <a:ext cx="1591056" cy="512064"/>
          </a:xfrm>
          <a:prstGeom prst="rect">
            <a:avLst/>
          </a:prstGeom>
          <a:noFill/>
        </p:spPr>
        <p:txBody>
          <a:bodyPr wrap="square" anchor="t" lIns="0" rIns="0" tIns="0" bIns="0">
            <a:spAutoFit/>
          </a:bodyPr>
          <a:lstStyle/>
          <a:p>
            <a:pPr algn="l">
              <a:lnSpc>
                <a:spcPct val="100000"/>
              </a:lnSpc>
            </a:pPr>
            <a:r>
              <a:rPr sz="1150" b="1" i="0">
                <a:solidFill>
                  <a:srgbClr val="F1F5F9"/>
                </a:solidFill>
                <a:latin typeface="Segoe UI"/>
              </a:rPr>
              <a:t>Emergency Simulation</a:t>
            </a:r>
          </a:p>
        </p:txBody>
      </p:sp>
      <p:sp>
        <p:nvSpPr>
          <p:cNvPr id="37" name="TextBox 36"/>
          <p:cNvSpPr txBox="1"/>
          <p:nvPr/>
        </p:nvSpPr>
        <p:spPr>
          <a:xfrm>
            <a:off x="2930477" y="3616855"/>
            <a:ext cx="1591056" cy="256032"/>
          </a:xfrm>
          <a:prstGeom prst="rect">
            <a:avLst/>
          </a:prstGeom>
          <a:noFill/>
        </p:spPr>
        <p:txBody>
          <a:bodyPr wrap="square" anchor="t" lIns="0" rIns="0" tIns="0" bIns="0">
            <a:spAutoFit/>
          </a:bodyPr>
          <a:lstStyle/>
          <a:p>
            <a:pPr algn="l"/>
            <a:r>
              <a:rPr sz="800" b="0" i="0">
                <a:solidFill>
                  <a:srgbClr val="8EA3C0"/>
                </a:solidFill>
                <a:latin typeface="Segoe UI"/>
              </a:rPr>
              <a:t>rehearse any scenario</a:t>
            </a:r>
          </a:p>
        </p:txBody>
      </p:sp>
      <p:sp>
        <p:nvSpPr>
          <p:cNvPr id="38" name="Oval 37"/>
          <p:cNvSpPr/>
          <p:nvPr/>
        </p:nvSpPr>
        <p:spPr>
          <a:xfrm>
            <a:off x="6041440" y="4059936"/>
            <a:ext cx="109728" cy="109728"/>
          </a:xfrm>
          <a:prstGeom prst="ellipse">
            <a:avLst/>
          </a:prstGeom>
          <a:ln>
            <a:noFill/>
          </a:ln>
          <a:solidFill>
            <a:srgbClr val="9FD8FF"/>
          </a:solidFill>
          <a:effectLst>
            <a:glow rad="1016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mc:AlternateContent xmlns:mc="http://schemas.openxmlformats.org/markup-compatibility/2006">
    <mc:Choice xmlns:p14="http://schemas.microsoft.com/office/powerpoint/2010/main" Requires="p14">
      <p:transition spd="slow" p14:dur="1100">
        <p14:morph option="byObject"/>
      </p:transition>
    </mc:Choice>
    <mc:Fallback>
      <p:transition spd="slow" advClick="1">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0" fill="hold" grpId="0" nodeType="clickEffect">
                                  <p:stCondLst>
                                    <p:cond delay="0"/>
                                  </p:stCondLst>
                                  <p:childTnLst>
                                    <p:set>
                                      <p:cBhvr>
                                        <p:cTn id="7" dur="1" fill="hold">
                                          <p:stCondLst>
                                            <p:cond delay="0"/>
                                          </p:stCondLst>
                                        </p:cTn>
                                        <p:tgtEl>
                                          <p:spTgt spid="15"/>
                                        </p:tgtEl>
                                        <p:attrNameLst>
                                          <p:attrName>style.visibility</p:attrName>
                                        </p:attrNameLst>
                                      </p:cBhvr>
                                      <p:to>
                                        <p:strVal val="visible"/>
                                      </p:to>
                                    </p:set>
                                    <p:animEffect transition="in" filter="fade">
                                      <p:cBhvr>
                                        <p:cTn id="8" dur="800"/>
                                        <p:tgtEl>
                                          <p:spTgt spid="15"/>
                                        </p:tgtEl>
                                      </p:cBhvr>
                                    </p:animEffect>
                                    <p:animScale>
                                      <p:cBhvr>
                                        <p:cTn id="6" dur="800"/>
                                        <p:tgtEl>
                                          <p:spTgt spid="15"/>
                                        </p:tgtEl>
                                      </p:cBhvr>
                                      <p:from x="60%" y="60%"/>
                                      <p:to x="100%" y="100%"/>
                                    </p:animScale>
                                  </p:childTnLst>
                                </p:cTn>
                              </p:par>
                              <p:par>
                                <p:cTn id="13" presetID="53" presetClass="entr" presetSubtype="0" fill="hold" grpId="0" nodeType="with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800"/>
                                        <p:tgtEl>
                                          <p:spTgt spid="16"/>
                                        </p:tgtEl>
                                      </p:cBhvr>
                                    </p:animEffect>
                                    <p:animScale>
                                      <p:cBhvr>
                                        <p:cTn id="10" dur="800"/>
                                        <p:tgtEl>
                                          <p:spTgt spid="16"/>
                                        </p:tgtEl>
                                      </p:cBhvr>
                                      <p:from x="60%" y="60%"/>
                                      <p:to x="100%" y="100%"/>
                                    </p:animScale>
                                  </p:childTnLst>
                                </p:cTn>
                              </p:par>
                              <p:par>
                                <p:cTn id="16" presetID="10" presetClass="entr" presetSubtype="0" fill="hold" grpId="0" nodeType="afterEffect">
                                  <p:stCondLst>
                                    <p:cond delay="15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700"/>
                                        <p:tgtEl>
                                          <p:spTgt spid="17"/>
                                        </p:tgtEl>
                                      </p:cBhvr>
                                    </p:animEffect>
                                  </p:childTnLst>
                                </p:cTn>
                              </p:par>
                              <p:par>
                                <p:cTn id="19" presetID="10" presetClass="entr" presetSubtype="0" fill="hold" grpId="0" nodeType="afterEffect">
                                  <p:stCondLst>
                                    <p:cond delay="20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380"/>
                                        <p:tgtEl>
                                          <p:spTgt spid="10"/>
                                        </p:tgtEl>
                                      </p:cBhvr>
                                    </p:animEffect>
                                  </p:childTnLst>
                                </p:cTn>
                              </p:par>
                              <p:par>
                                <p:cTn id="22" presetID="10" presetClass="entr" presetSubtype="0" fill="hold" grpId="0" nodeType="afterEffect">
                                  <p:stCondLst>
                                    <p:cond delay="7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380"/>
                                        <p:tgtEl>
                                          <p:spTgt spid="11"/>
                                        </p:tgtEl>
                                      </p:cBhvr>
                                    </p:animEffect>
                                  </p:childTnLst>
                                </p:cTn>
                              </p:par>
                              <p:par>
                                <p:cTn id="25" presetID="10" presetClass="entr" presetSubtype="0" fill="hold" grpId="0" nodeType="afterEffect">
                                  <p:stCondLst>
                                    <p:cond delay="7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380"/>
                                        <p:tgtEl>
                                          <p:spTgt spid="12"/>
                                        </p:tgtEl>
                                      </p:cBhvr>
                                    </p:animEffect>
                                  </p:childTnLst>
                                </p:cTn>
                              </p:par>
                              <p:par>
                                <p:cTn id="28" presetID="10" presetClass="entr" presetSubtype="0" fill="hold" grpId="0" nodeType="afterEffect">
                                  <p:stCondLst>
                                    <p:cond delay="7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380"/>
                                        <p:tgtEl>
                                          <p:spTgt spid="13"/>
                                        </p:tgtEl>
                                      </p:cBhvr>
                                    </p:animEffect>
                                  </p:childTnLst>
                                </p:cTn>
                              </p:par>
                              <p:par>
                                <p:cTn id="31" presetID="10" presetClass="entr" presetSubtype="0" fill="hold" grpId="0" nodeType="afterEffect">
                                  <p:stCondLst>
                                    <p:cond delay="7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380"/>
                                        <p:tgtEl>
                                          <p:spTgt spid="14"/>
                                        </p:tgtEl>
                                      </p:cBhvr>
                                    </p:animEffect>
                                  </p:childTnLst>
                                </p:cTn>
                              </p:par>
                              <p:par>
                                <p:cTn id="35" presetID="53" presetClass="entr" presetSubtype="0" fill="hold" grpId="0" nodeType="afterEffect">
                                  <p:stCondLst>
                                    <p:cond delay="11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480"/>
                                        <p:tgtEl>
                                          <p:spTgt spid="18"/>
                                        </p:tgtEl>
                                      </p:cBhvr>
                                    </p:animEffect>
                                    <p:animScale>
                                      <p:cBhvr>
                                        <p:cTn id="32" dur="480"/>
                                        <p:tgtEl>
                                          <p:spTgt spid="18"/>
                                        </p:tgtEl>
                                      </p:cBhvr>
                                      <p:from x="60%" y="60%"/>
                                      <p:to x="100%" y="100%"/>
                                    </p:animScale>
                                  </p:childTnLst>
                                </p:cTn>
                              </p:par>
                              <p:par>
                                <p:cTn id="39" presetID="53" presetClass="entr" presetSubtype="0" fill="hold" grpId="0" nodeType="afterEffect">
                                  <p:stCondLst>
                                    <p:cond delay="110"/>
                                  </p:stCondLst>
                                  <p:childTnLst>
                                    <p:set>
                                      <p:cBhvr>
                                        <p:cTn id="37" dur="1" fill="hold">
                                          <p:stCondLst>
                                            <p:cond delay="0"/>
                                          </p:stCondLst>
                                        </p:cTn>
                                        <p:tgtEl>
                                          <p:spTgt spid="22"/>
                                        </p:tgtEl>
                                        <p:attrNameLst>
                                          <p:attrName>style.visibility</p:attrName>
                                        </p:attrNameLst>
                                      </p:cBhvr>
                                      <p:to>
                                        <p:strVal val="visible"/>
                                      </p:to>
                                    </p:set>
                                    <p:animEffect transition="in" filter="fade">
                                      <p:cBhvr>
                                        <p:cTn id="38" dur="480"/>
                                        <p:tgtEl>
                                          <p:spTgt spid="22"/>
                                        </p:tgtEl>
                                      </p:cBhvr>
                                    </p:animEffect>
                                    <p:animScale>
                                      <p:cBhvr>
                                        <p:cTn id="36" dur="480"/>
                                        <p:tgtEl>
                                          <p:spTgt spid="22"/>
                                        </p:tgtEl>
                                      </p:cBhvr>
                                      <p:from x="60%" y="60%"/>
                                      <p:to x="100%" y="100%"/>
                                    </p:animScale>
                                  </p:childTnLst>
                                </p:cTn>
                              </p:par>
                              <p:par>
                                <p:cTn id="43" presetID="53" presetClass="entr" presetSubtype="0" fill="hold" grpId="0" nodeType="afterEffect">
                                  <p:stCondLst>
                                    <p:cond delay="11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480"/>
                                        <p:tgtEl>
                                          <p:spTgt spid="26"/>
                                        </p:tgtEl>
                                      </p:cBhvr>
                                    </p:animEffect>
                                    <p:animScale>
                                      <p:cBhvr>
                                        <p:cTn id="40" dur="480"/>
                                        <p:tgtEl>
                                          <p:spTgt spid="26"/>
                                        </p:tgtEl>
                                      </p:cBhvr>
                                      <p:from x="60%" y="60%"/>
                                      <p:to x="100%" y="100%"/>
                                    </p:animScale>
                                  </p:childTnLst>
                                </p:cTn>
                              </p:par>
                              <p:par>
                                <p:cTn id="47" presetID="53" presetClass="entr" presetSubtype="0" fill="hold" grpId="0" nodeType="afterEffect">
                                  <p:stCondLst>
                                    <p:cond delay="11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80"/>
                                        <p:tgtEl>
                                          <p:spTgt spid="30"/>
                                        </p:tgtEl>
                                      </p:cBhvr>
                                    </p:animEffect>
                                    <p:animScale>
                                      <p:cBhvr>
                                        <p:cTn id="44" dur="480"/>
                                        <p:tgtEl>
                                          <p:spTgt spid="30"/>
                                        </p:tgtEl>
                                      </p:cBhvr>
                                      <p:from x="60%" y="60%"/>
                                      <p:to x="100%" y="100%"/>
                                    </p:animScale>
                                  </p:childTnLst>
                                </p:cTn>
                              </p:par>
                              <p:par>
                                <p:cTn id="51" presetID="53" presetClass="entr" presetSubtype="0" fill="hold" grpId="0" nodeType="afterEffect">
                                  <p:stCondLst>
                                    <p:cond delay="110"/>
                                  </p:stCondLst>
                                  <p:childTnLst>
                                    <p:set>
                                      <p:cBhvr>
                                        <p:cTn id="49" dur="1" fill="hold">
                                          <p:stCondLst>
                                            <p:cond delay="0"/>
                                          </p:stCondLst>
                                        </p:cTn>
                                        <p:tgtEl>
                                          <p:spTgt spid="34"/>
                                        </p:tgtEl>
                                        <p:attrNameLst>
                                          <p:attrName>style.visibility</p:attrName>
                                        </p:attrNameLst>
                                      </p:cBhvr>
                                      <p:to>
                                        <p:strVal val="visible"/>
                                      </p:to>
                                    </p:set>
                                    <p:animEffect transition="in" filter="fade">
                                      <p:cBhvr>
                                        <p:cTn id="50" dur="480"/>
                                        <p:tgtEl>
                                          <p:spTgt spid="34"/>
                                        </p:tgtEl>
                                      </p:cBhvr>
                                    </p:animEffect>
                                    <p:animScale>
                                      <p:cBhvr>
                                        <p:cTn id="48" dur="480"/>
                                        <p:tgtEl>
                                          <p:spTgt spid="34"/>
                                        </p:tgtEl>
                                      </p:cBhvr>
                                      <p:from x="60%" y="60%"/>
                                      <p:to x="100%" y="100%"/>
                                    </p:animScale>
                                  </p:childTnLst>
                                </p:cTn>
                              </p:par>
                              <p:par>
                                <p:cTn id="54" presetID="10" presetClass="entr" presetSubtype="0" fill="hold" grpId="0" nodeType="afterEffect">
                                  <p:stCondLst>
                                    <p:cond delay="150"/>
                                  </p:stCondLst>
                                  <p:childTnLst>
                                    <p:set>
                                      <p:cBhvr>
                                        <p:cTn id="52" dur="1" fill="hold">
                                          <p:stCondLst>
                                            <p:cond delay="0"/>
                                          </p:stCondLst>
                                        </p:cTn>
                                        <p:tgtEl>
                                          <p:spTgt spid="38"/>
                                        </p:tgtEl>
                                        <p:attrNameLst>
                                          <p:attrName>style.visibility</p:attrName>
                                        </p:attrNameLst>
                                      </p:cBhvr>
                                      <p:to>
                                        <p:strVal val="visible"/>
                                      </p:to>
                                    </p:set>
                                    <p:animEffect transition="in" filter="fade">
                                      <p:cBhvr>
                                        <p:cTn id="53" dur="400"/>
                                        <p:tgtEl>
                                          <p:spTgt spid="38"/>
                                        </p:tgtEl>
                                      </p:cBhvr>
                                    </p:animEffect>
                                  </p:childTnLst>
                                </p:cTn>
                              </p:par>
                              <p:par>
                                <p:cTn id="56" presetID="6" presetClass="emph" presetSubtype="0" fill="hold" grpId="0" nodeType="withEffect">
                                  <p:stCondLst>
                                    <p:cond delay="0"/>
                                  </p:stCondLst>
                                  <p:childTnLst>
                                    <p:animScale>
                                      <p:cBhvr>
                                        <p:cTn id="55" dur="1600" autoRev="1" repeatCount="indefinite"/>
                                        <p:tgtEl>
                                          <p:spTgt spid="38"/>
                                        </p:tgtEl>
                                      </p:cBhvr>
                                      <p:by x="116%" y="116%"/>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ln>
            <a:noFill/>
          </a:ln>
          <a:effectLst/>
          <a:solidFill>
            <a:srgbClr val="050A1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2011680"/>
            <a:ext cx="4754880" cy="4754880"/>
          </a:xfrm>
          <a:prstGeom prst="ellipse">
            <a:avLst/>
          </a:prstGeom>
          <a:gradFill>
            <a:gsLst>
              <a:gs pos="0">
                <a:srgbClr val="3B82F6">
                  <a:alpha val="20000"/>
                </a:srgbClr>
              </a:gs>
              <a:gs pos="65000">
                <a:srgbClr val="3B82F6">
                  <a:alpha val="6000"/>
                </a:srgbClr>
              </a:gs>
              <a:gs pos="100000">
                <a:srgbClr val="3B82F6">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463039" y="4480560"/>
            <a:ext cx="4206240" cy="4206240"/>
          </a:xfrm>
          <a:prstGeom prst="ellipse">
            <a:avLst/>
          </a:prstGeom>
          <a:gradFill>
            <a:gsLst>
              <a:gs pos="0">
                <a:srgbClr val="8B5CF6">
                  <a:alpha val="16000"/>
                </a:srgbClr>
              </a:gs>
              <a:gs pos="65000">
                <a:srgbClr val="8B5CF6">
                  <a:alpha val="5000"/>
                </a:srgbClr>
              </a:gs>
              <a:gs pos="100000">
                <a:srgbClr val="8B5CF6">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kbar"/>
          <p:cNvSpPr/>
          <p:nvPr/>
        </p:nvSpPr>
        <p:spPr>
          <a:xfrm>
            <a:off x="566928" y="603504"/>
            <a:ext cx="274320" cy="47548"/>
          </a:xfrm>
          <a:prstGeom prst="rect">
            <a:avLst/>
          </a:prstGeom>
          <a:ln>
            <a:noFill/>
          </a:ln>
          <a:solidFill>
            <a:srgbClr val="22D3EE"/>
          </a:solidFill>
          <a:effectLst>
            <a:glow rad="762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kicker"/>
          <p:cNvSpPr txBox="1"/>
          <p:nvPr/>
        </p:nvSpPr>
        <p:spPr>
          <a:xfrm>
            <a:off x="932688" y="489204"/>
            <a:ext cx="7772400" cy="292608"/>
          </a:xfrm>
          <a:prstGeom prst="rect">
            <a:avLst/>
          </a:prstGeom>
          <a:noFill/>
        </p:spPr>
        <p:txBody>
          <a:bodyPr wrap="square" anchor="t" lIns="0" rIns="0" tIns="0" bIns="0">
            <a:spAutoFit/>
          </a:bodyPr>
          <a:lstStyle/>
          <a:p>
            <a:pPr algn="l"/>
            <a:r>
              <a:rPr sz="1050" b="1" i="0" spc="320">
                <a:solidFill>
                  <a:srgbClr val="22D3EE"/>
                </a:solidFill>
                <a:latin typeface="Segoe UI"/>
              </a:rPr>
              <a:t>SYSTEM ARCHITECTURE</a:t>
            </a:r>
          </a:p>
        </p:txBody>
      </p:sp>
      <p:sp>
        <p:nvSpPr>
          <p:cNvPr id="7" name="title"/>
          <p:cNvSpPr txBox="1"/>
          <p:nvPr/>
        </p:nvSpPr>
        <p:spPr>
          <a:xfrm>
            <a:off x="566928" y="868680"/>
            <a:ext cx="11064240" cy="658368"/>
          </a:xfrm>
          <a:prstGeom prst="rect">
            <a:avLst/>
          </a:prstGeom>
          <a:noFill/>
        </p:spPr>
        <p:txBody>
          <a:bodyPr wrap="square" anchor="t" lIns="0" rIns="0" tIns="0" bIns="0">
            <a:spAutoFit/>
          </a:bodyPr>
          <a:lstStyle/>
          <a:p>
            <a:pPr algn="l"/>
            <a:r>
              <a:rPr sz="3300" b="1" i="0">
                <a:solidFill>
                  <a:srgbClr val="F1F5F9"/>
                </a:solidFill>
                <a:latin typeface="Segoe UI"/>
              </a:rPr>
              <a:t>From Sensors to Smart Decisions</a:t>
            </a:r>
          </a:p>
        </p:txBody>
      </p:sp>
      <p:sp>
        <p:nvSpPr>
          <p:cNvPr id="8" name="pageno"/>
          <p:cNvSpPr txBox="1"/>
          <p:nvPr/>
        </p:nvSpPr>
        <p:spPr>
          <a:xfrm>
            <a:off x="10835640" y="6519672"/>
            <a:ext cx="786384" cy="219456"/>
          </a:xfrm>
          <a:prstGeom prst="rect">
            <a:avLst/>
          </a:prstGeom>
          <a:noFill/>
        </p:spPr>
        <p:txBody>
          <a:bodyPr wrap="square" anchor="t" lIns="0" rIns="0" tIns="0" bIns="0">
            <a:spAutoFit/>
          </a:bodyPr>
          <a:lstStyle/>
          <a:p>
            <a:pPr algn="r"/>
            <a:r>
              <a:rPr sz="900" b="1" i="0">
                <a:solidFill>
                  <a:srgbClr val="8EA3C0"/>
                </a:solidFill>
                <a:latin typeface="Segoe UI"/>
              </a:rPr>
              <a:t>05</a:t>
            </a:r>
            <a:r>
              <a:rPr sz="900" b="0" i="0">
                <a:solidFill>
                  <a:srgbClr val="5A6E8C"/>
                </a:solidFill>
                <a:latin typeface="Segoe UI"/>
              </a:rPr>
              <a:t> / 12</a:t>
            </a:r>
          </a:p>
        </p:txBody>
      </p:sp>
      <p:sp>
        <p:nvSpPr>
          <p:cNvPr id="9" name="footer"/>
          <p:cNvSpPr txBox="1"/>
          <p:nvPr/>
        </p:nvSpPr>
        <p:spPr>
          <a:xfrm>
            <a:off x="566928" y="6519672"/>
            <a:ext cx="5486400" cy="219456"/>
          </a:xfrm>
          <a:prstGeom prst="rect">
            <a:avLst/>
          </a:prstGeom>
          <a:noFill/>
        </p:spPr>
        <p:txBody>
          <a:bodyPr wrap="square" anchor="t" lIns="0" rIns="0" tIns="0" bIns="0">
            <a:spAutoFit/>
          </a:bodyPr>
          <a:lstStyle/>
          <a:p>
            <a:pPr algn="l"/>
            <a:r>
              <a:rPr sz="800" b="1" i="0" spc="260">
                <a:solidFill>
                  <a:srgbClr val="5A6E8C"/>
                </a:solidFill>
                <a:latin typeface="Segoe UI"/>
              </a:rPr>
              <a:t>CITYVERSE AI</a:t>
            </a:r>
            <a:r>
              <a:rPr sz="800" b="0" i="0" spc="180">
                <a:solidFill>
                  <a:srgbClr val="5A6E8C"/>
                </a:solidFill>
                <a:latin typeface="Segoe UI"/>
              </a:rPr>
              <a:t>  ·  SMART DIGITAL TWIN PLATFORM</a:t>
            </a:r>
          </a:p>
        </p:txBody>
      </p:sp>
      <p:sp>
        <p:nvSpPr>
          <p:cNvPr id="10" name="pipe01"/>
          <p:cNvSpPr/>
          <p:nvPr/>
        </p:nvSpPr>
        <p:spPr>
          <a:xfrm>
            <a:off x="3401568" y="1755648"/>
            <a:ext cx="2788920" cy="676656"/>
          </a:xfrm>
          <a:prstGeom prst="roundRect">
            <a:avLst>
              <a:gd name="adj" fmla="val 20000"/>
            </a:avLst>
          </a:prstGeom>
          <a:ln w="12700" cap="rnd">
            <a:solidFill>
              <a:srgbClr val="22D3EE">
                <a:alpha val="40000"/>
              </a:srgbClr>
            </a:solidFill>
          </a:ln>
          <a:solidFill>
            <a:srgbClr val="0D1B33">
              <a:alpha val="58000"/>
            </a:srgbClr>
          </a:solidFill>
          <a:effectLst>
            <a:glow rad="635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84448" y="1860804"/>
            <a:ext cx="502920" cy="365760"/>
          </a:xfrm>
          <a:prstGeom prst="rect">
            <a:avLst/>
          </a:prstGeom>
          <a:noFill/>
        </p:spPr>
        <p:txBody>
          <a:bodyPr wrap="square" anchor="t" lIns="0" rIns="0" tIns="0" bIns="0">
            <a:spAutoFit/>
          </a:bodyPr>
          <a:lstStyle/>
          <a:p>
            <a:pPr algn="l"/>
            <a:r>
              <a:rPr sz="1500" b="1" i="0">
                <a:solidFill>
                  <a:srgbClr val="22D3EE"/>
                </a:solidFill>
                <a:latin typeface="Segoe UI"/>
              </a:rPr>
              <a:t>01</a:t>
            </a:r>
          </a:p>
        </p:txBody>
      </p:sp>
      <p:sp>
        <p:nvSpPr>
          <p:cNvPr id="12" name="TextBox 11"/>
          <p:cNvSpPr txBox="1"/>
          <p:nvPr/>
        </p:nvSpPr>
        <p:spPr>
          <a:xfrm>
            <a:off x="3968496" y="1860804"/>
            <a:ext cx="2057400" cy="274320"/>
          </a:xfrm>
          <a:prstGeom prst="rect">
            <a:avLst/>
          </a:prstGeom>
          <a:noFill/>
        </p:spPr>
        <p:txBody>
          <a:bodyPr wrap="square" anchor="t" lIns="0" rIns="0" tIns="0" bIns="0">
            <a:spAutoFit/>
          </a:bodyPr>
          <a:lstStyle/>
          <a:p>
            <a:pPr algn="l"/>
            <a:r>
              <a:rPr sz="1300" b="1" i="0">
                <a:solidFill>
                  <a:srgbClr val="F1F5F9"/>
                </a:solidFill>
                <a:latin typeface="Segoe UI"/>
              </a:rPr>
              <a:t>IoT Sensor Network</a:t>
            </a:r>
          </a:p>
        </p:txBody>
      </p:sp>
      <p:sp>
        <p:nvSpPr>
          <p:cNvPr id="13" name="TextBox 12"/>
          <p:cNvSpPr txBox="1"/>
          <p:nvPr/>
        </p:nvSpPr>
        <p:spPr>
          <a:xfrm>
            <a:off x="3968496" y="2135124"/>
            <a:ext cx="2057400" cy="237744"/>
          </a:xfrm>
          <a:prstGeom prst="rect">
            <a:avLst/>
          </a:prstGeom>
          <a:noFill/>
        </p:spPr>
        <p:txBody>
          <a:bodyPr wrap="square" anchor="t" lIns="0" rIns="0" tIns="0" bIns="0">
            <a:spAutoFit/>
          </a:bodyPr>
          <a:lstStyle/>
          <a:p>
            <a:pPr algn="l"/>
            <a:r>
              <a:rPr sz="850" b="0" i="0">
                <a:solidFill>
                  <a:srgbClr val="8EA3C0"/>
                </a:solidFill>
                <a:latin typeface="Segoe UI"/>
              </a:rPr>
              <a:t>10k+ live data points, every second</a:t>
            </a:r>
          </a:p>
        </p:txBody>
      </p:sp>
      <p:sp>
        <p:nvSpPr>
          <p:cNvPr id="14" name="pipe02"/>
          <p:cNvSpPr/>
          <p:nvPr/>
        </p:nvSpPr>
        <p:spPr>
          <a:xfrm>
            <a:off x="3401568" y="2761488"/>
            <a:ext cx="2788920" cy="676656"/>
          </a:xfrm>
          <a:prstGeom prst="roundRect">
            <a:avLst>
              <a:gd name="adj" fmla="val 20000"/>
            </a:avLst>
          </a:prstGeom>
          <a:ln w="12700" cap="rnd">
            <a:solidFill>
              <a:srgbClr val="22D3EE">
                <a:alpha val="40000"/>
              </a:srgbClr>
            </a:solidFill>
          </a:ln>
          <a:solidFill>
            <a:srgbClr val="0D1B33">
              <a:alpha val="58000"/>
            </a:srgbClr>
          </a:solidFill>
          <a:effectLst>
            <a:glow rad="635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84448" y="2866644"/>
            <a:ext cx="502920" cy="365760"/>
          </a:xfrm>
          <a:prstGeom prst="rect">
            <a:avLst/>
          </a:prstGeom>
          <a:noFill/>
        </p:spPr>
        <p:txBody>
          <a:bodyPr wrap="square" anchor="t" lIns="0" rIns="0" tIns="0" bIns="0">
            <a:spAutoFit/>
          </a:bodyPr>
          <a:lstStyle/>
          <a:p>
            <a:pPr algn="l"/>
            <a:r>
              <a:rPr sz="1500" b="1" i="0">
                <a:solidFill>
                  <a:srgbClr val="22D3EE"/>
                </a:solidFill>
                <a:latin typeface="Segoe UI"/>
              </a:rPr>
              <a:t>02</a:t>
            </a:r>
          </a:p>
        </p:txBody>
      </p:sp>
      <p:sp>
        <p:nvSpPr>
          <p:cNvPr id="16" name="TextBox 15"/>
          <p:cNvSpPr txBox="1"/>
          <p:nvPr/>
        </p:nvSpPr>
        <p:spPr>
          <a:xfrm>
            <a:off x="3968496" y="2866644"/>
            <a:ext cx="2057400" cy="274320"/>
          </a:xfrm>
          <a:prstGeom prst="rect">
            <a:avLst/>
          </a:prstGeom>
          <a:noFill/>
        </p:spPr>
        <p:txBody>
          <a:bodyPr wrap="square" anchor="t" lIns="0" rIns="0" tIns="0" bIns="0">
            <a:spAutoFit/>
          </a:bodyPr>
          <a:lstStyle/>
          <a:p>
            <a:pPr algn="l"/>
            <a:r>
              <a:rPr sz="1300" b="1" i="0">
                <a:solidFill>
                  <a:srgbClr val="F1F5F9"/>
                </a:solidFill>
                <a:latin typeface="Segoe UI"/>
              </a:rPr>
              <a:t>GIS + Real-Time Data</a:t>
            </a:r>
          </a:p>
        </p:txBody>
      </p:sp>
      <p:sp>
        <p:nvSpPr>
          <p:cNvPr id="17" name="TextBox 16"/>
          <p:cNvSpPr txBox="1"/>
          <p:nvPr/>
        </p:nvSpPr>
        <p:spPr>
          <a:xfrm>
            <a:off x="3968496" y="3140964"/>
            <a:ext cx="2057400" cy="237744"/>
          </a:xfrm>
          <a:prstGeom prst="rect">
            <a:avLst/>
          </a:prstGeom>
          <a:noFill/>
        </p:spPr>
        <p:txBody>
          <a:bodyPr wrap="square" anchor="t" lIns="0" rIns="0" tIns="0" bIns="0">
            <a:spAutoFit/>
          </a:bodyPr>
          <a:lstStyle/>
          <a:p>
            <a:pPr algn="l"/>
            <a:r>
              <a:rPr sz="850" b="0" i="0">
                <a:solidFill>
                  <a:srgbClr val="8EA3C0"/>
                </a:solidFill>
                <a:latin typeface="Segoe UI"/>
              </a:rPr>
              <a:t>every signal pinned to the map</a:t>
            </a:r>
          </a:p>
        </p:txBody>
      </p:sp>
      <p:sp>
        <p:nvSpPr>
          <p:cNvPr id="18" name="pipe03"/>
          <p:cNvSpPr/>
          <p:nvPr/>
        </p:nvSpPr>
        <p:spPr>
          <a:xfrm>
            <a:off x="3401568" y="3767328"/>
            <a:ext cx="2788920" cy="676656"/>
          </a:xfrm>
          <a:prstGeom prst="roundRect">
            <a:avLst>
              <a:gd name="adj" fmla="val 20000"/>
            </a:avLst>
          </a:prstGeom>
          <a:ln w="12700" cap="rnd">
            <a:solidFill>
              <a:srgbClr val="22D3EE">
                <a:alpha val="40000"/>
              </a:srgbClr>
            </a:solidFill>
          </a:ln>
          <a:solidFill>
            <a:srgbClr val="0D1B33">
              <a:alpha val="58000"/>
            </a:srgbClr>
          </a:solidFill>
          <a:effectLst>
            <a:glow rad="635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84448" y="3872484"/>
            <a:ext cx="502920" cy="365760"/>
          </a:xfrm>
          <a:prstGeom prst="rect">
            <a:avLst/>
          </a:prstGeom>
          <a:noFill/>
        </p:spPr>
        <p:txBody>
          <a:bodyPr wrap="square" anchor="t" lIns="0" rIns="0" tIns="0" bIns="0">
            <a:spAutoFit/>
          </a:bodyPr>
          <a:lstStyle/>
          <a:p>
            <a:pPr algn="l"/>
            <a:r>
              <a:rPr sz="1500" b="1" i="0">
                <a:solidFill>
                  <a:srgbClr val="22D3EE"/>
                </a:solidFill>
                <a:latin typeface="Segoe UI"/>
              </a:rPr>
              <a:t>03</a:t>
            </a:r>
          </a:p>
        </p:txBody>
      </p:sp>
      <p:sp>
        <p:nvSpPr>
          <p:cNvPr id="20" name="TextBox 19"/>
          <p:cNvSpPr txBox="1"/>
          <p:nvPr/>
        </p:nvSpPr>
        <p:spPr>
          <a:xfrm>
            <a:off x="3968496" y="3872484"/>
            <a:ext cx="2057400" cy="274320"/>
          </a:xfrm>
          <a:prstGeom prst="rect">
            <a:avLst/>
          </a:prstGeom>
          <a:noFill/>
        </p:spPr>
        <p:txBody>
          <a:bodyPr wrap="square" anchor="t" lIns="0" rIns="0" tIns="0" bIns="0">
            <a:spAutoFit/>
          </a:bodyPr>
          <a:lstStyle/>
          <a:p>
            <a:pPr algn="l"/>
            <a:r>
              <a:rPr sz="1300" b="1" i="0">
                <a:solidFill>
                  <a:srgbClr val="F1F5F9"/>
                </a:solidFill>
                <a:latin typeface="Segoe UI"/>
              </a:rPr>
              <a:t>AI Analytics Engine</a:t>
            </a:r>
          </a:p>
        </p:txBody>
      </p:sp>
      <p:sp>
        <p:nvSpPr>
          <p:cNvPr id="21" name="TextBox 20"/>
          <p:cNvSpPr txBox="1"/>
          <p:nvPr/>
        </p:nvSpPr>
        <p:spPr>
          <a:xfrm>
            <a:off x="3968496" y="4146804"/>
            <a:ext cx="2057400" cy="237744"/>
          </a:xfrm>
          <a:prstGeom prst="rect">
            <a:avLst/>
          </a:prstGeom>
          <a:noFill/>
        </p:spPr>
        <p:txBody>
          <a:bodyPr wrap="square" anchor="t" lIns="0" rIns="0" tIns="0" bIns="0">
            <a:spAutoFit/>
          </a:bodyPr>
          <a:lstStyle/>
          <a:p>
            <a:pPr algn="l"/>
            <a:r>
              <a:rPr sz="850" b="0" i="0">
                <a:solidFill>
                  <a:srgbClr val="8EA3C0"/>
                </a:solidFill>
                <a:latin typeface="Segoe UI"/>
              </a:rPr>
              <a:t>patterns · predictions · anomalies</a:t>
            </a:r>
          </a:p>
        </p:txBody>
      </p:sp>
      <p:sp>
        <p:nvSpPr>
          <p:cNvPr id="22" name="pipe04"/>
          <p:cNvSpPr/>
          <p:nvPr/>
        </p:nvSpPr>
        <p:spPr>
          <a:xfrm>
            <a:off x="3401568" y="4773168"/>
            <a:ext cx="2788920" cy="676656"/>
          </a:xfrm>
          <a:prstGeom prst="roundRect">
            <a:avLst>
              <a:gd name="adj" fmla="val 20000"/>
            </a:avLst>
          </a:prstGeom>
          <a:ln w="12700" cap="rnd">
            <a:solidFill>
              <a:srgbClr val="22D3EE">
                <a:alpha val="40000"/>
              </a:srgbClr>
            </a:solidFill>
          </a:ln>
          <a:solidFill>
            <a:srgbClr val="0D1B33">
              <a:alpha val="58000"/>
            </a:srgbClr>
          </a:solidFill>
          <a:effectLst>
            <a:glow rad="635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84448" y="4878324"/>
            <a:ext cx="502920" cy="365760"/>
          </a:xfrm>
          <a:prstGeom prst="rect">
            <a:avLst/>
          </a:prstGeom>
          <a:noFill/>
        </p:spPr>
        <p:txBody>
          <a:bodyPr wrap="square" anchor="t" lIns="0" rIns="0" tIns="0" bIns="0">
            <a:spAutoFit/>
          </a:bodyPr>
          <a:lstStyle/>
          <a:p>
            <a:pPr algn="l"/>
            <a:r>
              <a:rPr sz="1500" b="1" i="0">
                <a:solidFill>
                  <a:srgbClr val="22D3EE"/>
                </a:solidFill>
                <a:latin typeface="Segoe UI"/>
              </a:rPr>
              <a:t>04</a:t>
            </a:r>
          </a:p>
        </p:txBody>
      </p:sp>
      <p:sp>
        <p:nvSpPr>
          <p:cNvPr id="24" name="TextBox 23"/>
          <p:cNvSpPr txBox="1"/>
          <p:nvPr/>
        </p:nvSpPr>
        <p:spPr>
          <a:xfrm>
            <a:off x="3968496" y="4878324"/>
            <a:ext cx="2057400" cy="274320"/>
          </a:xfrm>
          <a:prstGeom prst="rect">
            <a:avLst/>
          </a:prstGeom>
          <a:noFill/>
        </p:spPr>
        <p:txBody>
          <a:bodyPr wrap="square" anchor="t" lIns="0" rIns="0" tIns="0" bIns="0">
            <a:spAutoFit/>
          </a:bodyPr>
          <a:lstStyle/>
          <a:p>
            <a:pPr algn="l"/>
            <a:r>
              <a:rPr sz="1300" b="1" i="0">
                <a:solidFill>
                  <a:srgbClr val="F1F5F9"/>
                </a:solidFill>
                <a:latin typeface="Segoe UI"/>
              </a:rPr>
              <a:t>Digital Twin Engine</a:t>
            </a:r>
          </a:p>
        </p:txBody>
      </p:sp>
      <p:sp>
        <p:nvSpPr>
          <p:cNvPr id="25" name="TextBox 24"/>
          <p:cNvSpPr txBox="1"/>
          <p:nvPr/>
        </p:nvSpPr>
        <p:spPr>
          <a:xfrm>
            <a:off x="3968496" y="5152644"/>
            <a:ext cx="2057400" cy="237744"/>
          </a:xfrm>
          <a:prstGeom prst="rect">
            <a:avLst/>
          </a:prstGeom>
          <a:noFill/>
        </p:spPr>
        <p:txBody>
          <a:bodyPr wrap="square" anchor="t" lIns="0" rIns="0" tIns="0" bIns="0">
            <a:spAutoFit/>
          </a:bodyPr>
          <a:lstStyle/>
          <a:p>
            <a:pPr algn="l"/>
            <a:r>
              <a:rPr sz="850" b="0" i="0">
                <a:solidFill>
                  <a:srgbClr val="8EA3C0"/>
                </a:solidFill>
                <a:latin typeface="Segoe UI"/>
              </a:rPr>
              <a:t>a live, queryable simulation</a:t>
            </a:r>
          </a:p>
        </p:txBody>
      </p:sp>
      <p:sp>
        <p:nvSpPr>
          <p:cNvPr id="26" name="pipe05"/>
          <p:cNvSpPr/>
          <p:nvPr/>
        </p:nvSpPr>
        <p:spPr>
          <a:xfrm>
            <a:off x="3401568" y="5779008"/>
            <a:ext cx="2788920" cy="676656"/>
          </a:xfrm>
          <a:prstGeom prst="roundRect">
            <a:avLst>
              <a:gd name="adj" fmla="val 20000"/>
            </a:avLst>
          </a:prstGeom>
          <a:ln w="12700" cap="rnd">
            <a:solidFill>
              <a:srgbClr val="22D3EE">
                <a:alpha val="40000"/>
              </a:srgbClr>
            </a:solidFill>
          </a:ln>
          <a:solidFill>
            <a:srgbClr val="0D1B33">
              <a:alpha val="58000"/>
            </a:srgbClr>
          </a:solidFill>
          <a:effectLst>
            <a:glow rad="635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84448" y="5884164"/>
            <a:ext cx="502920" cy="365760"/>
          </a:xfrm>
          <a:prstGeom prst="rect">
            <a:avLst/>
          </a:prstGeom>
          <a:noFill/>
        </p:spPr>
        <p:txBody>
          <a:bodyPr wrap="square" anchor="t" lIns="0" rIns="0" tIns="0" bIns="0">
            <a:spAutoFit/>
          </a:bodyPr>
          <a:lstStyle/>
          <a:p>
            <a:pPr algn="l"/>
            <a:r>
              <a:rPr sz="1500" b="1" i="0">
                <a:solidFill>
                  <a:srgbClr val="22D3EE"/>
                </a:solidFill>
                <a:latin typeface="Segoe UI"/>
              </a:rPr>
              <a:t>05</a:t>
            </a:r>
          </a:p>
        </p:txBody>
      </p:sp>
      <p:sp>
        <p:nvSpPr>
          <p:cNvPr id="28" name="TextBox 27"/>
          <p:cNvSpPr txBox="1"/>
          <p:nvPr/>
        </p:nvSpPr>
        <p:spPr>
          <a:xfrm>
            <a:off x="3968496" y="5884164"/>
            <a:ext cx="2057400" cy="274320"/>
          </a:xfrm>
          <a:prstGeom prst="rect">
            <a:avLst/>
          </a:prstGeom>
          <a:noFill/>
        </p:spPr>
        <p:txBody>
          <a:bodyPr wrap="square" anchor="t" lIns="0" rIns="0" tIns="0" bIns="0">
            <a:spAutoFit/>
          </a:bodyPr>
          <a:lstStyle/>
          <a:p>
            <a:pPr algn="l"/>
            <a:r>
              <a:rPr sz="1300" b="1" i="0">
                <a:solidFill>
                  <a:srgbClr val="F1F5F9"/>
                </a:solidFill>
                <a:latin typeface="Segoe UI"/>
              </a:rPr>
              <a:t>Governance Dashboard</a:t>
            </a:r>
          </a:p>
        </p:txBody>
      </p:sp>
      <p:sp>
        <p:nvSpPr>
          <p:cNvPr id="29" name="TextBox 28"/>
          <p:cNvSpPr txBox="1"/>
          <p:nvPr/>
        </p:nvSpPr>
        <p:spPr>
          <a:xfrm>
            <a:off x="3968496" y="6158484"/>
            <a:ext cx="2057400" cy="237744"/>
          </a:xfrm>
          <a:prstGeom prst="rect">
            <a:avLst/>
          </a:prstGeom>
          <a:noFill/>
        </p:spPr>
        <p:txBody>
          <a:bodyPr wrap="square" anchor="t" lIns="0" rIns="0" tIns="0" bIns="0">
            <a:spAutoFit/>
          </a:bodyPr>
          <a:lstStyle/>
          <a:p>
            <a:pPr algn="l"/>
            <a:r>
              <a:rPr sz="850" b="0" i="0">
                <a:solidFill>
                  <a:srgbClr val="8EA3C0"/>
                </a:solidFill>
                <a:latin typeface="Segoe UI"/>
              </a:rPr>
              <a:t>insight → one-click action</a:t>
            </a:r>
          </a:p>
        </p:txBody>
      </p:sp>
      <p:cxnSp>
        <p:nvCxnSpPr>
          <p:cNvPr id="30" name="Connector 29"/>
          <p:cNvCxnSpPr/>
          <p:nvPr/>
        </p:nvCxnSpPr>
        <p:spPr>
          <a:xfrm>
            <a:off x="4796028" y="2464308"/>
            <a:ext cx="0" cy="256032"/>
          </a:xfrm>
          <a:prstGeom prst="line">
            <a:avLst/>
          </a:prstGeom>
          <a:ln w="25400" cap="rnd">
            <a:solidFill>
              <a:srgbClr val="22D3EE">
                <a:alpha val="80000"/>
              </a:srgbClr>
            </a:solidFill>
            <a:tailEnd type="triangle" w="med" len="med"/>
          </a:ln>
          <a:effectLst>
            <a:glow rad="50800">
              <a:srgbClr val="22D3EE">
                <a:alpha val="60000"/>
              </a:srgbClr>
            </a:glow>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796028" y="3470148"/>
            <a:ext cx="0" cy="256032"/>
          </a:xfrm>
          <a:prstGeom prst="line">
            <a:avLst/>
          </a:prstGeom>
          <a:ln w="25400" cap="rnd">
            <a:solidFill>
              <a:srgbClr val="22D3EE">
                <a:alpha val="80000"/>
              </a:srgbClr>
            </a:solidFill>
            <a:tailEnd type="triangle" w="med" len="med"/>
          </a:ln>
          <a:effectLst>
            <a:glow rad="50800">
              <a:srgbClr val="22D3EE">
                <a:alpha val="60000"/>
              </a:srgbClr>
            </a:glow>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796028" y="4475988"/>
            <a:ext cx="0" cy="256032"/>
          </a:xfrm>
          <a:prstGeom prst="line">
            <a:avLst/>
          </a:prstGeom>
          <a:ln w="25400" cap="rnd">
            <a:solidFill>
              <a:srgbClr val="22D3EE">
                <a:alpha val="80000"/>
              </a:srgbClr>
            </a:solidFill>
            <a:tailEnd type="triangle" w="med" len="med"/>
          </a:ln>
          <a:effectLst>
            <a:glow rad="50800">
              <a:srgbClr val="22D3EE">
                <a:alpha val="60000"/>
              </a:srgbClr>
            </a:glow>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796028" y="5481828"/>
            <a:ext cx="0" cy="256032"/>
          </a:xfrm>
          <a:prstGeom prst="line">
            <a:avLst/>
          </a:prstGeom>
          <a:ln w="25400" cap="rnd">
            <a:solidFill>
              <a:srgbClr val="22D3EE">
                <a:alpha val="80000"/>
              </a:srgbClr>
            </a:solidFill>
            <a:tailEnd type="triangle" w="med" len="med"/>
          </a:ln>
          <a:effectLst>
            <a:glow rad="50800">
              <a:srgbClr val="22D3EE">
                <a:alpha val="60000"/>
              </a:srgbClr>
            </a:glow>
          </a:effectLst>
        </p:spPr>
        <p:style>
          <a:lnRef idx="2">
            <a:schemeClr val="accent1"/>
          </a:lnRef>
          <a:fillRef idx="0">
            <a:schemeClr val="accent1"/>
          </a:fillRef>
          <a:effectRef idx="1">
            <a:schemeClr val="accent1"/>
          </a:effectRef>
          <a:fontRef idx="minor">
            <a:schemeClr val="tx1"/>
          </a:fontRef>
        </p:style>
      </p:cxnSp>
      <p:sp>
        <p:nvSpPr>
          <p:cNvPr id="34" name="sensor0"/>
          <p:cNvSpPr/>
          <p:nvPr/>
        </p:nvSpPr>
        <p:spPr>
          <a:xfrm>
            <a:off x="777240" y="1755648"/>
            <a:ext cx="1965960" cy="457200"/>
          </a:xfrm>
          <a:prstGeom prst="roundRect">
            <a:avLst>
              <a:gd name="adj" fmla="val 50000"/>
            </a:avLst>
          </a:prstGeom>
          <a:ln w="12700" cap="rnd">
            <a:solidFill>
              <a:srgbClr val="9FD8FF">
                <a:alpha val="32000"/>
              </a:srgbClr>
            </a:solidFill>
          </a:ln>
          <a:effectLst/>
          <a:solidFill>
            <a:srgbClr val="0D1B33">
              <a:alpha val="42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44118" y="1949957"/>
            <a:ext cx="68580" cy="68580"/>
          </a:xfrm>
          <a:prstGeom prst="ellipse">
            <a:avLst/>
          </a:prstGeom>
          <a:ln>
            <a:noFill/>
          </a:ln>
          <a:solidFill>
            <a:srgbClr val="22D3EE"/>
          </a:solidFill>
          <a:effectLst>
            <a:glow rad="635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15568" y="1755648"/>
            <a:ext cx="1600200" cy="457200"/>
          </a:xfrm>
          <a:prstGeom prst="rect">
            <a:avLst/>
          </a:prstGeom>
          <a:noFill/>
        </p:spPr>
        <p:txBody>
          <a:bodyPr wrap="square" anchor="ctr" lIns="0" rIns="0" tIns="0" bIns="0">
            <a:spAutoFit/>
          </a:bodyPr>
          <a:lstStyle/>
          <a:p>
            <a:pPr algn="l"/>
            <a:r>
              <a:rPr sz="980" b="0" i="0">
                <a:solidFill>
                  <a:srgbClr val="C9DAF2"/>
                </a:solidFill>
                <a:latin typeface="Segoe UI"/>
              </a:rPr>
              <a:t>Traffic cameras</a:t>
            </a:r>
          </a:p>
        </p:txBody>
      </p:sp>
      <p:cxnSp>
        <p:nvCxnSpPr>
          <p:cNvPr id="37" name="Connector 36"/>
          <p:cNvCxnSpPr/>
          <p:nvPr/>
        </p:nvCxnSpPr>
        <p:spPr>
          <a:xfrm>
            <a:off x="2743200" y="1984248"/>
            <a:ext cx="603504" cy="109728"/>
          </a:xfrm>
          <a:prstGeom prst="line">
            <a:avLst/>
          </a:prstGeom>
          <a:ln w="9525" cap="rnd">
            <a:solidFill>
              <a:srgbClr val="22D3EE">
                <a:alpha val="22000"/>
              </a:srgbClr>
            </a:solidFill>
          </a:ln>
          <a:effectLst/>
        </p:spPr>
        <p:style>
          <a:lnRef idx="2">
            <a:schemeClr val="accent1"/>
          </a:lnRef>
          <a:fillRef idx="0">
            <a:schemeClr val="accent1"/>
          </a:fillRef>
          <a:effectRef idx="1">
            <a:schemeClr val="accent1"/>
          </a:effectRef>
          <a:fontRef idx="minor">
            <a:schemeClr val="tx1"/>
          </a:fontRef>
        </p:style>
      </p:cxnSp>
      <p:sp>
        <p:nvSpPr>
          <p:cNvPr id="38" name="sensor1"/>
          <p:cNvSpPr/>
          <p:nvPr/>
        </p:nvSpPr>
        <p:spPr>
          <a:xfrm>
            <a:off x="777240" y="2304288"/>
            <a:ext cx="1965960" cy="457200"/>
          </a:xfrm>
          <a:prstGeom prst="roundRect">
            <a:avLst>
              <a:gd name="adj" fmla="val 50000"/>
            </a:avLst>
          </a:prstGeom>
          <a:ln w="12700" cap="rnd">
            <a:solidFill>
              <a:srgbClr val="9FD8FF">
                <a:alpha val="32000"/>
              </a:srgbClr>
            </a:solidFill>
          </a:ln>
          <a:effectLst/>
          <a:solidFill>
            <a:srgbClr val="0D1B33">
              <a:alpha val="42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944118" y="2498598"/>
            <a:ext cx="68580" cy="68580"/>
          </a:xfrm>
          <a:prstGeom prst="ellipse">
            <a:avLst/>
          </a:prstGeom>
          <a:ln>
            <a:noFill/>
          </a:ln>
          <a:solidFill>
            <a:srgbClr val="22D3EE"/>
          </a:solidFill>
          <a:effectLst>
            <a:glow rad="635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15568" y="2304288"/>
            <a:ext cx="1600200" cy="457200"/>
          </a:xfrm>
          <a:prstGeom prst="rect">
            <a:avLst/>
          </a:prstGeom>
          <a:noFill/>
        </p:spPr>
        <p:txBody>
          <a:bodyPr wrap="square" anchor="ctr" lIns="0" rIns="0" tIns="0" bIns="0">
            <a:spAutoFit/>
          </a:bodyPr>
          <a:lstStyle/>
          <a:p>
            <a:pPr algn="l"/>
            <a:r>
              <a:rPr sz="980" b="0" i="0">
                <a:solidFill>
                  <a:srgbClr val="C9DAF2"/>
                </a:solidFill>
                <a:latin typeface="Segoe UI"/>
              </a:rPr>
              <a:t>Air quality sensors</a:t>
            </a:r>
          </a:p>
        </p:txBody>
      </p:sp>
      <p:cxnSp>
        <p:nvCxnSpPr>
          <p:cNvPr id="41" name="Connector 40"/>
          <p:cNvCxnSpPr/>
          <p:nvPr/>
        </p:nvCxnSpPr>
        <p:spPr>
          <a:xfrm flipV="1">
            <a:off x="2743200" y="2093976"/>
            <a:ext cx="603504" cy="438912"/>
          </a:xfrm>
          <a:prstGeom prst="line">
            <a:avLst/>
          </a:prstGeom>
          <a:ln w="9525" cap="rnd">
            <a:solidFill>
              <a:srgbClr val="22D3EE">
                <a:alpha val="22000"/>
              </a:srgbClr>
            </a:solidFill>
          </a:ln>
          <a:effectLst/>
        </p:spPr>
        <p:style>
          <a:lnRef idx="2">
            <a:schemeClr val="accent1"/>
          </a:lnRef>
          <a:fillRef idx="0">
            <a:schemeClr val="accent1"/>
          </a:fillRef>
          <a:effectRef idx="1">
            <a:schemeClr val="accent1"/>
          </a:effectRef>
          <a:fontRef idx="minor">
            <a:schemeClr val="tx1"/>
          </a:fontRef>
        </p:style>
      </p:cxnSp>
      <p:sp>
        <p:nvSpPr>
          <p:cNvPr id="42" name="sensor2"/>
          <p:cNvSpPr/>
          <p:nvPr/>
        </p:nvSpPr>
        <p:spPr>
          <a:xfrm>
            <a:off x="777240" y="2852928"/>
            <a:ext cx="1965960" cy="457200"/>
          </a:xfrm>
          <a:prstGeom prst="roundRect">
            <a:avLst>
              <a:gd name="adj" fmla="val 50000"/>
            </a:avLst>
          </a:prstGeom>
          <a:ln w="12700" cap="rnd">
            <a:solidFill>
              <a:srgbClr val="9FD8FF">
                <a:alpha val="32000"/>
              </a:srgbClr>
            </a:solidFill>
          </a:ln>
          <a:effectLst/>
          <a:solidFill>
            <a:srgbClr val="0D1B33">
              <a:alpha val="42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944118" y="3047238"/>
            <a:ext cx="68580" cy="68580"/>
          </a:xfrm>
          <a:prstGeom prst="ellipse">
            <a:avLst/>
          </a:prstGeom>
          <a:ln>
            <a:noFill/>
          </a:ln>
          <a:solidFill>
            <a:srgbClr val="22D3EE"/>
          </a:solidFill>
          <a:effectLst>
            <a:glow rad="635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115568" y="2852928"/>
            <a:ext cx="1600200" cy="457200"/>
          </a:xfrm>
          <a:prstGeom prst="rect">
            <a:avLst/>
          </a:prstGeom>
          <a:noFill/>
        </p:spPr>
        <p:txBody>
          <a:bodyPr wrap="square" anchor="ctr" lIns="0" rIns="0" tIns="0" bIns="0">
            <a:spAutoFit/>
          </a:bodyPr>
          <a:lstStyle/>
          <a:p>
            <a:pPr algn="l"/>
            <a:r>
              <a:rPr sz="980" b="0" i="0">
                <a:solidFill>
                  <a:srgbClr val="C9DAF2"/>
                </a:solidFill>
                <a:latin typeface="Segoe UI"/>
              </a:rPr>
              <a:t>Smart meters</a:t>
            </a:r>
          </a:p>
        </p:txBody>
      </p:sp>
      <p:cxnSp>
        <p:nvCxnSpPr>
          <p:cNvPr id="45" name="Connector 44"/>
          <p:cNvCxnSpPr/>
          <p:nvPr/>
        </p:nvCxnSpPr>
        <p:spPr>
          <a:xfrm flipV="1">
            <a:off x="2743200" y="2093976"/>
            <a:ext cx="603504" cy="987552"/>
          </a:xfrm>
          <a:prstGeom prst="line">
            <a:avLst/>
          </a:prstGeom>
          <a:ln w="9525" cap="rnd">
            <a:solidFill>
              <a:srgbClr val="22D3EE">
                <a:alpha val="22000"/>
              </a:srgbClr>
            </a:solidFill>
          </a:ln>
          <a:effectLst/>
        </p:spPr>
        <p:style>
          <a:lnRef idx="2">
            <a:schemeClr val="accent1"/>
          </a:lnRef>
          <a:fillRef idx="0">
            <a:schemeClr val="accent1"/>
          </a:fillRef>
          <a:effectRef idx="1">
            <a:schemeClr val="accent1"/>
          </a:effectRef>
          <a:fontRef idx="minor">
            <a:schemeClr val="tx1"/>
          </a:fontRef>
        </p:style>
      </p:cxnSp>
      <p:sp>
        <p:nvSpPr>
          <p:cNvPr id="46" name="sensor3"/>
          <p:cNvSpPr/>
          <p:nvPr/>
        </p:nvSpPr>
        <p:spPr>
          <a:xfrm>
            <a:off x="777240" y="3401568"/>
            <a:ext cx="1965960" cy="457200"/>
          </a:xfrm>
          <a:prstGeom prst="roundRect">
            <a:avLst>
              <a:gd name="adj" fmla="val 50000"/>
            </a:avLst>
          </a:prstGeom>
          <a:ln w="12700" cap="rnd">
            <a:solidFill>
              <a:srgbClr val="9FD8FF">
                <a:alpha val="32000"/>
              </a:srgbClr>
            </a:solidFill>
          </a:ln>
          <a:effectLst/>
          <a:solidFill>
            <a:srgbClr val="0D1B33">
              <a:alpha val="42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944118" y="3595877"/>
            <a:ext cx="68580" cy="68580"/>
          </a:xfrm>
          <a:prstGeom prst="ellipse">
            <a:avLst/>
          </a:prstGeom>
          <a:ln>
            <a:noFill/>
          </a:ln>
          <a:solidFill>
            <a:srgbClr val="22D3EE"/>
          </a:solidFill>
          <a:effectLst>
            <a:glow rad="635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115568" y="3401568"/>
            <a:ext cx="1600200" cy="457200"/>
          </a:xfrm>
          <a:prstGeom prst="rect">
            <a:avLst/>
          </a:prstGeom>
          <a:noFill/>
        </p:spPr>
        <p:txBody>
          <a:bodyPr wrap="square" anchor="ctr" lIns="0" rIns="0" tIns="0" bIns="0">
            <a:spAutoFit/>
          </a:bodyPr>
          <a:lstStyle/>
          <a:p>
            <a:pPr algn="l"/>
            <a:r>
              <a:rPr sz="980" b="0" i="0">
                <a:solidFill>
                  <a:srgbClr val="C9DAF2"/>
                </a:solidFill>
                <a:latin typeface="Segoe UI"/>
              </a:rPr>
              <a:t>Road vibration sensors</a:t>
            </a:r>
          </a:p>
        </p:txBody>
      </p:sp>
      <p:cxnSp>
        <p:nvCxnSpPr>
          <p:cNvPr id="49" name="Connector 48"/>
          <p:cNvCxnSpPr/>
          <p:nvPr/>
        </p:nvCxnSpPr>
        <p:spPr>
          <a:xfrm flipV="1">
            <a:off x="2743200" y="2093976"/>
            <a:ext cx="603504" cy="1536192"/>
          </a:xfrm>
          <a:prstGeom prst="line">
            <a:avLst/>
          </a:prstGeom>
          <a:ln w="9525" cap="rnd">
            <a:solidFill>
              <a:srgbClr val="22D3EE">
                <a:alpha val="22000"/>
              </a:srgbClr>
            </a:solidFill>
          </a:ln>
          <a:effectLst/>
        </p:spPr>
        <p:style>
          <a:lnRef idx="2">
            <a:schemeClr val="accent1"/>
          </a:lnRef>
          <a:fillRef idx="0">
            <a:schemeClr val="accent1"/>
          </a:fillRef>
          <a:effectRef idx="1">
            <a:schemeClr val="accent1"/>
          </a:effectRef>
          <a:fontRef idx="minor">
            <a:schemeClr val="tx1"/>
          </a:fontRef>
        </p:style>
      </p:cxnSp>
      <p:sp>
        <p:nvSpPr>
          <p:cNvPr id="50" name="sensor4"/>
          <p:cNvSpPr/>
          <p:nvPr/>
        </p:nvSpPr>
        <p:spPr>
          <a:xfrm>
            <a:off x="777240" y="3950208"/>
            <a:ext cx="1965960" cy="457200"/>
          </a:xfrm>
          <a:prstGeom prst="roundRect">
            <a:avLst>
              <a:gd name="adj" fmla="val 50000"/>
            </a:avLst>
          </a:prstGeom>
          <a:ln w="12700" cap="rnd">
            <a:solidFill>
              <a:srgbClr val="9FD8FF">
                <a:alpha val="32000"/>
              </a:srgbClr>
            </a:solidFill>
          </a:ln>
          <a:effectLst/>
          <a:solidFill>
            <a:srgbClr val="0D1B33">
              <a:alpha val="42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944118" y="4144518"/>
            <a:ext cx="68580" cy="68580"/>
          </a:xfrm>
          <a:prstGeom prst="ellipse">
            <a:avLst/>
          </a:prstGeom>
          <a:ln>
            <a:noFill/>
          </a:ln>
          <a:solidFill>
            <a:srgbClr val="22D3EE"/>
          </a:solidFill>
          <a:effectLst>
            <a:glow rad="635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115568" y="3950208"/>
            <a:ext cx="1600200" cy="457200"/>
          </a:xfrm>
          <a:prstGeom prst="rect">
            <a:avLst/>
          </a:prstGeom>
          <a:noFill/>
        </p:spPr>
        <p:txBody>
          <a:bodyPr wrap="square" anchor="ctr" lIns="0" rIns="0" tIns="0" bIns="0">
            <a:spAutoFit/>
          </a:bodyPr>
          <a:lstStyle/>
          <a:p>
            <a:pPr algn="l"/>
            <a:r>
              <a:rPr sz="980" b="0" i="0">
                <a:solidFill>
                  <a:srgbClr val="C9DAF2"/>
                </a:solidFill>
                <a:latin typeface="Segoe UI"/>
              </a:rPr>
              <a:t>Weather feeds</a:t>
            </a:r>
          </a:p>
        </p:txBody>
      </p:sp>
      <p:cxnSp>
        <p:nvCxnSpPr>
          <p:cNvPr id="53" name="Connector 52"/>
          <p:cNvCxnSpPr/>
          <p:nvPr/>
        </p:nvCxnSpPr>
        <p:spPr>
          <a:xfrm flipV="1">
            <a:off x="2743200" y="2093976"/>
            <a:ext cx="603504" cy="2084832"/>
          </a:xfrm>
          <a:prstGeom prst="line">
            <a:avLst/>
          </a:prstGeom>
          <a:ln w="9525" cap="rnd">
            <a:solidFill>
              <a:srgbClr val="22D3EE">
                <a:alpha val="22000"/>
              </a:srgbClr>
            </a:solidFill>
          </a:ln>
          <a:effectLst/>
        </p:spPr>
        <p:style>
          <a:lnRef idx="2">
            <a:schemeClr val="accent1"/>
          </a:lnRef>
          <a:fillRef idx="0">
            <a:schemeClr val="accent1"/>
          </a:fillRef>
          <a:effectRef idx="1">
            <a:schemeClr val="accent1"/>
          </a:effectRef>
          <a:fontRef idx="minor">
            <a:schemeClr val="tx1"/>
          </a:fontRef>
        </p:style>
      </p:cxnSp>
      <p:sp>
        <p:nvSpPr>
          <p:cNvPr id="54" name="whyCard"/>
          <p:cNvSpPr/>
          <p:nvPr/>
        </p:nvSpPr>
        <p:spPr>
          <a:xfrm>
            <a:off x="7589520" y="1755648"/>
            <a:ext cx="4041648" cy="3977639"/>
          </a:xfrm>
          <a:prstGeom prst="roundRect">
            <a:avLst>
              <a:gd name="adj" fmla="val 16000"/>
            </a:avLst>
          </a:prstGeom>
          <a:ln w="12700" cap="rnd">
            <a:solidFill>
              <a:srgbClr val="22D3EE">
                <a:alpha val="24000"/>
              </a:srgbClr>
            </a:solidFill>
          </a:ln>
          <a:effectLst/>
          <a:solidFill>
            <a:srgbClr val="0D1B33">
              <a:alpha val="5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863840" y="1993392"/>
            <a:ext cx="3474720" cy="274320"/>
          </a:xfrm>
          <a:prstGeom prst="rect">
            <a:avLst/>
          </a:prstGeom>
          <a:noFill/>
        </p:spPr>
        <p:txBody>
          <a:bodyPr wrap="square" anchor="t" lIns="0" rIns="0" tIns="0" bIns="0">
            <a:spAutoFit/>
          </a:bodyPr>
          <a:lstStyle/>
          <a:p>
            <a:pPr algn="l"/>
            <a:r>
              <a:rPr sz="1000" b="1" i="0" spc="240">
                <a:solidFill>
                  <a:srgbClr val="9FD8FF"/>
                </a:solidFill>
                <a:latin typeface="Segoe UI"/>
              </a:rPr>
              <a:t>DESIGNED FOR THE REAL WORLD</a:t>
            </a:r>
          </a:p>
        </p:txBody>
      </p:sp>
      <p:sp>
        <p:nvSpPr>
          <p:cNvPr id="56" name="TextBox 55"/>
          <p:cNvSpPr txBox="1"/>
          <p:nvPr/>
        </p:nvSpPr>
        <p:spPr>
          <a:xfrm>
            <a:off x="7863840" y="2395728"/>
            <a:ext cx="3566160" cy="685800"/>
          </a:xfrm>
          <a:prstGeom prst="rect">
            <a:avLst/>
          </a:prstGeom>
          <a:noFill/>
        </p:spPr>
        <p:txBody>
          <a:bodyPr wrap="square" anchor="t" lIns="0" rIns="0" tIns="0" bIns="0">
            <a:spAutoFit/>
          </a:bodyPr>
          <a:lstStyle/>
          <a:p>
            <a:pPr algn="l"/>
            <a:r>
              <a:rPr sz="3400" b="1" i="0">
                <a:gradFill>
                  <a:gsLst>
                    <a:gs pos="0">
                      <a:srgbClr val="22D3EE"/>
                    </a:gs>
                    <a:gs pos="100000">
                      <a:srgbClr val="8B5CF6"/>
                    </a:gs>
                  </a:gsLst>
                  <a:lin ang="0" scaled="1"/>
                </a:gradFill>
                <a:latin typeface="Segoe UI"/>
              </a:rPr>
              <a:t>≈ 1 s</a:t>
            </a:r>
          </a:p>
        </p:txBody>
      </p:sp>
      <p:sp>
        <p:nvSpPr>
          <p:cNvPr id="57" name="TextBox 56"/>
          <p:cNvSpPr txBox="1"/>
          <p:nvPr/>
        </p:nvSpPr>
        <p:spPr>
          <a:xfrm>
            <a:off x="7863840" y="3072384"/>
            <a:ext cx="3566160" cy="274320"/>
          </a:xfrm>
          <a:prstGeom prst="rect">
            <a:avLst/>
          </a:prstGeom>
          <a:noFill/>
        </p:spPr>
        <p:txBody>
          <a:bodyPr wrap="square" anchor="t" lIns="0" rIns="0" tIns="0" bIns="0">
            <a:spAutoFit/>
          </a:bodyPr>
          <a:lstStyle/>
          <a:p>
            <a:pPr algn="l"/>
            <a:r>
              <a:rPr sz="1050" b="0" i="0">
                <a:solidFill>
                  <a:srgbClr val="8EA3C0"/>
                </a:solidFill>
                <a:latin typeface="Segoe UI"/>
              </a:rPr>
              <a:t>sensor → decision latency</a:t>
            </a:r>
          </a:p>
        </p:txBody>
      </p:sp>
      <p:cxnSp>
        <p:nvCxnSpPr>
          <p:cNvPr id="58" name="Connector 57"/>
          <p:cNvCxnSpPr/>
          <p:nvPr/>
        </p:nvCxnSpPr>
        <p:spPr>
          <a:xfrm>
            <a:off x="7863840" y="3529584"/>
            <a:ext cx="3493008" cy="0"/>
          </a:xfrm>
          <a:prstGeom prst="line">
            <a:avLst/>
          </a:prstGeom>
          <a:ln w="9525" cap="rnd">
            <a:solidFill>
              <a:srgbClr val="1B2B4A">
                <a:alpha val="70000"/>
              </a:srgbClr>
            </a:solidFill>
          </a:ln>
          <a:effectLst/>
        </p:spPr>
        <p:style>
          <a:lnRef idx="2">
            <a:schemeClr val="accent1"/>
          </a:lnRef>
          <a:fillRef idx="0">
            <a:schemeClr val="accent1"/>
          </a:fillRef>
          <a:effectRef idx="1">
            <a:schemeClr val="accent1"/>
          </a:effectRef>
          <a:fontRef idx="minor">
            <a:schemeClr val="tx1"/>
          </a:fontRef>
        </p:style>
      </p:cxnSp>
      <p:sp>
        <p:nvSpPr>
          <p:cNvPr id="59" name="Oval 58"/>
          <p:cNvSpPr/>
          <p:nvPr/>
        </p:nvSpPr>
        <p:spPr>
          <a:xfrm>
            <a:off x="7918704" y="3776472"/>
            <a:ext cx="219456" cy="219456"/>
          </a:xfrm>
          <a:prstGeom prst="ellipse">
            <a:avLst/>
          </a:prstGeom>
          <a:ln w="15240" cap="rnd">
            <a:solidFill>
              <a:srgbClr val="22D3EE">
                <a:alpha val="70000"/>
              </a:srgbClr>
            </a:solidFill>
          </a:ln>
          <a:effectLst/>
          <a:solidFill>
            <a:srgbClr val="22D3EE">
              <a:alpha val="1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0" name="Connector 59"/>
          <p:cNvCxnSpPr/>
          <p:nvPr/>
        </p:nvCxnSpPr>
        <p:spPr>
          <a:xfrm>
            <a:off x="7982712" y="3890772"/>
            <a:ext cx="32004" cy="36576"/>
          </a:xfrm>
          <a:prstGeom prst="line">
            <a:avLst/>
          </a:prstGeom>
          <a:ln w="17780" cap="rnd">
            <a:solidFill>
              <a:srgbClr val="22D3EE">
                <a:alpha val="95000"/>
              </a:srgbClr>
            </a:solidFill>
          </a:ln>
          <a:effectLst/>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8014716" y="3835908"/>
            <a:ext cx="77724" cy="91440"/>
          </a:xfrm>
          <a:prstGeom prst="line">
            <a:avLst/>
          </a:prstGeom>
          <a:ln w="17780" cap="rnd">
            <a:solidFill>
              <a:srgbClr val="22D3EE">
                <a:alpha val="95000"/>
              </a:srgbClr>
            </a:solidFill>
          </a:ln>
          <a:effectLst/>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8339327" y="3767328"/>
            <a:ext cx="3108960" cy="256032"/>
          </a:xfrm>
          <a:prstGeom prst="rect">
            <a:avLst/>
          </a:prstGeom>
          <a:noFill/>
        </p:spPr>
        <p:txBody>
          <a:bodyPr wrap="square" anchor="t" lIns="0" rIns="0" tIns="0" bIns="0">
            <a:spAutoFit/>
          </a:bodyPr>
          <a:lstStyle/>
          <a:p>
            <a:pPr algn="l"/>
            <a:r>
              <a:rPr sz="1150" b="1" i="0">
                <a:solidFill>
                  <a:srgbClr val="F1F5F9"/>
                </a:solidFill>
                <a:latin typeface="Segoe UI"/>
              </a:rPr>
              <a:t>Modular microservices</a:t>
            </a:r>
          </a:p>
        </p:txBody>
      </p:sp>
      <p:sp>
        <p:nvSpPr>
          <p:cNvPr id="63" name="TextBox 62"/>
          <p:cNvSpPr txBox="1"/>
          <p:nvPr/>
        </p:nvSpPr>
        <p:spPr>
          <a:xfrm>
            <a:off x="8339327" y="4005072"/>
            <a:ext cx="3108960" cy="237744"/>
          </a:xfrm>
          <a:prstGeom prst="rect">
            <a:avLst/>
          </a:prstGeom>
          <a:noFill/>
        </p:spPr>
        <p:txBody>
          <a:bodyPr wrap="square" anchor="t" lIns="0" rIns="0" tIns="0" bIns="0">
            <a:spAutoFit/>
          </a:bodyPr>
          <a:lstStyle/>
          <a:p>
            <a:pPr algn="l"/>
            <a:r>
              <a:rPr sz="850" b="0" i="0">
                <a:solidFill>
                  <a:srgbClr val="8EA3C0"/>
                </a:solidFill>
                <a:latin typeface="Segoe UI"/>
              </a:rPr>
              <a:t>swap any layer without downtime</a:t>
            </a:r>
          </a:p>
        </p:txBody>
      </p:sp>
      <p:sp>
        <p:nvSpPr>
          <p:cNvPr id="64" name="Oval 63"/>
          <p:cNvSpPr/>
          <p:nvPr/>
        </p:nvSpPr>
        <p:spPr>
          <a:xfrm>
            <a:off x="7918704" y="4398264"/>
            <a:ext cx="219456" cy="219456"/>
          </a:xfrm>
          <a:prstGeom prst="ellipse">
            <a:avLst/>
          </a:prstGeom>
          <a:ln w="15240" cap="rnd">
            <a:solidFill>
              <a:srgbClr val="22D3EE">
                <a:alpha val="70000"/>
              </a:srgbClr>
            </a:solidFill>
          </a:ln>
          <a:effectLst/>
          <a:solidFill>
            <a:srgbClr val="22D3EE">
              <a:alpha val="1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5" name="Connector 64"/>
          <p:cNvCxnSpPr/>
          <p:nvPr/>
        </p:nvCxnSpPr>
        <p:spPr>
          <a:xfrm>
            <a:off x="7982712" y="4512564"/>
            <a:ext cx="32004" cy="36576"/>
          </a:xfrm>
          <a:prstGeom prst="line">
            <a:avLst/>
          </a:prstGeom>
          <a:ln w="17780" cap="rnd">
            <a:solidFill>
              <a:srgbClr val="22D3EE">
                <a:alpha val="95000"/>
              </a:srgbClr>
            </a:solidFill>
          </a:ln>
          <a:effectLst/>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8014716" y="4457700"/>
            <a:ext cx="77724" cy="91440"/>
          </a:xfrm>
          <a:prstGeom prst="line">
            <a:avLst/>
          </a:prstGeom>
          <a:ln w="17780" cap="rnd">
            <a:solidFill>
              <a:srgbClr val="22D3EE">
                <a:alpha val="95000"/>
              </a:srgbClr>
            </a:solidFill>
          </a:ln>
          <a:effectLst/>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8339327" y="4389120"/>
            <a:ext cx="3108960" cy="256032"/>
          </a:xfrm>
          <a:prstGeom prst="rect">
            <a:avLst/>
          </a:prstGeom>
          <a:noFill/>
        </p:spPr>
        <p:txBody>
          <a:bodyPr wrap="square" anchor="t" lIns="0" rIns="0" tIns="0" bIns="0">
            <a:spAutoFit/>
          </a:bodyPr>
          <a:lstStyle/>
          <a:p>
            <a:pPr algn="l"/>
            <a:r>
              <a:rPr sz="1150" b="1" i="0">
                <a:solidFill>
                  <a:srgbClr val="F1F5F9"/>
                </a:solidFill>
                <a:latin typeface="Segoe UI"/>
              </a:rPr>
              <a:t>Open standards</a:t>
            </a:r>
          </a:p>
        </p:txBody>
      </p:sp>
      <p:sp>
        <p:nvSpPr>
          <p:cNvPr id="68" name="TextBox 67"/>
          <p:cNvSpPr txBox="1"/>
          <p:nvPr/>
        </p:nvSpPr>
        <p:spPr>
          <a:xfrm>
            <a:off x="8339327" y="4626864"/>
            <a:ext cx="3108960" cy="237744"/>
          </a:xfrm>
          <a:prstGeom prst="rect">
            <a:avLst/>
          </a:prstGeom>
          <a:noFill/>
        </p:spPr>
        <p:txBody>
          <a:bodyPr wrap="square" anchor="t" lIns="0" rIns="0" tIns="0" bIns="0">
            <a:spAutoFit/>
          </a:bodyPr>
          <a:lstStyle/>
          <a:p>
            <a:pPr algn="l"/>
            <a:r>
              <a:rPr sz="850" b="0" i="0">
                <a:solidFill>
                  <a:srgbClr val="8EA3C0"/>
                </a:solidFill>
                <a:latin typeface="Segoe UI"/>
              </a:rPr>
              <a:t>GeoJSON · REST · WebSockets everywhere</a:t>
            </a:r>
          </a:p>
        </p:txBody>
      </p:sp>
      <p:sp>
        <p:nvSpPr>
          <p:cNvPr id="69" name="Oval 68"/>
          <p:cNvSpPr/>
          <p:nvPr/>
        </p:nvSpPr>
        <p:spPr>
          <a:xfrm>
            <a:off x="7918704" y="5020056"/>
            <a:ext cx="219456" cy="219456"/>
          </a:xfrm>
          <a:prstGeom prst="ellipse">
            <a:avLst/>
          </a:prstGeom>
          <a:ln w="15240" cap="rnd">
            <a:solidFill>
              <a:srgbClr val="22D3EE">
                <a:alpha val="70000"/>
              </a:srgbClr>
            </a:solidFill>
          </a:ln>
          <a:effectLst/>
          <a:solidFill>
            <a:srgbClr val="22D3EE">
              <a:alpha val="1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0" name="Connector 69"/>
          <p:cNvCxnSpPr/>
          <p:nvPr/>
        </p:nvCxnSpPr>
        <p:spPr>
          <a:xfrm>
            <a:off x="7982712" y="5134356"/>
            <a:ext cx="32004" cy="36576"/>
          </a:xfrm>
          <a:prstGeom prst="line">
            <a:avLst/>
          </a:prstGeom>
          <a:ln w="17780" cap="rnd">
            <a:solidFill>
              <a:srgbClr val="22D3EE">
                <a:alpha val="95000"/>
              </a:srgbClr>
            </a:solidFill>
          </a:ln>
          <a:effectLst/>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8014716" y="5079492"/>
            <a:ext cx="77724" cy="91440"/>
          </a:xfrm>
          <a:prstGeom prst="line">
            <a:avLst/>
          </a:prstGeom>
          <a:ln w="17780" cap="rnd">
            <a:solidFill>
              <a:srgbClr val="22D3EE">
                <a:alpha val="95000"/>
              </a:srgbClr>
            </a:solidFill>
          </a:ln>
          <a:effectLst/>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8339327" y="5010912"/>
            <a:ext cx="3108960" cy="256032"/>
          </a:xfrm>
          <a:prstGeom prst="rect">
            <a:avLst/>
          </a:prstGeom>
          <a:noFill/>
        </p:spPr>
        <p:txBody>
          <a:bodyPr wrap="square" anchor="t" lIns="0" rIns="0" tIns="0" bIns="0">
            <a:spAutoFit/>
          </a:bodyPr>
          <a:lstStyle/>
          <a:p>
            <a:pPr algn="l"/>
            <a:r>
              <a:rPr sz="1150" b="1" i="0">
                <a:solidFill>
                  <a:srgbClr val="F1F5F9"/>
                </a:solidFill>
                <a:latin typeface="Segoe UI"/>
              </a:rPr>
              <a:t>Ward → megacity</a:t>
            </a:r>
          </a:p>
        </p:txBody>
      </p:sp>
      <p:sp>
        <p:nvSpPr>
          <p:cNvPr id="73" name="TextBox 72"/>
          <p:cNvSpPr txBox="1"/>
          <p:nvPr/>
        </p:nvSpPr>
        <p:spPr>
          <a:xfrm>
            <a:off x="8339327" y="5248656"/>
            <a:ext cx="3108960" cy="237744"/>
          </a:xfrm>
          <a:prstGeom prst="rect">
            <a:avLst/>
          </a:prstGeom>
          <a:noFill/>
        </p:spPr>
        <p:txBody>
          <a:bodyPr wrap="square" anchor="t" lIns="0" rIns="0" tIns="0" bIns="0">
            <a:spAutoFit/>
          </a:bodyPr>
          <a:lstStyle/>
          <a:p>
            <a:pPr algn="l"/>
            <a:r>
              <a:rPr sz="850" b="0" i="0">
                <a:solidFill>
                  <a:srgbClr val="8EA3C0"/>
                </a:solidFill>
                <a:latin typeface="Segoe UI"/>
              </a:rPr>
              <a:t>same codebase, linear scale-out</a:t>
            </a:r>
          </a:p>
        </p:txBody>
      </p:sp>
      <p:sp>
        <p:nvSpPr>
          <p:cNvPr id="74" name="Oval 73"/>
          <p:cNvSpPr/>
          <p:nvPr/>
        </p:nvSpPr>
        <p:spPr>
          <a:xfrm>
            <a:off x="4768596" y="2423160"/>
            <a:ext cx="54864" cy="54864"/>
          </a:xfrm>
          <a:prstGeom prst="ellipse">
            <a:avLst/>
          </a:prstGeom>
          <a:ln>
            <a:noFill/>
          </a:ln>
          <a:solidFill>
            <a:srgbClr val="22D3EE"/>
          </a:solidFill>
          <a:effectLst>
            <a:glow rad="762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4768596" y="2423160"/>
            <a:ext cx="54864" cy="54864"/>
          </a:xfrm>
          <a:prstGeom prst="ellipse">
            <a:avLst/>
          </a:prstGeom>
          <a:ln>
            <a:noFill/>
          </a:ln>
          <a:solidFill>
            <a:srgbClr val="22D3EE"/>
          </a:solidFill>
          <a:effectLst>
            <a:glow rad="762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4768596" y="2423160"/>
            <a:ext cx="54864" cy="54864"/>
          </a:xfrm>
          <a:prstGeom prst="ellipse">
            <a:avLst/>
          </a:prstGeom>
          <a:ln>
            <a:noFill/>
          </a:ln>
          <a:solidFill>
            <a:srgbClr val="22D3EE"/>
          </a:solidFill>
          <a:effectLst>
            <a:glow rad="762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4768596" y="2423160"/>
            <a:ext cx="54864" cy="54864"/>
          </a:xfrm>
          <a:prstGeom prst="ellipse">
            <a:avLst/>
          </a:prstGeom>
          <a:ln>
            <a:noFill/>
          </a:ln>
          <a:solidFill>
            <a:srgbClr val="22D3EE"/>
          </a:solidFill>
          <a:effectLst>
            <a:glow rad="762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mc:AlternateContent xmlns:mc="http://schemas.openxmlformats.org/markup-compatibility/2006">
    <mc:Choice xmlns:p14="http://schemas.microsoft.com/office/powerpoint/2010/main" Requires="p14">
      <p:transition spd="slow" p14:dur="1100">
        <p14:morph option="byObject"/>
      </p:transition>
    </mc:Choice>
    <mc:Fallback>
      <p:transition spd="slow" advClick="1">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64" presetClass="path" presetSubtype="0" fill="hold" grpId="0" nodeType="withEffect">
                                  <p:stCondLst>
                                    <p:cond delay="1800"/>
                                  </p:stCondLst>
                                  <p:childTnLst>
                                    <p:animMotion origin="layout" path="M 0 0 L 0 0.405" pathEditMode="relative" rAng="0" ptsTypes="">
                                      <p:cBhvr>
                                        <p:cTn id="6" dur="3000" fill="hold" repeatCount="indefinite"/>
                                        <p:tgtEl>
                                          <p:spTgt spid="74"/>
                                        </p:tgtEl>
                                      </p:cBhvr>
                                    </p:animMotion>
                                  </p:childTnLst>
                                </p:cTn>
                              </p:par>
                              <p:par>
                                <p:cTn id="9" presetID="8" presetClass="emph" presetSubtype="0" fill="hold" grpId="0" nodeType="withEffect">
                                  <p:stCondLst>
                                    <p:cond delay="1800"/>
                                  </p:stCondLst>
                                  <p:childTnLst>
                                    <p:animEffect transition="out" filter="fade">
                                      <p:cBhvr>
                                        <p:cTn id="8" dur="3000" autoRev="1" repeatCount="indefinite"/>
                                        <p:tgtEl>
                                          <p:spTgt spid="74"/>
                                        </p:tgtEl>
                                      </p:cBhvr>
                                    </p:animEffect>
                                  </p:childTnLst>
                                </p:cTn>
                              </p:par>
                              <p:par>
                                <p:cTn id="11" presetID="64" presetClass="path" presetSubtype="0" fill="hold" grpId="0" nodeType="withEffect">
                                  <p:stCondLst>
                                    <p:cond delay="2550"/>
                                  </p:stCondLst>
                                  <p:childTnLst>
                                    <p:animMotion origin="layout" path="M 0 0 L 0 0.405" pathEditMode="relative" rAng="0" ptsTypes="">
                                      <p:cBhvr>
                                        <p:cTn id="10" dur="3000" fill="hold" repeatCount="indefinite"/>
                                        <p:tgtEl>
                                          <p:spTgt spid="75"/>
                                        </p:tgtEl>
                                      </p:cBhvr>
                                    </p:animMotion>
                                  </p:childTnLst>
                                </p:cTn>
                              </p:par>
                              <p:par>
                                <p:cTn id="13" presetID="8" presetClass="emph" presetSubtype="0" fill="hold" grpId="0" nodeType="withEffect">
                                  <p:stCondLst>
                                    <p:cond delay="2550"/>
                                  </p:stCondLst>
                                  <p:childTnLst>
                                    <p:animEffect transition="out" filter="fade">
                                      <p:cBhvr>
                                        <p:cTn id="12" dur="3000" autoRev="1" repeatCount="indefinite"/>
                                        <p:tgtEl>
                                          <p:spTgt spid="75"/>
                                        </p:tgtEl>
                                      </p:cBhvr>
                                    </p:animEffect>
                                  </p:childTnLst>
                                </p:cTn>
                              </p:par>
                              <p:par>
                                <p:cTn id="15" presetID="64" presetClass="path" presetSubtype="0" fill="hold" grpId="0" nodeType="withEffect">
                                  <p:stCondLst>
                                    <p:cond delay="3300"/>
                                  </p:stCondLst>
                                  <p:childTnLst>
                                    <p:animMotion origin="layout" path="M 0 0 L 0 0.405" pathEditMode="relative" rAng="0" ptsTypes="">
                                      <p:cBhvr>
                                        <p:cTn id="14" dur="3000" fill="hold" repeatCount="indefinite"/>
                                        <p:tgtEl>
                                          <p:spTgt spid="76"/>
                                        </p:tgtEl>
                                      </p:cBhvr>
                                    </p:animMotion>
                                  </p:childTnLst>
                                </p:cTn>
                              </p:par>
                              <p:par>
                                <p:cTn id="17" presetID="8" presetClass="emph" presetSubtype="0" fill="hold" grpId="0" nodeType="withEffect">
                                  <p:stCondLst>
                                    <p:cond delay="3300"/>
                                  </p:stCondLst>
                                  <p:childTnLst>
                                    <p:animEffect transition="out" filter="fade">
                                      <p:cBhvr>
                                        <p:cTn id="16" dur="3000" autoRev="1" repeatCount="indefinite"/>
                                        <p:tgtEl>
                                          <p:spTgt spid="76"/>
                                        </p:tgtEl>
                                      </p:cBhvr>
                                    </p:animEffect>
                                  </p:childTnLst>
                                </p:cTn>
                              </p:par>
                              <p:par>
                                <p:cTn id="19" presetID="64" presetClass="path" presetSubtype="0" fill="hold" grpId="0" nodeType="withEffect">
                                  <p:stCondLst>
                                    <p:cond delay="4050"/>
                                  </p:stCondLst>
                                  <p:childTnLst>
                                    <p:animMotion origin="layout" path="M 0 0 L 0 0.405" pathEditMode="relative" rAng="0" ptsTypes="">
                                      <p:cBhvr>
                                        <p:cTn id="18" dur="3000" fill="hold" repeatCount="indefinite"/>
                                        <p:tgtEl>
                                          <p:spTgt spid="77"/>
                                        </p:tgtEl>
                                      </p:cBhvr>
                                    </p:animMotion>
                                  </p:childTnLst>
                                </p:cTn>
                              </p:par>
                              <p:par>
                                <p:cTn id="21" presetID="8" presetClass="emph" presetSubtype="0" fill="hold" grpId="0" nodeType="withEffect">
                                  <p:stCondLst>
                                    <p:cond delay="4050"/>
                                  </p:stCondLst>
                                  <p:childTnLst>
                                    <p:animEffect transition="out" filter="fade">
                                      <p:cBhvr>
                                        <p:cTn id="20" dur="3000" autoRev="1" repeatCount="indefinite"/>
                                        <p:tgtEl>
                                          <p:spTgt spid="77"/>
                                        </p:tgtEl>
                                      </p:cBhvr>
                                    </p:animEffect>
                                  </p:childTnLst>
                                </p:cTn>
                              </p:par>
                              <p:par>
                                <p:cTn id="24" presetID="22" presetClass="entr" presetSubtype="2" fill="hold" grpId="0" nodeType="click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wipe(fromLeft)">
                                      <p:cBhvr>
                                        <p:cTn id="23" dur="420"/>
                                        <p:tgtEl>
                                          <p:spTgt spid="34"/>
                                        </p:tgtEl>
                                      </p:cBhvr>
                                    </p:animEffect>
                                  </p:childTnLst>
                                </p:cTn>
                              </p:par>
                              <p:par>
                                <p:cTn id="27" presetID="22" presetClass="entr" presetSubtype="2" fill="hold" grpId="0" nodeType="afterEffect">
                                  <p:stCondLst>
                                    <p:cond delay="110"/>
                                  </p:stCondLst>
                                  <p:childTnLst>
                                    <p:set>
                                      <p:cBhvr>
                                        <p:cTn id="25" dur="1" fill="hold">
                                          <p:stCondLst>
                                            <p:cond delay="0"/>
                                          </p:stCondLst>
                                        </p:cTn>
                                        <p:tgtEl>
                                          <p:spTgt spid="38"/>
                                        </p:tgtEl>
                                        <p:attrNameLst>
                                          <p:attrName>style.visibility</p:attrName>
                                        </p:attrNameLst>
                                      </p:cBhvr>
                                      <p:to>
                                        <p:strVal val="visible"/>
                                      </p:to>
                                    </p:set>
                                    <p:animEffect transition="in" filter="wipe(fromLeft)">
                                      <p:cBhvr>
                                        <p:cTn id="26" dur="400"/>
                                        <p:tgtEl>
                                          <p:spTgt spid="38"/>
                                        </p:tgtEl>
                                      </p:cBhvr>
                                    </p:animEffect>
                                  </p:childTnLst>
                                </p:cTn>
                              </p:par>
                              <p:par>
                                <p:cTn id="30" presetID="22" presetClass="entr" presetSubtype="2" fill="hold" grpId="0" nodeType="afterEffect">
                                  <p:stCondLst>
                                    <p:cond delay="110"/>
                                  </p:stCondLst>
                                  <p:childTnLst>
                                    <p:set>
                                      <p:cBhvr>
                                        <p:cTn id="28" dur="1" fill="hold">
                                          <p:stCondLst>
                                            <p:cond delay="0"/>
                                          </p:stCondLst>
                                        </p:cTn>
                                        <p:tgtEl>
                                          <p:spTgt spid="42"/>
                                        </p:tgtEl>
                                        <p:attrNameLst>
                                          <p:attrName>style.visibility</p:attrName>
                                        </p:attrNameLst>
                                      </p:cBhvr>
                                      <p:to>
                                        <p:strVal val="visible"/>
                                      </p:to>
                                    </p:set>
                                    <p:animEffect transition="in" filter="wipe(fromLeft)">
                                      <p:cBhvr>
                                        <p:cTn id="29" dur="400"/>
                                        <p:tgtEl>
                                          <p:spTgt spid="42"/>
                                        </p:tgtEl>
                                      </p:cBhvr>
                                    </p:animEffect>
                                  </p:childTnLst>
                                </p:cTn>
                              </p:par>
                              <p:par>
                                <p:cTn id="33" presetID="22" presetClass="entr" presetSubtype="2" fill="hold" grpId="0" nodeType="afterEffect">
                                  <p:stCondLst>
                                    <p:cond delay="110"/>
                                  </p:stCondLst>
                                  <p:childTnLst>
                                    <p:set>
                                      <p:cBhvr>
                                        <p:cTn id="31" dur="1" fill="hold">
                                          <p:stCondLst>
                                            <p:cond delay="0"/>
                                          </p:stCondLst>
                                        </p:cTn>
                                        <p:tgtEl>
                                          <p:spTgt spid="46"/>
                                        </p:tgtEl>
                                        <p:attrNameLst>
                                          <p:attrName>style.visibility</p:attrName>
                                        </p:attrNameLst>
                                      </p:cBhvr>
                                      <p:to>
                                        <p:strVal val="visible"/>
                                      </p:to>
                                    </p:set>
                                    <p:animEffect transition="in" filter="wipe(fromLeft)">
                                      <p:cBhvr>
                                        <p:cTn id="32" dur="400"/>
                                        <p:tgtEl>
                                          <p:spTgt spid="46"/>
                                        </p:tgtEl>
                                      </p:cBhvr>
                                    </p:animEffect>
                                  </p:childTnLst>
                                </p:cTn>
                              </p:par>
                              <p:par>
                                <p:cTn id="36" presetID="22" presetClass="entr" presetSubtype="2" fill="hold" grpId="0" nodeType="afterEffect">
                                  <p:stCondLst>
                                    <p:cond delay="110"/>
                                  </p:stCondLst>
                                  <p:childTnLst>
                                    <p:set>
                                      <p:cBhvr>
                                        <p:cTn id="34" dur="1" fill="hold">
                                          <p:stCondLst>
                                            <p:cond delay="0"/>
                                          </p:stCondLst>
                                        </p:cTn>
                                        <p:tgtEl>
                                          <p:spTgt spid="50"/>
                                        </p:tgtEl>
                                        <p:attrNameLst>
                                          <p:attrName>style.visibility</p:attrName>
                                        </p:attrNameLst>
                                      </p:cBhvr>
                                      <p:to>
                                        <p:strVal val="visible"/>
                                      </p:to>
                                    </p:set>
                                    <p:animEffect transition="in" filter="wipe(fromLeft)">
                                      <p:cBhvr>
                                        <p:cTn id="35" dur="400"/>
                                        <p:tgtEl>
                                          <p:spTgt spid="50"/>
                                        </p:tgtEl>
                                      </p:cBhvr>
                                    </p:animEffect>
                                  </p:childTnLst>
                                </p:cTn>
                              </p:par>
                              <p:par>
                                <p:cTn id="39" presetID="10" presetClass="entr" presetSubtype="0" fill="hold" grpId="0" nodeType="with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350"/>
                                        <p:tgtEl>
                                          <p:spTgt spid="37"/>
                                        </p:tgtEl>
                                      </p:cBhvr>
                                    </p:animEffect>
                                  </p:childTnLst>
                                </p:cTn>
                              </p:par>
                              <p:par>
                                <p:cTn id="42" presetID="10" presetClass="entr" presetSubtype="0" fill="hold" grpId="0" nodeType="withEffect">
                                  <p:stCondLst>
                                    <p:cond delay="0"/>
                                  </p:stCondLst>
                                  <p:childTnLst>
                                    <p:set>
                                      <p:cBhvr>
                                        <p:cTn id="40" dur="1" fill="hold">
                                          <p:stCondLst>
                                            <p:cond delay="0"/>
                                          </p:stCondLst>
                                        </p:cTn>
                                        <p:tgtEl>
                                          <p:spTgt spid="41"/>
                                        </p:tgtEl>
                                        <p:attrNameLst>
                                          <p:attrName>style.visibility</p:attrName>
                                        </p:attrNameLst>
                                      </p:cBhvr>
                                      <p:to>
                                        <p:strVal val="visible"/>
                                      </p:to>
                                    </p:set>
                                    <p:animEffect transition="in" filter="fade">
                                      <p:cBhvr>
                                        <p:cTn id="41" dur="350"/>
                                        <p:tgtEl>
                                          <p:spTgt spid="41"/>
                                        </p:tgtEl>
                                      </p:cBhvr>
                                    </p:animEffect>
                                  </p:childTnLst>
                                </p:cTn>
                              </p:par>
                              <p:par>
                                <p:cTn id="45" presetID="10" presetClass="entr" presetSubtype="0" fill="hold" grpId="0" nodeType="withEffect">
                                  <p:stCondLst>
                                    <p:cond delay="0"/>
                                  </p:stCondLst>
                                  <p:childTnLst>
                                    <p:set>
                                      <p:cBhvr>
                                        <p:cTn id="43" dur="1" fill="hold">
                                          <p:stCondLst>
                                            <p:cond delay="0"/>
                                          </p:stCondLst>
                                        </p:cTn>
                                        <p:tgtEl>
                                          <p:spTgt spid="45"/>
                                        </p:tgtEl>
                                        <p:attrNameLst>
                                          <p:attrName>style.visibility</p:attrName>
                                        </p:attrNameLst>
                                      </p:cBhvr>
                                      <p:to>
                                        <p:strVal val="visible"/>
                                      </p:to>
                                    </p:set>
                                    <p:animEffect transition="in" filter="fade">
                                      <p:cBhvr>
                                        <p:cTn id="44" dur="350"/>
                                        <p:tgtEl>
                                          <p:spTgt spid="45"/>
                                        </p:tgtEl>
                                      </p:cBhvr>
                                    </p:animEffect>
                                  </p:childTnLst>
                                </p:cTn>
                              </p:par>
                              <p:par>
                                <p:cTn id="48" presetID="10" presetClass="entr" presetSubtype="0" fill="hold" grpId="0" nodeType="withEffect">
                                  <p:stCondLst>
                                    <p:cond delay="0"/>
                                  </p:stCondLst>
                                  <p:childTnLst>
                                    <p:set>
                                      <p:cBhvr>
                                        <p:cTn id="46" dur="1" fill="hold">
                                          <p:stCondLst>
                                            <p:cond delay="0"/>
                                          </p:stCondLst>
                                        </p:cTn>
                                        <p:tgtEl>
                                          <p:spTgt spid="49"/>
                                        </p:tgtEl>
                                        <p:attrNameLst>
                                          <p:attrName>style.visibility</p:attrName>
                                        </p:attrNameLst>
                                      </p:cBhvr>
                                      <p:to>
                                        <p:strVal val="visible"/>
                                      </p:to>
                                    </p:set>
                                    <p:animEffect transition="in" filter="fade">
                                      <p:cBhvr>
                                        <p:cTn id="47" dur="350"/>
                                        <p:tgtEl>
                                          <p:spTgt spid="49"/>
                                        </p:tgtEl>
                                      </p:cBhvr>
                                    </p:animEffect>
                                  </p:childTnLst>
                                </p:cTn>
                              </p:par>
                              <p:par>
                                <p:cTn id="51" presetID="10" presetClass="entr" presetSubtype="0" fill="hold" grpId="0" nodeType="withEffect">
                                  <p:stCondLst>
                                    <p:cond delay="0"/>
                                  </p:stCondLst>
                                  <p:childTnLst>
                                    <p:set>
                                      <p:cBhvr>
                                        <p:cTn id="49" dur="1" fill="hold">
                                          <p:stCondLst>
                                            <p:cond delay="0"/>
                                          </p:stCondLst>
                                        </p:cTn>
                                        <p:tgtEl>
                                          <p:spTgt spid="53"/>
                                        </p:tgtEl>
                                        <p:attrNameLst>
                                          <p:attrName>style.visibility</p:attrName>
                                        </p:attrNameLst>
                                      </p:cBhvr>
                                      <p:to>
                                        <p:strVal val="visible"/>
                                      </p:to>
                                    </p:set>
                                    <p:animEffect transition="in" filter="fade">
                                      <p:cBhvr>
                                        <p:cTn id="50" dur="350"/>
                                        <p:tgtEl>
                                          <p:spTgt spid="53"/>
                                        </p:tgtEl>
                                      </p:cBhvr>
                                    </p:animEffect>
                                  </p:childTnLst>
                                </p:cTn>
                              </p:par>
                              <p:par>
                                <p:cTn id="54" presetID="22" presetClass="entr" presetSubtype="8" fill="hold" grpId="0" nodeType="afterEffect">
                                  <p:stCondLst>
                                    <p:cond delay="260"/>
                                  </p:stCondLst>
                                  <p:childTnLst>
                                    <p:set>
                                      <p:cBhvr>
                                        <p:cTn id="52" dur="1" fill="hold">
                                          <p:stCondLst>
                                            <p:cond delay="0"/>
                                          </p:stCondLst>
                                        </p:cTn>
                                        <p:tgtEl>
                                          <p:spTgt spid="10"/>
                                        </p:tgtEl>
                                        <p:attrNameLst>
                                          <p:attrName>style.visibility</p:attrName>
                                        </p:attrNameLst>
                                      </p:cBhvr>
                                      <p:to>
                                        <p:strVal val="visible"/>
                                      </p:to>
                                    </p:set>
                                    <p:animEffect transition="in" filter="wipe(fromBottom)">
                                      <p:cBhvr>
                                        <p:cTn id="53" dur="480"/>
                                        <p:tgtEl>
                                          <p:spTgt spid="10"/>
                                        </p:tgtEl>
                                      </p:cBhvr>
                                    </p:animEffect>
                                  </p:childTnLst>
                                </p:cTn>
                              </p:par>
                              <p:par>
                                <p:cTn id="57" presetID="10" presetClass="entr" presetSubtype="0" fill="hold" grpId="0" nodeType="withEffect">
                                  <p:stCondLst>
                                    <p:cond delay="0"/>
                                  </p:stCondLst>
                                  <p:childTnLst>
                                    <p:set>
                                      <p:cBhvr>
                                        <p:cTn id="55" dur="1" fill="hold">
                                          <p:stCondLst>
                                            <p:cond delay="0"/>
                                          </p:stCondLst>
                                        </p:cTn>
                                        <p:tgtEl>
                                          <p:spTgt spid="30"/>
                                        </p:tgtEl>
                                        <p:attrNameLst>
                                          <p:attrName>style.visibility</p:attrName>
                                        </p:attrNameLst>
                                      </p:cBhvr>
                                      <p:to>
                                        <p:strVal val="visible"/>
                                      </p:to>
                                    </p:set>
                                    <p:animEffect transition="in" filter="fade">
                                      <p:cBhvr>
                                        <p:cTn id="56" dur="300"/>
                                        <p:tgtEl>
                                          <p:spTgt spid="30"/>
                                        </p:tgtEl>
                                      </p:cBhvr>
                                    </p:animEffect>
                                  </p:childTnLst>
                                </p:cTn>
                              </p:par>
                              <p:par>
                                <p:cTn id="60" presetID="22" presetClass="entr" presetSubtype="8" fill="hold" grpId="0" nodeType="afterEffect">
                                  <p:stCondLst>
                                    <p:cond delay="140"/>
                                  </p:stCondLst>
                                  <p:childTnLst>
                                    <p:set>
                                      <p:cBhvr>
                                        <p:cTn id="58" dur="1" fill="hold">
                                          <p:stCondLst>
                                            <p:cond delay="0"/>
                                          </p:stCondLst>
                                        </p:cTn>
                                        <p:tgtEl>
                                          <p:spTgt spid="14"/>
                                        </p:tgtEl>
                                        <p:attrNameLst>
                                          <p:attrName>style.visibility</p:attrName>
                                        </p:attrNameLst>
                                      </p:cBhvr>
                                      <p:to>
                                        <p:strVal val="visible"/>
                                      </p:to>
                                    </p:set>
                                    <p:animEffect transition="in" filter="wipe(fromBottom)">
                                      <p:cBhvr>
                                        <p:cTn id="59" dur="480"/>
                                        <p:tgtEl>
                                          <p:spTgt spid="14"/>
                                        </p:tgtEl>
                                      </p:cBhvr>
                                    </p:animEffect>
                                  </p:childTnLst>
                                </p:cTn>
                              </p:par>
                              <p:par>
                                <p:cTn id="63" presetID="10" presetClass="entr" presetSubtype="0" fill="hold" grpId="0" nodeType="withEffect">
                                  <p:stCondLst>
                                    <p:cond delay="0"/>
                                  </p:stCondLst>
                                  <p:childTnLst>
                                    <p:set>
                                      <p:cBhvr>
                                        <p:cTn id="61" dur="1" fill="hold">
                                          <p:stCondLst>
                                            <p:cond delay="0"/>
                                          </p:stCondLst>
                                        </p:cTn>
                                        <p:tgtEl>
                                          <p:spTgt spid="31"/>
                                        </p:tgtEl>
                                        <p:attrNameLst>
                                          <p:attrName>style.visibility</p:attrName>
                                        </p:attrNameLst>
                                      </p:cBhvr>
                                      <p:to>
                                        <p:strVal val="visible"/>
                                      </p:to>
                                    </p:set>
                                    <p:animEffect transition="in" filter="fade">
                                      <p:cBhvr>
                                        <p:cTn id="62" dur="300"/>
                                        <p:tgtEl>
                                          <p:spTgt spid="31"/>
                                        </p:tgtEl>
                                      </p:cBhvr>
                                    </p:animEffect>
                                  </p:childTnLst>
                                </p:cTn>
                              </p:par>
                              <p:par>
                                <p:cTn id="66" presetID="22" presetClass="entr" presetSubtype="8" fill="hold" grpId="0" nodeType="afterEffect">
                                  <p:stCondLst>
                                    <p:cond delay="140"/>
                                  </p:stCondLst>
                                  <p:childTnLst>
                                    <p:set>
                                      <p:cBhvr>
                                        <p:cTn id="64" dur="1" fill="hold">
                                          <p:stCondLst>
                                            <p:cond delay="0"/>
                                          </p:stCondLst>
                                        </p:cTn>
                                        <p:tgtEl>
                                          <p:spTgt spid="18"/>
                                        </p:tgtEl>
                                        <p:attrNameLst>
                                          <p:attrName>style.visibility</p:attrName>
                                        </p:attrNameLst>
                                      </p:cBhvr>
                                      <p:to>
                                        <p:strVal val="visible"/>
                                      </p:to>
                                    </p:set>
                                    <p:animEffect transition="in" filter="wipe(fromBottom)">
                                      <p:cBhvr>
                                        <p:cTn id="65" dur="480"/>
                                        <p:tgtEl>
                                          <p:spTgt spid="18"/>
                                        </p:tgtEl>
                                      </p:cBhvr>
                                    </p:animEffect>
                                  </p:childTnLst>
                                </p:cTn>
                              </p:par>
                              <p:par>
                                <p:cTn id="69" presetID="10" presetClass="entr" presetSubtype="0" fill="hold" grpId="0" nodeType="withEffect">
                                  <p:stCondLst>
                                    <p:cond delay="0"/>
                                  </p:stCondLst>
                                  <p:childTnLst>
                                    <p:set>
                                      <p:cBhvr>
                                        <p:cTn id="67" dur="1" fill="hold">
                                          <p:stCondLst>
                                            <p:cond delay="0"/>
                                          </p:stCondLst>
                                        </p:cTn>
                                        <p:tgtEl>
                                          <p:spTgt spid="32"/>
                                        </p:tgtEl>
                                        <p:attrNameLst>
                                          <p:attrName>style.visibility</p:attrName>
                                        </p:attrNameLst>
                                      </p:cBhvr>
                                      <p:to>
                                        <p:strVal val="visible"/>
                                      </p:to>
                                    </p:set>
                                    <p:animEffect transition="in" filter="fade">
                                      <p:cBhvr>
                                        <p:cTn id="68" dur="300"/>
                                        <p:tgtEl>
                                          <p:spTgt spid="32"/>
                                        </p:tgtEl>
                                      </p:cBhvr>
                                    </p:animEffect>
                                  </p:childTnLst>
                                </p:cTn>
                              </p:par>
                              <p:par>
                                <p:cTn id="72" presetID="22" presetClass="entr" presetSubtype="8" fill="hold" grpId="0" nodeType="afterEffect">
                                  <p:stCondLst>
                                    <p:cond delay="140"/>
                                  </p:stCondLst>
                                  <p:childTnLst>
                                    <p:set>
                                      <p:cBhvr>
                                        <p:cTn id="70" dur="1" fill="hold">
                                          <p:stCondLst>
                                            <p:cond delay="0"/>
                                          </p:stCondLst>
                                        </p:cTn>
                                        <p:tgtEl>
                                          <p:spTgt spid="22"/>
                                        </p:tgtEl>
                                        <p:attrNameLst>
                                          <p:attrName>style.visibility</p:attrName>
                                        </p:attrNameLst>
                                      </p:cBhvr>
                                      <p:to>
                                        <p:strVal val="visible"/>
                                      </p:to>
                                    </p:set>
                                    <p:animEffect transition="in" filter="wipe(fromBottom)">
                                      <p:cBhvr>
                                        <p:cTn id="71" dur="480"/>
                                        <p:tgtEl>
                                          <p:spTgt spid="22"/>
                                        </p:tgtEl>
                                      </p:cBhvr>
                                    </p:animEffect>
                                  </p:childTnLst>
                                </p:cTn>
                              </p:par>
                              <p:par>
                                <p:cTn id="75" presetID="10" presetClass="entr" presetSubtype="0" fill="hold" grpId="0" nodeType="withEffect">
                                  <p:stCondLst>
                                    <p:cond delay="0"/>
                                  </p:stCondLst>
                                  <p:childTnLst>
                                    <p:set>
                                      <p:cBhvr>
                                        <p:cTn id="73" dur="1" fill="hold">
                                          <p:stCondLst>
                                            <p:cond delay="0"/>
                                          </p:stCondLst>
                                        </p:cTn>
                                        <p:tgtEl>
                                          <p:spTgt spid="33"/>
                                        </p:tgtEl>
                                        <p:attrNameLst>
                                          <p:attrName>style.visibility</p:attrName>
                                        </p:attrNameLst>
                                      </p:cBhvr>
                                      <p:to>
                                        <p:strVal val="visible"/>
                                      </p:to>
                                    </p:set>
                                    <p:animEffect transition="in" filter="fade">
                                      <p:cBhvr>
                                        <p:cTn id="74" dur="300"/>
                                        <p:tgtEl>
                                          <p:spTgt spid="33"/>
                                        </p:tgtEl>
                                      </p:cBhvr>
                                    </p:animEffect>
                                  </p:childTnLst>
                                </p:cTn>
                              </p:par>
                              <p:par>
                                <p:cTn id="78" presetID="22" presetClass="entr" presetSubtype="8" fill="hold" grpId="0" nodeType="afterEffect">
                                  <p:stCondLst>
                                    <p:cond delay="140"/>
                                  </p:stCondLst>
                                  <p:childTnLst>
                                    <p:set>
                                      <p:cBhvr>
                                        <p:cTn id="76" dur="1" fill="hold">
                                          <p:stCondLst>
                                            <p:cond delay="0"/>
                                          </p:stCondLst>
                                        </p:cTn>
                                        <p:tgtEl>
                                          <p:spTgt spid="26"/>
                                        </p:tgtEl>
                                        <p:attrNameLst>
                                          <p:attrName>style.visibility</p:attrName>
                                        </p:attrNameLst>
                                      </p:cBhvr>
                                      <p:to>
                                        <p:strVal val="visible"/>
                                      </p:to>
                                    </p:set>
                                    <p:animEffect transition="in" filter="wipe(fromBottom)">
                                      <p:cBhvr>
                                        <p:cTn id="77" dur="480"/>
                                        <p:tgtEl>
                                          <p:spTgt spid="26"/>
                                        </p:tgtEl>
                                      </p:cBhvr>
                                    </p:animEffect>
                                  </p:childTnLst>
                                </p:cTn>
                              </p:par>
                              <p:par>
                                <p:cTn id="81" presetID="10" presetClass="entr" presetSubtype="0" fill="hold" grpId="0" nodeType="afterEffect">
                                  <p:stCondLst>
                                    <p:cond delay="300"/>
                                  </p:stCondLst>
                                  <p:childTnLst>
                                    <p:set>
                                      <p:cBhvr>
                                        <p:cTn id="79" dur="1" fill="hold">
                                          <p:stCondLst>
                                            <p:cond delay="0"/>
                                          </p:stCondLst>
                                        </p:cTn>
                                        <p:tgtEl>
                                          <p:spTgt spid="54"/>
                                        </p:tgtEl>
                                        <p:attrNameLst>
                                          <p:attrName>style.visibility</p:attrName>
                                        </p:attrNameLst>
                                      </p:cBhvr>
                                      <p:to>
                                        <p:strVal val="visible"/>
                                      </p:to>
                                    </p:set>
                                    <p:animEffect transition="in" filter="fade">
                                      <p:cBhvr>
                                        <p:cTn id="80" dur="7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ln>
            <a:noFill/>
          </a:ln>
          <a:effectLst/>
          <a:solidFill>
            <a:srgbClr val="050A1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2011680"/>
            <a:ext cx="4754880" cy="4754880"/>
          </a:xfrm>
          <a:prstGeom prst="ellipse">
            <a:avLst/>
          </a:prstGeom>
          <a:gradFill>
            <a:gsLst>
              <a:gs pos="0">
                <a:srgbClr val="3B82F6">
                  <a:alpha val="20000"/>
                </a:srgbClr>
              </a:gs>
              <a:gs pos="65000">
                <a:srgbClr val="3B82F6">
                  <a:alpha val="6000"/>
                </a:srgbClr>
              </a:gs>
              <a:gs pos="100000">
                <a:srgbClr val="3B82F6">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463039" y="4480560"/>
            <a:ext cx="4206240" cy="4206240"/>
          </a:xfrm>
          <a:prstGeom prst="ellipse">
            <a:avLst/>
          </a:prstGeom>
          <a:gradFill>
            <a:gsLst>
              <a:gs pos="0">
                <a:srgbClr val="8B5CF6">
                  <a:alpha val="16000"/>
                </a:srgbClr>
              </a:gs>
              <a:gs pos="65000">
                <a:srgbClr val="8B5CF6">
                  <a:alpha val="5000"/>
                </a:srgbClr>
              </a:gs>
              <a:gs pos="100000">
                <a:srgbClr val="8B5CF6">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kbar"/>
          <p:cNvSpPr/>
          <p:nvPr/>
        </p:nvSpPr>
        <p:spPr>
          <a:xfrm>
            <a:off x="566928" y="603504"/>
            <a:ext cx="274320" cy="47548"/>
          </a:xfrm>
          <a:prstGeom prst="rect">
            <a:avLst/>
          </a:prstGeom>
          <a:ln>
            <a:noFill/>
          </a:ln>
          <a:solidFill>
            <a:srgbClr val="22D3EE"/>
          </a:solidFill>
          <a:effectLst>
            <a:glow rad="762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kicker"/>
          <p:cNvSpPr txBox="1"/>
          <p:nvPr/>
        </p:nvSpPr>
        <p:spPr>
          <a:xfrm>
            <a:off x="932688" y="489204"/>
            <a:ext cx="7772400" cy="292608"/>
          </a:xfrm>
          <a:prstGeom prst="rect">
            <a:avLst/>
          </a:prstGeom>
          <a:noFill/>
        </p:spPr>
        <p:txBody>
          <a:bodyPr wrap="square" anchor="t" lIns="0" rIns="0" tIns="0" bIns="0">
            <a:spAutoFit/>
          </a:bodyPr>
          <a:lstStyle/>
          <a:p>
            <a:pPr algn="l"/>
            <a:r>
              <a:rPr sz="1050" b="1" i="0" spc="320">
                <a:solidFill>
                  <a:srgbClr val="22D3EE"/>
                </a:solidFill>
                <a:latin typeface="Segoe UI"/>
              </a:rPr>
              <a:t>MODULE 01 — LIVE DIGITAL CITY</a:t>
            </a:r>
          </a:p>
        </p:txBody>
      </p:sp>
      <p:sp>
        <p:nvSpPr>
          <p:cNvPr id="7" name="title"/>
          <p:cNvSpPr txBox="1"/>
          <p:nvPr/>
        </p:nvSpPr>
        <p:spPr>
          <a:xfrm>
            <a:off x="566928" y="868680"/>
            <a:ext cx="11064240" cy="658368"/>
          </a:xfrm>
          <a:prstGeom prst="rect">
            <a:avLst/>
          </a:prstGeom>
          <a:noFill/>
        </p:spPr>
        <p:txBody>
          <a:bodyPr wrap="square" anchor="t" lIns="0" rIns="0" tIns="0" bIns="0">
            <a:spAutoFit/>
          </a:bodyPr>
          <a:lstStyle/>
          <a:p>
            <a:pPr algn="l"/>
            <a:r>
              <a:rPr sz="3300" b="1" i="0">
                <a:solidFill>
                  <a:srgbClr val="F1F5F9"/>
                </a:solidFill>
                <a:latin typeface="Segoe UI"/>
              </a:rPr>
              <a:t>A City That Updates in Real Time</a:t>
            </a:r>
          </a:p>
        </p:txBody>
      </p:sp>
      <p:sp>
        <p:nvSpPr>
          <p:cNvPr id="8" name="pageno"/>
          <p:cNvSpPr txBox="1"/>
          <p:nvPr/>
        </p:nvSpPr>
        <p:spPr>
          <a:xfrm>
            <a:off x="10835640" y="6519672"/>
            <a:ext cx="786384" cy="219456"/>
          </a:xfrm>
          <a:prstGeom prst="rect">
            <a:avLst/>
          </a:prstGeom>
          <a:noFill/>
        </p:spPr>
        <p:txBody>
          <a:bodyPr wrap="square" anchor="t" lIns="0" rIns="0" tIns="0" bIns="0">
            <a:spAutoFit/>
          </a:bodyPr>
          <a:lstStyle/>
          <a:p>
            <a:pPr algn="r"/>
            <a:r>
              <a:rPr sz="900" b="1" i="0">
                <a:solidFill>
                  <a:srgbClr val="8EA3C0"/>
                </a:solidFill>
                <a:latin typeface="Segoe UI"/>
              </a:rPr>
              <a:t>06</a:t>
            </a:r>
            <a:r>
              <a:rPr sz="900" b="0" i="0">
                <a:solidFill>
                  <a:srgbClr val="5A6E8C"/>
                </a:solidFill>
                <a:latin typeface="Segoe UI"/>
              </a:rPr>
              <a:t> / 12</a:t>
            </a:r>
          </a:p>
        </p:txBody>
      </p:sp>
      <p:sp>
        <p:nvSpPr>
          <p:cNvPr id="9" name="footer"/>
          <p:cNvSpPr txBox="1"/>
          <p:nvPr/>
        </p:nvSpPr>
        <p:spPr>
          <a:xfrm>
            <a:off x="566928" y="6519672"/>
            <a:ext cx="5486400" cy="219456"/>
          </a:xfrm>
          <a:prstGeom prst="rect">
            <a:avLst/>
          </a:prstGeom>
          <a:noFill/>
        </p:spPr>
        <p:txBody>
          <a:bodyPr wrap="square" anchor="t" lIns="0" rIns="0" tIns="0" bIns="0">
            <a:spAutoFit/>
          </a:bodyPr>
          <a:lstStyle/>
          <a:p>
            <a:pPr algn="l"/>
            <a:r>
              <a:rPr sz="800" b="1" i="0" spc="260">
                <a:solidFill>
                  <a:srgbClr val="5A6E8C"/>
                </a:solidFill>
                <a:latin typeface="Segoe UI"/>
              </a:rPr>
              <a:t>CITYVERSE AI</a:t>
            </a:r>
            <a:r>
              <a:rPr sz="800" b="0" i="0" spc="180">
                <a:solidFill>
                  <a:srgbClr val="5A6E8C"/>
                </a:solidFill>
                <a:latin typeface="Segoe UI"/>
              </a:rPr>
              <a:t>  ·  SMART DIGITAL TWIN PLATFORM</a:t>
            </a:r>
          </a:p>
        </p:txBody>
      </p:sp>
      <p:pic>
        <p:nvPicPr>
          <p:cNvPr id="10" name="map" descr="city_map_dark.png"/>
          <p:cNvPicPr>
            <a:picLocks noChangeAspect="1"/>
          </p:cNvPicPr>
          <p:nvPr/>
        </p:nvPicPr>
        <p:blipFill>
          <a:blip r:embed="rId2"/>
          <a:stretch>
            <a:fillRect/>
          </a:stretch>
        </p:blipFill>
        <p:spPr>
          <a:xfrm>
            <a:off x="566928" y="1783080"/>
            <a:ext cx="6903720" cy="4041648"/>
          </a:xfrm>
          <a:ln w="13970" cap="rnd">
            <a:solidFill>
              <a:srgbClr val="22D3EE">
                <a:alpha val="45000"/>
              </a:srgbClr>
            </a:solidFill>
          </a:ln>
          <a:prstGeom prst="roundRect">
            <a:avLst>
              <a:gd name="adj" fmla="val 4000"/>
            </a:avLst>
          </a:prstGeom>
          <a:effectLst>
            <a:glow rad="127000">
              <a:srgbClr val="22D3EE">
                <a:alpha val="60000"/>
              </a:srgbClr>
            </a:glow>
          </a:effectLst>
        </p:spPr>
      </p:pic>
      <p:sp>
        <p:nvSpPr>
          <p:cNvPr id="11" name="TextBox 10"/>
          <p:cNvSpPr txBox="1"/>
          <p:nvPr/>
        </p:nvSpPr>
        <p:spPr>
          <a:xfrm>
            <a:off x="822960" y="5504688"/>
            <a:ext cx="4114800" cy="237744"/>
          </a:xfrm>
          <a:prstGeom prst="rect">
            <a:avLst/>
          </a:prstGeom>
          <a:noFill/>
        </p:spPr>
        <p:txBody>
          <a:bodyPr wrap="square" anchor="t" lIns="0" rIns="0" tIns="0" bIns="0">
            <a:spAutoFit/>
          </a:bodyPr>
          <a:lstStyle/>
          <a:p>
            <a:pPr algn="l"/>
            <a:r>
              <a:rPr sz="800" b="0" i="0">
                <a:solidFill>
                  <a:srgbClr val="34D399"/>
                </a:solidFill>
                <a:latin typeface="Segoe UI"/>
              </a:rPr>
              <a:t>● </a:t>
            </a:r>
            <a:r>
              <a:rPr sz="800" b="0" i="0" spc="180">
                <a:solidFill>
                  <a:srgbClr val="8EA3C0"/>
                </a:solidFill>
                <a:latin typeface="Segoe UI"/>
              </a:rPr>
              <a:t>SECTOR GRID 7 · ALL SYSTEMS NOMINAL</a:t>
            </a:r>
          </a:p>
        </p:txBody>
      </p:sp>
      <p:sp>
        <p:nvSpPr>
          <p:cNvPr id="12" name="Oval 11"/>
          <p:cNvSpPr/>
          <p:nvPr/>
        </p:nvSpPr>
        <p:spPr>
          <a:xfrm>
            <a:off x="1200150" y="2343150"/>
            <a:ext cx="68580" cy="68580"/>
          </a:xfrm>
          <a:prstGeom prst="ellipse">
            <a:avLst/>
          </a:prstGeom>
          <a:ln>
            <a:noFill/>
          </a:ln>
          <a:solidFill>
            <a:srgbClr val="22D3EE"/>
          </a:solidFill>
          <a:effectLst>
            <a:glow rad="889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33856" y="2276856"/>
            <a:ext cx="201168" cy="201168"/>
          </a:xfrm>
          <a:prstGeom prst="ellipse">
            <a:avLst/>
          </a:prstGeom>
          <a:noFill/>
          <a:ln w="11430" cap="rnd">
            <a:solidFill>
              <a:srgbClr val="22D3EE">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343150" y="3074670"/>
            <a:ext cx="68580" cy="68580"/>
          </a:xfrm>
          <a:prstGeom prst="ellipse">
            <a:avLst/>
          </a:prstGeom>
          <a:ln>
            <a:noFill/>
          </a:ln>
          <a:solidFill>
            <a:srgbClr val="22D3EE"/>
          </a:solidFill>
          <a:effectLst>
            <a:glow rad="889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276856" y="3008376"/>
            <a:ext cx="201168" cy="201168"/>
          </a:xfrm>
          <a:prstGeom prst="ellipse">
            <a:avLst/>
          </a:prstGeom>
          <a:noFill/>
          <a:ln w="11430" cap="rnd">
            <a:solidFill>
              <a:srgbClr val="22D3EE">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166110" y="2205990"/>
            <a:ext cx="68580" cy="68580"/>
          </a:xfrm>
          <a:prstGeom prst="ellipse">
            <a:avLst/>
          </a:prstGeom>
          <a:ln>
            <a:noFill/>
          </a:ln>
          <a:solidFill>
            <a:srgbClr val="8B5CF6"/>
          </a:solidFill>
          <a:effectLst>
            <a:glow rad="88900">
              <a:srgbClr val="8B5CF6">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099816" y="2139696"/>
            <a:ext cx="201168" cy="201168"/>
          </a:xfrm>
          <a:prstGeom prst="ellipse">
            <a:avLst/>
          </a:prstGeom>
          <a:noFill/>
          <a:ln w="11430" cap="rnd">
            <a:solidFill>
              <a:srgbClr val="8B5CF6">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034790" y="2800350"/>
            <a:ext cx="68580" cy="68580"/>
          </a:xfrm>
          <a:prstGeom prst="ellipse">
            <a:avLst/>
          </a:prstGeom>
          <a:ln>
            <a:noFill/>
          </a:ln>
          <a:solidFill>
            <a:srgbClr val="22D3EE"/>
          </a:solidFill>
          <a:effectLst>
            <a:glow rad="889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968496" y="2734056"/>
            <a:ext cx="201168" cy="201168"/>
          </a:xfrm>
          <a:prstGeom prst="ellipse">
            <a:avLst/>
          </a:prstGeom>
          <a:noFill/>
          <a:ln w="11430" cap="rnd">
            <a:solidFill>
              <a:srgbClr val="22D3EE">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086350" y="2297429"/>
            <a:ext cx="68580" cy="68580"/>
          </a:xfrm>
          <a:prstGeom prst="ellipse">
            <a:avLst/>
          </a:prstGeom>
          <a:ln>
            <a:noFill/>
          </a:ln>
          <a:solidFill>
            <a:srgbClr val="22D3EE"/>
          </a:solidFill>
          <a:effectLst>
            <a:glow rad="889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020055" y="2231136"/>
            <a:ext cx="201168" cy="201168"/>
          </a:xfrm>
          <a:prstGeom prst="ellipse">
            <a:avLst/>
          </a:prstGeom>
          <a:noFill/>
          <a:ln w="11430" cap="rnd">
            <a:solidFill>
              <a:srgbClr val="22D3EE">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092190" y="3166110"/>
            <a:ext cx="68580" cy="68580"/>
          </a:xfrm>
          <a:prstGeom prst="ellipse">
            <a:avLst/>
          </a:prstGeom>
          <a:ln>
            <a:noFill/>
          </a:ln>
          <a:solidFill>
            <a:srgbClr val="8B5CF6"/>
          </a:solidFill>
          <a:effectLst>
            <a:glow rad="88900">
              <a:srgbClr val="8B5CF6">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025896" y="3099816"/>
            <a:ext cx="201168" cy="201168"/>
          </a:xfrm>
          <a:prstGeom prst="ellipse">
            <a:avLst/>
          </a:prstGeom>
          <a:noFill/>
          <a:ln w="11430" cap="rnd">
            <a:solidFill>
              <a:srgbClr val="8B5CF6">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823710" y="2434590"/>
            <a:ext cx="68580" cy="68580"/>
          </a:xfrm>
          <a:prstGeom prst="ellipse">
            <a:avLst/>
          </a:prstGeom>
          <a:ln>
            <a:noFill/>
          </a:ln>
          <a:solidFill>
            <a:srgbClr val="22D3EE"/>
          </a:solidFill>
          <a:effectLst>
            <a:glow rad="889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757416" y="2368296"/>
            <a:ext cx="201168" cy="201168"/>
          </a:xfrm>
          <a:prstGeom prst="ellipse">
            <a:avLst/>
          </a:prstGeom>
          <a:noFill/>
          <a:ln w="11430" cap="rnd">
            <a:solidFill>
              <a:srgbClr val="22D3EE">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2708910" y="4812030"/>
            <a:ext cx="68580" cy="68580"/>
          </a:xfrm>
          <a:prstGeom prst="ellipse">
            <a:avLst/>
          </a:prstGeom>
          <a:ln>
            <a:noFill/>
          </a:ln>
          <a:solidFill>
            <a:srgbClr val="22D3EE"/>
          </a:solidFill>
          <a:effectLst>
            <a:glow rad="889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2642616" y="4745736"/>
            <a:ext cx="201168" cy="201168"/>
          </a:xfrm>
          <a:prstGeom prst="ellipse">
            <a:avLst/>
          </a:prstGeom>
          <a:noFill/>
          <a:ln w="11430" cap="rnd">
            <a:solidFill>
              <a:srgbClr val="22D3EE">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720590" y="4994910"/>
            <a:ext cx="68580" cy="68580"/>
          </a:xfrm>
          <a:prstGeom prst="ellipse">
            <a:avLst/>
          </a:prstGeom>
          <a:ln>
            <a:noFill/>
          </a:ln>
          <a:solidFill>
            <a:srgbClr val="22D3EE"/>
          </a:solidFill>
          <a:effectLst>
            <a:glow rad="889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54296" y="4928616"/>
            <a:ext cx="201168" cy="201168"/>
          </a:xfrm>
          <a:prstGeom prst="ellipse">
            <a:avLst/>
          </a:prstGeom>
          <a:noFill/>
          <a:ln w="11430" cap="rnd">
            <a:solidFill>
              <a:srgbClr val="22D3EE">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909310" y="5360670"/>
            <a:ext cx="68580" cy="68580"/>
          </a:xfrm>
          <a:prstGeom prst="ellipse">
            <a:avLst/>
          </a:prstGeom>
          <a:ln>
            <a:noFill/>
          </a:ln>
          <a:solidFill>
            <a:srgbClr val="22D3EE"/>
          </a:solidFill>
          <a:effectLst>
            <a:glow rad="889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5843016" y="5294376"/>
            <a:ext cx="201168" cy="201168"/>
          </a:xfrm>
          <a:prstGeom prst="ellipse">
            <a:avLst/>
          </a:prstGeom>
          <a:noFill/>
          <a:ln w="11430" cap="rnd">
            <a:solidFill>
              <a:srgbClr val="22D3EE">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canline"/>
          <p:cNvSpPr/>
          <p:nvPr/>
        </p:nvSpPr>
        <p:spPr>
          <a:xfrm>
            <a:off x="658368" y="1783080"/>
            <a:ext cx="20116" cy="4041648"/>
          </a:xfrm>
          <a:prstGeom prst="rect">
            <a:avLst/>
          </a:prstGeom>
          <a:ln>
            <a:noFill/>
          </a:ln>
          <a:solidFill>
            <a:srgbClr val="22D3EE">
              <a:alpha val="35000"/>
            </a:srgbClr>
          </a:solidFill>
          <a:effectLst>
            <a:glow rad="762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tat0"/>
          <p:cNvSpPr/>
          <p:nvPr/>
        </p:nvSpPr>
        <p:spPr>
          <a:xfrm>
            <a:off x="7699248" y="1783080"/>
            <a:ext cx="3913632" cy="914400"/>
          </a:xfrm>
          <a:prstGeom prst="roundRect">
            <a:avLst>
              <a:gd name="adj" fmla="val 15000"/>
            </a:avLst>
          </a:prstGeom>
          <a:ln w="12700" cap="rnd">
            <a:solidFill>
              <a:srgbClr val="22D3EE">
                <a:alpha val="30000"/>
              </a:srgbClr>
            </a:solidFill>
          </a:ln>
          <a:effectLst/>
          <a:solidFill>
            <a:srgbClr val="0D1B33">
              <a:alpha val="5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927848" y="1993392"/>
            <a:ext cx="91440" cy="91440"/>
          </a:xfrm>
          <a:prstGeom prst="ellipse">
            <a:avLst/>
          </a:prstGeom>
          <a:ln>
            <a:noFill/>
          </a:ln>
          <a:solidFill>
            <a:srgbClr val="F59E0B"/>
          </a:solidFill>
          <a:effectLst>
            <a:glow rad="76200">
              <a:srgbClr val="F59E0B">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183879" y="1924812"/>
            <a:ext cx="1737360" cy="274320"/>
          </a:xfrm>
          <a:prstGeom prst="rect">
            <a:avLst/>
          </a:prstGeom>
          <a:noFill/>
        </p:spPr>
        <p:txBody>
          <a:bodyPr wrap="square" anchor="t" lIns="0" rIns="0" tIns="0" bIns="0">
            <a:spAutoFit/>
          </a:bodyPr>
          <a:lstStyle/>
          <a:p>
            <a:pPr algn="l"/>
            <a:r>
              <a:rPr sz="900" b="1" i="0" spc="200">
                <a:solidFill>
                  <a:srgbClr val="8EA3C0"/>
                </a:solidFill>
                <a:latin typeface="Segoe UI"/>
              </a:rPr>
              <a:t>TRAFFIC</a:t>
            </a:r>
          </a:p>
        </p:txBody>
      </p:sp>
      <p:sp>
        <p:nvSpPr>
          <p:cNvPr id="36" name="TextBox 35"/>
          <p:cNvSpPr txBox="1"/>
          <p:nvPr/>
        </p:nvSpPr>
        <p:spPr>
          <a:xfrm>
            <a:off x="8183879" y="2167128"/>
            <a:ext cx="2011680" cy="292608"/>
          </a:xfrm>
          <a:prstGeom prst="rect">
            <a:avLst/>
          </a:prstGeom>
          <a:noFill/>
        </p:spPr>
        <p:txBody>
          <a:bodyPr wrap="square" anchor="t" lIns="0" rIns="0" tIns="0" bIns="0">
            <a:spAutoFit/>
          </a:bodyPr>
          <a:lstStyle/>
          <a:p>
            <a:pPr algn="l"/>
            <a:r>
              <a:rPr sz="900" b="0" i="0">
                <a:solidFill>
                  <a:srgbClr val="5A6E8C"/>
                </a:solidFill>
                <a:latin typeface="Segoe UI"/>
              </a:rPr>
              <a:t>avg 24 km/h downtown</a:t>
            </a:r>
          </a:p>
        </p:txBody>
      </p:sp>
      <p:sp>
        <p:nvSpPr>
          <p:cNvPr id="37" name="TextBox 36"/>
          <p:cNvSpPr txBox="1"/>
          <p:nvPr/>
        </p:nvSpPr>
        <p:spPr>
          <a:xfrm>
            <a:off x="9464040" y="2002536"/>
            <a:ext cx="1965960" cy="457200"/>
          </a:xfrm>
          <a:prstGeom prst="rect">
            <a:avLst/>
          </a:prstGeom>
          <a:noFill/>
        </p:spPr>
        <p:txBody>
          <a:bodyPr wrap="square" anchor="t" lIns="0" rIns="0" tIns="0" bIns="0">
            <a:spAutoFit/>
          </a:bodyPr>
          <a:lstStyle/>
          <a:p>
            <a:pPr algn="r"/>
            <a:r>
              <a:rPr sz="2100" b="1" i="0">
                <a:solidFill>
                  <a:srgbClr val="F1F5F9"/>
                </a:solidFill>
                <a:latin typeface="Segoe UI"/>
              </a:rPr>
              <a:t>Moderate</a:t>
            </a:r>
          </a:p>
        </p:txBody>
      </p:sp>
      <p:sp>
        <p:nvSpPr>
          <p:cNvPr id="38" name="stat1"/>
          <p:cNvSpPr/>
          <p:nvPr/>
        </p:nvSpPr>
        <p:spPr>
          <a:xfrm>
            <a:off x="7699248" y="2830068"/>
            <a:ext cx="3913632" cy="914400"/>
          </a:xfrm>
          <a:prstGeom prst="roundRect">
            <a:avLst>
              <a:gd name="adj" fmla="val 15000"/>
            </a:avLst>
          </a:prstGeom>
          <a:ln w="12700" cap="rnd">
            <a:solidFill>
              <a:srgbClr val="22D3EE">
                <a:alpha val="30000"/>
              </a:srgbClr>
            </a:solidFill>
          </a:ln>
          <a:effectLst/>
          <a:solidFill>
            <a:srgbClr val="0D1B33">
              <a:alpha val="5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7927848" y="3040380"/>
            <a:ext cx="91440" cy="91440"/>
          </a:xfrm>
          <a:prstGeom prst="ellipse">
            <a:avLst/>
          </a:prstGeom>
          <a:ln>
            <a:noFill/>
          </a:ln>
          <a:solidFill>
            <a:srgbClr val="34D399"/>
          </a:solidFill>
          <a:effectLst>
            <a:glow rad="76200">
              <a:srgbClr val="34D399">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183879" y="2971799"/>
            <a:ext cx="1737360" cy="274320"/>
          </a:xfrm>
          <a:prstGeom prst="rect">
            <a:avLst/>
          </a:prstGeom>
          <a:noFill/>
        </p:spPr>
        <p:txBody>
          <a:bodyPr wrap="square" anchor="t" lIns="0" rIns="0" tIns="0" bIns="0">
            <a:spAutoFit/>
          </a:bodyPr>
          <a:lstStyle/>
          <a:p>
            <a:pPr algn="l"/>
            <a:r>
              <a:rPr sz="900" b="1" i="0" spc="200">
                <a:solidFill>
                  <a:srgbClr val="8EA3C0"/>
                </a:solidFill>
                <a:latin typeface="Segoe UI"/>
              </a:rPr>
              <a:t>AIR QUALITY</a:t>
            </a:r>
          </a:p>
        </p:txBody>
      </p:sp>
      <p:sp>
        <p:nvSpPr>
          <p:cNvPr id="41" name="TextBox 40"/>
          <p:cNvSpPr txBox="1"/>
          <p:nvPr/>
        </p:nvSpPr>
        <p:spPr>
          <a:xfrm>
            <a:off x="8183879" y="3214115"/>
            <a:ext cx="2011680" cy="292608"/>
          </a:xfrm>
          <a:prstGeom prst="rect">
            <a:avLst/>
          </a:prstGeom>
          <a:noFill/>
        </p:spPr>
        <p:txBody>
          <a:bodyPr wrap="square" anchor="t" lIns="0" rIns="0" tIns="0" bIns="0">
            <a:spAutoFit/>
          </a:bodyPr>
          <a:lstStyle/>
          <a:p>
            <a:pPr algn="l"/>
            <a:r>
              <a:rPr sz="900" b="0" i="0">
                <a:solidFill>
                  <a:srgbClr val="5A6E8C"/>
                </a:solidFill>
                <a:latin typeface="Segoe UI"/>
              </a:rPr>
              <a:t>moderate · trending down</a:t>
            </a:r>
          </a:p>
        </p:txBody>
      </p:sp>
      <p:sp>
        <p:nvSpPr>
          <p:cNvPr id="42" name="TextBox 41"/>
          <p:cNvSpPr txBox="1"/>
          <p:nvPr/>
        </p:nvSpPr>
        <p:spPr>
          <a:xfrm>
            <a:off x="9464040" y="3049524"/>
            <a:ext cx="1965960" cy="457200"/>
          </a:xfrm>
          <a:prstGeom prst="rect">
            <a:avLst/>
          </a:prstGeom>
          <a:noFill/>
        </p:spPr>
        <p:txBody>
          <a:bodyPr wrap="square" anchor="t" lIns="0" rIns="0" tIns="0" bIns="0">
            <a:spAutoFit/>
          </a:bodyPr>
          <a:lstStyle/>
          <a:p>
            <a:pPr algn="r"/>
            <a:r>
              <a:rPr sz="2100" b="1" i="0">
                <a:solidFill>
                  <a:srgbClr val="F1F5F9"/>
                </a:solidFill>
                <a:latin typeface="Segoe UI"/>
              </a:rPr>
              <a:t>AQI 82</a:t>
            </a:r>
          </a:p>
        </p:txBody>
      </p:sp>
      <p:sp>
        <p:nvSpPr>
          <p:cNvPr id="43" name="stat2"/>
          <p:cNvSpPr/>
          <p:nvPr/>
        </p:nvSpPr>
        <p:spPr>
          <a:xfrm>
            <a:off x="7699248" y="3877056"/>
            <a:ext cx="3913632" cy="914400"/>
          </a:xfrm>
          <a:prstGeom prst="roundRect">
            <a:avLst>
              <a:gd name="adj" fmla="val 15000"/>
            </a:avLst>
          </a:prstGeom>
          <a:ln w="12700" cap="rnd">
            <a:solidFill>
              <a:srgbClr val="22D3EE">
                <a:alpha val="30000"/>
              </a:srgbClr>
            </a:solidFill>
          </a:ln>
          <a:effectLst/>
          <a:solidFill>
            <a:srgbClr val="0D1B33">
              <a:alpha val="5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7927848" y="4087368"/>
            <a:ext cx="91440" cy="91440"/>
          </a:xfrm>
          <a:prstGeom prst="ellipse">
            <a:avLst/>
          </a:prstGeom>
          <a:ln>
            <a:noFill/>
          </a:ln>
          <a:solidFill>
            <a:srgbClr val="22D3EE"/>
          </a:solidFill>
          <a:effectLst>
            <a:glow rad="762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183879" y="4018788"/>
            <a:ext cx="1737360" cy="274320"/>
          </a:xfrm>
          <a:prstGeom prst="rect">
            <a:avLst/>
          </a:prstGeom>
          <a:noFill/>
        </p:spPr>
        <p:txBody>
          <a:bodyPr wrap="square" anchor="t" lIns="0" rIns="0" tIns="0" bIns="0">
            <a:spAutoFit/>
          </a:bodyPr>
          <a:lstStyle/>
          <a:p>
            <a:pPr algn="l"/>
            <a:r>
              <a:rPr sz="900" b="1" i="0" spc="200">
                <a:solidFill>
                  <a:srgbClr val="8EA3C0"/>
                </a:solidFill>
                <a:latin typeface="Segoe UI"/>
              </a:rPr>
              <a:t>ENERGY LOAD</a:t>
            </a:r>
          </a:p>
        </p:txBody>
      </p:sp>
      <p:sp>
        <p:nvSpPr>
          <p:cNvPr id="46" name="TextBox 45"/>
          <p:cNvSpPr txBox="1"/>
          <p:nvPr/>
        </p:nvSpPr>
        <p:spPr>
          <a:xfrm>
            <a:off x="8183879" y="4261104"/>
            <a:ext cx="2011680" cy="292608"/>
          </a:xfrm>
          <a:prstGeom prst="rect">
            <a:avLst/>
          </a:prstGeom>
          <a:noFill/>
        </p:spPr>
        <p:txBody>
          <a:bodyPr wrap="square" anchor="t" lIns="0" rIns="0" tIns="0" bIns="0">
            <a:spAutoFit/>
          </a:bodyPr>
          <a:lstStyle/>
          <a:p>
            <a:pPr algn="l"/>
            <a:r>
              <a:rPr sz="900" b="0" i="0">
                <a:solidFill>
                  <a:srgbClr val="5A6E8C"/>
                </a:solidFill>
                <a:latin typeface="Segoe UI"/>
              </a:rPr>
              <a:t>peak expected 19:00</a:t>
            </a:r>
          </a:p>
        </p:txBody>
      </p:sp>
      <p:sp>
        <p:nvSpPr>
          <p:cNvPr id="47" name="TextBox 46"/>
          <p:cNvSpPr txBox="1"/>
          <p:nvPr/>
        </p:nvSpPr>
        <p:spPr>
          <a:xfrm>
            <a:off x="9464040" y="4096512"/>
            <a:ext cx="1965960" cy="457200"/>
          </a:xfrm>
          <a:prstGeom prst="rect">
            <a:avLst/>
          </a:prstGeom>
          <a:noFill/>
        </p:spPr>
        <p:txBody>
          <a:bodyPr wrap="square" anchor="t" lIns="0" rIns="0" tIns="0" bIns="0">
            <a:spAutoFit/>
          </a:bodyPr>
          <a:lstStyle/>
          <a:p>
            <a:pPr algn="r"/>
            <a:r>
              <a:rPr sz="2100" b="1" i="0">
                <a:solidFill>
                  <a:srgbClr val="F1F5F9"/>
                </a:solidFill>
                <a:latin typeface="Segoe UI"/>
              </a:rPr>
              <a:t>74%</a:t>
            </a:r>
          </a:p>
        </p:txBody>
      </p:sp>
      <p:sp>
        <p:nvSpPr>
          <p:cNvPr id="48" name="Rounded Rectangle 47"/>
          <p:cNvSpPr/>
          <p:nvPr/>
        </p:nvSpPr>
        <p:spPr>
          <a:xfrm>
            <a:off x="8183879" y="4608576"/>
            <a:ext cx="3154680" cy="68580"/>
          </a:xfrm>
          <a:prstGeom prst="roundRect">
            <a:avLst>
              <a:gd name="adj" fmla="val 50000"/>
            </a:avLst>
          </a:prstGeom>
          <a:ln>
            <a:noFill/>
          </a:ln>
          <a:effectLst/>
          <a:solidFill>
            <a:srgbClr val="1B2B4A"/>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energyBar"/>
          <p:cNvSpPr/>
          <p:nvPr/>
        </p:nvSpPr>
        <p:spPr>
          <a:xfrm>
            <a:off x="8183879" y="4608576"/>
            <a:ext cx="2334463" cy="68580"/>
          </a:xfrm>
          <a:prstGeom prst="roundRect">
            <a:avLst>
              <a:gd name="adj" fmla="val 50000"/>
            </a:avLst>
          </a:prstGeom>
          <a:ln>
            <a:noFill/>
          </a:ln>
          <a:solidFill>
            <a:srgbClr val="22D3EE"/>
          </a:solidFill>
          <a:effectLst>
            <a:glow rad="635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tat3"/>
          <p:cNvSpPr/>
          <p:nvPr/>
        </p:nvSpPr>
        <p:spPr>
          <a:xfrm>
            <a:off x="7699248" y="4924044"/>
            <a:ext cx="3913632" cy="914400"/>
          </a:xfrm>
          <a:prstGeom prst="roundRect">
            <a:avLst>
              <a:gd name="adj" fmla="val 15000"/>
            </a:avLst>
          </a:prstGeom>
          <a:ln w="12700" cap="rnd">
            <a:solidFill>
              <a:srgbClr val="22D3EE">
                <a:alpha val="30000"/>
              </a:srgbClr>
            </a:solidFill>
          </a:ln>
          <a:effectLst/>
          <a:solidFill>
            <a:srgbClr val="0D1B33">
              <a:alpha val="5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7927848" y="5134356"/>
            <a:ext cx="91440" cy="91440"/>
          </a:xfrm>
          <a:prstGeom prst="ellipse">
            <a:avLst/>
          </a:prstGeom>
          <a:ln>
            <a:noFill/>
          </a:ln>
          <a:solidFill>
            <a:srgbClr val="34D399"/>
          </a:solidFill>
          <a:effectLst>
            <a:glow rad="76200">
              <a:srgbClr val="34D399">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183879" y="5065776"/>
            <a:ext cx="1737360" cy="274320"/>
          </a:xfrm>
          <a:prstGeom prst="rect">
            <a:avLst/>
          </a:prstGeom>
          <a:noFill/>
        </p:spPr>
        <p:txBody>
          <a:bodyPr wrap="square" anchor="t" lIns="0" rIns="0" tIns="0" bIns="0">
            <a:spAutoFit/>
          </a:bodyPr>
          <a:lstStyle/>
          <a:p>
            <a:pPr algn="l"/>
            <a:r>
              <a:rPr sz="900" b="1" i="0" spc="200">
                <a:solidFill>
                  <a:srgbClr val="8EA3C0"/>
                </a:solidFill>
                <a:latin typeface="Segoe UI"/>
              </a:rPr>
              <a:t>ROAD HEALTH</a:t>
            </a:r>
          </a:p>
        </p:txBody>
      </p:sp>
      <p:sp>
        <p:nvSpPr>
          <p:cNvPr id="53" name="TextBox 52"/>
          <p:cNvSpPr txBox="1"/>
          <p:nvPr/>
        </p:nvSpPr>
        <p:spPr>
          <a:xfrm>
            <a:off x="8183879" y="5308092"/>
            <a:ext cx="2011680" cy="292608"/>
          </a:xfrm>
          <a:prstGeom prst="rect">
            <a:avLst/>
          </a:prstGeom>
          <a:noFill/>
        </p:spPr>
        <p:txBody>
          <a:bodyPr wrap="square" anchor="t" lIns="0" rIns="0" tIns="0" bIns="0">
            <a:spAutoFit/>
          </a:bodyPr>
          <a:lstStyle/>
          <a:p>
            <a:pPr algn="l"/>
            <a:r>
              <a:rPr sz="900" b="0" i="0">
                <a:solidFill>
                  <a:srgbClr val="5A6E8C"/>
                </a:solidFill>
                <a:latin typeface="Segoe UI"/>
              </a:rPr>
              <a:t>3 minor flags open</a:t>
            </a:r>
          </a:p>
        </p:txBody>
      </p:sp>
      <p:sp>
        <p:nvSpPr>
          <p:cNvPr id="54" name="TextBox 53"/>
          <p:cNvSpPr txBox="1"/>
          <p:nvPr/>
        </p:nvSpPr>
        <p:spPr>
          <a:xfrm>
            <a:off x="9464040" y="5143500"/>
            <a:ext cx="1965960" cy="457200"/>
          </a:xfrm>
          <a:prstGeom prst="rect">
            <a:avLst/>
          </a:prstGeom>
          <a:noFill/>
        </p:spPr>
        <p:txBody>
          <a:bodyPr wrap="square" anchor="t" lIns="0" rIns="0" tIns="0" bIns="0">
            <a:spAutoFit/>
          </a:bodyPr>
          <a:lstStyle/>
          <a:p>
            <a:pPr algn="r"/>
            <a:r>
              <a:rPr sz="2100" b="1" i="0">
                <a:solidFill>
                  <a:srgbClr val="F1F5F9"/>
                </a:solidFill>
                <a:latin typeface="Segoe UI"/>
              </a:rPr>
              <a:t>Good</a:t>
            </a:r>
          </a:p>
        </p:txBody>
      </p:sp>
    </p:spTree>
  </p:cSld>
  <p:clrMapOvr>
    <a:masterClrMapping/>
  </p:clrMapOvr>
  <mc:AlternateContent xmlns:mc="http://schemas.openxmlformats.org/markup-compatibility/2006">
    <mc:Choice xmlns:p14="http://schemas.microsoft.com/office/powerpoint/2010/main" Requires="p14">
      <p:transition spd="slow" p14:dur="1100">
        <p14:morph option="byObject"/>
      </p:transition>
    </mc:Choice>
    <mc:Fallback>
      <p:transition spd="slow" advClick="1">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22" presetClass="entr" presetSubtype="2"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fromLeft)">
                                      <p:cBhvr>
                                        <p:cTn id="7" dur="850"/>
                                        <p:tgtEl>
                                          <p:spTgt spid="10"/>
                                        </p:tgtEl>
                                      </p:cBhvr>
                                    </p:animEffect>
                                  </p:childTnLst>
                                </p:cTn>
                              </p:par>
                              <p:par>
                                <p:cTn id="11" presetID="10" presetClass="entr" presetSubtype="0" fill="hold" grpId="0" nodeType="afterEffect">
                                  <p:stCondLst>
                                    <p:cond delay="26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350"/>
                                        <p:tgtEl>
                                          <p:spTgt spid="12"/>
                                        </p:tgtEl>
                                      </p:cBhvr>
                                    </p:animEffect>
                                  </p:childTnLst>
                                </p:cTn>
                              </p:par>
                              <p:par>
                                <p:cTn id="14" presetID="10" presetClass="entr" presetSubtype="0" fill="hold" grpId="0" nodeType="afterEffect">
                                  <p:stCondLst>
                                    <p:cond delay="55"/>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350"/>
                                        <p:tgtEl>
                                          <p:spTgt spid="13"/>
                                        </p:tgtEl>
                                      </p:cBhvr>
                                    </p:animEffect>
                                  </p:childTnLst>
                                </p:cTn>
                              </p:par>
                              <p:par>
                                <p:cTn id="17" presetID="10" presetClass="entr" presetSubtype="0" fill="hold" grpId="0" nodeType="afterEffect">
                                  <p:stCondLst>
                                    <p:cond delay="55"/>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350"/>
                                        <p:tgtEl>
                                          <p:spTgt spid="14"/>
                                        </p:tgtEl>
                                      </p:cBhvr>
                                    </p:animEffect>
                                  </p:childTnLst>
                                </p:cTn>
                              </p:par>
                              <p:par>
                                <p:cTn id="20" presetID="10" presetClass="entr" presetSubtype="0" fill="hold" grpId="0" nodeType="afterEffect">
                                  <p:stCondLst>
                                    <p:cond delay="55"/>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350"/>
                                        <p:tgtEl>
                                          <p:spTgt spid="15"/>
                                        </p:tgtEl>
                                      </p:cBhvr>
                                    </p:animEffect>
                                  </p:childTnLst>
                                </p:cTn>
                              </p:par>
                              <p:par>
                                <p:cTn id="23" presetID="10" presetClass="entr" presetSubtype="0" fill="hold" grpId="0" nodeType="afterEffect">
                                  <p:stCondLst>
                                    <p:cond delay="55"/>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350"/>
                                        <p:tgtEl>
                                          <p:spTgt spid="16"/>
                                        </p:tgtEl>
                                      </p:cBhvr>
                                    </p:animEffect>
                                  </p:childTnLst>
                                </p:cTn>
                              </p:par>
                              <p:par>
                                <p:cTn id="26" presetID="10" presetClass="entr" presetSubtype="0" fill="hold" grpId="0" nodeType="afterEffect">
                                  <p:stCondLst>
                                    <p:cond delay="55"/>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350"/>
                                        <p:tgtEl>
                                          <p:spTgt spid="17"/>
                                        </p:tgtEl>
                                      </p:cBhvr>
                                    </p:animEffect>
                                  </p:childTnLst>
                                </p:cTn>
                              </p:par>
                              <p:par>
                                <p:cTn id="29" presetID="10" presetClass="entr" presetSubtype="0" fill="hold" grpId="0" nodeType="afterEffect">
                                  <p:stCondLst>
                                    <p:cond delay="55"/>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350"/>
                                        <p:tgtEl>
                                          <p:spTgt spid="18"/>
                                        </p:tgtEl>
                                      </p:cBhvr>
                                    </p:animEffect>
                                  </p:childTnLst>
                                </p:cTn>
                              </p:par>
                              <p:par>
                                <p:cTn id="32" presetID="10" presetClass="entr" presetSubtype="0" fill="hold" grpId="0" nodeType="afterEffect">
                                  <p:stCondLst>
                                    <p:cond delay="55"/>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350"/>
                                        <p:tgtEl>
                                          <p:spTgt spid="19"/>
                                        </p:tgtEl>
                                      </p:cBhvr>
                                    </p:animEffect>
                                  </p:childTnLst>
                                </p:cTn>
                              </p:par>
                              <p:par>
                                <p:cTn id="35" presetID="10" presetClass="entr" presetSubtype="0" fill="hold" grpId="0" nodeType="afterEffect">
                                  <p:stCondLst>
                                    <p:cond delay="55"/>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350"/>
                                        <p:tgtEl>
                                          <p:spTgt spid="20"/>
                                        </p:tgtEl>
                                      </p:cBhvr>
                                    </p:animEffect>
                                  </p:childTnLst>
                                </p:cTn>
                              </p:par>
                              <p:par>
                                <p:cTn id="38" presetID="10" presetClass="entr" presetSubtype="0" fill="hold" grpId="0" nodeType="afterEffect">
                                  <p:stCondLst>
                                    <p:cond delay="55"/>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350"/>
                                        <p:tgtEl>
                                          <p:spTgt spid="21"/>
                                        </p:tgtEl>
                                      </p:cBhvr>
                                    </p:animEffect>
                                  </p:childTnLst>
                                </p:cTn>
                              </p:par>
                              <p:par>
                                <p:cTn id="41" presetID="10" presetClass="entr" presetSubtype="0" fill="hold" grpId="0" nodeType="afterEffect">
                                  <p:stCondLst>
                                    <p:cond delay="55"/>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350"/>
                                        <p:tgtEl>
                                          <p:spTgt spid="22"/>
                                        </p:tgtEl>
                                      </p:cBhvr>
                                    </p:animEffect>
                                  </p:childTnLst>
                                </p:cTn>
                              </p:par>
                              <p:par>
                                <p:cTn id="44" presetID="10" presetClass="entr" presetSubtype="0" fill="hold" grpId="0" nodeType="afterEffect">
                                  <p:stCondLst>
                                    <p:cond delay="55"/>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350"/>
                                        <p:tgtEl>
                                          <p:spTgt spid="23"/>
                                        </p:tgtEl>
                                      </p:cBhvr>
                                    </p:animEffect>
                                  </p:childTnLst>
                                </p:cTn>
                              </p:par>
                              <p:par>
                                <p:cTn id="47" presetID="10" presetClass="entr" presetSubtype="0" fill="hold" grpId="0" nodeType="afterEffect">
                                  <p:stCondLst>
                                    <p:cond delay="55"/>
                                  </p:stCondLst>
                                  <p:childTnLst>
                                    <p:set>
                                      <p:cBhvr>
                                        <p:cTn id="45" dur="1" fill="hold">
                                          <p:stCondLst>
                                            <p:cond delay="0"/>
                                          </p:stCondLst>
                                        </p:cTn>
                                        <p:tgtEl>
                                          <p:spTgt spid="24"/>
                                        </p:tgtEl>
                                        <p:attrNameLst>
                                          <p:attrName>style.visibility</p:attrName>
                                        </p:attrNameLst>
                                      </p:cBhvr>
                                      <p:to>
                                        <p:strVal val="visible"/>
                                      </p:to>
                                    </p:set>
                                    <p:animEffect transition="in" filter="fade">
                                      <p:cBhvr>
                                        <p:cTn id="46" dur="350"/>
                                        <p:tgtEl>
                                          <p:spTgt spid="24"/>
                                        </p:tgtEl>
                                      </p:cBhvr>
                                    </p:animEffect>
                                  </p:childTnLst>
                                </p:cTn>
                              </p:par>
                              <p:par>
                                <p:cTn id="50" presetID="10" presetClass="entr" presetSubtype="0" fill="hold" grpId="0" nodeType="afterEffect">
                                  <p:stCondLst>
                                    <p:cond delay="55"/>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350"/>
                                        <p:tgtEl>
                                          <p:spTgt spid="25"/>
                                        </p:tgtEl>
                                      </p:cBhvr>
                                    </p:animEffect>
                                  </p:childTnLst>
                                </p:cTn>
                              </p:par>
                              <p:par>
                                <p:cTn id="53" presetID="10" presetClass="entr" presetSubtype="0" fill="hold" grpId="0" nodeType="afterEffect">
                                  <p:stCondLst>
                                    <p:cond delay="55"/>
                                  </p:stCondLst>
                                  <p:childTnLst>
                                    <p:set>
                                      <p:cBhvr>
                                        <p:cTn id="51" dur="1" fill="hold">
                                          <p:stCondLst>
                                            <p:cond delay="0"/>
                                          </p:stCondLst>
                                        </p:cTn>
                                        <p:tgtEl>
                                          <p:spTgt spid="26"/>
                                        </p:tgtEl>
                                        <p:attrNameLst>
                                          <p:attrName>style.visibility</p:attrName>
                                        </p:attrNameLst>
                                      </p:cBhvr>
                                      <p:to>
                                        <p:strVal val="visible"/>
                                      </p:to>
                                    </p:set>
                                    <p:animEffect transition="in" filter="fade">
                                      <p:cBhvr>
                                        <p:cTn id="52" dur="350"/>
                                        <p:tgtEl>
                                          <p:spTgt spid="26"/>
                                        </p:tgtEl>
                                      </p:cBhvr>
                                    </p:animEffect>
                                  </p:childTnLst>
                                </p:cTn>
                              </p:par>
                              <p:par>
                                <p:cTn id="56" presetID="10" presetClass="entr" presetSubtype="0" fill="hold" grpId="0" nodeType="afterEffect">
                                  <p:stCondLst>
                                    <p:cond delay="55"/>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350"/>
                                        <p:tgtEl>
                                          <p:spTgt spid="27"/>
                                        </p:tgtEl>
                                      </p:cBhvr>
                                    </p:animEffect>
                                  </p:childTnLst>
                                </p:cTn>
                              </p:par>
                              <p:par>
                                <p:cTn id="59" presetID="10" presetClass="entr" presetSubtype="0" fill="hold" grpId="0" nodeType="afterEffect">
                                  <p:stCondLst>
                                    <p:cond delay="55"/>
                                  </p:stCondLst>
                                  <p:childTnLst>
                                    <p:set>
                                      <p:cBhvr>
                                        <p:cTn id="57" dur="1" fill="hold">
                                          <p:stCondLst>
                                            <p:cond delay="0"/>
                                          </p:stCondLst>
                                        </p:cTn>
                                        <p:tgtEl>
                                          <p:spTgt spid="28"/>
                                        </p:tgtEl>
                                        <p:attrNameLst>
                                          <p:attrName>style.visibility</p:attrName>
                                        </p:attrNameLst>
                                      </p:cBhvr>
                                      <p:to>
                                        <p:strVal val="visible"/>
                                      </p:to>
                                    </p:set>
                                    <p:animEffect transition="in" filter="fade">
                                      <p:cBhvr>
                                        <p:cTn id="58" dur="350"/>
                                        <p:tgtEl>
                                          <p:spTgt spid="28"/>
                                        </p:tgtEl>
                                      </p:cBhvr>
                                    </p:animEffect>
                                  </p:childTnLst>
                                </p:cTn>
                              </p:par>
                              <p:par>
                                <p:cTn id="62" presetID="10" presetClass="entr" presetSubtype="0" fill="hold" grpId="0" nodeType="afterEffect">
                                  <p:stCondLst>
                                    <p:cond delay="55"/>
                                  </p:stCondLst>
                                  <p:childTnLst>
                                    <p:set>
                                      <p:cBhvr>
                                        <p:cTn id="60" dur="1" fill="hold">
                                          <p:stCondLst>
                                            <p:cond delay="0"/>
                                          </p:stCondLst>
                                        </p:cTn>
                                        <p:tgtEl>
                                          <p:spTgt spid="29"/>
                                        </p:tgtEl>
                                        <p:attrNameLst>
                                          <p:attrName>style.visibility</p:attrName>
                                        </p:attrNameLst>
                                      </p:cBhvr>
                                      <p:to>
                                        <p:strVal val="visible"/>
                                      </p:to>
                                    </p:set>
                                    <p:animEffect transition="in" filter="fade">
                                      <p:cBhvr>
                                        <p:cTn id="61" dur="350"/>
                                        <p:tgtEl>
                                          <p:spTgt spid="29"/>
                                        </p:tgtEl>
                                      </p:cBhvr>
                                    </p:animEffect>
                                  </p:childTnLst>
                                </p:cTn>
                              </p:par>
                              <p:par>
                                <p:cTn id="65" presetID="10" presetClass="entr" presetSubtype="0" fill="hold" grpId="0" nodeType="afterEffect">
                                  <p:stCondLst>
                                    <p:cond delay="55"/>
                                  </p:stCondLst>
                                  <p:childTnLst>
                                    <p:set>
                                      <p:cBhvr>
                                        <p:cTn id="63" dur="1" fill="hold">
                                          <p:stCondLst>
                                            <p:cond delay="0"/>
                                          </p:stCondLst>
                                        </p:cTn>
                                        <p:tgtEl>
                                          <p:spTgt spid="30"/>
                                        </p:tgtEl>
                                        <p:attrNameLst>
                                          <p:attrName>style.visibility</p:attrName>
                                        </p:attrNameLst>
                                      </p:cBhvr>
                                      <p:to>
                                        <p:strVal val="visible"/>
                                      </p:to>
                                    </p:set>
                                    <p:animEffect transition="in" filter="fade">
                                      <p:cBhvr>
                                        <p:cTn id="64" dur="350"/>
                                        <p:tgtEl>
                                          <p:spTgt spid="30"/>
                                        </p:tgtEl>
                                      </p:cBhvr>
                                    </p:animEffect>
                                  </p:childTnLst>
                                </p:cTn>
                              </p:par>
                              <p:par>
                                <p:cTn id="68" presetID="10" presetClass="entr" presetSubtype="0" fill="hold" grpId="0" nodeType="afterEffect">
                                  <p:stCondLst>
                                    <p:cond delay="55"/>
                                  </p:stCondLst>
                                  <p:childTnLst>
                                    <p:set>
                                      <p:cBhvr>
                                        <p:cTn id="66" dur="1" fill="hold">
                                          <p:stCondLst>
                                            <p:cond delay="0"/>
                                          </p:stCondLst>
                                        </p:cTn>
                                        <p:tgtEl>
                                          <p:spTgt spid="31"/>
                                        </p:tgtEl>
                                        <p:attrNameLst>
                                          <p:attrName>style.visibility</p:attrName>
                                        </p:attrNameLst>
                                      </p:cBhvr>
                                      <p:to>
                                        <p:strVal val="visible"/>
                                      </p:to>
                                    </p:set>
                                    <p:animEffect transition="in" filter="fade">
                                      <p:cBhvr>
                                        <p:cTn id="67" dur="350"/>
                                        <p:tgtEl>
                                          <p:spTgt spid="31"/>
                                        </p:tgtEl>
                                      </p:cBhvr>
                                    </p:animEffect>
                                  </p:childTnLst>
                                </p:cTn>
                              </p:par>
                              <p:par>
                                <p:cTn id="70" presetID="6" presetClass="emph" presetSubtype="0" fill="hold" grpId="0" nodeType="withEffect">
                                  <p:stCondLst>
                                    <p:cond delay="0"/>
                                  </p:stCondLst>
                                  <p:childTnLst>
                                    <p:animScale>
                                      <p:cBhvr>
                                        <p:cTn id="69" dur="1900" autoRev="1" repeatCount="indefinite"/>
                                        <p:tgtEl>
                                          <p:spTgt spid="12"/>
                                        </p:tgtEl>
                                      </p:cBhvr>
                                      <p:by x="116%" y="116%"/>
                                    </p:animScale>
                                  </p:childTnLst>
                                </p:cTn>
                              </p:par>
                              <p:par>
                                <p:cTn id="72" presetID="6" presetClass="emph" presetSubtype="0" fill="hold" grpId="0" nodeType="withEffect">
                                  <p:stCondLst>
                                    <p:cond delay="0"/>
                                  </p:stCondLst>
                                  <p:childTnLst>
                                    <p:animScale>
                                      <p:cBhvr>
                                        <p:cTn id="71" dur="1900" autoRev="1" repeatCount="indefinite"/>
                                        <p:tgtEl>
                                          <p:spTgt spid="14"/>
                                        </p:tgtEl>
                                      </p:cBhvr>
                                      <p:by x="116%" y="116%"/>
                                    </p:animScale>
                                  </p:childTnLst>
                                </p:cTn>
                              </p:par>
                              <p:par>
                                <p:cTn id="74" presetID="6" presetClass="emph" presetSubtype="0" fill="hold" grpId="0" nodeType="withEffect">
                                  <p:stCondLst>
                                    <p:cond delay="0"/>
                                  </p:stCondLst>
                                  <p:childTnLst>
                                    <p:animScale>
                                      <p:cBhvr>
                                        <p:cTn id="73" dur="1900" autoRev="1" repeatCount="indefinite"/>
                                        <p:tgtEl>
                                          <p:spTgt spid="16"/>
                                        </p:tgtEl>
                                      </p:cBhvr>
                                      <p:by x="116%" y="116%"/>
                                    </p:animScale>
                                  </p:childTnLst>
                                </p:cTn>
                              </p:par>
                              <p:par>
                                <p:cTn id="76" presetID="6" presetClass="emph" presetSubtype="0" fill="hold" grpId="0" nodeType="withEffect">
                                  <p:stCondLst>
                                    <p:cond delay="0"/>
                                  </p:stCondLst>
                                  <p:childTnLst>
                                    <p:animScale>
                                      <p:cBhvr>
                                        <p:cTn id="75" dur="1900" autoRev="1" repeatCount="indefinite"/>
                                        <p:tgtEl>
                                          <p:spTgt spid="18"/>
                                        </p:tgtEl>
                                      </p:cBhvr>
                                      <p:by x="116%" y="116%"/>
                                    </p:animScale>
                                  </p:childTnLst>
                                </p:cTn>
                              </p:par>
                              <p:par>
                                <p:cTn id="78" presetID="6" presetClass="emph" presetSubtype="0" fill="hold" grpId="0" nodeType="withEffect">
                                  <p:stCondLst>
                                    <p:cond delay="0"/>
                                  </p:stCondLst>
                                  <p:childTnLst>
                                    <p:animScale>
                                      <p:cBhvr>
                                        <p:cTn id="77" dur="1900" autoRev="1" repeatCount="indefinite"/>
                                        <p:tgtEl>
                                          <p:spTgt spid="20"/>
                                        </p:tgtEl>
                                      </p:cBhvr>
                                      <p:by x="116%" y="116%"/>
                                    </p:animScale>
                                  </p:childTnLst>
                                </p:cTn>
                              </p:par>
                              <p:par>
                                <p:cTn id="80" presetID="6" presetClass="emph" presetSubtype="0" fill="hold" grpId="0" nodeType="withEffect">
                                  <p:stCondLst>
                                    <p:cond delay="0"/>
                                  </p:stCondLst>
                                  <p:childTnLst>
                                    <p:animScale>
                                      <p:cBhvr>
                                        <p:cTn id="79" dur="1900" autoRev="1" repeatCount="indefinite"/>
                                        <p:tgtEl>
                                          <p:spTgt spid="22"/>
                                        </p:tgtEl>
                                      </p:cBhvr>
                                      <p:by x="116%" y="116%"/>
                                    </p:animScale>
                                  </p:childTnLst>
                                </p:cTn>
                              </p:par>
                              <p:par>
                                <p:cTn id="82" presetID="6" presetClass="emph" presetSubtype="0" fill="hold" grpId="0" nodeType="withEffect">
                                  <p:stCondLst>
                                    <p:cond delay="0"/>
                                  </p:stCondLst>
                                  <p:childTnLst>
                                    <p:animScale>
                                      <p:cBhvr>
                                        <p:cTn id="81" dur="1900" autoRev="1" repeatCount="indefinite"/>
                                        <p:tgtEl>
                                          <p:spTgt spid="24"/>
                                        </p:tgtEl>
                                      </p:cBhvr>
                                      <p:by x="116%" y="116%"/>
                                    </p:animScale>
                                  </p:childTnLst>
                                </p:cTn>
                              </p:par>
                              <p:par>
                                <p:cTn id="84" presetID="6" presetClass="emph" presetSubtype="0" fill="hold" grpId="0" nodeType="withEffect">
                                  <p:stCondLst>
                                    <p:cond delay="0"/>
                                  </p:stCondLst>
                                  <p:childTnLst>
                                    <p:animScale>
                                      <p:cBhvr>
                                        <p:cTn id="83" dur="1900" autoRev="1" repeatCount="indefinite"/>
                                        <p:tgtEl>
                                          <p:spTgt spid="26"/>
                                        </p:tgtEl>
                                      </p:cBhvr>
                                      <p:by x="116%" y="116%"/>
                                    </p:animScale>
                                  </p:childTnLst>
                                </p:cTn>
                              </p:par>
                              <p:par>
                                <p:cTn id="86" presetID="6" presetClass="emph" presetSubtype="0" fill="hold" grpId="0" nodeType="withEffect">
                                  <p:stCondLst>
                                    <p:cond delay="0"/>
                                  </p:stCondLst>
                                  <p:childTnLst>
                                    <p:animScale>
                                      <p:cBhvr>
                                        <p:cTn id="85" dur="1900" autoRev="1" repeatCount="indefinite"/>
                                        <p:tgtEl>
                                          <p:spTgt spid="28"/>
                                        </p:tgtEl>
                                      </p:cBhvr>
                                      <p:by x="116%" y="116%"/>
                                    </p:animScale>
                                  </p:childTnLst>
                                </p:cTn>
                              </p:par>
                              <p:par>
                                <p:cTn id="88" presetID="6" presetClass="emph" presetSubtype="0" fill="hold" grpId="0" nodeType="withEffect">
                                  <p:stCondLst>
                                    <p:cond delay="0"/>
                                  </p:stCondLst>
                                  <p:childTnLst>
                                    <p:animScale>
                                      <p:cBhvr>
                                        <p:cTn id="87" dur="1900" autoRev="1" repeatCount="indefinite"/>
                                        <p:tgtEl>
                                          <p:spTgt spid="30"/>
                                        </p:tgtEl>
                                      </p:cBhvr>
                                      <p:by x="116%" y="116%"/>
                                    </p:animScale>
                                  </p:childTnLst>
                                </p:cTn>
                              </p:par>
                              <p:par>
                                <p:cTn id="90" presetID="64" presetClass="path" presetSubtype="0" fill="hold" grpId="0" nodeType="withEffect">
                                  <p:stCondLst>
                                    <p:cond delay="0"/>
                                  </p:stCondLst>
                                  <p:childTnLst>
                                    <p:animMotion origin="layout" path="M 0 0 L 0.535 0" pathEditMode="relative" rAng="0" ptsTypes="">
                                      <p:cBhvr>
                                        <p:cTn id="89" dur="5200" fill="hold" repeatCount="indefinite"/>
                                        <p:tgtEl>
                                          <p:spTgt spid="32"/>
                                        </p:tgtEl>
                                      </p:cBhvr>
                                    </p:animMotion>
                                  </p:childTnLst>
                                </p:cTn>
                              </p:par>
                              <p:par>
                                <p:cTn id="92" presetID="8" presetClass="emph" presetSubtype="0" fill="hold" grpId="0" nodeType="withEffect">
                                  <p:stCondLst>
                                    <p:cond delay="0"/>
                                  </p:stCondLst>
                                  <p:childTnLst>
                                    <p:animEffect transition="out" filter="fade">
                                      <p:cBhvr>
                                        <p:cTn id="91" dur="5200" autoRev="1" repeatCount="indefinite"/>
                                        <p:tgtEl>
                                          <p:spTgt spid="32"/>
                                        </p:tgtEl>
                                      </p:cBhvr>
                                    </p:animEffect>
                                  </p:childTnLst>
                                </p:cTn>
                              </p:par>
                              <p:par>
                                <p:cTn id="94" presetID="64" presetClass="path" presetSubtype="0" fill="hold" grpId="0" nodeType="afterEffect">
                                  <p:stCondLst>
                                    <p:cond delay="300"/>
                                  </p:stCondLst>
                                  <p:childTnLst>
                                    <p:animMotion origin="layout" path="M 0.0 0.045 L 0.0 0.0" pathEditMode="relative" rAng="0" ptsTypes="">
                                      <p:cBhvr>
                                        <p:cTn id="93" dur="520" fill="hold"/>
                                        <p:tgtEl>
                                          <p:spTgt spid="33"/>
                                        </p:tgtEl>
                                      </p:cBhvr>
                                    </p:animMotion>
                                  </p:childTnLst>
                                </p:cTn>
                              </p:par>
                              <p:par>
                                <p:cTn id="97" presetID="10" presetClass="entr" presetSubtype="0" fill="hold" grpId="0" nodeType="withEffect">
                                  <p:stCondLst>
                                    <p:cond delay="300"/>
                                  </p:stCondLst>
                                  <p:childTnLst>
                                    <p:set>
                                      <p:cBhvr>
                                        <p:cTn id="95" dur="1" fill="hold">
                                          <p:stCondLst>
                                            <p:cond delay="0"/>
                                          </p:stCondLst>
                                        </p:cTn>
                                        <p:tgtEl>
                                          <p:spTgt spid="33"/>
                                        </p:tgtEl>
                                        <p:attrNameLst>
                                          <p:attrName>style.visibility</p:attrName>
                                        </p:attrNameLst>
                                      </p:cBhvr>
                                      <p:to>
                                        <p:strVal val="visible"/>
                                      </p:to>
                                    </p:set>
                                    <p:animEffect transition="in" filter="fade">
                                      <p:cBhvr>
                                        <p:cTn id="96" dur="520"/>
                                        <p:tgtEl>
                                          <p:spTgt spid="33"/>
                                        </p:tgtEl>
                                      </p:cBhvr>
                                    </p:animEffect>
                                  </p:childTnLst>
                                </p:cTn>
                              </p:par>
                              <p:par>
                                <p:cTn id="99" presetID="64" presetClass="path" presetSubtype="0" fill="hold" grpId="0" nodeType="afterEffect">
                                  <p:stCondLst>
                                    <p:cond delay="130"/>
                                  </p:stCondLst>
                                  <p:childTnLst>
                                    <p:animMotion origin="layout" path="M 0.0 0.045 L 0.0 0.0" pathEditMode="relative" rAng="0" ptsTypes="">
                                      <p:cBhvr>
                                        <p:cTn id="98" dur="520" fill="hold"/>
                                        <p:tgtEl>
                                          <p:spTgt spid="38"/>
                                        </p:tgtEl>
                                      </p:cBhvr>
                                    </p:animMotion>
                                  </p:childTnLst>
                                </p:cTn>
                              </p:par>
                              <p:par>
                                <p:cTn id="102" presetID="10" presetClass="entr" presetSubtype="0" fill="hold" grpId="0" nodeType="withEffect">
                                  <p:stCondLst>
                                    <p:cond delay="130"/>
                                  </p:stCondLst>
                                  <p:childTnLst>
                                    <p:set>
                                      <p:cBhvr>
                                        <p:cTn id="100" dur="1" fill="hold">
                                          <p:stCondLst>
                                            <p:cond delay="0"/>
                                          </p:stCondLst>
                                        </p:cTn>
                                        <p:tgtEl>
                                          <p:spTgt spid="38"/>
                                        </p:tgtEl>
                                        <p:attrNameLst>
                                          <p:attrName>style.visibility</p:attrName>
                                        </p:attrNameLst>
                                      </p:cBhvr>
                                      <p:to>
                                        <p:strVal val="visible"/>
                                      </p:to>
                                    </p:set>
                                    <p:animEffect transition="in" filter="fade">
                                      <p:cBhvr>
                                        <p:cTn id="101" dur="520"/>
                                        <p:tgtEl>
                                          <p:spTgt spid="38"/>
                                        </p:tgtEl>
                                      </p:cBhvr>
                                    </p:animEffect>
                                  </p:childTnLst>
                                </p:cTn>
                              </p:par>
                              <p:par>
                                <p:cTn id="104" presetID="64" presetClass="path" presetSubtype="0" fill="hold" grpId="0" nodeType="afterEffect">
                                  <p:stCondLst>
                                    <p:cond delay="130"/>
                                  </p:stCondLst>
                                  <p:childTnLst>
                                    <p:animMotion origin="layout" path="M 0.0 0.045 L 0.0 0.0" pathEditMode="relative" rAng="0" ptsTypes="">
                                      <p:cBhvr>
                                        <p:cTn id="103" dur="520" fill="hold"/>
                                        <p:tgtEl>
                                          <p:spTgt spid="43"/>
                                        </p:tgtEl>
                                      </p:cBhvr>
                                    </p:animMotion>
                                  </p:childTnLst>
                                </p:cTn>
                              </p:par>
                              <p:par>
                                <p:cTn id="107" presetID="10" presetClass="entr" presetSubtype="0" fill="hold" grpId="0" nodeType="withEffect">
                                  <p:stCondLst>
                                    <p:cond delay="130"/>
                                  </p:stCondLst>
                                  <p:childTnLst>
                                    <p:set>
                                      <p:cBhvr>
                                        <p:cTn id="105" dur="1" fill="hold">
                                          <p:stCondLst>
                                            <p:cond delay="0"/>
                                          </p:stCondLst>
                                        </p:cTn>
                                        <p:tgtEl>
                                          <p:spTgt spid="43"/>
                                        </p:tgtEl>
                                        <p:attrNameLst>
                                          <p:attrName>style.visibility</p:attrName>
                                        </p:attrNameLst>
                                      </p:cBhvr>
                                      <p:to>
                                        <p:strVal val="visible"/>
                                      </p:to>
                                    </p:set>
                                    <p:animEffect transition="in" filter="fade">
                                      <p:cBhvr>
                                        <p:cTn id="106" dur="520"/>
                                        <p:tgtEl>
                                          <p:spTgt spid="43"/>
                                        </p:tgtEl>
                                      </p:cBhvr>
                                    </p:animEffect>
                                  </p:childTnLst>
                                </p:cTn>
                              </p:par>
                              <p:par>
                                <p:cTn id="109" presetID="64" presetClass="path" presetSubtype="0" fill="hold" grpId="0" nodeType="afterEffect">
                                  <p:stCondLst>
                                    <p:cond delay="130"/>
                                  </p:stCondLst>
                                  <p:childTnLst>
                                    <p:animMotion origin="layout" path="M 0.0 0.045 L 0.0 0.0" pathEditMode="relative" rAng="0" ptsTypes="">
                                      <p:cBhvr>
                                        <p:cTn id="108" dur="520" fill="hold"/>
                                        <p:tgtEl>
                                          <p:spTgt spid="50"/>
                                        </p:tgtEl>
                                      </p:cBhvr>
                                    </p:animMotion>
                                  </p:childTnLst>
                                </p:cTn>
                              </p:par>
                              <p:par>
                                <p:cTn id="112" presetID="10" presetClass="entr" presetSubtype="0" fill="hold" grpId="0" nodeType="withEffect">
                                  <p:stCondLst>
                                    <p:cond delay="130"/>
                                  </p:stCondLst>
                                  <p:childTnLst>
                                    <p:set>
                                      <p:cBhvr>
                                        <p:cTn id="110" dur="1" fill="hold">
                                          <p:stCondLst>
                                            <p:cond delay="0"/>
                                          </p:stCondLst>
                                        </p:cTn>
                                        <p:tgtEl>
                                          <p:spTgt spid="50"/>
                                        </p:tgtEl>
                                        <p:attrNameLst>
                                          <p:attrName>style.visibility</p:attrName>
                                        </p:attrNameLst>
                                      </p:cBhvr>
                                      <p:to>
                                        <p:strVal val="visible"/>
                                      </p:to>
                                    </p:set>
                                    <p:animEffect transition="in" filter="fade">
                                      <p:cBhvr>
                                        <p:cTn id="111" dur="520"/>
                                        <p:tgtEl>
                                          <p:spTgt spid="50"/>
                                        </p:tgtEl>
                                      </p:cBhvr>
                                    </p:animEffect>
                                  </p:childTnLst>
                                </p:cTn>
                              </p:par>
                              <p:par>
                                <p:cTn id="115" presetID="22" presetClass="entr" presetSubtype="2" fill="hold" grpId="0" nodeType="afterEffect">
                                  <p:stCondLst>
                                    <p:cond delay="150"/>
                                  </p:stCondLst>
                                  <p:childTnLst>
                                    <p:set>
                                      <p:cBhvr>
                                        <p:cTn id="113" dur="1" fill="hold">
                                          <p:stCondLst>
                                            <p:cond delay="0"/>
                                          </p:stCondLst>
                                        </p:cTn>
                                        <p:tgtEl>
                                          <p:spTgt spid="49"/>
                                        </p:tgtEl>
                                        <p:attrNameLst>
                                          <p:attrName>style.visibility</p:attrName>
                                        </p:attrNameLst>
                                      </p:cBhvr>
                                      <p:to>
                                        <p:strVal val="visible"/>
                                      </p:to>
                                    </p:set>
                                    <p:animEffect transition="in" filter="wipe(fromLeft)">
                                      <p:cBhvr>
                                        <p:cTn id="114" dur="7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ln>
            <a:noFill/>
          </a:ln>
          <a:effectLst/>
          <a:solidFill>
            <a:srgbClr val="050A1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2011680"/>
            <a:ext cx="4754880" cy="4754880"/>
          </a:xfrm>
          <a:prstGeom prst="ellipse">
            <a:avLst/>
          </a:prstGeom>
          <a:gradFill>
            <a:gsLst>
              <a:gs pos="0">
                <a:srgbClr val="3B82F6">
                  <a:alpha val="20000"/>
                </a:srgbClr>
              </a:gs>
              <a:gs pos="65000">
                <a:srgbClr val="3B82F6">
                  <a:alpha val="6000"/>
                </a:srgbClr>
              </a:gs>
              <a:gs pos="100000">
                <a:srgbClr val="3B82F6">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463039" y="4480560"/>
            <a:ext cx="4206240" cy="4206240"/>
          </a:xfrm>
          <a:prstGeom prst="ellipse">
            <a:avLst/>
          </a:prstGeom>
          <a:gradFill>
            <a:gsLst>
              <a:gs pos="0">
                <a:srgbClr val="8B5CF6">
                  <a:alpha val="16000"/>
                </a:srgbClr>
              </a:gs>
              <a:gs pos="65000">
                <a:srgbClr val="8B5CF6">
                  <a:alpha val="5000"/>
                </a:srgbClr>
              </a:gs>
              <a:gs pos="100000">
                <a:srgbClr val="8B5CF6">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kbar"/>
          <p:cNvSpPr/>
          <p:nvPr/>
        </p:nvSpPr>
        <p:spPr>
          <a:xfrm>
            <a:off x="566928" y="603504"/>
            <a:ext cx="274320" cy="47548"/>
          </a:xfrm>
          <a:prstGeom prst="rect">
            <a:avLst/>
          </a:prstGeom>
          <a:ln>
            <a:noFill/>
          </a:ln>
          <a:solidFill>
            <a:srgbClr val="22D3EE"/>
          </a:solidFill>
          <a:effectLst>
            <a:glow rad="762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kicker"/>
          <p:cNvSpPr txBox="1"/>
          <p:nvPr/>
        </p:nvSpPr>
        <p:spPr>
          <a:xfrm>
            <a:off x="932688" y="489204"/>
            <a:ext cx="7772400" cy="292608"/>
          </a:xfrm>
          <a:prstGeom prst="rect">
            <a:avLst/>
          </a:prstGeom>
          <a:noFill/>
        </p:spPr>
        <p:txBody>
          <a:bodyPr wrap="square" anchor="t" lIns="0" rIns="0" tIns="0" bIns="0">
            <a:spAutoFit/>
          </a:bodyPr>
          <a:lstStyle/>
          <a:p>
            <a:pPr algn="l"/>
            <a:r>
              <a:rPr sz="1050" b="1" i="0" spc="320">
                <a:solidFill>
                  <a:srgbClr val="22D3EE"/>
                </a:solidFill>
                <a:latin typeface="Segoe UI"/>
              </a:rPr>
              <a:t>MODULE 03 — AI ENGINE</a:t>
            </a:r>
          </a:p>
        </p:txBody>
      </p:sp>
      <p:sp>
        <p:nvSpPr>
          <p:cNvPr id="7" name="title"/>
          <p:cNvSpPr txBox="1"/>
          <p:nvPr/>
        </p:nvSpPr>
        <p:spPr>
          <a:xfrm>
            <a:off x="566928" y="868680"/>
            <a:ext cx="11064240" cy="658368"/>
          </a:xfrm>
          <a:prstGeom prst="rect">
            <a:avLst/>
          </a:prstGeom>
          <a:noFill/>
        </p:spPr>
        <p:txBody>
          <a:bodyPr wrap="square" anchor="t" lIns="0" rIns="0" tIns="0" bIns="0">
            <a:spAutoFit/>
          </a:bodyPr>
          <a:lstStyle/>
          <a:p>
            <a:pPr algn="l"/>
            <a:r>
              <a:rPr sz="3300" b="1" i="0">
                <a:solidFill>
                  <a:srgbClr val="F1F5F9"/>
                </a:solidFill>
                <a:latin typeface="Segoe UI"/>
              </a:rPr>
              <a:t>Don't Just Monitor. Predict.</a:t>
            </a:r>
          </a:p>
        </p:txBody>
      </p:sp>
      <p:sp>
        <p:nvSpPr>
          <p:cNvPr id="8" name="pageno"/>
          <p:cNvSpPr txBox="1"/>
          <p:nvPr/>
        </p:nvSpPr>
        <p:spPr>
          <a:xfrm>
            <a:off x="10835640" y="6519672"/>
            <a:ext cx="786384" cy="219456"/>
          </a:xfrm>
          <a:prstGeom prst="rect">
            <a:avLst/>
          </a:prstGeom>
          <a:noFill/>
        </p:spPr>
        <p:txBody>
          <a:bodyPr wrap="square" anchor="t" lIns="0" rIns="0" tIns="0" bIns="0">
            <a:spAutoFit/>
          </a:bodyPr>
          <a:lstStyle/>
          <a:p>
            <a:pPr algn="r"/>
            <a:r>
              <a:rPr sz="900" b="1" i="0">
                <a:solidFill>
                  <a:srgbClr val="8EA3C0"/>
                </a:solidFill>
                <a:latin typeface="Segoe UI"/>
              </a:rPr>
              <a:t>07</a:t>
            </a:r>
            <a:r>
              <a:rPr sz="900" b="0" i="0">
                <a:solidFill>
                  <a:srgbClr val="5A6E8C"/>
                </a:solidFill>
                <a:latin typeface="Segoe UI"/>
              </a:rPr>
              <a:t> / 12</a:t>
            </a:r>
          </a:p>
        </p:txBody>
      </p:sp>
      <p:sp>
        <p:nvSpPr>
          <p:cNvPr id="9" name="footer"/>
          <p:cNvSpPr txBox="1"/>
          <p:nvPr/>
        </p:nvSpPr>
        <p:spPr>
          <a:xfrm>
            <a:off x="566928" y="6519672"/>
            <a:ext cx="5486400" cy="219456"/>
          </a:xfrm>
          <a:prstGeom prst="rect">
            <a:avLst/>
          </a:prstGeom>
          <a:noFill/>
        </p:spPr>
        <p:txBody>
          <a:bodyPr wrap="square" anchor="t" lIns="0" rIns="0" tIns="0" bIns="0">
            <a:spAutoFit/>
          </a:bodyPr>
          <a:lstStyle/>
          <a:p>
            <a:pPr algn="l"/>
            <a:r>
              <a:rPr sz="800" b="1" i="0" spc="260">
                <a:solidFill>
                  <a:srgbClr val="5A6E8C"/>
                </a:solidFill>
                <a:latin typeface="Segoe UI"/>
              </a:rPr>
              <a:t>CITYVERSE AI</a:t>
            </a:r>
            <a:r>
              <a:rPr sz="800" b="0" i="0" spc="180">
                <a:solidFill>
                  <a:srgbClr val="5A6E8C"/>
                </a:solidFill>
                <a:latin typeface="Segoe UI"/>
              </a:rPr>
              <a:t>  ·  SMART DIGITAL TWIN PLATFORM</a:t>
            </a:r>
          </a:p>
        </p:txBody>
      </p:sp>
      <p:pic>
        <p:nvPicPr>
          <p:cNvPr id="10" name="aibrain" descr="ai_core.png"/>
          <p:cNvPicPr>
            <a:picLocks noChangeAspect="1"/>
          </p:cNvPicPr>
          <p:nvPr/>
        </p:nvPicPr>
        <p:blipFill>
          <a:blip r:embed="rId2"/>
          <a:stretch>
            <a:fillRect/>
          </a:stretch>
        </p:blipFill>
        <p:spPr>
          <a:xfrm>
            <a:off x="566928" y="1783080"/>
            <a:ext cx="4846320" cy="4114800"/>
          </a:xfrm>
          <a:ln w="13970" cap="rnd">
            <a:solidFill>
              <a:srgbClr val="22D3EE">
                <a:alpha val="45000"/>
              </a:srgbClr>
            </a:solidFill>
          </a:ln>
          <a:prstGeom prst="roundRect">
            <a:avLst>
              <a:gd name="adj" fmla="val 4500"/>
            </a:avLst>
          </a:prstGeom>
          <a:effectLst>
            <a:glow rad="152400">
              <a:srgbClr val="8B5CF6">
                <a:alpha val="60000"/>
              </a:srgbClr>
            </a:glow>
          </a:effectLst>
        </p:spPr>
      </p:pic>
      <p:sp>
        <p:nvSpPr>
          <p:cNvPr id="11" name="model0"/>
          <p:cNvSpPr/>
          <p:nvPr/>
        </p:nvSpPr>
        <p:spPr>
          <a:xfrm>
            <a:off x="841248" y="5349240"/>
            <a:ext cx="1371600" cy="384048"/>
          </a:xfrm>
          <a:prstGeom prst="roundRect">
            <a:avLst>
              <a:gd name="adj" fmla="val 50000"/>
            </a:avLst>
          </a:prstGeom>
          <a:ln w="12700" cap="rnd">
            <a:solidFill>
              <a:srgbClr val="22D3EE">
                <a:alpha val="45000"/>
              </a:srgbClr>
            </a:solidFill>
          </a:ln>
          <a:effectLst/>
          <a:solidFill>
            <a:srgbClr val="0D1B33">
              <a:alpha val="72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5349240"/>
            <a:ext cx="1371600" cy="384048"/>
          </a:xfrm>
          <a:prstGeom prst="rect">
            <a:avLst/>
          </a:prstGeom>
          <a:noFill/>
        </p:spPr>
        <p:txBody>
          <a:bodyPr wrap="square" anchor="ctr" lIns="0" rIns="0" tIns="0" bIns="0">
            <a:spAutoFit/>
          </a:bodyPr>
          <a:lstStyle/>
          <a:p>
            <a:pPr algn="ctr"/>
            <a:r>
              <a:rPr sz="850" b="1" i="0" spc="60">
                <a:solidFill>
                  <a:srgbClr val="9FD8FF"/>
                </a:solidFill>
                <a:latin typeface="Segoe UI"/>
              </a:rPr>
              <a:t>Forecasting ML</a:t>
            </a:r>
          </a:p>
        </p:txBody>
      </p:sp>
      <p:sp>
        <p:nvSpPr>
          <p:cNvPr id="13" name="model1"/>
          <p:cNvSpPr/>
          <p:nvPr/>
        </p:nvSpPr>
        <p:spPr>
          <a:xfrm>
            <a:off x="2322576" y="5349240"/>
            <a:ext cx="1371600" cy="384048"/>
          </a:xfrm>
          <a:prstGeom prst="roundRect">
            <a:avLst>
              <a:gd name="adj" fmla="val 50000"/>
            </a:avLst>
          </a:prstGeom>
          <a:ln w="12700" cap="rnd">
            <a:solidFill>
              <a:srgbClr val="22D3EE">
                <a:alpha val="45000"/>
              </a:srgbClr>
            </a:solidFill>
          </a:ln>
          <a:effectLst/>
          <a:solidFill>
            <a:srgbClr val="0D1B33">
              <a:alpha val="72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22576" y="5349240"/>
            <a:ext cx="1371600" cy="384048"/>
          </a:xfrm>
          <a:prstGeom prst="rect">
            <a:avLst/>
          </a:prstGeom>
          <a:noFill/>
        </p:spPr>
        <p:txBody>
          <a:bodyPr wrap="square" anchor="ctr" lIns="0" rIns="0" tIns="0" bIns="0">
            <a:spAutoFit/>
          </a:bodyPr>
          <a:lstStyle/>
          <a:p>
            <a:pPr algn="ctr"/>
            <a:r>
              <a:rPr sz="850" b="1" i="0" spc="60">
                <a:solidFill>
                  <a:srgbClr val="9FD8FF"/>
                </a:solidFill>
                <a:latin typeface="Segoe UI"/>
              </a:rPr>
              <a:t>Anomaly AI</a:t>
            </a:r>
          </a:p>
        </p:txBody>
      </p:sp>
      <p:sp>
        <p:nvSpPr>
          <p:cNvPr id="15" name="model2"/>
          <p:cNvSpPr/>
          <p:nvPr/>
        </p:nvSpPr>
        <p:spPr>
          <a:xfrm>
            <a:off x="3803904" y="5349240"/>
            <a:ext cx="1371600" cy="384048"/>
          </a:xfrm>
          <a:prstGeom prst="roundRect">
            <a:avLst>
              <a:gd name="adj" fmla="val 50000"/>
            </a:avLst>
          </a:prstGeom>
          <a:ln w="12700" cap="rnd">
            <a:solidFill>
              <a:srgbClr val="22D3EE">
                <a:alpha val="45000"/>
              </a:srgbClr>
            </a:solidFill>
          </a:ln>
          <a:effectLst/>
          <a:solidFill>
            <a:srgbClr val="0D1B33">
              <a:alpha val="72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03904" y="5349240"/>
            <a:ext cx="1371600" cy="384048"/>
          </a:xfrm>
          <a:prstGeom prst="rect">
            <a:avLst/>
          </a:prstGeom>
          <a:noFill/>
        </p:spPr>
        <p:txBody>
          <a:bodyPr wrap="square" anchor="ctr" lIns="0" rIns="0" tIns="0" bIns="0">
            <a:spAutoFit/>
          </a:bodyPr>
          <a:lstStyle/>
          <a:p>
            <a:pPr algn="ctr"/>
            <a:r>
              <a:rPr sz="850" b="1" i="0" spc="60">
                <a:solidFill>
                  <a:srgbClr val="9FD8FF"/>
                </a:solidFill>
                <a:latin typeface="Segoe UI"/>
              </a:rPr>
              <a:t>Vision AI</a:t>
            </a:r>
          </a:p>
        </p:txBody>
      </p:sp>
      <p:cxnSp>
        <p:nvCxnSpPr>
          <p:cNvPr id="17" name="Connector 16"/>
          <p:cNvCxnSpPr/>
          <p:nvPr/>
        </p:nvCxnSpPr>
        <p:spPr>
          <a:xfrm>
            <a:off x="5440680" y="2414015"/>
            <a:ext cx="429768" cy="0"/>
          </a:xfrm>
          <a:prstGeom prst="line">
            <a:avLst/>
          </a:prstGeom>
          <a:ln w="15240" cap="rnd">
            <a:solidFill>
              <a:srgbClr val="22D3EE">
                <a:alpha val="45000"/>
              </a:srgbClr>
            </a:solidFill>
            <a:prstDash val="dash"/>
          </a:ln>
          <a:effectLst/>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5820156" y="2382011"/>
            <a:ext cx="64008" cy="64008"/>
          </a:xfrm>
          <a:prstGeom prst="ellipse">
            <a:avLst/>
          </a:prstGeom>
          <a:ln>
            <a:noFill/>
          </a:ln>
          <a:solidFill>
            <a:srgbClr val="22D3EE"/>
          </a:solidFill>
          <a:effectLst>
            <a:glow rad="635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red0"/>
          <p:cNvSpPr/>
          <p:nvPr/>
        </p:nvSpPr>
        <p:spPr>
          <a:xfrm>
            <a:off x="5989320" y="1783080"/>
            <a:ext cx="5623560" cy="1261872"/>
          </a:xfrm>
          <a:prstGeom prst="roundRect">
            <a:avLst>
              <a:gd name="adj" fmla="val 13000"/>
            </a:avLst>
          </a:prstGeom>
          <a:ln w="12700" cap="rnd">
            <a:solidFill>
              <a:srgbClr val="22D3EE">
                <a:alpha val="40000"/>
              </a:srgbClr>
            </a:solidFill>
          </a:ln>
          <a:effectLst/>
          <a:solidFill>
            <a:srgbClr val="0D1B33">
              <a:alpha val="5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263640" y="2112264"/>
            <a:ext cx="603504" cy="603504"/>
          </a:xfrm>
          <a:prstGeom prst="roundRect">
            <a:avLst>
              <a:gd name="adj" fmla="val 22000"/>
            </a:avLst>
          </a:prstGeom>
          <a:ln>
            <a:noFill/>
          </a:ln>
          <a:gradFill>
            <a:gsLst>
              <a:gs pos="0">
                <a:srgbClr val="22D3EE">
                  <a:alpha val="85000"/>
                </a:srgbClr>
              </a:gs>
              <a:gs pos="100000">
                <a:srgbClr val="8B5CF6">
                  <a:alpha val="85000"/>
                </a:srgbClr>
              </a:gs>
            </a:gsLst>
            <a:lin ang="8100000" scaled="1"/>
          </a:gradFill>
          <a:effectLst>
            <a:glow rad="762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3640" y="2112264"/>
            <a:ext cx="603504" cy="603504"/>
          </a:xfrm>
          <a:prstGeom prst="rect">
            <a:avLst/>
          </a:prstGeom>
          <a:noFill/>
        </p:spPr>
        <p:txBody>
          <a:bodyPr wrap="square" anchor="ctr" lIns="0" rIns="0" tIns="0" bIns="0">
            <a:spAutoFit/>
          </a:bodyPr>
          <a:lstStyle/>
          <a:p>
            <a:pPr algn="ctr"/>
            <a:r>
              <a:rPr sz="1300" b="1" i="0">
                <a:solidFill>
                  <a:srgbClr val="F1F5F9"/>
                </a:solidFill>
                <a:latin typeface="Segoe UI"/>
              </a:rPr>
              <a:t>TF</a:t>
            </a:r>
          </a:p>
        </p:txBody>
      </p:sp>
      <p:sp>
        <p:nvSpPr>
          <p:cNvPr id="22" name="TextBox 21"/>
          <p:cNvSpPr txBox="1"/>
          <p:nvPr/>
        </p:nvSpPr>
        <p:spPr>
          <a:xfrm>
            <a:off x="7040880" y="2002536"/>
            <a:ext cx="3108960" cy="274320"/>
          </a:xfrm>
          <a:prstGeom prst="rect">
            <a:avLst/>
          </a:prstGeom>
          <a:noFill/>
        </p:spPr>
        <p:txBody>
          <a:bodyPr wrap="square" anchor="t" lIns="0" rIns="0" tIns="0" bIns="0">
            <a:spAutoFit/>
          </a:bodyPr>
          <a:lstStyle/>
          <a:p>
            <a:pPr algn="l"/>
            <a:r>
              <a:rPr sz="1500" b="1" i="0">
                <a:solidFill>
                  <a:srgbClr val="F1F5F9"/>
                </a:solidFill>
                <a:latin typeface="Segoe UI"/>
              </a:rPr>
              <a:t>Traffic Foresight</a:t>
            </a:r>
          </a:p>
        </p:txBody>
      </p:sp>
      <p:sp>
        <p:nvSpPr>
          <p:cNvPr id="23" name="TextBox 22"/>
          <p:cNvSpPr txBox="1"/>
          <p:nvPr/>
        </p:nvSpPr>
        <p:spPr>
          <a:xfrm>
            <a:off x="7040880" y="2313432"/>
            <a:ext cx="3291840" cy="457200"/>
          </a:xfrm>
          <a:prstGeom prst="rect">
            <a:avLst/>
          </a:prstGeom>
          <a:noFill/>
        </p:spPr>
        <p:txBody>
          <a:bodyPr wrap="square" anchor="t" lIns="0" rIns="0" tIns="0" bIns="0">
            <a:spAutoFit/>
          </a:bodyPr>
          <a:lstStyle/>
          <a:p>
            <a:pPr algn="l"/>
            <a:r>
              <a:rPr sz="1000" b="0" i="0">
                <a:solidFill>
                  <a:srgbClr val="8EA3C0"/>
                </a:solidFill>
                <a:latin typeface="Segoe UI"/>
              </a:rPr>
              <a:t>Congestion predicted 30 minutes before it forms</a:t>
            </a:r>
          </a:p>
        </p:txBody>
      </p:sp>
      <p:sp>
        <p:nvSpPr>
          <p:cNvPr id="24" name="TextBox 23"/>
          <p:cNvSpPr txBox="1"/>
          <p:nvPr/>
        </p:nvSpPr>
        <p:spPr>
          <a:xfrm>
            <a:off x="10378440" y="2057400"/>
            <a:ext cx="1051560" cy="274320"/>
          </a:xfrm>
          <a:prstGeom prst="rect">
            <a:avLst/>
          </a:prstGeom>
          <a:noFill/>
        </p:spPr>
        <p:txBody>
          <a:bodyPr wrap="square" anchor="t" lIns="0" rIns="0" tIns="0" bIns="0">
            <a:spAutoFit/>
          </a:bodyPr>
          <a:lstStyle/>
          <a:p>
            <a:pPr algn="r"/>
            <a:r>
              <a:rPr sz="1600" b="1" i="0">
                <a:solidFill>
                  <a:srgbClr val="22D3EE"/>
                </a:solidFill>
                <a:latin typeface="Segoe UI"/>
              </a:rPr>
              <a:t>94%</a:t>
            </a:r>
          </a:p>
        </p:txBody>
      </p:sp>
      <p:sp>
        <p:nvSpPr>
          <p:cNvPr id="25" name="TextBox 24"/>
          <p:cNvSpPr txBox="1"/>
          <p:nvPr/>
        </p:nvSpPr>
        <p:spPr>
          <a:xfrm>
            <a:off x="10195560" y="2350008"/>
            <a:ext cx="1234440" cy="219456"/>
          </a:xfrm>
          <a:prstGeom prst="rect">
            <a:avLst/>
          </a:prstGeom>
          <a:noFill/>
        </p:spPr>
        <p:txBody>
          <a:bodyPr wrap="square" anchor="t" lIns="0" rIns="0" tIns="0" bIns="0">
            <a:spAutoFit/>
          </a:bodyPr>
          <a:lstStyle/>
          <a:p>
            <a:pPr algn="r"/>
            <a:r>
              <a:rPr sz="700" b="1" i="0" spc="160">
                <a:solidFill>
                  <a:srgbClr val="5A6E8C"/>
                </a:solidFill>
                <a:latin typeface="Segoe UI"/>
              </a:rPr>
              <a:t>CONFIDENCE</a:t>
            </a:r>
          </a:p>
        </p:txBody>
      </p:sp>
      <p:sp>
        <p:nvSpPr>
          <p:cNvPr id="26" name="Rounded Rectangle 25"/>
          <p:cNvSpPr/>
          <p:nvPr/>
        </p:nvSpPr>
        <p:spPr>
          <a:xfrm>
            <a:off x="10332720" y="2651760"/>
            <a:ext cx="1097280" cy="64008"/>
          </a:xfrm>
          <a:prstGeom prst="roundRect">
            <a:avLst>
              <a:gd name="adj" fmla="val 50000"/>
            </a:avLst>
          </a:prstGeom>
          <a:ln>
            <a:noFill/>
          </a:ln>
          <a:effectLst/>
          <a:solidFill>
            <a:srgbClr val="1B2B4A"/>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onf0"/>
          <p:cNvSpPr/>
          <p:nvPr/>
        </p:nvSpPr>
        <p:spPr>
          <a:xfrm>
            <a:off x="10332720" y="2651760"/>
            <a:ext cx="1031443" cy="64008"/>
          </a:xfrm>
          <a:prstGeom prst="roundRect">
            <a:avLst>
              <a:gd name="adj" fmla="val 50000"/>
            </a:avLst>
          </a:prstGeom>
          <a:ln>
            <a:noFill/>
          </a:ln>
          <a:solidFill>
            <a:srgbClr val="22D3EE"/>
          </a:solidFill>
          <a:effectLst>
            <a:glow rad="508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a:off x="5440680" y="3822191"/>
            <a:ext cx="429768" cy="0"/>
          </a:xfrm>
          <a:prstGeom prst="line">
            <a:avLst/>
          </a:prstGeom>
          <a:ln w="15240" cap="rnd">
            <a:solidFill>
              <a:srgbClr val="3B82F6">
                <a:alpha val="45000"/>
              </a:srgbClr>
            </a:solidFill>
            <a:prstDash val="dash"/>
          </a:ln>
          <a:effectLst/>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5820156" y="3790187"/>
            <a:ext cx="64008" cy="64008"/>
          </a:xfrm>
          <a:prstGeom prst="ellipse">
            <a:avLst/>
          </a:prstGeom>
          <a:ln>
            <a:noFill/>
          </a:ln>
          <a:solidFill>
            <a:srgbClr val="3B82F6"/>
          </a:solidFill>
          <a:effectLst>
            <a:glow rad="63500">
              <a:srgbClr val="3B82F6">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pred1"/>
          <p:cNvSpPr/>
          <p:nvPr/>
        </p:nvSpPr>
        <p:spPr>
          <a:xfrm>
            <a:off x="5989320" y="3191256"/>
            <a:ext cx="5623560" cy="1261872"/>
          </a:xfrm>
          <a:prstGeom prst="roundRect">
            <a:avLst>
              <a:gd name="adj" fmla="val 13000"/>
            </a:avLst>
          </a:prstGeom>
          <a:ln w="12700" cap="rnd">
            <a:solidFill>
              <a:srgbClr val="3B82F6">
                <a:alpha val="40000"/>
              </a:srgbClr>
            </a:solidFill>
          </a:ln>
          <a:effectLst/>
          <a:solidFill>
            <a:srgbClr val="0D1B33">
              <a:alpha val="5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63640" y="3520440"/>
            <a:ext cx="603504" cy="603504"/>
          </a:xfrm>
          <a:prstGeom prst="roundRect">
            <a:avLst>
              <a:gd name="adj" fmla="val 22000"/>
            </a:avLst>
          </a:prstGeom>
          <a:ln>
            <a:noFill/>
          </a:ln>
          <a:gradFill>
            <a:gsLst>
              <a:gs pos="0">
                <a:srgbClr val="3B82F6">
                  <a:alpha val="85000"/>
                </a:srgbClr>
              </a:gs>
              <a:gs pos="100000">
                <a:srgbClr val="8B5CF6">
                  <a:alpha val="85000"/>
                </a:srgbClr>
              </a:gs>
            </a:gsLst>
            <a:lin ang="8100000" scaled="1"/>
          </a:gradFill>
          <a:effectLst>
            <a:glow rad="76200">
              <a:srgbClr val="3B82F6">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63640" y="3520440"/>
            <a:ext cx="603504" cy="603504"/>
          </a:xfrm>
          <a:prstGeom prst="rect">
            <a:avLst/>
          </a:prstGeom>
          <a:noFill/>
        </p:spPr>
        <p:txBody>
          <a:bodyPr wrap="square" anchor="ctr" lIns="0" rIns="0" tIns="0" bIns="0">
            <a:spAutoFit/>
          </a:bodyPr>
          <a:lstStyle/>
          <a:p>
            <a:pPr algn="ctr"/>
            <a:r>
              <a:rPr sz="1300" b="1" i="0">
                <a:solidFill>
                  <a:srgbClr val="F1F5F9"/>
                </a:solidFill>
                <a:latin typeface="Segoe UI"/>
              </a:rPr>
              <a:t>IN</a:t>
            </a:r>
          </a:p>
        </p:txBody>
      </p:sp>
      <p:sp>
        <p:nvSpPr>
          <p:cNvPr id="33" name="TextBox 32"/>
          <p:cNvSpPr txBox="1"/>
          <p:nvPr/>
        </p:nvSpPr>
        <p:spPr>
          <a:xfrm>
            <a:off x="7040880" y="3410712"/>
            <a:ext cx="3108960" cy="274320"/>
          </a:xfrm>
          <a:prstGeom prst="rect">
            <a:avLst/>
          </a:prstGeom>
          <a:noFill/>
        </p:spPr>
        <p:txBody>
          <a:bodyPr wrap="square" anchor="t" lIns="0" rIns="0" tIns="0" bIns="0">
            <a:spAutoFit/>
          </a:bodyPr>
          <a:lstStyle/>
          <a:p>
            <a:pPr algn="l"/>
            <a:r>
              <a:rPr sz="1500" b="1" i="0">
                <a:solidFill>
                  <a:srgbClr val="F1F5F9"/>
                </a:solidFill>
                <a:latin typeface="Segoe UI"/>
              </a:rPr>
              <a:t>Infrastructure Watch</a:t>
            </a:r>
          </a:p>
        </p:txBody>
      </p:sp>
      <p:sp>
        <p:nvSpPr>
          <p:cNvPr id="34" name="TextBox 33"/>
          <p:cNvSpPr txBox="1"/>
          <p:nvPr/>
        </p:nvSpPr>
        <p:spPr>
          <a:xfrm>
            <a:off x="7040880" y="3721608"/>
            <a:ext cx="3291840" cy="457200"/>
          </a:xfrm>
          <a:prstGeom prst="rect">
            <a:avLst/>
          </a:prstGeom>
          <a:noFill/>
        </p:spPr>
        <p:txBody>
          <a:bodyPr wrap="square" anchor="t" lIns="0" rIns="0" tIns="0" bIns="0">
            <a:spAutoFit/>
          </a:bodyPr>
          <a:lstStyle/>
          <a:p>
            <a:pPr algn="l"/>
            <a:r>
              <a:rPr sz="1000" b="0" i="0">
                <a:solidFill>
                  <a:srgbClr val="8EA3C0"/>
                </a:solidFill>
                <a:latin typeface="Segoe UI"/>
              </a:rPr>
              <a:t>Road &amp; bridge fatigue flagged before failure</a:t>
            </a:r>
          </a:p>
        </p:txBody>
      </p:sp>
      <p:sp>
        <p:nvSpPr>
          <p:cNvPr id="35" name="TextBox 34"/>
          <p:cNvSpPr txBox="1"/>
          <p:nvPr/>
        </p:nvSpPr>
        <p:spPr>
          <a:xfrm>
            <a:off x="10378440" y="3465576"/>
            <a:ext cx="1051560" cy="274320"/>
          </a:xfrm>
          <a:prstGeom prst="rect">
            <a:avLst/>
          </a:prstGeom>
          <a:noFill/>
        </p:spPr>
        <p:txBody>
          <a:bodyPr wrap="square" anchor="t" lIns="0" rIns="0" tIns="0" bIns="0">
            <a:spAutoFit/>
          </a:bodyPr>
          <a:lstStyle/>
          <a:p>
            <a:pPr algn="r"/>
            <a:r>
              <a:rPr sz="1600" b="1" i="0">
                <a:solidFill>
                  <a:srgbClr val="3B82F6"/>
                </a:solidFill>
                <a:latin typeface="Segoe UI"/>
              </a:rPr>
              <a:t>89%</a:t>
            </a:r>
          </a:p>
        </p:txBody>
      </p:sp>
      <p:sp>
        <p:nvSpPr>
          <p:cNvPr id="36" name="TextBox 35"/>
          <p:cNvSpPr txBox="1"/>
          <p:nvPr/>
        </p:nvSpPr>
        <p:spPr>
          <a:xfrm>
            <a:off x="10195560" y="3758184"/>
            <a:ext cx="1234440" cy="219456"/>
          </a:xfrm>
          <a:prstGeom prst="rect">
            <a:avLst/>
          </a:prstGeom>
          <a:noFill/>
        </p:spPr>
        <p:txBody>
          <a:bodyPr wrap="square" anchor="t" lIns="0" rIns="0" tIns="0" bIns="0">
            <a:spAutoFit/>
          </a:bodyPr>
          <a:lstStyle/>
          <a:p>
            <a:pPr algn="r"/>
            <a:r>
              <a:rPr sz="700" b="1" i="0" spc="160">
                <a:solidFill>
                  <a:srgbClr val="5A6E8C"/>
                </a:solidFill>
                <a:latin typeface="Segoe UI"/>
              </a:rPr>
              <a:t>CONFIDENCE</a:t>
            </a:r>
          </a:p>
        </p:txBody>
      </p:sp>
      <p:sp>
        <p:nvSpPr>
          <p:cNvPr id="37" name="Rounded Rectangle 36"/>
          <p:cNvSpPr/>
          <p:nvPr/>
        </p:nvSpPr>
        <p:spPr>
          <a:xfrm>
            <a:off x="10332720" y="4059936"/>
            <a:ext cx="1097280" cy="64008"/>
          </a:xfrm>
          <a:prstGeom prst="roundRect">
            <a:avLst>
              <a:gd name="adj" fmla="val 50000"/>
            </a:avLst>
          </a:prstGeom>
          <a:ln>
            <a:noFill/>
          </a:ln>
          <a:effectLst/>
          <a:solidFill>
            <a:srgbClr val="1B2B4A"/>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onf1"/>
          <p:cNvSpPr/>
          <p:nvPr/>
        </p:nvSpPr>
        <p:spPr>
          <a:xfrm>
            <a:off x="10332720" y="4059936"/>
            <a:ext cx="976579" cy="64008"/>
          </a:xfrm>
          <a:prstGeom prst="roundRect">
            <a:avLst>
              <a:gd name="adj" fmla="val 50000"/>
            </a:avLst>
          </a:prstGeom>
          <a:ln>
            <a:noFill/>
          </a:ln>
          <a:solidFill>
            <a:srgbClr val="3B82F6"/>
          </a:solidFill>
          <a:effectLst>
            <a:glow rad="50800">
              <a:srgbClr val="3B82F6">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a:off x="5440680" y="5230368"/>
            <a:ext cx="429768" cy="0"/>
          </a:xfrm>
          <a:prstGeom prst="line">
            <a:avLst/>
          </a:prstGeom>
          <a:ln w="15240" cap="rnd">
            <a:solidFill>
              <a:srgbClr val="8B5CF6">
                <a:alpha val="45000"/>
              </a:srgbClr>
            </a:solidFill>
            <a:prstDash val="dash"/>
          </a:ln>
          <a:effectLst/>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5820156" y="5198364"/>
            <a:ext cx="64008" cy="64008"/>
          </a:xfrm>
          <a:prstGeom prst="ellipse">
            <a:avLst/>
          </a:prstGeom>
          <a:ln>
            <a:noFill/>
          </a:ln>
          <a:solidFill>
            <a:srgbClr val="8B5CF6"/>
          </a:solidFill>
          <a:effectLst>
            <a:glow rad="63500">
              <a:srgbClr val="8B5CF6">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pred2"/>
          <p:cNvSpPr/>
          <p:nvPr/>
        </p:nvSpPr>
        <p:spPr>
          <a:xfrm>
            <a:off x="5989320" y="4599432"/>
            <a:ext cx="5623560" cy="1261872"/>
          </a:xfrm>
          <a:prstGeom prst="roundRect">
            <a:avLst>
              <a:gd name="adj" fmla="val 13000"/>
            </a:avLst>
          </a:prstGeom>
          <a:ln w="12700" cap="rnd">
            <a:solidFill>
              <a:srgbClr val="8B5CF6">
                <a:alpha val="40000"/>
              </a:srgbClr>
            </a:solidFill>
          </a:ln>
          <a:effectLst/>
          <a:solidFill>
            <a:srgbClr val="0D1B33">
              <a:alpha val="5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6263640" y="4928616"/>
            <a:ext cx="603504" cy="603504"/>
          </a:xfrm>
          <a:prstGeom prst="roundRect">
            <a:avLst>
              <a:gd name="adj" fmla="val 22000"/>
            </a:avLst>
          </a:prstGeom>
          <a:ln>
            <a:noFill/>
          </a:ln>
          <a:gradFill>
            <a:gsLst>
              <a:gs pos="0">
                <a:srgbClr val="8B5CF6">
                  <a:alpha val="85000"/>
                </a:srgbClr>
              </a:gs>
              <a:gs pos="100000">
                <a:srgbClr val="3B82F6">
                  <a:alpha val="85000"/>
                </a:srgbClr>
              </a:gs>
            </a:gsLst>
            <a:lin ang="8100000" scaled="1"/>
          </a:gradFill>
          <a:effectLst>
            <a:glow rad="76200">
              <a:srgbClr val="8B5CF6">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63640" y="4928616"/>
            <a:ext cx="603504" cy="603504"/>
          </a:xfrm>
          <a:prstGeom prst="rect">
            <a:avLst/>
          </a:prstGeom>
          <a:noFill/>
        </p:spPr>
        <p:txBody>
          <a:bodyPr wrap="square" anchor="ctr" lIns="0" rIns="0" tIns="0" bIns="0">
            <a:spAutoFit/>
          </a:bodyPr>
          <a:lstStyle/>
          <a:p>
            <a:pPr algn="ctr"/>
            <a:r>
              <a:rPr sz="1300" b="1" i="0">
                <a:solidFill>
                  <a:srgbClr val="F1F5F9"/>
                </a:solidFill>
                <a:latin typeface="Segoe UI"/>
              </a:rPr>
              <a:t>EN</a:t>
            </a:r>
          </a:p>
        </p:txBody>
      </p:sp>
      <p:sp>
        <p:nvSpPr>
          <p:cNvPr id="44" name="TextBox 43"/>
          <p:cNvSpPr txBox="1"/>
          <p:nvPr/>
        </p:nvSpPr>
        <p:spPr>
          <a:xfrm>
            <a:off x="7040880" y="4818888"/>
            <a:ext cx="3108960" cy="274320"/>
          </a:xfrm>
          <a:prstGeom prst="rect">
            <a:avLst/>
          </a:prstGeom>
          <a:noFill/>
        </p:spPr>
        <p:txBody>
          <a:bodyPr wrap="square" anchor="t" lIns="0" rIns="0" tIns="0" bIns="0">
            <a:spAutoFit/>
          </a:bodyPr>
          <a:lstStyle/>
          <a:p>
            <a:pPr algn="l"/>
            <a:r>
              <a:rPr sz="1500" b="1" i="0">
                <a:solidFill>
                  <a:srgbClr val="F1F5F9"/>
                </a:solidFill>
                <a:latin typeface="Segoe UI"/>
              </a:rPr>
              <a:t>Environment Outlook</a:t>
            </a:r>
          </a:p>
        </p:txBody>
      </p:sp>
      <p:sp>
        <p:nvSpPr>
          <p:cNvPr id="45" name="TextBox 44"/>
          <p:cNvSpPr txBox="1"/>
          <p:nvPr/>
        </p:nvSpPr>
        <p:spPr>
          <a:xfrm>
            <a:off x="7040880" y="5129784"/>
            <a:ext cx="3291840" cy="457200"/>
          </a:xfrm>
          <a:prstGeom prst="rect">
            <a:avLst/>
          </a:prstGeom>
          <a:noFill/>
        </p:spPr>
        <p:txBody>
          <a:bodyPr wrap="square" anchor="t" lIns="0" rIns="0" tIns="0" bIns="0">
            <a:spAutoFit/>
          </a:bodyPr>
          <a:lstStyle/>
          <a:p>
            <a:pPr algn="l"/>
            <a:r>
              <a:rPr sz="1000" b="0" i="0">
                <a:solidFill>
                  <a:srgbClr val="8EA3C0"/>
                </a:solidFill>
                <a:latin typeface="Segoe UI"/>
              </a:rPr>
              <a:t>Tomorrow's pollution hotspots, mapped today</a:t>
            </a:r>
          </a:p>
        </p:txBody>
      </p:sp>
      <p:sp>
        <p:nvSpPr>
          <p:cNvPr id="46" name="TextBox 45"/>
          <p:cNvSpPr txBox="1"/>
          <p:nvPr/>
        </p:nvSpPr>
        <p:spPr>
          <a:xfrm>
            <a:off x="10378440" y="4873752"/>
            <a:ext cx="1051560" cy="274320"/>
          </a:xfrm>
          <a:prstGeom prst="rect">
            <a:avLst/>
          </a:prstGeom>
          <a:noFill/>
        </p:spPr>
        <p:txBody>
          <a:bodyPr wrap="square" anchor="t" lIns="0" rIns="0" tIns="0" bIns="0">
            <a:spAutoFit/>
          </a:bodyPr>
          <a:lstStyle/>
          <a:p>
            <a:pPr algn="r"/>
            <a:r>
              <a:rPr sz="1600" b="1" i="0">
                <a:solidFill>
                  <a:srgbClr val="8B5CF6"/>
                </a:solidFill>
                <a:latin typeface="Segoe UI"/>
              </a:rPr>
              <a:t>91%</a:t>
            </a:r>
          </a:p>
        </p:txBody>
      </p:sp>
      <p:sp>
        <p:nvSpPr>
          <p:cNvPr id="47" name="TextBox 46"/>
          <p:cNvSpPr txBox="1"/>
          <p:nvPr/>
        </p:nvSpPr>
        <p:spPr>
          <a:xfrm>
            <a:off x="10195560" y="5166360"/>
            <a:ext cx="1234440" cy="219456"/>
          </a:xfrm>
          <a:prstGeom prst="rect">
            <a:avLst/>
          </a:prstGeom>
          <a:noFill/>
        </p:spPr>
        <p:txBody>
          <a:bodyPr wrap="square" anchor="t" lIns="0" rIns="0" tIns="0" bIns="0">
            <a:spAutoFit/>
          </a:bodyPr>
          <a:lstStyle/>
          <a:p>
            <a:pPr algn="r"/>
            <a:r>
              <a:rPr sz="700" b="1" i="0" spc="160">
                <a:solidFill>
                  <a:srgbClr val="5A6E8C"/>
                </a:solidFill>
                <a:latin typeface="Segoe UI"/>
              </a:rPr>
              <a:t>CONFIDENCE</a:t>
            </a:r>
          </a:p>
        </p:txBody>
      </p:sp>
      <p:sp>
        <p:nvSpPr>
          <p:cNvPr id="48" name="Rounded Rectangle 47"/>
          <p:cNvSpPr/>
          <p:nvPr/>
        </p:nvSpPr>
        <p:spPr>
          <a:xfrm>
            <a:off x="10332720" y="5468112"/>
            <a:ext cx="1097280" cy="64008"/>
          </a:xfrm>
          <a:prstGeom prst="roundRect">
            <a:avLst>
              <a:gd name="adj" fmla="val 50000"/>
            </a:avLst>
          </a:prstGeom>
          <a:ln>
            <a:noFill/>
          </a:ln>
          <a:effectLst/>
          <a:solidFill>
            <a:srgbClr val="1B2B4A"/>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onf2"/>
          <p:cNvSpPr/>
          <p:nvPr/>
        </p:nvSpPr>
        <p:spPr>
          <a:xfrm>
            <a:off x="10332720" y="5468112"/>
            <a:ext cx="998524" cy="64008"/>
          </a:xfrm>
          <a:prstGeom prst="roundRect">
            <a:avLst>
              <a:gd name="adj" fmla="val 50000"/>
            </a:avLst>
          </a:prstGeom>
          <a:ln>
            <a:noFill/>
          </a:ln>
          <a:solidFill>
            <a:srgbClr val="8B5CF6"/>
          </a:solidFill>
          <a:effectLst>
            <a:glow rad="50800">
              <a:srgbClr val="8B5CF6">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989320" y="6053328"/>
            <a:ext cx="5623560" cy="256032"/>
          </a:xfrm>
          <a:prstGeom prst="rect">
            <a:avLst/>
          </a:prstGeom>
          <a:noFill/>
        </p:spPr>
        <p:txBody>
          <a:bodyPr wrap="square" anchor="t" lIns="0" rIns="0" tIns="0" bIns="0">
            <a:spAutoFit/>
          </a:bodyPr>
          <a:lstStyle/>
          <a:p>
            <a:pPr algn="l"/>
            <a:r>
              <a:rPr sz="950" b="0" i="1">
                <a:solidFill>
                  <a:srgbClr val="5A6E8C"/>
                </a:solidFill>
                <a:latin typeface="Segoe UI"/>
              </a:rPr>
              <a:t>Models retrain nightly on live city data — the twin gets smarter every day.</a:t>
            </a:r>
          </a:p>
        </p:txBody>
      </p:sp>
    </p:spTree>
  </p:cSld>
  <p:clrMapOvr>
    <a:masterClrMapping/>
  </p:clrMapOvr>
  <mc:AlternateContent xmlns:mc="http://schemas.openxmlformats.org/markup-compatibility/2006">
    <mc:Choice xmlns:p14="http://schemas.microsoft.com/office/powerpoint/2010/main" Requires="p14">
      <p:transition spd="slow" p14:dur="1100">
        <p14:morph option="byObject"/>
      </p:transition>
    </mc:Choice>
    <mc:Fallback>
      <p:transition spd="slow" advClick="1">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0"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850"/>
                                        <p:tgtEl>
                                          <p:spTgt spid="10"/>
                                        </p:tgtEl>
                                      </p:cBhvr>
                                    </p:animEffect>
                                    <p:animScale>
                                      <p:cBhvr>
                                        <p:cTn id="6" dur="850"/>
                                        <p:tgtEl>
                                          <p:spTgt spid="10"/>
                                        </p:tgtEl>
                                      </p:cBhvr>
                                      <p:from x="60%" y="60%"/>
                                      <p:to x="100%" y="100%"/>
                                    </p:animScale>
                                  </p:childTnLst>
                                </p:cTn>
                              </p:par>
                              <p:par>
                                <p:cTn id="12" presetID="10" presetClass="entr" presetSubtype="0" fill="hold" grpId="0" nodeType="afterEffect">
                                  <p:stCondLst>
                                    <p:cond delay="30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par>
                                <p:cTn id="15" presetID="10" presetClass="entr" presetSubtype="0" fill="hold" grpId="0" nodeType="afterEffect">
                                  <p:stCondLst>
                                    <p:cond delay="11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00"/>
                                        <p:tgtEl>
                                          <p:spTgt spid="13"/>
                                        </p:tgtEl>
                                      </p:cBhvr>
                                    </p:animEffect>
                                  </p:childTnLst>
                                </p:cTn>
                              </p:par>
                              <p:par>
                                <p:cTn id="18" presetID="10" presetClass="entr" presetSubtype="0" fill="hold" grpId="0" nodeType="afterEffect">
                                  <p:stCondLst>
                                    <p:cond delay="11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00"/>
                                        <p:tgtEl>
                                          <p:spTgt spid="15"/>
                                        </p:tgtEl>
                                      </p:cBhvr>
                                    </p:animEffect>
                                  </p:childTnLst>
                                </p:cTn>
                              </p:par>
                              <p:par>
                                <p:cTn id="21" presetID="22" presetClass="entr" presetSubtype="2" fill="hold" grpId="0" nodeType="afterEffect">
                                  <p:stCondLst>
                                    <p:cond delay="200"/>
                                  </p:stCondLst>
                                  <p:childTnLst>
                                    <p:set>
                                      <p:cBhvr>
                                        <p:cTn id="19" dur="1" fill="hold">
                                          <p:stCondLst>
                                            <p:cond delay="0"/>
                                          </p:stCondLst>
                                        </p:cTn>
                                        <p:tgtEl>
                                          <p:spTgt spid="17"/>
                                        </p:tgtEl>
                                        <p:attrNameLst>
                                          <p:attrName>style.visibility</p:attrName>
                                        </p:attrNameLst>
                                      </p:cBhvr>
                                      <p:to>
                                        <p:strVal val="visible"/>
                                      </p:to>
                                    </p:set>
                                    <p:animEffect transition="in" filter="wipe(fromLeft)">
                                      <p:cBhvr>
                                        <p:cTn id="20" dur="350"/>
                                        <p:tgtEl>
                                          <p:spTgt spid="17"/>
                                        </p:tgtEl>
                                      </p:cBhvr>
                                    </p:animEffect>
                                  </p:childTnLst>
                                </p:cTn>
                              </p:par>
                              <p:par>
                                <p:cTn id="24" presetID="10"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250"/>
                                        <p:tgtEl>
                                          <p:spTgt spid="18"/>
                                        </p:tgtEl>
                                      </p:cBhvr>
                                    </p:animEffect>
                                  </p:childTnLst>
                                </p:cTn>
                              </p:par>
                              <p:par>
                                <p:cTn id="28" presetID="53" presetClass="entr" presetSubtype="0" fill="hold" grpId="0" nodeType="afterEffect">
                                  <p:stCondLst>
                                    <p:cond delay="13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500"/>
                                        <p:tgtEl>
                                          <p:spTgt spid="19"/>
                                        </p:tgtEl>
                                      </p:cBhvr>
                                    </p:animEffect>
                                    <p:animScale>
                                      <p:cBhvr>
                                        <p:cTn id="25" dur="500"/>
                                        <p:tgtEl>
                                          <p:spTgt spid="19"/>
                                        </p:tgtEl>
                                      </p:cBhvr>
                                      <p:from x="60%" y="60%"/>
                                      <p:to x="100%" y="100%"/>
                                    </p:animScale>
                                  </p:childTnLst>
                                </p:cTn>
                              </p:par>
                              <p:par>
                                <p:cTn id="31" presetID="22" presetClass="entr" presetSubtype="2" fill="hold" grpId="0" nodeType="afterEffect">
                                  <p:stCondLst>
                                    <p:cond delay="260"/>
                                  </p:stCondLst>
                                  <p:childTnLst>
                                    <p:set>
                                      <p:cBhvr>
                                        <p:cTn id="29" dur="1" fill="hold">
                                          <p:stCondLst>
                                            <p:cond delay="0"/>
                                          </p:stCondLst>
                                        </p:cTn>
                                        <p:tgtEl>
                                          <p:spTgt spid="27"/>
                                        </p:tgtEl>
                                        <p:attrNameLst>
                                          <p:attrName>style.visibility</p:attrName>
                                        </p:attrNameLst>
                                      </p:cBhvr>
                                      <p:to>
                                        <p:strVal val="visible"/>
                                      </p:to>
                                    </p:set>
                                    <p:animEffect transition="in" filter="wipe(fromLeft)">
                                      <p:cBhvr>
                                        <p:cTn id="30" dur="600"/>
                                        <p:tgtEl>
                                          <p:spTgt spid="27"/>
                                        </p:tgtEl>
                                      </p:cBhvr>
                                    </p:animEffect>
                                  </p:childTnLst>
                                </p:cTn>
                              </p:par>
                              <p:par>
                                <p:cTn id="34" presetID="22" presetClass="entr" presetSubtype="2" fill="hold" grpId="0" nodeType="afterEffect">
                                  <p:stCondLst>
                                    <p:cond delay="60"/>
                                  </p:stCondLst>
                                  <p:childTnLst>
                                    <p:set>
                                      <p:cBhvr>
                                        <p:cTn id="32" dur="1" fill="hold">
                                          <p:stCondLst>
                                            <p:cond delay="0"/>
                                          </p:stCondLst>
                                        </p:cTn>
                                        <p:tgtEl>
                                          <p:spTgt spid="28"/>
                                        </p:tgtEl>
                                        <p:attrNameLst>
                                          <p:attrName>style.visibility</p:attrName>
                                        </p:attrNameLst>
                                      </p:cBhvr>
                                      <p:to>
                                        <p:strVal val="visible"/>
                                      </p:to>
                                    </p:set>
                                    <p:animEffect transition="in" filter="wipe(fromLeft)">
                                      <p:cBhvr>
                                        <p:cTn id="33" dur="350"/>
                                        <p:tgtEl>
                                          <p:spTgt spid="28"/>
                                        </p:tgtEl>
                                      </p:cBhvr>
                                    </p:animEffect>
                                  </p:childTnLst>
                                </p:cTn>
                              </p:par>
                              <p:par>
                                <p:cTn id="37" presetID="10" presetClass="entr" presetSubtype="0" fill="hold" grpId="0" nodeType="with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fade">
                                      <p:cBhvr>
                                        <p:cTn id="36" dur="250"/>
                                        <p:tgtEl>
                                          <p:spTgt spid="29"/>
                                        </p:tgtEl>
                                      </p:cBhvr>
                                    </p:animEffect>
                                  </p:childTnLst>
                                </p:cTn>
                              </p:par>
                              <p:par>
                                <p:cTn id="41" presetID="53" presetClass="entr" presetSubtype="0" fill="hold" grpId="0" nodeType="afterEffect">
                                  <p:stCondLst>
                                    <p:cond delay="13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500"/>
                                        <p:tgtEl>
                                          <p:spTgt spid="30"/>
                                        </p:tgtEl>
                                      </p:cBhvr>
                                    </p:animEffect>
                                    <p:animScale>
                                      <p:cBhvr>
                                        <p:cTn id="38" dur="500"/>
                                        <p:tgtEl>
                                          <p:spTgt spid="30"/>
                                        </p:tgtEl>
                                      </p:cBhvr>
                                      <p:from x="60%" y="60%"/>
                                      <p:to x="100%" y="100%"/>
                                    </p:animScale>
                                  </p:childTnLst>
                                </p:cTn>
                              </p:par>
                              <p:par>
                                <p:cTn id="44" presetID="22" presetClass="entr" presetSubtype="2" fill="hold" grpId="0" nodeType="afterEffect">
                                  <p:stCondLst>
                                    <p:cond delay="260"/>
                                  </p:stCondLst>
                                  <p:childTnLst>
                                    <p:set>
                                      <p:cBhvr>
                                        <p:cTn id="42" dur="1" fill="hold">
                                          <p:stCondLst>
                                            <p:cond delay="0"/>
                                          </p:stCondLst>
                                        </p:cTn>
                                        <p:tgtEl>
                                          <p:spTgt spid="38"/>
                                        </p:tgtEl>
                                        <p:attrNameLst>
                                          <p:attrName>style.visibility</p:attrName>
                                        </p:attrNameLst>
                                      </p:cBhvr>
                                      <p:to>
                                        <p:strVal val="visible"/>
                                      </p:to>
                                    </p:set>
                                    <p:animEffect transition="in" filter="wipe(fromLeft)">
                                      <p:cBhvr>
                                        <p:cTn id="43" dur="600"/>
                                        <p:tgtEl>
                                          <p:spTgt spid="38"/>
                                        </p:tgtEl>
                                      </p:cBhvr>
                                    </p:animEffect>
                                  </p:childTnLst>
                                </p:cTn>
                              </p:par>
                              <p:par>
                                <p:cTn id="47" presetID="22" presetClass="entr" presetSubtype="2" fill="hold" grpId="0" nodeType="afterEffect">
                                  <p:stCondLst>
                                    <p:cond delay="60"/>
                                  </p:stCondLst>
                                  <p:childTnLst>
                                    <p:set>
                                      <p:cBhvr>
                                        <p:cTn id="45" dur="1" fill="hold">
                                          <p:stCondLst>
                                            <p:cond delay="0"/>
                                          </p:stCondLst>
                                        </p:cTn>
                                        <p:tgtEl>
                                          <p:spTgt spid="39"/>
                                        </p:tgtEl>
                                        <p:attrNameLst>
                                          <p:attrName>style.visibility</p:attrName>
                                        </p:attrNameLst>
                                      </p:cBhvr>
                                      <p:to>
                                        <p:strVal val="visible"/>
                                      </p:to>
                                    </p:set>
                                    <p:animEffect transition="in" filter="wipe(fromLeft)">
                                      <p:cBhvr>
                                        <p:cTn id="46" dur="350"/>
                                        <p:tgtEl>
                                          <p:spTgt spid="39"/>
                                        </p:tgtEl>
                                      </p:cBhvr>
                                    </p:animEffect>
                                  </p:childTnLst>
                                </p:cTn>
                              </p:par>
                              <p:par>
                                <p:cTn id="50" presetID="10" presetClass="entr" presetSubtype="0" fill="hold" grpId="0" nodeType="withEffect">
                                  <p:stCondLst>
                                    <p:cond delay="0"/>
                                  </p:stCondLst>
                                  <p:childTnLst>
                                    <p:set>
                                      <p:cBhvr>
                                        <p:cTn id="48" dur="1" fill="hold">
                                          <p:stCondLst>
                                            <p:cond delay="0"/>
                                          </p:stCondLst>
                                        </p:cTn>
                                        <p:tgtEl>
                                          <p:spTgt spid="40"/>
                                        </p:tgtEl>
                                        <p:attrNameLst>
                                          <p:attrName>style.visibility</p:attrName>
                                        </p:attrNameLst>
                                      </p:cBhvr>
                                      <p:to>
                                        <p:strVal val="visible"/>
                                      </p:to>
                                    </p:set>
                                    <p:animEffect transition="in" filter="fade">
                                      <p:cBhvr>
                                        <p:cTn id="49" dur="250"/>
                                        <p:tgtEl>
                                          <p:spTgt spid="40"/>
                                        </p:tgtEl>
                                      </p:cBhvr>
                                    </p:animEffect>
                                  </p:childTnLst>
                                </p:cTn>
                              </p:par>
                              <p:par>
                                <p:cTn id="54" presetID="53" presetClass="entr" presetSubtype="0" fill="hold" grpId="0" nodeType="afterEffect">
                                  <p:stCondLst>
                                    <p:cond delay="130"/>
                                  </p:stCondLst>
                                  <p:childTnLst>
                                    <p:set>
                                      <p:cBhvr>
                                        <p:cTn id="52" dur="1" fill="hold">
                                          <p:stCondLst>
                                            <p:cond delay="0"/>
                                          </p:stCondLst>
                                        </p:cTn>
                                        <p:tgtEl>
                                          <p:spTgt spid="41"/>
                                        </p:tgtEl>
                                        <p:attrNameLst>
                                          <p:attrName>style.visibility</p:attrName>
                                        </p:attrNameLst>
                                      </p:cBhvr>
                                      <p:to>
                                        <p:strVal val="visible"/>
                                      </p:to>
                                    </p:set>
                                    <p:animEffect transition="in" filter="fade">
                                      <p:cBhvr>
                                        <p:cTn id="53" dur="500"/>
                                        <p:tgtEl>
                                          <p:spTgt spid="41"/>
                                        </p:tgtEl>
                                      </p:cBhvr>
                                    </p:animEffect>
                                    <p:animScale>
                                      <p:cBhvr>
                                        <p:cTn id="51" dur="500"/>
                                        <p:tgtEl>
                                          <p:spTgt spid="41"/>
                                        </p:tgtEl>
                                      </p:cBhvr>
                                      <p:from x="60%" y="60%"/>
                                      <p:to x="100%" y="100%"/>
                                    </p:animScale>
                                  </p:childTnLst>
                                </p:cTn>
                              </p:par>
                              <p:par>
                                <p:cTn id="57" presetID="22" presetClass="entr" presetSubtype="2" fill="hold" grpId="0" nodeType="afterEffect">
                                  <p:stCondLst>
                                    <p:cond delay="260"/>
                                  </p:stCondLst>
                                  <p:childTnLst>
                                    <p:set>
                                      <p:cBhvr>
                                        <p:cTn id="55" dur="1" fill="hold">
                                          <p:stCondLst>
                                            <p:cond delay="0"/>
                                          </p:stCondLst>
                                        </p:cTn>
                                        <p:tgtEl>
                                          <p:spTgt spid="49"/>
                                        </p:tgtEl>
                                        <p:attrNameLst>
                                          <p:attrName>style.visibility</p:attrName>
                                        </p:attrNameLst>
                                      </p:cBhvr>
                                      <p:to>
                                        <p:strVal val="visible"/>
                                      </p:to>
                                    </p:set>
                                    <p:animEffect transition="in" filter="wipe(fromLeft)">
                                      <p:cBhvr>
                                        <p:cTn id="56" dur="6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ln>
            <a:noFill/>
          </a:ln>
          <a:effectLst/>
          <a:solidFill>
            <a:srgbClr val="050A1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2011680"/>
            <a:ext cx="4754880" cy="4754880"/>
          </a:xfrm>
          <a:prstGeom prst="ellipse">
            <a:avLst/>
          </a:prstGeom>
          <a:gradFill>
            <a:gsLst>
              <a:gs pos="0">
                <a:srgbClr val="3B82F6">
                  <a:alpha val="20000"/>
                </a:srgbClr>
              </a:gs>
              <a:gs pos="65000">
                <a:srgbClr val="3B82F6">
                  <a:alpha val="6000"/>
                </a:srgbClr>
              </a:gs>
              <a:gs pos="100000">
                <a:srgbClr val="3B82F6">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463039" y="4480560"/>
            <a:ext cx="4206240" cy="4206240"/>
          </a:xfrm>
          <a:prstGeom prst="ellipse">
            <a:avLst/>
          </a:prstGeom>
          <a:gradFill>
            <a:gsLst>
              <a:gs pos="0">
                <a:srgbClr val="8B5CF6">
                  <a:alpha val="16000"/>
                </a:srgbClr>
              </a:gs>
              <a:gs pos="65000">
                <a:srgbClr val="8B5CF6">
                  <a:alpha val="5000"/>
                </a:srgbClr>
              </a:gs>
              <a:gs pos="100000">
                <a:srgbClr val="8B5CF6">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kbar"/>
          <p:cNvSpPr/>
          <p:nvPr/>
        </p:nvSpPr>
        <p:spPr>
          <a:xfrm>
            <a:off x="566928" y="603504"/>
            <a:ext cx="274320" cy="47548"/>
          </a:xfrm>
          <a:prstGeom prst="rect">
            <a:avLst/>
          </a:prstGeom>
          <a:ln>
            <a:noFill/>
          </a:ln>
          <a:solidFill>
            <a:srgbClr val="22D3EE"/>
          </a:solidFill>
          <a:effectLst>
            <a:glow rad="762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kicker"/>
          <p:cNvSpPr txBox="1"/>
          <p:nvPr/>
        </p:nvSpPr>
        <p:spPr>
          <a:xfrm>
            <a:off x="932688" y="489204"/>
            <a:ext cx="7772400" cy="292608"/>
          </a:xfrm>
          <a:prstGeom prst="rect">
            <a:avLst/>
          </a:prstGeom>
          <a:noFill/>
        </p:spPr>
        <p:txBody>
          <a:bodyPr wrap="square" anchor="t" lIns="0" rIns="0" tIns="0" bIns="0">
            <a:spAutoFit/>
          </a:bodyPr>
          <a:lstStyle/>
          <a:p>
            <a:pPr algn="l"/>
            <a:r>
              <a:rPr sz="1050" b="1" i="0" spc="320">
                <a:solidFill>
                  <a:srgbClr val="22D3EE"/>
                </a:solidFill>
                <a:latin typeface="Segoe UI"/>
              </a:rPr>
              <a:t>MODULE 05 — SIMULATION</a:t>
            </a:r>
          </a:p>
        </p:txBody>
      </p:sp>
      <p:sp>
        <p:nvSpPr>
          <p:cNvPr id="7" name="title"/>
          <p:cNvSpPr txBox="1"/>
          <p:nvPr/>
        </p:nvSpPr>
        <p:spPr>
          <a:xfrm>
            <a:off x="566928" y="868680"/>
            <a:ext cx="11064240" cy="658368"/>
          </a:xfrm>
          <a:prstGeom prst="rect">
            <a:avLst/>
          </a:prstGeom>
          <a:noFill/>
        </p:spPr>
        <p:txBody>
          <a:bodyPr wrap="square" anchor="t" lIns="0" rIns="0" tIns="0" bIns="0">
            <a:spAutoFit/>
          </a:bodyPr>
          <a:lstStyle/>
          <a:p>
            <a:pPr algn="l"/>
            <a:r>
              <a:rPr sz="3300" b="1" i="0">
                <a:solidFill>
                  <a:srgbClr val="F1F5F9"/>
                </a:solidFill>
                <a:latin typeface="Segoe UI"/>
              </a:rPr>
              <a:t>Test Emergencies Before They Happen</a:t>
            </a:r>
          </a:p>
        </p:txBody>
      </p:sp>
      <p:sp>
        <p:nvSpPr>
          <p:cNvPr id="8" name="pageno"/>
          <p:cNvSpPr txBox="1"/>
          <p:nvPr/>
        </p:nvSpPr>
        <p:spPr>
          <a:xfrm>
            <a:off x="10835640" y="6519672"/>
            <a:ext cx="786384" cy="219456"/>
          </a:xfrm>
          <a:prstGeom prst="rect">
            <a:avLst/>
          </a:prstGeom>
          <a:noFill/>
        </p:spPr>
        <p:txBody>
          <a:bodyPr wrap="square" anchor="t" lIns="0" rIns="0" tIns="0" bIns="0">
            <a:spAutoFit/>
          </a:bodyPr>
          <a:lstStyle/>
          <a:p>
            <a:pPr algn="r"/>
            <a:r>
              <a:rPr sz="900" b="1" i="0">
                <a:solidFill>
                  <a:srgbClr val="8EA3C0"/>
                </a:solidFill>
                <a:latin typeface="Segoe UI"/>
              </a:rPr>
              <a:t>08</a:t>
            </a:r>
            <a:r>
              <a:rPr sz="900" b="0" i="0">
                <a:solidFill>
                  <a:srgbClr val="5A6E8C"/>
                </a:solidFill>
                <a:latin typeface="Segoe UI"/>
              </a:rPr>
              <a:t> / 12</a:t>
            </a:r>
          </a:p>
        </p:txBody>
      </p:sp>
      <p:sp>
        <p:nvSpPr>
          <p:cNvPr id="9" name="footer"/>
          <p:cNvSpPr txBox="1"/>
          <p:nvPr/>
        </p:nvSpPr>
        <p:spPr>
          <a:xfrm>
            <a:off x="566928" y="6519672"/>
            <a:ext cx="5486400" cy="219456"/>
          </a:xfrm>
          <a:prstGeom prst="rect">
            <a:avLst/>
          </a:prstGeom>
          <a:noFill/>
        </p:spPr>
        <p:txBody>
          <a:bodyPr wrap="square" anchor="t" lIns="0" rIns="0" tIns="0" bIns="0">
            <a:spAutoFit/>
          </a:bodyPr>
          <a:lstStyle/>
          <a:p>
            <a:pPr algn="l"/>
            <a:r>
              <a:rPr sz="800" b="1" i="0" spc="260">
                <a:solidFill>
                  <a:srgbClr val="5A6E8C"/>
                </a:solidFill>
                <a:latin typeface="Segoe UI"/>
              </a:rPr>
              <a:t>CITYVERSE AI</a:t>
            </a:r>
            <a:r>
              <a:rPr sz="800" b="0" i="0" spc="180">
                <a:solidFill>
                  <a:srgbClr val="5A6E8C"/>
                </a:solidFill>
                <a:latin typeface="Segoe UI"/>
              </a:rPr>
              <a:t>  ·  SMART DIGITAL TWIN PLATFORM</a:t>
            </a:r>
          </a:p>
        </p:txBody>
      </p:sp>
      <p:cxnSp>
        <p:nvCxnSpPr>
          <p:cNvPr id="10" name="Connector 9"/>
          <p:cNvCxnSpPr/>
          <p:nvPr/>
        </p:nvCxnSpPr>
        <p:spPr>
          <a:xfrm>
            <a:off x="969264" y="2212848"/>
            <a:ext cx="0" cy="3319272"/>
          </a:xfrm>
          <a:prstGeom prst="line">
            <a:avLst/>
          </a:prstGeom>
          <a:ln w="12700" cap="rnd">
            <a:solidFill>
              <a:srgbClr val="1B2B4A">
                <a:alpha val="90000"/>
              </a:srgbClr>
            </a:solidFill>
          </a:ln>
          <a:effectLst/>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900684" y="2098548"/>
            <a:ext cx="137160" cy="137160"/>
          </a:xfrm>
          <a:prstGeom prst="ellipse">
            <a:avLst/>
          </a:prstGeom>
          <a:ln>
            <a:noFill/>
          </a:ln>
          <a:solidFill>
            <a:srgbClr val="F43F5E"/>
          </a:solidFill>
          <a:effectLst>
            <a:glow rad="88900">
              <a:srgbClr val="F43F5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80160" y="2011680"/>
            <a:ext cx="3017520" cy="274320"/>
          </a:xfrm>
          <a:prstGeom prst="rect">
            <a:avLst/>
          </a:prstGeom>
          <a:noFill/>
        </p:spPr>
        <p:txBody>
          <a:bodyPr wrap="square" anchor="t" lIns="0" rIns="0" tIns="0" bIns="0">
            <a:spAutoFit/>
          </a:bodyPr>
          <a:lstStyle/>
          <a:p>
            <a:pPr algn="l"/>
            <a:r>
              <a:rPr sz="1350" b="1" i="0">
                <a:solidFill>
                  <a:srgbClr val="F1F5F9"/>
                </a:solidFill>
                <a:latin typeface="Segoe UI"/>
              </a:rPr>
              <a:t>Incident</a:t>
            </a:r>
          </a:p>
        </p:txBody>
      </p:sp>
      <p:sp>
        <p:nvSpPr>
          <p:cNvPr id="13" name="TextBox 12"/>
          <p:cNvSpPr txBox="1"/>
          <p:nvPr/>
        </p:nvSpPr>
        <p:spPr>
          <a:xfrm>
            <a:off x="1280160" y="2272284"/>
            <a:ext cx="3154680" cy="237744"/>
          </a:xfrm>
          <a:prstGeom prst="rect">
            <a:avLst/>
          </a:prstGeom>
          <a:noFill/>
        </p:spPr>
        <p:txBody>
          <a:bodyPr wrap="square" anchor="t" lIns="0" rIns="0" tIns="0" bIns="0">
            <a:spAutoFit/>
          </a:bodyPr>
          <a:lstStyle/>
          <a:p>
            <a:pPr algn="l"/>
            <a:r>
              <a:rPr sz="900" b="0" i="0">
                <a:solidFill>
                  <a:srgbClr val="8EA3C0"/>
                </a:solidFill>
                <a:latin typeface="Segoe UI"/>
              </a:rPr>
              <a:t>simulated flood hits Sector 4</a:t>
            </a:r>
          </a:p>
        </p:txBody>
      </p:sp>
      <p:sp>
        <p:nvSpPr>
          <p:cNvPr id="14" name="Oval 13"/>
          <p:cNvSpPr/>
          <p:nvPr/>
        </p:nvSpPr>
        <p:spPr>
          <a:xfrm>
            <a:off x="900684" y="2903220"/>
            <a:ext cx="137160" cy="137160"/>
          </a:xfrm>
          <a:prstGeom prst="ellipse">
            <a:avLst/>
          </a:prstGeom>
          <a:ln>
            <a:noFill/>
          </a:ln>
          <a:solidFill>
            <a:srgbClr val="22D3EE"/>
          </a:solidFill>
          <a:effectLst>
            <a:glow rad="889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80160" y="2816352"/>
            <a:ext cx="3017520" cy="274320"/>
          </a:xfrm>
          <a:prstGeom prst="rect">
            <a:avLst/>
          </a:prstGeom>
          <a:noFill/>
        </p:spPr>
        <p:txBody>
          <a:bodyPr wrap="square" anchor="t" lIns="0" rIns="0" tIns="0" bIns="0">
            <a:spAutoFit/>
          </a:bodyPr>
          <a:lstStyle/>
          <a:p>
            <a:pPr algn="l"/>
            <a:r>
              <a:rPr sz="1350" b="1" i="0">
                <a:solidFill>
                  <a:srgbClr val="F1F5F9"/>
                </a:solidFill>
                <a:latin typeface="Segoe UI"/>
              </a:rPr>
              <a:t>AI Analyzes</a:t>
            </a:r>
          </a:p>
        </p:txBody>
      </p:sp>
      <p:sp>
        <p:nvSpPr>
          <p:cNvPr id="16" name="TextBox 15"/>
          <p:cNvSpPr txBox="1"/>
          <p:nvPr/>
        </p:nvSpPr>
        <p:spPr>
          <a:xfrm>
            <a:off x="1280160" y="3076956"/>
            <a:ext cx="3154680" cy="237744"/>
          </a:xfrm>
          <a:prstGeom prst="rect">
            <a:avLst/>
          </a:prstGeom>
          <a:noFill/>
        </p:spPr>
        <p:txBody>
          <a:bodyPr wrap="square" anchor="t" lIns="0" rIns="0" tIns="0" bIns="0">
            <a:spAutoFit/>
          </a:bodyPr>
          <a:lstStyle/>
          <a:p>
            <a:pPr algn="l"/>
            <a:r>
              <a:rPr sz="900" b="0" i="0">
                <a:solidFill>
                  <a:srgbClr val="8EA3C0"/>
                </a:solidFill>
                <a:latin typeface="Segoe UI"/>
              </a:rPr>
              <a:t>exposure, risk &amp; impact in seconds</a:t>
            </a:r>
          </a:p>
        </p:txBody>
      </p:sp>
      <p:sp>
        <p:nvSpPr>
          <p:cNvPr id="17" name="Oval 16"/>
          <p:cNvSpPr/>
          <p:nvPr/>
        </p:nvSpPr>
        <p:spPr>
          <a:xfrm>
            <a:off x="900684" y="3707891"/>
            <a:ext cx="137160" cy="137160"/>
          </a:xfrm>
          <a:prstGeom prst="ellipse">
            <a:avLst/>
          </a:prstGeom>
          <a:ln>
            <a:noFill/>
          </a:ln>
          <a:solidFill>
            <a:srgbClr val="22D3EE"/>
          </a:solidFill>
          <a:effectLst>
            <a:glow rad="889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80160" y="3621024"/>
            <a:ext cx="3017520" cy="274320"/>
          </a:xfrm>
          <a:prstGeom prst="rect">
            <a:avLst/>
          </a:prstGeom>
          <a:noFill/>
        </p:spPr>
        <p:txBody>
          <a:bodyPr wrap="square" anchor="t" lIns="0" rIns="0" tIns="0" bIns="0">
            <a:spAutoFit/>
          </a:bodyPr>
          <a:lstStyle/>
          <a:p>
            <a:pPr algn="l"/>
            <a:r>
              <a:rPr sz="1350" b="1" i="0">
                <a:solidFill>
                  <a:srgbClr val="F1F5F9"/>
                </a:solidFill>
                <a:latin typeface="Segoe UI"/>
              </a:rPr>
              <a:t>Traffic Reroutes</a:t>
            </a:r>
          </a:p>
        </p:txBody>
      </p:sp>
      <p:sp>
        <p:nvSpPr>
          <p:cNvPr id="19" name="TextBox 18"/>
          <p:cNvSpPr txBox="1"/>
          <p:nvPr/>
        </p:nvSpPr>
        <p:spPr>
          <a:xfrm>
            <a:off x="1280160" y="3881628"/>
            <a:ext cx="3154680" cy="237744"/>
          </a:xfrm>
          <a:prstGeom prst="rect">
            <a:avLst/>
          </a:prstGeom>
          <a:noFill/>
        </p:spPr>
        <p:txBody>
          <a:bodyPr wrap="square" anchor="t" lIns="0" rIns="0" tIns="0" bIns="0">
            <a:spAutoFit/>
          </a:bodyPr>
          <a:lstStyle/>
          <a:p>
            <a:pPr algn="l"/>
            <a:r>
              <a:rPr sz="900" b="0" i="0">
                <a:solidFill>
                  <a:srgbClr val="8EA3C0"/>
                </a:solidFill>
                <a:latin typeface="Segoe UI"/>
              </a:rPr>
              <a:t>signals adapt, roads reopen</a:t>
            </a:r>
          </a:p>
        </p:txBody>
      </p:sp>
      <p:sp>
        <p:nvSpPr>
          <p:cNvPr id="20" name="Oval 19"/>
          <p:cNvSpPr/>
          <p:nvPr/>
        </p:nvSpPr>
        <p:spPr>
          <a:xfrm>
            <a:off x="900684" y="4512564"/>
            <a:ext cx="137160" cy="137160"/>
          </a:xfrm>
          <a:prstGeom prst="ellipse">
            <a:avLst/>
          </a:prstGeom>
          <a:ln>
            <a:noFill/>
          </a:ln>
          <a:solidFill>
            <a:srgbClr val="22D3EE"/>
          </a:solidFill>
          <a:effectLst>
            <a:glow rad="889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80160" y="4425696"/>
            <a:ext cx="3017520" cy="274320"/>
          </a:xfrm>
          <a:prstGeom prst="rect">
            <a:avLst/>
          </a:prstGeom>
          <a:noFill/>
        </p:spPr>
        <p:txBody>
          <a:bodyPr wrap="square" anchor="t" lIns="0" rIns="0" tIns="0" bIns="0">
            <a:spAutoFit/>
          </a:bodyPr>
          <a:lstStyle/>
          <a:p>
            <a:pPr algn="l"/>
            <a:r>
              <a:rPr sz="1350" b="1" i="0">
                <a:solidFill>
                  <a:srgbClr val="F1F5F9"/>
                </a:solidFill>
                <a:latin typeface="Segoe UI"/>
              </a:rPr>
              <a:t>Fastest Route</a:t>
            </a:r>
          </a:p>
        </p:txBody>
      </p:sp>
      <p:sp>
        <p:nvSpPr>
          <p:cNvPr id="22" name="TextBox 21"/>
          <p:cNvSpPr txBox="1"/>
          <p:nvPr/>
        </p:nvSpPr>
        <p:spPr>
          <a:xfrm>
            <a:off x="1280160" y="4686300"/>
            <a:ext cx="3154680" cy="237744"/>
          </a:xfrm>
          <a:prstGeom prst="rect">
            <a:avLst/>
          </a:prstGeom>
          <a:noFill/>
        </p:spPr>
        <p:txBody>
          <a:bodyPr wrap="square" anchor="t" lIns="0" rIns="0" tIns="0" bIns="0">
            <a:spAutoFit/>
          </a:bodyPr>
          <a:lstStyle/>
          <a:p>
            <a:pPr algn="l"/>
            <a:r>
              <a:rPr sz="900" b="0" i="0">
                <a:solidFill>
                  <a:srgbClr val="8EA3C0"/>
                </a:solidFill>
                <a:latin typeface="Segoe UI"/>
              </a:rPr>
              <a:t>units dispatched on optimal path</a:t>
            </a:r>
          </a:p>
        </p:txBody>
      </p:sp>
      <p:sp>
        <p:nvSpPr>
          <p:cNvPr id="23" name="Oval 22"/>
          <p:cNvSpPr/>
          <p:nvPr/>
        </p:nvSpPr>
        <p:spPr>
          <a:xfrm>
            <a:off x="900684" y="5317236"/>
            <a:ext cx="137160" cy="137160"/>
          </a:xfrm>
          <a:prstGeom prst="ellipse">
            <a:avLst/>
          </a:prstGeom>
          <a:ln>
            <a:noFill/>
          </a:ln>
          <a:solidFill>
            <a:srgbClr val="34D399"/>
          </a:solidFill>
          <a:effectLst>
            <a:glow rad="88900">
              <a:srgbClr val="34D399">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80160" y="5230368"/>
            <a:ext cx="3017520" cy="274320"/>
          </a:xfrm>
          <a:prstGeom prst="rect">
            <a:avLst/>
          </a:prstGeom>
          <a:noFill/>
        </p:spPr>
        <p:txBody>
          <a:bodyPr wrap="square" anchor="t" lIns="0" rIns="0" tIns="0" bIns="0">
            <a:spAutoFit/>
          </a:bodyPr>
          <a:lstStyle/>
          <a:p>
            <a:pPr algn="l"/>
            <a:r>
              <a:rPr sz="1350" b="1" i="0">
                <a:solidFill>
                  <a:srgbClr val="F1F5F9"/>
                </a:solidFill>
                <a:latin typeface="Segoe UI"/>
              </a:rPr>
              <a:t>Full Impact View</a:t>
            </a:r>
          </a:p>
        </p:txBody>
      </p:sp>
      <p:sp>
        <p:nvSpPr>
          <p:cNvPr id="25" name="TextBox 24"/>
          <p:cNvSpPr txBox="1"/>
          <p:nvPr/>
        </p:nvSpPr>
        <p:spPr>
          <a:xfrm>
            <a:off x="1280160" y="5490972"/>
            <a:ext cx="3154680" cy="237744"/>
          </a:xfrm>
          <a:prstGeom prst="rect">
            <a:avLst/>
          </a:prstGeom>
          <a:noFill/>
        </p:spPr>
        <p:txBody>
          <a:bodyPr wrap="square" anchor="t" lIns="0" rIns="0" tIns="0" bIns="0">
            <a:spAutoFit/>
          </a:bodyPr>
          <a:lstStyle/>
          <a:p>
            <a:pPr algn="l"/>
            <a:r>
              <a:rPr sz="900" b="0" i="0">
                <a:solidFill>
                  <a:srgbClr val="8EA3C0"/>
                </a:solidFill>
                <a:latin typeface="Segoe UI"/>
              </a:rPr>
              <a:t>authorities see the outcome</a:t>
            </a:r>
          </a:p>
        </p:txBody>
      </p:sp>
      <p:pic>
        <p:nvPicPr>
          <p:cNvPr id="26" name="emap" descr="emergency_map.png"/>
          <p:cNvPicPr>
            <a:picLocks noChangeAspect="1"/>
          </p:cNvPicPr>
          <p:nvPr/>
        </p:nvPicPr>
        <p:blipFill>
          <a:blip r:embed="rId2"/>
          <a:stretch>
            <a:fillRect/>
          </a:stretch>
        </p:blipFill>
        <p:spPr>
          <a:xfrm>
            <a:off x="4553712" y="1783080"/>
            <a:ext cx="7059168" cy="4041648"/>
          </a:xfrm>
          <a:ln w="13970" cap="rnd">
            <a:solidFill>
              <a:srgbClr val="22D3EE">
                <a:alpha val="45000"/>
              </a:srgbClr>
            </a:solidFill>
          </a:ln>
          <a:prstGeom prst="roundRect">
            <a:avLst>
              <a:gd name="adj" fmla="val 4000"/>
            </a:avLst>
          </a:prstGeom>
          <a:effectLst>
            <a:glow rad="127000">
              <a:srgbClr val="F43F5E">
                <a:alpha val="60000"/>
              </a:srgbClr>
            </a:glow>
          </a:effectLst>
        </p:spPr>
      </p:pic>
      <p:sp>
        <p:nvSpPr>
          <p:cNvPr id="27" name="simChip"/>
          <p:cNvSpPr/>
          <p:nvPr/>
        </p:nvSpPr>
        <p:spPr>
          <a:xfrm>
            <a:off x="4828032" y="2029968"/>
            <a:ext cx="3218688" cy="475488"/>
          </a:xfrm>
          <a:prstGeom prst="roundRect">
            <a:avLst>
              <a:gd name="adj" fmla="val 50000"/>
            </a:avLst>
          </a:prstGeom>
          <a:ln w="15240" cap="rnd">
            <a:solidFill>
              <a:srgbClr val="F43F5E">
                <a:alpha val="60000"/>
              </a:srgbClr>
            </a:solidFill>
          </a:ln>
          <a:effectLst/>
          <a:solidFill>
            <a:srgbClr val="F43F5E">
              <a:alpha val="16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28032" y="2029968"/>
            <a:ext cx="3218688" cy="475488"/>
          </a:xfrm>
          <a:prstGeom prst="rect">
            <a:avLst/>
          </a:prstGeom>
          <a:noFill/>
        </p:spPr>
        <p:txBody>
          <a:bodyPr wrap="square" anchor="ctr" lIns="0" rIns="0" tIns="0" bIns="0">
            <a:spAutoFit/>
          </a:bodyPr>
          <a:lstStyle/>
          <a:p>
            <a:pPr algn="ctr"/>
            <a:r>
              <a:rPr sz="900" b="1" i="0" spc="100">
                <a:solidFill>
                  <a:srgbClr val="FFB3C0"/>
                </a:solidFill>
                <a:latin typeface="Segoe UI"/>
              </a:rPr>
              <a:t>● LIVE SIM · FLOOD, SECTOR 4</a:t>
            </a:r>
          </a:p>
        </p:txBody>
      </p:sp>
      <p:sp>
        <p:nvSpPr>
          <p:cNvPr id="29" name="Oval 28"/>
          <p:cNvSpPr/>
          <p:nvPr/>
        </p:nvSpPr>
        <p:spPr>
          <a:xfrm>
            <a:off x="8540496" y="3877056"/>
            <a:ext cx="146304" cy="146304"/>
          </a:xfrm>
          <a:prstGeom prst="ellipse">
            <a:avLst/>
          </a:prstGeom>
          <a:ln>
            <a:noFill/>
          </a:ln>
          <a:solidFill>
            <a:srgbClr val="F43F5E"/>
          </a:solidFill>
          <a:effectLst>
            <a:glow rad="101600">
              <a:srgbClr val="F43F5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421624" y="3758184"/>
            <a:ext cx="384048" cy="384048"/>
          </a:xfrm>
          <a:prstGeom prst="ellipse">
            <a:avLst/>
          </a:prstGeom>
          <a:noFill/>
          <a:ln w="13970" cap="rnd">
            <a:solidFill>
              <a:srgbClr val="F43F5E">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aption"/>
          <p:cNvSpPr/>
          <p:nvPr/>
        </p:nvSpPr>
        <p:spPr>
          <a:xfrm>
            <a:off x="566928" y="5943600"/>
            <a:ext cx="11045952" cy="512064"/>
          </a:xfrm>
          <a:prstGeom prst="roundRect">
            <a:avLst>
              <a:gd name="adj" fmla="val 30000"/>
            </a:avLst>
          </a:prstGeom>
          <a:ln w="12700" cap="rnd">
            <a:solidFill>
              <a:srgbClr val="22D3EE">
                <a:alpha val="35000"/>
              </a:srgbClr>
            </a:solidFill>
          </a:ln>
          <a:effectLst/>
          <a:solidFill>
            <a:srgbClr val="0D1B33">
              <a:alpha val="46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6928" y="5943600"/>
            <a:ext cx="11045952" cy="512064"/>
          </a:xfrm>
          <a:prstGeom prst="rect">
            <a:avLst/>
          </a:prstGeom>
          <a:noFill/>
        </p:spPr>
        <p:txBody>
          <a:bodyPr wrap="square" anchor="ctr" lIns="0" rIns="0" tIns="0" bIns="0">
            <a:spAutoFit/>
          </a:bodyPr>
          <a:lstStyle/>
          <a:p>
            <a:pPr algn="ctr"/>
            <a:r>
              <a:rPr sz="1450" b="0" i="1">
                <a:solidFill>
                  <a:srgbClr val="9FD8FF"/>
                </a:solidFill>
                <a:latin typeface="Segoe UI"/>
              </a:rPr>
              <a:t>“Plan the response before the real event occurs.”  </a:t>
            </a:r>
            <a:r>
              <a:rPr sz="1050" b="0" i="1">
                <a:solidFill>
                  <a:srgbClr val="8EA3C0"/>
                </a:solidFill>
                <a:latin typeface="Segoe UI"/>
              </a:rPr>
              <a:t>— that's the point of a twin.</a:t>
            </a:r>
          </a:p>
        </p:txBody>
      </p:sp>
    </p:spTree>
  </p:cSld>
  <p:clrMapOvr>
    <a:masterClrMapping/>
  </p:clrMapOvr>
  <mc:AlternateContent xmlns:mc="http://schemas.openxmlformats.org/markup-compatibility/2006">
    <mc:Choice xmlns:p14="http://schemas.microsoft.com/office/powerpoint/2010/main" Requires="p14">
      <p:transition spd="slow" p14:dur="1100">
        <p14:morph option="byObject"/>
      </p:transition>
    </mc:Choice>
    <mc:Fallback>
      <p:transition spd="slow" advClick="1">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0"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fade">
                                      <p:cBhvr>
                                        <p:cTn id="8" dur="420"/>
                                        <p:tgtEl>
                                          <p:spTgt spid="11"/>
                                        </p:tgtEl>
                                      </p:cBhvr>
                                    </p:animEffect>
                                    <p:animScale>
                                      <p:cBhvr>
                                        <p:cTn id="6" dur="420"/>
                                        <p:tgtEl>
                                          <p:spTgt spid="11"/>
                                        </p:tgtEl>
                                      </p:cBhvr>
                                      <p:from x="60%" y="60%"/>
                                      <p:to x="100%" y="100%"/>
                                    </p:animScale>
                                  </p:childTnLst>
                                </p:cTn>
                              </p:par>
                              <p:par>
                                <p:cTn id="12" presetID="10" presetClass="entr" presetSubtype="0" fill="hold" grpId="0" nodeType="afterEffect">
                                  <p:stCondLst>
                                    <p:cond delay="14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380"/>
                                        <p:tgtEl>
                                          <p:spTgt spid="12"/>
                                        </p:tgtEl>
                                      </p:cBhvr>
                                    </p:animEffect>
                                  </p:childTnLst>
                                </p:cTn>
                              </p:par>
                              <p:par>
                                <p:cTn id="15" presetID="10" presetClass="entr" presetSubtype="0" fill="hold" grpId="0" nodeType="afterEffect">
                                  <p:stCondLst>
                                    <p:cond delay="14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380"/>
                                        <p:tgtEl>
                                          <p:spTgt spid="13"/>
                                        </p:tgtEl>
                                      </p:cBhvr>
                                    </p:animEffect>
                                  </p:childTnLst>
                                </p:cTn>
                              </p:par>
                              <p:par>
                                <p:cTn id="18" presetID="10" presetClass="entr" presetSubtype="0" fill="hold" grpId="0" nodeType="afterEffect">
                                  <p:stCondLst>
                                    <p:cond delay="22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380"/>
                                        <p:tgtEl>
                                          <p:spTgt spid="14"/>
                                        </p:tgtEl>
                                      </p:cBhvr>
                                    </p:animEffect>
                                  </p:childTnLst>
                                </p:cTn>
                              </p:par>
                              <p:par>
                                <p:cTn id="21" presetID="10" presetClass="entr" presetSubtype="0" fill="hold" grpId="0" nodeType="afterEffect">
                                  <p:stCondLst>
                                    <p:cond delay="14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380"/>
                                        <p:tgtEl>
                                          <p:spTgt spid="15"/>
                                        </p:tgtEl>
                                      </p:cBhvr>
                                    </p:animEffect>
                                  </p:childTnLst>
                                </p:cTn>
                              </p:par>
                              <p:par>
                                <p:cTn id="24" presetID="10" presetClass="entr" presetSubtype="0" fill="hold" grpId="0" nodeType="afterEffect">
                                  <p:stCondLst>
                                    <p:cond delay="14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380"/>
                                        <p:tgtEl>
                                          <p:spTgt spid="16"/>
                                        </p:tgtEl>
                                      </p:cBhvr>
                                    </p:animEffect>
                                  </p:childTnLst>
                                </p:cTn>
                              </p:par>
                              <p:par>
                                <p:cTn id="27" presetID="10" presetClass="entr" presetSubtype="0" fill="hold" grpId="0" nodeType="afterEffect">
                                  <p:stCondLst>
                                    <p:cond delay="22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380"/>
                                        <p:tgtEl>
                                          <p:spTgt spid="17"/>
                                        </p:tgtEl>
                                      </p:cBhvr>
                                    </p:animEffect>
                                  </p:childTnLst>
                                </p:cTn>
                              </p:par>
                              <p:par>
                                <p:cTn id="30" presetID="10" presetClass="entr" presetSubtype="0" fill="hold" grpId="0" nodeType="afterEffect">
                                  <p:stCondLst>
                                    <p:cond delay="14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380"/>
                                        <p:tgtEl>
                                          <p:spTgt spid="18"/>
                                        </p:tgtEl>
                                      </p:cBhvr>
                                    </p:animEffect>
                                  </p:childTnLst>
                                </p:cTn>
                              </p:par>
                              <p:par>
                                <p:cTn id="33" presetID="10" presetClass="entr" presetSubtype="0" fill="hold" grpId="0" nodeType="afterEffect">
                                  <p:stCondLst>
                                    <p:cond delay="14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380"/>
                                        <p:tgtEl>
                                          <p:spTgt spid="19"/>
                                        </p:tgtEl>
                                      </p:cBhvr>
                                    </p:animEffect>
                                  </p:childTnLst>
                                </p:cTn>
                              </p:par>
                              <p:par>
                                <p:cTn id="36" presetID="10" presetClass="entr" presetSubtype="0" fill="hold" grpId="0" nodeType="afterEffect">
                                  <p:stCondLst>
                                    <p:cond delay="22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380"/>
                                        <p:tgtEl>
                                          <p:spTgt spid="20"/>
                                        </p:tgtEl>
                                      </p:cBhvr>
                                    </p:animEffect>
                                  </p:childTnLst>
                                </p:cTn>
                              </p:par>
                              <p:par>
                                <p:cTn id="39" presetID="10" presetClass="entr" presetSubtype="0" fill="hold" grpId="0" nodeType="afterEffect">
                                  <p:stCondLst>
                                    <p:cond delay="14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380"/>
                                        <p:tgtEl>
                                          <p:spTgt spid="21"/>
                                        </p:tgtEl>
                                      </p:cBhvr>
                                    </p:animEffect>
                                  </p:childTnLst>
                                </p:cTn>
                              </p:par>
                              <p:par>
                                <p:cTn id="42" presetID="10" presetClass="entr" presetSubtype="0" fill="hold" grpId="0" nodeType="afterEffect">
                                  <p:stCondLst>
                                    <p:cond delay="14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380"/>
                                        <p:tgtEl>
                                          <p:spTgt spid="22"/>
                                        </p:tgtEl>
                                      </p:cBhvr>
                                    </p:animEffect>
                                  </p:childTnLst>
                                </p:cTn>
                              </p:par>
                              <p:par>
                                <p:cTn id="45" presetID="10" presetClass="entr" presetSubtype="0" fill="hold" grpId="0" nodeType="afterEffect">
                                  <p:stCondLst>
                                    <p:cond delay="22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380"/>
                                        <p:tgtEl>
                                          <p:spTgt spid="23"/>
                                        </p:tgtEl>
                                      </p:cBhvr>
                                    </p:animEffect>
                                  </p:childTnLst>
                                </p:cTn>
                              </p:par>
                              <p:par>
                                <p:cTn id="48" presetID="10" presetClass="entr" presetSubtype="0" fill="hold" grpId="0" nodeType="afterEffect">
                                  <p:stCondLst>
                                    <p:cond delay="14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380"/>
                                        <p:tgtEl>
                                          <p:spTgt spid="24"/>
                                        </p:tgtEl>
                                      </p:cBhvr>
                                    </p:animEffect>
                                  </p:childTnLst>
                                </p:cTn>
                              </p:par>
                              <p:par>
                                <p:cTn id="51" presetID="10" presetClass="entr" presetSubtype="0" fill="hold" grpId="0" nodeType="afterEffect">
                                  <p:stCondLst>
                                    <p:cond delay="14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380"/>
                                        <p:tgtEl>
                                          <p:spTgt spid="25"/>
                                        </p:tgtEl>
                                      </p:cBhvr>
                                    </p:animEffect>
                                  </p:childTnLst>
                                </p:cTn>
                              </p:par>
                              <p:par>
                                <p:cTn id="54" presetID="22" presetClass="entr" presetSubtype="2" fill="hold" grpId="0" nodeType="afterEffect">
                                  <p:stCondLst>
                                    <p:cond delay="300"/>
                                  </p:stCondLst>
                                  <p:childTnLst>
                                    <p:set>
                                      <p:cBhvr>
                                        <p:cTn id="52" dur="1" fill="hold">
                                          <p:stCondLst>
                                            <p:cond delay="0"/>
                                          </p:stCondLst>
                                        </p:cTn>
                                        <p:tgtEl>
                                          <p:spTgt spid="26"/>
                                        </p:tgtEl>
                                        <p:attrNameLst>
                                          <p:attrName>style.visibility</p:attrName>
                                        </p:attrNameLst>
                                      </p:cBhvr>
                                      <p:to>
                                        <p:strVal val="visible"/>
                                      </p:to>
                                    </p:set>
                                    <p:animEffect transition="in" filter="wipe(fromLeft)">
                                      <p:cBhvr>
                                        <p:cTn id="53" dur="850"/>
                                        <p:tgtEl>
                                          <p:spTgt spid="26"/>
                                        </p:tgtEl>
                                      </p:cBhvr>
                                    </p:animEffect>
                                  </p:childTnLst>
                                </p:cTn>
                              </p:par>
                              <p:par>
                                <p:cTn id="57" presetID="10" presetClass="entr" presetSubtype="0" fill="hold" grpId="0" nodeType="afterEffect">
                                  <p:stCondLst>
                                    <p:cond delay="250"/>
                                  </p:stCondLst>
                                  <p:childTnLst>
                                    <p:set>
                                      <p:cBhvr>
                                        <p:cTn id="55" dur="1" fill="hold">
                                          <p:stCondLst>
                                            <p:cond delay="0"/>
                                          </p:stCondLst>
                                        </p:cTn>
                                        <p:tgtEl>
                                          <p:spTgt spid="27"/>
                                        </p:tgtEl>
                                        <p:attrNameLst>
                                          <p:attrName>style.visibility</p:attrName>
                                        </p:attrNameLst>
                                      </p:cBhvr>
                                      <p:to>
                                        <p:strVal val="visible"/>
                                      </p:to>
                                    </p:set>
                                    <p:animEffect transition="in" filter="fade">
                                      <p:cBhvr>
                                        <p:cTn id="56" dur="450"/>
                                        <p:tgtEl>
                                          <p:spTgt spid="27"/>
                                        </p:tgtEl>
                                      </p:cBhvr>
                                    </p:animEffect>
                                  </p:childTnLst>
                                </p:cTn>
                              </p:par>
                              <p:par>
                                <p:cTn id="59" presetID="8" presetClass="emph" presetSubtype="0" fill="hold" grpId="0" nodeType="withEffect">
                                  <p:stCondLst>
                                    <p:cond delay="0"/>
                                  </p:stCondLst>
                                  <p:childTnLst>
                                    <p:animEffect transition="out" filter="fade">
                                      <p:cBhvr>
                                        <p:cTn id="58" dur="1500" autoRev="1" repeatCount="indefinite"/>
                                        <p:tgtEl>
                                          <p:spTgt spid="27"/>
                                        </p:tgtEl>
                                      </p:cBhvr>
                                    </p:animEffect>
                                  </p:childTnLst>
                                </p:cTn>
                              </p:par>
                              <p:par>
                                <p:cTn id="62" presetID="10" presetClass="entr" presetSubtype="0" fill="hold" grpId="0" nodeType="withEffect">
                                  <p:stCondLst>
                                    <p:cond delay="0"/>
                                  </p:stCondLst>
                                  <p:childTnLst>
                                    <p:set>
                                      <p:cBhvr>
                                        <p:cTn id="60" dur="1" fill="hold">
                                          <p:stCondLst>
                                            <p:cond delay="0"/>
                                          </p:stCondLst>
                                        </p:cTn>
                                        <p:tgtEl>
                                          <p:spTgt spid="29"/>
                                        </p:tgtEl>
                                        <p:attrNameLst>
                                          <p:attrName>style.visibility</p:attrName>
                                        </p:attrNameLst>
                                      </p:cBhvr>
                                      <p:to>
                                        <p:strVal val="visible"/>
                                      </p:to>
                                    </p:set>
                                    <p:animEffect transition="in" filter="fade">
                                      <p:cBhvr>
                                        <p:cTn id="61" dur="350"/>
                                        <p:tgtEl>
                                          <p:spTgt spid="29"/>
                                        </p:tgtEl>
                                      </p:cBhvr>
                                    </p:animEffect>
                                  </p:childTnLst>
                                </p:cTn>
                              </p:par>
                              <p:par>
                                <p:cTn id="64" presetID="6" presetClass="emph" presetSubtype="0" fill="hold" grpId="0" nodeType="withEffect">
                                  <p:stCondLst>
                                    <p:cond delay="0"/>
                                  </p:stCondLst>
                                  <p:childTnLst>
                                    <p:animScale>
                                      <p:cBhvr>
                                        <p:cTn id="63" dur="1300" autoRev="1" repeatCount="indefinite"/>
                                        <p:tgtEl>
                                          <p:spTgt spid="29"/>
                                        </p:tgtEl>
                                      </p:cBhvr>
                                      <p:by x="116%" y="116%"/>
                                    </p:animScale>
                                  </p:childTnLst>
                                </p:cTn>
                              </p:par>
                              <p:par>
                                <p:cTn id="66" presetID="6" presetClass="emph" presetSubtype="0" fill="hold" grpId="0" nodeType="withEffect">
                                  <p:stCondLst>
                                    <p:cond delay="0"/>
                                  </p:stCondLst>
                                  <p:childTnLst>
                                    <p:animScale>
                                      <p:cBhvr>
                                        <p:cTn id="65" dur="1900" autoRev="1" repeatCount="indefinite"/>
                                        <p:tgtEl>
                                          <p:spTgt spid="30"/>
                                        </p:tgtEl>
                                      </p:cBhvr>
                                      <p:by x="116%" y="116%"/>
                                    </p:animScale>
                                  </p:childTnLst>
                                </p:cTn>
                              </p:par>
                              <p:par>
                                <p:cTn id="69" presetID="22" presetClass="entr" presetSubtype="2" fill="hold" grpId="0" nodeType="afterEffect">
                                  <p:stCondLst>
                                    <p:cond delay="350"/>
                                  </p:stCondLst>
                                  <p:childTnLst>
                                    <p:set>
                                      <p:cBhvr>
                                        <p:cTn id="67" dur="1" fill="hold">
                                          <p:stCondLst>
                                            <p:cond delay="0"/>
                                          </p:stCondLst>
                                        </p:cTn>
                                        <p:tgtEl>
                                          <p:spTgt spid="31"/>
                                        </p:tgtEl>
                                        <p:attrNameLst>
                                          <p:attrName>style.visibility</p:attrName>
                                        </p:attrNameLst>
                                      </p:cBhvr>
                                      <p:to>
                                        <p:strVal val="visible"/>
                                      </p:to>
                                    </p:set>
                                    <p:animEffect transition="in" filter="wipe(fromLeft)">
                                      <p:cBhvr>
                                        <p:cTn id="68" dur="65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ln>
            <a:noFill/>
          </a:ln>
          <a:effectLst/>
          <a:solidFill>
            <a:srgbClr val="050A1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2011680"/>
            <a:ext cx="4754880" cy="4754880"/>
          </a:xfrm>
          <a:prstGeom prst="ellipse">
            <a:avLst/>
          </a:prstGeom>
          <a:gradFill>
            <a:gsLst>
              <a:gs pos="0">
                <a:srgbClr val="3B82F6">
                  <a:alpha val="20000"/>
                </a:srgbClr>
              </a:gs>
              <a:gs pos="65000">
                <a:srgbClr val="3B82F6">
                  <a:alpha val="6000"/>
                </a:srgbClr>
              </a:gs>
              <a:gs pos="100000">
                <a:srgbClr val="3B82F6">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463039" y="4480560"/>
            <a:ext cx="4206240" cy="4206240"/>
          </a:xfrm>
          <a:prstGeom prst="ellipse">
            <a:avLst/>
          </a:prstGeom>
          <a:gradFill>
            <a:gsLst>
              <a:gs pos="0">
                <a:srgbClr val="8B5CF6">
                  <a:alpha val="16000"/>
                </a:srgbClr>
              </a:gs>
              <a:gs pos="65000">
                <a:srgbClr val="8B5CF6">
                  <a:alpha val="5000"/>
                </a:srgbClr>
              </a:gs>
              <a:gs pos="100000">
                <a:srgbClr val="8B5CF6">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kbar"/>
          <p:cNvSpPr/>
          <p:nvPr/>
        </p:nvSpPr>
        <p:spPr>
          <a:xfrm>
            <a:off x="566928" y="603504"/>
            <a:ext cx="274320" cy="47548"/>
          </a:xfrm>
          <a:prstGeom prst="rect">
            <a:avLst/>
          </a:prstGeom>
          <a:ln>
            <a:noFill/>
          </a:ln>
          <a:solidFill>
            <a:srgbClr val="22D3EE"/>
          </a:solidFill>
          <a:effectLst>
            <a:glow rad="762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kicker"/>
          <p:cNvSpPr txBox="1"/>
          <p:nvPr/>
        </p:nvSpPr>
        <p:spPr>
          <a:xfrm>
            <a:off x="932688" y="489204"/>
            <a:ext cx="7772400" cy="292608"/>
          </a:xfrm>
          <a:prstGeom prst="rect">
            <a:avLst/>
          </a:prstGeom>
          <a:noFill/>
        </p:spPr>
        <p:txBody>
          <a:bodyPr wrap="square" anchor="t" lIns="0" rIns="0" tIns="0" bIns="0">
            <a:spAutoFit/>
          </a:bodyPr>
          <a:lstStyle/>
          <a:p>
            <a:pPr algn="l"/>
            <a:r>
              <a:rPr sz="1050" b="1" i="0" spc="320">
                <a:solidFill>
                  <a:srgbClr val="22D3EE"/>
                </a:solidFill>
                <a:latin typeface="Segoe UI"/>
              </a:rPr>
              <a:t>MODULE 05+ · COMMAND CENTER</a:t>
            </a:r>
          </a:p>
        </p:txBody>
      </p:sp>
      <p:sp>
        <p:nvSpPr>
          <p:cNvPr id="7" name="title"/>
          <p:cNvSpPr txBox="1"/>
          <p:nvPr/>
        </p:nvSpPr>
        <p:spPr>
          <a:xfrm>
            <a:off x="566928" y="868680"/>
            <a:ext cx="11064240" cy="658368"/>
          </a:xfrm>
          <a:prstGeom prst="rect">
            <a:avLst/>
          </a:prstGeom>
          <a:noFill/>
        </p:spPr>
        <p:txBody>
          <a:bodyPr wrap="square" anchor="t" lIns="0" rIns="0" tIns="0" bIns="0">
            <a:spAutoFit/>
          </a:bodyPr>
          <a:lstStyle/>
          <a:p>
            <a:pPr algn="l"/>
            <a:r>
              <a:rPr sz="3300" b="1" i="0">
                <a:solidFill>
                  <a:srgbClr val="F1F5F9"/>
                </a:solidFill>
                <a:latin typeface="Segoe UI"/>
              </a:rPr>
              <a:t>One Screen. The Entire City.</a:t>
            </a:r>
          </a:p>
        </p:txBody>
      </p:sp>
      <p:sp>
        <p:nvSpPr>
          <p:cNvPr id="8" name="pageno"/>
          <p:cNvSpPr txBox="1"/>
          <p:nvPr/>
        </p:nvSpPr>
        <p:spPr>
          <a:xfrm>
            <a:off x="10835640" y="6519672"/>
            <a:ext cx="786384" cy="219456"/>
          </a:xfrm>
          <a:prstGeom prst="rect">
            <a:avLst/>
          </a:prstGeom>
          <a:noFill/>
        </p:spPr>
        <p:txBody>
          <a:bodyPr wrap="square" anchor="t" lIns="0" rIns="0" tIns="0" bIns="0">
            <a:spAutoFit/>
          </a:bodyPr>
          <a:lstStyle/>
          <a:p>
            <a:pPr algn="r"/>
            <a:r>
              <a:rPr sz="900" b="1" i="0">
                <a:solidFill>
                  <a:srgbClr val="8EA3C0"/>
                </a:solidFill>
                <a:latin typeface="Segoe UI"/>
              </a:rPr>
              <a:t>09</a:t>
            </a:r>
            <a:r>
              <a:rPr sz="900" b="0" i="0">
                <a:solidFill>
                  <a:srgbClr val="5A6E8C"/>
                </a:solidFill>
                <a:latin typeface="Segoe UI"/>
              </a:rPr>
              <a:t> / 12</a:t>
            </a:r>
          </a:p>
        </p:txBody>
      </p:sp>
      <p:sp>
        <p:nvSpPr>
          <p:cNvPr id="9" name="footer"/>
          <p:cNvSpPr txBox="1"/>
          <p:nvPr/>
        </p:nvSpPr>
        <p:spPr>
          <a:xfrm>
            <a:off x="566928" y="6519672"/>
            <a:ext cx="5486400" cy="219456"/>
          </a:xfrm>
          <a:prstGeom prst="rect">
            <a:avLst/>
          </a:prstGeom>
          <a:noFill/>
        </p:spPr>
        <p:txBody>
          <a:bodyPr wrap="square" anchor="t" lIns="0" rIns="0" tIns="0" bIns="0">
            <a:spAutoFit/>
          </a:bodyPr>
          <a:lstStyle/>
          <a:p>
            <a:pPr algn="l"/>
            <a:r>
              <a:rPr sz="800" b="1" i="0" spc="260">
                <a:solidFill>
                  <a:srgbClr val="5A6E8C"/>
                </a:solidFill>
                <a:latin typeface="Segoe UI"/>
              </a:rPr>
              <a:t>CITYVERSE AI</a:t>
            </a:r>
            <a:r>
              <a:rPr sz="800" b="0" i="0" spc="180">
                <a:solidFill>
                  <a:srgbClr val="5A6E8C"/>
                </a:solidFill>
                <a:latin typeface="Segoe UI"/>
              </a:rPr>
              <a:t>  ·  SMART DIGITAL TWIN PLATFORM</a:t>
            </a:r>
          </a:p>
        </p:txBody>
      </p:sp>
      <p:sp>
        <p:nvSpPr>
          <p:cNvPr id="10" name="window"/>
          <p:cNvSpPr/>
          <p:nvPr/>
        </p:nvSpPr>
        <p:spPr>
          <a:xfrm>
            <a:off x="566928" y="1700784"/>
            <a:ext cx="11045952" cy="4462272"/>
          </a:xfrm>
          <a:prstGeom prst="roundRect">
            <a:avLst>
              <a:gd name="adj" fmla="val 3500"/>
            </a:avLst>
          </a:prstGeom>
          <a:ln w="12700" cap="rnd">
            <a:solidFill>
              <a:srgbClr val="9FD8FF">
                <a:alpha val="26000"/>
              </a:srgbClr>
            </a:solidFill>
          </a:ln>
          <a:solidFill>
            <a:srgbClr val="0D1B33">
              <a:alpha val="42000"/>
            </a:srgbClr>
          </a:solidFill>
          <a:effectLst>
            <a:glow rad="1016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97814" y="1890522"/>
            <a:ext cx="86868" cy="86868"/>
          </a:xfrm>
          <a:prstGeom prst="ellipse">
            <a:avLst/>
          </a:prstGeom>
          <a:ln>
            <a:noFill/>
          </a:ln>
          <a:effectLst/>
          <a:solidFill>
            <a:srgbClr val="F43F5E">
              <a:alpha val="7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39545" y="1890522"/>
            <a:ext cx="86868" cy="86868"/>
          </a:xfrm>
          <a:prstGeom prst="ellipse">
            <a:avLst/>
          </a:prstGeom>
          <a:ln>
            <a:noFill/>
          </a:ln>
          <a:effectLst/>
          <a:solidFill>
            <a:srgbClr val="F59E0B">
              <a:alpha val="7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81278" y="1890522"/>
            <a:ext cx="86868" cy="86868"/>
          </a:xfrm>
          <a:prstGeom prst="ellipse">
            <a:avLst/>
          </a:prstGeom>
          <a:ln>
            <a:noFill/>
          </a:ln>
          <a:effectLst/>
          <a:solidFill>
            <a:srgbClr val="34D399">
              <a:alpha val="7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286000" y="1828800"/>
            <a:ext cx="7616952" cy="237744"/>
          </a:xfrm>
          <a:prstGeom prst="rect">
            <a:avLst/>
          </a:prstGeom>
          <a:noFill/>
        </p:spPr>
        <p:txBody>
          <a:bodyPr wrap="square" anchor="t" lIns="0" rIns="0" tIns="0" bIns="0">
            <a:spAutoFit/>
          </a:bodyPr>
          <a:lstStyle/>
          <a:p>
            <a:pPr algn="ctr"/>
            <a:r>
              <a:rPr sz="900" b="1" i="0" spc="260">
                <a:solidFill>
                  <a:srgbClr val="8EA3C0"/>
                </a:solidFill>
                <a:latin typeface="Segoe UI"/>
              </a:rPr>
              <a:t>CITYVERSE COMMAND CENTER — LIVE FEED</a:t>
            </a:r>
          </a:p>
        </p:txBody>
      </p:sp>
      <p:cxnSp>
        <p:nvCxnSpPr>
          <p:cNvPr id="15" name="Connector 14"/>
          <p:cNvCxnSpPr/>
          <p:nvPr/>
        </p:nvCxnSpPr>
        <p:spPr>
          <a:xfrm>
            <a:off x="749808" y="2194560"/>
            <a:ext cx="10698480" cy="0"/>
          </a:xfrm>
          <a:prstGeom prst="line">
            <a:avLst/>
          </a:prstGeom>
          <a:ln w="9525" cap="rnd">
            <a:solidFill>
              <a:srgbClr val="1B2B4A">
                <a:alpha val="80000"/>
              </a:srgbClr>
            </a:solidFill>
          </a:ln>
          <a:effectLst/>
        </p:spPr>
        <p:style>
          <a:lnRef idx="2">
            <a:schemeClr val="accent1"/>
          </a:lnRef>
          <a:fillRef idx="0">
            <a:schemeClr val="accent1"/>
          </a:fillRef>
          <a:effectRef idx="1">
            <a:schemeClr val="accent1"/>
          </a:effectRef>
          <a:fontRef idx="minor">
            <a:schemeClr val="tx1"/>
          </a:fontRef>
        </p:style>
      </p:cxnSp>
      <p:sp>
        <p:nvSpPr>
          <p:cNvPr id="16" name="cardA"/>
          <p:cNvSpPr/>
          <p:nvPr/>
        </p:nvSpPr>
        <p:spPr>
          <a:xfrm>
            <a:off x="777240" y="2340864"/>
            <a:ext cx="3346704" cy="2304288"/>
          </a:xfrm>
          <a:prstGeom prst="roundRect">
            <a:avLst>
              <a:gd name="adj" fmla="val 7000"/>
            </a:avLst>
          </a:prstGeom>
          <a:ln w="12700" cap="rnd">
            <a:solidFill>
              <a:srgbClr val="22D3EE">
                <a:alpha val="22000"/>
              </a:srgbClr>
            </a:solidFill>
          </a:ln>
          <a:effectLst/>
          <a:solidFill>
            <a:srgbClr val="0D1B33">
              <a:alpha val="5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2487168"/>
            <a:ext cx="2194560" cy="237744"/>
          </a:xfrm>
          <a:prstGeom prst="rect">
            <a:avLst/>
          </a:prstGeom>
          <a:noFill/>
        </p:spPr>
        <p:txBody>
          <a:bodyPr wrap="square" anchor="t" lIns="0" rIns="0" tIns="0" bIns="0">
            <a:spAutoFit/>
          </a:bodyPr>
          <a:lstStyle/>
          <a:p>
            <a:pPr algn="l"/>
            <a:r>
              <a:rPr sz="850" b="1" i="0" spc="200">
                <a:solidFill>
                  <a:srgbClr val="9FD8FF"/>
                </a:solidFill>
                <a:latin typeface="Segoe UI"/>
              </a:rPr>
              <a:t>TRAFFIC HEATMAP</a:t>
            </a:r>
          </a:p>
        </p:txBody>
      </p:sp>
      <p:sp>
        <p:nvSpPr>
          <p:cNvPr id="18" name="Oval 17"/>
          <p:cNvSpPr/>
          <p:nvPr/>
        </p:nvSpPr>
        <p:spPr>
          <a:xfrm>
            <a:off x="3824478" y="2526029"/>
            <a:ext cx="68580" cy="68580"/>
          </a:xfrm>
          <a:prstGeom prst="ellipse">
            <a:avLst/>
          </a:prstGeom>
          <a:ln>
            <a:noFill/>
          </a:ln>
          <a:solidFill>
            <a:srgbClr val="34D399"/>
          </a:solidFill>
          <a:effectLst>
            <a:glow rad="63500">
              <a:srgbClr val="34D399">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hcell"/>
          <p:cNvSpPr/>
          <p:nvPr/>
        </p:nvSpPr>
        <p:spPr>
          <a:xfrm>
            <a:off x="960120" y="2798064"/>
            <a:ext cx="457200" cy="306324"/>
          </a:xfrm>
          <a:prstGeom prst="roundRect">
            <a:avLst>
              <a:gd name="adj" fmla="val 22000"/>
            </a:avLst>
          </a:prstGeom>
          <a:ln>
            <a:noFill/>
          </a:ln>
          <a:effectLst/>
          <a:solidFill>
            <a:srgbClr val="22D3EE">
              <a:alpha val="16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hcell"/>
          <p:cNvSpPr/>
          <p:nvPr/>
        </p:nvSpPr>
        <p:spPr>
          <a:xfrm>
            <a:off x="1467612" y="2798064"/>
            <a:ext cx="457200" cy="306324"/>
          </a:xfrm>
          <a:prstGeom prst="roundRect">
            <a:avLst>
              <a:gd name="adj" fmla="val 22000"/>
            </a:avLst>
          </a:prstGeom>
          <a:ln>
            <a:noFill/>
          </a:ln>
          <a:effectLst/>
          <a:solidFill>
            <a:srgbClr val="22D3EE">
              <a:alpha val="34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hcell"/>
          <p:cNvSpPr/>
          <p:nvPr/>
        </p:nvSpPr>
        <p:spPr>
          <a:xfrm>
            <a:off x="1975104" y="2798064"/>
            <a:ext cx="457200" cy="306324"/>
          </a:xfrm>
          <a:prstGeom prst="roundRect">
            <a:avLst>
              <a:gd name="adj" fmla="val 22000"/>
            </a:avLst>
          </a:prstGeom>
          <a:ln>
            <a:noFill/>
          </a:ln>
          <a:effectLst/>
          <a:solidFill>
            <a:srgbClr val="3B82F6">
              <a:alpha val="48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cell"/>
          <p:cNvSpPr/>
          <p:nvPr/>
        </p:nvSpPr>
        <p:spPr>
          <a:xfrm>
            <a:off x="2482596" y="2798064"/>
            <a:ext cx="457200" cy="306324"/>
          </a:xfrm>
          <a:prstGeom prst="roundRect">
            <a:avLst>
              <a:gd name="adj" fmla="val 22000"/>
            </a:avLst>
          </a:prstGeom>
          <a:ln>
            <a:noFill/>
          </a:ln>
          <a:effectLst/>
          <a:solidFill>
            <a:srgbClr val="3B82F6">
              <a:alpha val="48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hcell"/>
          <p:cNvSpPr/>
          <p:nvPr/>
        </p:nvSpPr>
        <p:spPr>
          <a:xfrm>
            <a:off x="2990088" y="2798064"/>
            <a:ext cx="457200" cy="306324"/>
          </a:xfrm>
          <a:prstGeom prst="roundRect">
            <a:avLst>
              <a:gd name="adj" fmla="val 22000"/>
            </a:avLst>
          </a:prstGeom>
          <a:ln>
            <a:noFill/>
          </a:ln>
          <a:effectLst/>
          <a:solidFill>
            <a:srgbClr val="8B5CF6">
              <a:alpha val="5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hcell"/>
          <p:cNvSpPr/>
          <p:nvPr/>
        </p:nvSpPr>
        <p:spPr>
          <a:xfrm>
            <a:off x="3497580" y="2798064"/>
            <a:ext cx="457200" cy="306324"/>
          </a:xfrm>
          <a:prstGeom prst="roundRect">
            <a:avLst>
              <a:gd name="adj" fmla="val 22000"/>
            </a:avLst>
          </a:prstGeom>
          <a:ln>
            <a:noFill/>
          </a:ln>
          <a:effectLst/>
          <a:solidFill>
            <a:srgbClr val="22D3EE">
              <a:alpha val="34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hcell"/>
          <p:cNvSpPr/>
          <p:nvPr/>
        </p:nvSpPr>
        <p:spPr>
          <a:xfrm>
            <a:off x="960120" y="3150108"/>
            <a:ext cx="457200" cy="306324"/>
          </a:xfrm>
          <a:prstGeom prst="roundRect">
            <a:avLst>
              <a:gd name="adj" fmla="val 22000"/>
            </a:avLst>
          </a:prstGeom>
          <a:ln>
            <a:noFill/>
          </a:ln>
          <a:effectLst/>
          <a:solidFill>
            <a:srgbClr val="22D3EE">
              <a:alpha val="16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hcell"/>
          <p:cNvSpPr/>
          <p:nvPr/>
        </p:nvSpPr>
        <p:spPr>
          <a:xfrm>
            <a:off x="1467612" y="3150108"/>
            <a:ext cx="457200" cy="306324"/>
          </a:xfrm>
          <a:prstGeom prst="roundRect">
            <a:avLst>
              <a:gd name="adj" fmla="val 22000"/>
            </a:avLst>
          </a:prstGeom>
          <a:ln>
            <a:noFill/>
          </a:ln>
          <a:effectLst/>
          <a:solidFill>
            <a:srgbClr val="3B82F6">
              <a:alpha val="48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hcell"/>
          <p:cNvSpPr/>
          <p:nvPr/>
        </p:nvSpPr>
        <p:spPr>
          <a:xfrm>
            <a:off x="1975104" y="3150108"/>
            <a:ext cx="457200" cy="306324"/>
          </a:xfrm>
          <a:prstGeom prst="roundRect">
            <a:avLst>
              <a:gd name="adj" fmla="val 22000"/>
            </a:avLst>
          </a:prstGeom>
          <a:ln>
            <a:noFill/>
          </a:ln>
          <a:effectLst/>
          <a:solidFill>
            <a:srgbClr val="F59E0B">
              <a:alpha val="6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hcell"/>
          <p:cNvSpPr/>
          <p:nvPr/>
        </p:nvSpPr>
        <p:spPr>
          <a:xfrm>
            <a:off x="2482596" y="3150108"/>
            <a:ext cx="457200" cy="306324"/>
          </a:xfrm>
          <a:prstGeom prst="roundRect">
            <a:avLst>
              <a:gd name="adj" fmla="val 22000"/>
            </a:avLst>
          </a:prstGeom>
          <a:ln>
            <a:noFill/>
          </a:ln>
          <a:effectLst/>
          <a:solidFill>
            <a:srgbClr val="F59E0B">
              <a:alpha val="78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hcell"/>
          <p:cNvSpPr/>
          <p:nvPr/>
        </p:nvSpPr>
        <p:spPr>
          <a:xfrm>
            <a:off x="2990088" y="3150108"/>
            <a:ext cx="457200" cy="306324"/>
          </a:xfrm>
          <a:prstGeom prst="roundRect">
            <a:avLst>
              <a:gd name="adj" fmla="val 22000"/>
            </a:avLst>
          </a:prstGeom>
          <a:ln>
            <a:noFill/>
          </a:ln>
          <a:effectLst/>
          <a:solidFill>
            <a:srgbClr val="F59E0B">
              <a:alpha val="6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hcell"/>
          <p:cNvSpPr/>
          <p:nvPr/>
        </p:nvSpPr>
        <p:spPr>
          <a:xfrm>
            <a:off x="3497580" y="3150108"/>
            <a:ext cx="457200" cy="306324"/>
          </a:xfrm>
          <a:prstGeom prst="roundRect">
            <a:avLst>
              <a:gd name="adj" fmla="val 22000"/>
            </a:avLst>
          </a:prstGeom>
          <a:ln>
            <a:noFill/>
          </a:ln>
          <a:effectLst/>
          <a:solidFill>
            <a:srgbClr val="3B82F6">
              <a:alpha val="48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hcell"/>
          <p:cNvSpPr/>
          <p:nvPr/>
        </p:nvSpPr>
        <p:spPr>
          <a:xfrm>
            <a:off x="960120" y="3502152"/>
            <a:ext cx="457200" cy="306324"/>
          </a:xfrm>
          <a:prstGeom prst="roundRect">
            <a:avLst>
              <a:gd name="adj" fmla="val 22000"/>
            </a:avLst>
          </a:prstGeom>
          <a:ln>
            <a:noFill/>
          </a:ln>
          <a:effectLst/>
          <a:solidFill>
            <a:srgbClr val="22D3EE">
              <a:alpha val="34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hcell"/>
          <p:cNvSpPr/>
          <p:nvPr/>
        </p:nvSpPr>
        <p:spPr>
          <a:xfrm>
            <a:off x="1467612" y="3502152"/>
            <a:ext cx="457200" cy="306324"/>
          </a:xfrm>
          <a:prstGeom prst="roundRect">
            <a:avLst>
              <a:gd name="adj" fmla="val 22000"/>
            </a:avLst>
          </a:prstGeom>
          <a:ln>
            <a:noFill/>
          </a:ln>
          <a:effectLst/>
          <a:solidFill>
            <a:srgbClr val="8B5CF6">
              <a:alpha val="5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hcell"/>
          <p:cNvSpPr/>
          <p:nvPr/>
        </p:nvSpPr>
        <p:spPr>
          <a:xfrm>
            <a:off x="1975104" y="3502152"/>
            <a:ext cx="457200" cy="306324"/>
          </a:xfrm>
          <a:prstGeom prst="roundRect">
            <a:avLst>
              <a:gd name="adj" fmla="val 22000"/>
            </a:avLst>
          </a:prstGeom>
          <a:ln>
            <a:noFill/>
          </a:ln>
          <a:effectLst/>
          <a:solidFill>
            <a:srgbClr val="F43F5E">
              <a:alpha val="62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hcell"/>
          <p:cNvSpPr/>
          <p:nvPr/>
        </p:nvSpPr>
        <p:spPr>
          <a:xfrm>
            <a:off x="2482596" y="3502152"/>
            <a:ext cx="457200" cy="306324"/>
          </a:xfrm>
          <a:prstGeom prst="roundRect">
            <a:avLst>
              <a:gd name="adj" fmla="val 22000"/>
            </a:avLst>
          </a:prstGeom>
          <a:ln>
            <a:noFill/>
          </a:ln>
          <a:effectLst/>
          <a:solidFill>
            <a:srgbClr val="F43F5E">
              <a:alpha val="82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hcell"/>
          <p:cNvSpPr/>
          <p:nvPr/>
        </p:nvSpPr>
        <p:spPr>
          <a:xfrm>
            <a:off x="2990088" y="3502152"/>
            <a:ext cx="457200" cy="306324"/>
          </a:xfrm>
          <a:prstGeom prst="roundRect">
            <a:avLst>
              <a:gd name="adj" fmla="val 22000"/>
            </a:avLst>
          </a:prstGeom>
          <a:ln>
            <a:noFill/>
          </a:ln>
          <a:effectLst/>
          <a:solidFill>
            <a:srgbClr val="F59E0B">
              <a:alpha val="78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hcell"/>
          <p:cNvSpPr/>
          <p:nvPr/>
        </p:nvSpPr>
        <p:spPr>
          <a:xfrm>
            <a:off x="3497580" y="3502152"/>
            <a:ext cx="457200" cy="306324"/>
          </a:xfrm>
          <a:prstGeom prst="roundRect">
            <a:avLst>
              <a:gd name="adj" fmla="val 22000"/>
            </a:avLst>
          </a:prstGeom>
          <a:ln>
            <a:noFill/>
          </a:ln>
          <a:effectLst/>
          <a:solidFill>
            <a:srgbClr val="3B82F6">
              <a:alpha val="48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hcell"/>
          <p:cNvSpPr/>
          <p:nvPr/>
        </p:nvSpPr>
        <p:spPr>
          <a:xfrm>
            <a:off x="960120" y="3854196"/>
            <a:ext cx="457200" cy="306324"/>
          </a:xfrm>
          <a:prstGeom prst="roundRect">
            <a:avLst>
              <a:gd name="adj" fmla="val 22000"/>
            </a:avLst>
          </a:prstGeom>
          <a:ln>
            <a:noFill/>
          </a:ln>
          <a:effectLst/>
          <a:solidFill>
            <a:srgbClr val="22D3EE">
              <a:alpha val="16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hcell"/>
          <p:cNvSpPr/>
          <p:nvPr/>
        </p:nvSpPr>
        <p:spPr>
          <a:xfrm>
            <a:off x="1467612" y="3854196"/>
            <a:ext cx="457200" cy="306324"/>
          </a:xfrm>
          <a:prstGeom prst="roundRect">
            <a:avLst>
              <a:gd name="adj" fmla="val 22000"/>
            </a:avLst>
          </a:prstGeom>
          <a:ln>
            <a:noFill/>
          </a:ln>
          <a:effectLst/>
          <a:solidFill>
            <a:srgbClr val="3B82F6">
              <a:alpha val="48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hcell"/>
          <p:cNvSpPr/>
          <p:nvPr/>
        </p:nvSpPr>
        <p:spPr>
          <a:xfrm>
            <a:off x="1975104" y="3854196"/>
            <a:ext cx="457200" cy="306324"/>
          </a:xfrm>
          <a:prstGeom prst="roundRect">
            <a:avLst>
              <a:gd name="adj" fmla="val 22000"/>
            </a:avLst>
          </a:prstGeom>
          <a:ln>
            <a:noFill/>
          </a:ln>
          <a:effectLst/>
          <a:solidFill>
            <a:srgbClr val="F59E0B">
              <a:alpha val="6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hcell"/>
          <p:cNvSpPr/>
          <p:nvPr/>
        </p:nvSpPr>
        <p:spPr>
          <a:xfrm>
            <a:off x="2482596" y="3854196"/>
            <a:ext cx="457200" cy="306324"/>
          </a:xfrm>
          <a:prstGeom prst="roundRect">
            <a:avLst>
              <a:gd name="adj" fmla="val 22000"/>
            </a:avLst>
          </a:prstGeom>
          <a:ln>
            <a:noFill/>
          </a:ln>
          <a:effectLst/>
          <a:solidFill>
            <a:srgbClr val="F59E0B">
              <a:alpha val="78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hcell"/>
          <p:cNvSpPr/>
          <p:nvPr/>
        </p:nvSpPr>
        <p:spPr>
          <a:xfrm>
            <a:off x="2990088" y="3854196"/>
            <a:ext cx="457200" cy="306324"/>
          </a:xfrm>
          <a:prstGeom prst="roundRect">
            <a:avLst>
              <a:gd name="adj" fmla="val 22000"/>
            </a:avLst>
          </a:prstGeom>
          <a:ln>
            <a:noFill/>
          </a:ln>
          <a:effectLst/>
          <a:solidFill>
            <a:srgbClr val="8B5CF6">
              <a:alpha val="5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hcell"/>
          <p:cNvSpPr/>
          <p:nvPr/>
        </p:nvSpPr>
        <p:spPr>
          <a:xfrm>
            <a:off x="3497580" y="3854196"/>
            <a:ext cx="457200" cy="306324"/>
          </a:xfrm>
          <a:prstGeom prst="roundRect">
            <a:avLst>
              <a:gd name="adj" fmla="val 22000"/>
            </a:avLst>
          </a:prstGeom>
          <a:ln>
            <a:noFill/>
          </a:ln>
          <a:effectLst/>
          <a:solidFill>
            <a:srgbClr val="22D3EE">
              <a:alpha val="34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hcell"/>
          <p:cNvSpPr/>
          <p:nvPr/>
        </p:nvSpPr>
        <p:spPr>
          <a:xfrm>
            <a:off x="960120" y="4206240"/>
            <a:ext cx="457200" cy="306324"/>
          </a:xfrm>
          <a:prstGeom prst="roundRect">
            <a:avLst>
              <a:gd name="adj" fmla="val 22000"/>
            </a:avLst>
          </a:prstGeom>
          <a:ln>
            <a:noFill/>
          </a:ln>
          <a:effectLst/>
          <a:solidFill>
            <a:srgbClr val="22D3EE">
              <a:alpha val="16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hcell"/>
          <p:cNvSpPr/>
          <p:nvPr/>
        </p:nvSpPr>
        <p:spPr>
          <a:xfrm>
            <a:off x="1467612" y="4206240"/>
            <a:ext cx="457200" cy="306324"/>
          </a:xfrm>
          <a:prstGeom prst="roundRect">
            <a:avLst>
              <a:gd name="adj" fmla="val 22000"/>
            </a:avLst>
          </a:prstGeom>
          <a:ln>
            <a:noFill/>
          </a:ln>
          <a:effectLst/>
          <a:solidFill>
            <a:srgbClr val="22D3EE">
              <a:alpha val="34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hcell"/>
          <p:cNvSpPr/>
          <p:nvPr/>
        </p:nvSpPr>
        <p:spPr>
          <a:xfrm>
            <a:off x="1975104" y="4206240"/>
            <a:ext cx="457200" cy="306324"/>
          </a:xfrm>
          <a:prstGeom prst="roundRect">
            <a:avLst>
              <a:gd name="adj" fmla="val 22000"/>
            </a:avLst>
          </a:prstGeom>
          <a:ln>
            <a:noFill/>
          </a:ln>
          <a:effectLst/>
          <a:solidFill>
            <a:srgbClr val="3B82F6">
              <a:alpha val="48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hcell"/>
          <p:cNvSpPr/>
          <p:nvPr/>
        </p:nvSpPr>
        <p:spPr>
          <a:xfrm>
            <a:off x="2482596" y="4206240"/>
            <a:ext cx="457200" cy="306324"/>
          </a:xfrm>
          <a:prstGeom prst="roundRect">
            <a:avLst>
              <a:gd name="adj" fmla="val 22000"/>
            </a:avLst>
          </a:prstGeom>
          <a:ln>
            <a:noFill/>
          </a:ln>
          <a:effectLst/>
          <a:solidFill>
            <a:srgbClr val="3B82F6">
              <a:alpha val="48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hcell"/>
          <p:cNvSpPr/>
          <p:nvPr/>
        </p:nvSpPr>
        <p:spPr>
          <a:xfrm>
            <a:off x="2990088" y="4206240"/>
            <a:ext cx="457200" cy="306324"/>
          </a:xfrm>
          <a:prstGeom prst="roundRect">
            <a:avLst>
              <a:gd name="adj" fmla="val 22000"/>
            </a:avLst>
          </a:prstGeom>
          <a:ln>
            <a:noFill/>
          </a:ln>
          <a:effectLst/>
          <a:solidFill>
            <a:srgbClr val="3B82F6">
              <a:alpha val="48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hcell"/>
          <p:cNvSpPr/>
          <p:nvPr/>
        </p:nvSpPr>
        <p:spPr>
          <a:xfrm>
            <a:off x="3497580" y="4206240"/>
            <a:ext cx="457200" cy="306324"/>
          </a:xfrm>
          <a:prstGeom prst="roundRect">
            <a:avLst>
              <a:gd name="adj" fmla="val 22000"/>
            </a:avLst>
          </a:prstGeom>
          <a:ln>
            <a:noFill/>
          </a:ln>
          <a:effectLst/>
          <a:solidFill>
            <a:srgbClr val="22D3EE">
              <a:alpha val="16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ardB"/>
          <p:cNvSpPr/>
          <p:nvPr/>
        </p:nvSpPr>
        <p:spPr>
          <a:xfrm>
            <a:off x="4261104" y="2340864"/>
            <a:ext cx="3346704" cy="2304288"/>
          </a:xfrm>
          <a:prstGeom prst="roundRect">
            <a:avLst>
              <a:gd name="adj" fmla="val 7000"/>
            </a:avLst>
          </a:prstGeom>
          <a:ln w="12700" cap="rnd">
            <a:solidFill>
              <a:srgbClr val="22D3EE">
                <a:alpha val="22000"/>
              </a:srgbClr>
            </a:solidFill>
          </a:ln>
          <a:effectLst/>
          <a:solidFill>
            <a:srgbClr val="0D1B33">
              <a:alpha val="5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443984" y="2487168"/>
            <a:ext cx="2377440" cy="237744"/>
          </a:xfrm>
          <a:prstGeom prst="rect">
            <a:avLst/>
          </a:prstGeom>
          <a:noFill/>
        </p:spPr>
        <p:txBody>
          <a:bodyPr wrap="square" anchor="t" lIns="0" rIns="0" tIns="0" bIns="0">
            <a:spAutoFit/>
          </a:bodyPr>
          <a:lstStyle/>
          <a:p>
            <a:pPr algn="l"/>
            <a:r>
              <a:rPr sz="850" b="1" i="0" spc="200">
                <a:solidFill>
                  <a:srgbClr val="9FD8FF"/>
                </a:solidFill>
                <a:latin typeface="Segoe UI"/>
              </a:rPr>
              <a:t>ENERGY · TODAY</a:t>
            </a:r>
          </a:p>
        </p:txBody>
      </p:sp>
      <p:sp>
        <p:nvSpPr>
          <p:cNvPr id="51" name="TextBox 50"/>
          <p:cNvSpPr txBox="1"/>
          <p:nvPr/>
        </p:nvSpPr>
        <p:spPr>
          <a:xfrm>
            <a:off x="6309360" y="2432304"/>
            <a:ext cx="1097280" cy="274320"/>
          </a:xfrm>
          <a:prstGeom prst="rect">
            <a:avLst/>
          </a:prstGeom>
          <a:noFill/>
        </p:spPr>
        <p:txBody>
          <a:bodyPr wrap="square" anchor="t" lIns="0" rIns="0" tIns="0" bIns="0">
            <a:spAutoFit/>
          </a:bodyPr>
          <a:lstStyle/>
          <a:p>
            <a:pPr algn="r"/>
            <a:r>
              <a:rPr sz="1200" b="1" i="0">
                <a:solidFill>
                  <a:srgbClr val="22D3EE"/>
                </a:solidFill>
                <a:latin typeface="Segoe UI"/>
              </a:rPr>
              <a:t>74%</a:t>
            </a:r>
          </a:p>
        </p:txBody>
      </p:sp>
      <p:sp>
        <p:nvSpPr>
          <p:cNvPr id="52" name="ebar"/>
          <p:cNvSpPr/>
          <p:nvPr/>
        </p:nvSpPr>
        <p:spPr>
          <a:xfrm>
            <a:off x="4480560" y="3904488"/>
            <a:ext cx="219456" cy="502920"/>
          </a:xfrm>
          <a:prstGeom prst="roundRect">
            <a:avLst>
              <a:gd name="adj" fmla="val 28000"/>
            </a:avLst>
          </a:prstGeom>
          <a:ln>
            <a:noFill/>
          </a:ln>
          <a:effectLst/>
          <a:gradFill>
            <a:gsLst>
              <a:gs pos="0">
                <a:srgbClr val="22D3EE">
                  <a:alpha val="90000"/>
                </a:srgbClr>
              </a:gs>
              <a:gs pos="100000">
                <a:srgbClr val="14335F">
                  <a:alpha val="45000"/>
                </a:srgbClr>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ebar"/>
          <p:cNvSpPr/>
          <p:nvPr/>
        </p:nvSpPr>
        <p:spPr>
          <a:xfrm>
            <a:off x="4786884" y="3675888"/>
            <a:ext cx="219456" cy="731520"/>
          </a:xfrm>
          <a:prstGeom prst="roundRect">
            <a:avLst>
              <a:gd name="adj" fmla="val 28000"/>
            </a:avLst>
          </a:prstGeom>
          <a:ln>
            <a:noFill/>
          </a:ln>
          <a:effectLst/>
          <a:gradFill>
            <a:gsLst>
              <a:gs pos="0">
                <a:srgbClr val="22D3EE">
                  <a:alpha val="90000"/>
                </a:srgbClr>
              </a:gs>
              <a:gs pos="100000">
                <a:srgbClr val="14335F">
                  <a:alpha val="45000"/>
                </a:srgbClr>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ebar"/>
          <p:cNvSpPr/>
          <p:nvPr/>
        </p:nvSpPr>
        <p:spPr>
          <a:xfrm>
            <a:off x="5093208" y="3840480"/>
            <a:ext cx="219456" cy="566928"/>
          </a:xfrm>
          <a:prstGeom prst="roundRect">
            <a:avLst>
              <a:gd name="adj" fmla="val 28000"/>
            </a:avLst>
          </a:prstGeom>
          <a:ln>
            <a:noFill/>
          </a:ln>
          <a:effectLst/>
          <a:gradFill>
            <a:gsLst>
              <a:gs pos="0">
                <a:srgbClr val="3B82F6">
                  <a:alpha val="90000"/>
                </a:srgbClr>
              </a:gs>
              <a:gs pos="100000">
                <a:srgbClr val="14335F">
                  <a:alpha val="45000"/>
                </a:srgbClr>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ebar"/>
          <p:cNvSpPr/>
          <p:nvPr/>
        </p:nvSpPr>
        <p:spPr>
          <a:xfrm>
            <a:off x="5399532" y="3493008"/>
            <a:ext cx="219456" cy="914400"/>
          </a:xfrm>
          <a:prstGeom prst="roundRect">
            <a:avLst>
              <a:gd name="adj" fmla="val 28000"/>
            </a:avLst>
          </a:prstGeom>
          <a:ln>
            <a:noFill/>
          </a:ln>
          <a:effectLst/>
          <a:gradFill>
            <a:gsLst>
              <a:gs pos="0">
                <a:srgbClr val="3B82F6">
                  <a:alpha val="90000"/>
                </a:srgbClr>
              </a:gs>
              <a:gs pos="100000">
                <a:srgbClr val="14335F">
                  <a:alpha val="45000"/>
                </a:srgbClr>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ebar"/>
          <p:cNvSpPr/>
          <p:nvPr/>
        </p:nvSpPr>
        <p:spPr>
          <a:xfrm>
            <a:off x="5705856" y="3236976"/>
            <a:ext cx="219456" cy="1170432"/>
          </a:xfrm>
          <a:prstGeom prst="roundRect">
            <a:avLst>
              <a:gd name="adj" fmla="val 28000"/>
            </a:avLst>
          </a:prstGeom>
          <a:ln>
            <a:noFill/>
          </a:ln>
          <a:effectLst/>
          <a:gradFill>
            <a:gsLst>
              <a:gs pos="0">
                <a:srgbClr val="8B5CF6">
                  <a:alpha val="90000"/>
                </a:srgbClr>
              </a:gs>
              <a:gs pos="100000">
                <a:srgbClr val="14335F">
                  <a:alpha val="45000"/>
                </a:srgbClr>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ebar"/>
          <p:cNvSpPr/>
          <p:nvPr/>
        </p:nvSpPr>
        <p:spPr>
          <a:xfrm>
            <a:off x="6012180" y="3035808"/>
            <a:ext cx="219456" cy="1371600"/>
          </a:xfrm>
          <a:prstGeom prst="roundRect">
            <a:avLst>
              <a:gd name="adj" fmla="val 28000"/>
            </a:avLst>
          </a:prstGeom>
          <a:ln>
            <a:noFill/>
          </a:ln>
          <a:effectLst/>
          <a:gradFill>
            <a:gsLst>
              <a:gs pos="0">
                <a:srgbClr val="8B5CF6">
                  <a:alpha val="90000"/>
                </a:srgbClr>
              </a:gs>
              <a:gs pos="100000">
                <a:srgbClr val="14335F">
                  <a:alpha val="45000"/>
                </a:srgbClr>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ebar"/>
          <p:cNvSpPr/>
          <p:nvPr/>
        </p:nvSpPr>
        <p:spPr>
          <a:xfrm>
            <a:off x="6318504" y="3355848"/>
            <a:ext cx="219456" cy="1051560"/>
          </a:xfrm>
          <a:prstGeom prst="roundRect">
            <a:avLst>
              <a:gd name="adj" fmla="val 28000"/>
            </a:avLst>
          </a:prstGeom>
          <a:ln>
            <a:noFill/>
          </a:ln>
          <a:effectLst/>
          <a:gradFill>
            <a:gsLst>
              <a:gs pos="0">
                <a:srgbClr val="3B82F6">
                  <a:alpha val="90000"/>
                </a:srgbClr>
              </a:gs>
              <a:gs pos="100000">
                <a:srgbClr val="14335F">
                  <a:alpha val="45000"/>
                </a:srgbClr>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ebar"/>
          <p:cNvSpPr/>
          <p:nvPr/>
        </p:nvSpPr>
        <p:spPr>
          <a:xfrm>
            <a:off x="6624828" y="3584448"/>
            <a:ext cx="219456" cy="822960"/>
          </a:xfrm>
          <a:prstGeom prst="roundRect">
            <a:avLst>
              <a:gd name="adj" fmla="val 28000"/>
            </a:avLst>
          </a:prstGeom>
          <a:ln>
            <a:noFill/>
          </a:ln>
          <a:effectLst/>
          <a:gradFill>
            <a:gsLst>
              <a:gs pos="0">
                <a:srgbClr val="3B82F6">
                  <a:alpha val="90000"/>
                </a:srgbClr>
              </a:gs>
              <a:gs pos="100000">
                <a:srgbClr val="14335F">
                  <a:alpha val="45000"/>
                </a:srgbClr>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ebar"/>
          <p:cNvSpPr/>
          <p:nvPr/>
        </p:nvSpPr>
        <p:spPr>
          <a:xfrm>
            <a:off x="6931152" y="3767328"/>
            <a:ext cx="219456" cy="640080"/>
          </a:xfrm>
          <a:prstGeom prst="roundRect">
            <a:avLst>
              <a:gd name="adj" fmla="val 28000"/>
            </a:avLst>
          </a:prstGeom>
          <a:ln>
            <a:noFill/>
          </a:ln>
          <a:effectLst/>
          <a:gradFill>
            <a:gsLst>
              <a:gs pos="0">
                <a:srgbClr val="22D3EE">
                  <a:alpha val="90000"/>
                </a:srgbClr>
              </a:gs>
              <a:gs pos="100000">
                <a:srgbClr val="14335F">
                  <a:alpha val="45000"/>
                </a:srgbClr>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ebar"/>
          <p:cNvSpPr/>
          <p:nvPr/>
        </p:nvSpPr>
        <p:spPr>
          <a:xfrm>
            <a:off x="7237476" y="3950208"/>
            <a:ext cx="219456" cy="457200"/>
          </a:xfrm>
          <a:prstGeom prst="roundRect">
            <a:avLst>
              <a:gd name="adj" fmla="val 28000"/>
            </a:avLst>
          </a:prstGeom>
          <a:ln>
            <a:noFill/>
          </a:ln>
          <a:effectLst/>
          <a:gradFill>
            <a:gsLst>
              <a:gs pos="0">
                <a:srgbClr val="22D3EE">
                  <a:alpha val="90000"/>
                </a:srgbClr>
              </a:gs>
              <a:gs pos="100000">
                <a:srgbClr val="14335F">
                  <a:alpha val="45000"/>
                </a:srgbClr>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2" name="Connector 61"/>
          <p:cNvCxnSpPr/>
          <p:nvPr/>
        </p:nvCxnSpPr>
        <p:spPr>
          <a:xfrm>
            <a:off x="4443984" y="4425696"/>
            <a:ext cx="3127247" cy="0"/>
          </a:xfrm>
          <a:prstGeom prst="line">
            <a:avLst/>
          </a:prstGeom>
          <a:ln w="12700" cap="rnd">
            <a:solidFill>
              <a:srgbClr val="1B2B4A">
                <a:alpha val="90000"/>
              </a:srgbClr>
            </a:solidFill>
          </a:ln>
          <a:effectLst/>
        </p:spPr>
        <p:style>
          <a:lnRef idx="2">
            <a:schemeClr val="accent1"/>
          </a:lnRef>
          <a:fillRef idx="0">
            <a:schemeClr val="accent1"/>
          </a:fillRef>
          <a:effectRef idx="1">
            <a:schemeClr val="accent1"/>
          </a:effectRef>
          <a:fontRef idx="minor">
            <a:schemeClr val="tx1"/>
          </a:fontRef>
        </p:style>
      </p:cxnSp>
      <p:sp>
        <p:nvSpPr>
          <p:cNvPr id="63" name="cardC"/>
          <p:cNvSpPr/>
          <p:nvPr/>
        </p:nvSpPr>
        <p:spPr>
          <a:xfrm>
            <a:off x="7744968" y="2340864"/>
            <a:ext cx="3648456" cy="2304288"/>
          </a:xfrm>
          <a:prstGeom prst="roundRect">
            <a:avLst>
              <a:gd name="adj" fmla="val 7000"/>
            </a:avLst>
          </a:prstGeom>
          <a:ln w="12700" cap="rnd">
            <a:solidFill>
              <a:srgbClr val="22D3EE">
                <a:alpha val="22000"/>
              </a:srgbClr>
            </a:solidFill>
          </a:ln>
          <a:effectLst/>
          <a:solidFill>
            <a:srgbClr val="0D1B33">
              <a:alpha val="5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927848" y="2487168"/>
            <a:ext cx="2377440" cy="237744"/>
          </a:xfrm>
          <a:prstGeom prst="rect">
            <a:avLst/>
          </a:prstGeom>
          <a:noFill/>
        </p:spPr>
        <p:txBody>
          <a:bodyPr wrap="square" anchor="t" lIns="0" rIns="0" tIns="0" bIns="0">
            <a:spAutoFit/>
          </a:bodyPr>
          <a:lstStyle/>
          <a:p>
            <a:pPr algn="l"/>
            <a:r>
              <a:rPr sz="850" b="1" i="0" spc="200">
                <a:solidFill>
                  <a:srgbClr val="9FD8FF"/>
                </a:solidFill>
                <a:latin typeface="Segoe UI"/>
              </a:rPr>
              <a:t>AIR QUALITY TREND</a:t>
            </a:r>
          </a:p>
        </p:txBody>
      </p:sp>
      <p:sp>
        <p:nvSpPr>
          <p:cNvPr id="65" name="TextBox 64"/>
          <p:cNvSpPr txBox="1"/>
          <p:nvPr/>
        </p:nvSpPr>
        <p:spPr>
          <a:xfrm>
            <a:off x="9966960" y="2432304"/>
            <a:ext cx="1234440" cy="274320"/>
          </a:xfrm>
          <a:prstGeom prst="rect">
            <a:avLst/>
          </a:prstGeom>
          <a:noFill/>
        </p:spPr>
        <p:txBody>
          <a:bodyPr wrap="square" anchor="t" lIns="0" rIns="0" tIns="0" bIns="0">
            <a:spAutoFit/>
          </a:bodyPr>
          <a:lstStyle/>
          <a:p>
            <a:pPr algn="r"/>
            <a:r>
              <a:rPr sz="1200" b="1" i="0">
                <a:solidFill>
                  <a:srgbClr val="34D399"/>
                </a:solidFill>
                <a:latin typeface="Segoe UI"/>
              </a:rPr>
              <a:t>AQI 82</a:t>
            </a:r>
          </a:p>
        </p:txBody>
      </p:sp>
      <p:sp>
        <p:nvSpPr>
          <p:cNvPr id="66" name="Freeform 65"/>
          <p:cNvSpPr/>
          <p:nvPr/>
        </p:nvSpPr>
        <p:spPr>
          <a:xfrm>
            <a:off x="7973568" y="3063240"/>
            <a:ext cx="3145536" cy="1362456"/>
          </a:xfrm>
          <a:custGeom>
            <a:avLst/>
            <a:gdLst/>
            <a:ahLst/>
            <a:cxnLst/>
            <a:rect l="l" t="t" r="r" b="b"/>
            <a:pathLst>
              <a:path w="3145536" h="1362456">
                <a:moveTo>
                  <a:pt x="0" y="868680"/>
                </a:moveTo>
                <a:lnTo>
                  <a:pt x="393192" y="640080"/>
                </a:lnTo>
                <a:lnTo>
                  <a:pt x="786384" y="795528"/>
                </a:lnTo>
                <a:lnTo>
                  <a:pt x="1179576" y="411480"/>
                </a:lnTo>
                <a:lnTo>
                  <a:pt x="1572768" y="548640"/>
                </a:lnTo>
                <a:lnTo>
                  <a:pt x="1965960" y="182880"/>
                </a:lnTo>
                <a:lnTo>
                  <a:pt x="2359152" y="338328"/>
                </a:lnTo>
                <a:lnTo>
                  <a:pt x="2752344" y="0"/>
                </a:lnTo>
                <a:lnTo>
                  <a:pt x="3145536" y="118872"/>
                </a:lnTo>
                <a:lnTo>
                  <a:pt x="3145536" y="1362456"/>
                </a:lnTo>
                <a:lnTo>
                  <a:pt x="0" y="1362456"/>
                </a:lnTo>
                <a:close/>
              </a:path>
            </a:pathLst>
          </a:custGeom>
          <a:ln>
            <a:noFill/>
          </a:ln>
          <a:effectLst/>
          <a:gradFill>
            <a:gsLst>
              <a:gs pos="0">
                <a:srgbClr val="22D3EE">
                  <a:alpha val="26000"/>
                </a:srgbClr>
              </a:gs>
              <a:gs pos="100000">
                <a:srgbClr val="22D3EE">
                  <a:alpha val="2000"/>
                </a:srgbClr>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Freeform 66"/>
          <p:cNvSpPr/>
          <p:nvPr/>
        </p:nvSpPr>
        <p:spPr>
          <a:xfrm>
            <a:off x="7973568" y="3063240"/>
            <a:ext cx="3145536" cy="868680"/>
          </a:xfrm>
          <a:custGeom>
            <a:avLst/>
            <a:gdLst/>
            <a:ahLst/>
            <a:cxnLst/>
            <a:rect l="l" t="t" r="r" b="b"/>
            <a:pathLst>
              <a:path w="3145536" h="868680">
                <a:moveTo>
                  <a:pt x="0" y="868680"/>
                </a:moveTo>
                <a:lnTo>
                  <a:pt x="393192" y="640080"/>
                </a:lnTo>
                <a:lnTo>
                  <a:pt x="786384" y="795528"/>
                </a:lnTo>
                <a:lnTo>
                  <a:pt x="1179576" y="411480"/>
                </a:lnTo>
                <a:lnTo>
                  <a:pt x="1572768" y="548640"/>
                </a:lnTo>
                <a:lnTo>
                  <a:pt x="1965960" y="182880"/>
                </a:lnTo>
                <a:lnTo>
                  <a:pt x="2359152" y="338328"/>
                </a:lnTo>
                <a:lnTo>
                  <a:pt x="2752344" y="0"/>
                </a:lnTo>
                <a:lnTo>
                  <a:pt x="3145536" y="118872"/>
                </a:lnTo>
              </a:path>
            </a:pathLst>
          </a:custGeom>
          <a:noFill/>
          <a:ln w="25400" cap="rnd">
            <a:solidFill>
              <a:srgbClr val="22D3EE"/>
            </a:solidFill>
          </a:ln>
          <a:effectLst>
            <a:glow rad="1016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8" name="Connector 67"/>
          <p:cNvCxnSpPr/>
          <p:nvPr/>
        </p:nvCxnSpPr>
        <p:spPr>
          <a:xfrm>
            <a:off x="7927848" y="4443984"/>
            <a:ext cx="3374136" cy="0"/>
          </a:xfrm>
          <a:prstGeom prst="line">
            <a:avLst/>
          </a:prstGeom>
          <a:ln w="12700" cap="rnd">
            <a:solidFill>
              <a:srgbClr val="1B2B4A">
                <a:alpha val="90000"/>
              </a:srgbClr>
            </a:solidFill>
          </a:ln>
          <a:effectLst/>
        </p:spPr>
        <p:style>
          <a:lnRef idx="2">
            <a:schemeClr val="accent1"/>
          </a:lnRef>
          <a:fillRef idx="0">
            <a:schemeClr val="accent1"/>
          </a:fillRef>
          <a:effectRef idx="1">
            <a:schemeClr val="accent1"/>
          </a:effectRef>
          <a:fontRef idx="minor">
            <a:schemeClr val="tx1"/>
          </a:fontRef>
        </p:style>
      </p:cxnSp>
      <p:sp>
        <p:nvSpPr>
          <p:cNvPr id="69" name="Oval 68"/>
          <p:cNvSpPr/>
          <p:nvPr/>
        </p:nvSpPr>
        <p:spPr>
          <a:xfrm>
            <a:off x="11077956" y="3140964"/>
            <a:ext cx="82296" cy="82296"/>
          </a:xfrm>
          <a:prstGeom prst="ellipse">
            <a:avLst/>
          </a:prstGeom>
          <a:ln>
            <a:noFill/>
          </a:ln>
          <a:solidFill>
            <a:srgbClr val="22D3EE"/>
          </a:solidFill>
          <a:effectLst>
            <a:glow rad="889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aiBanner"/>
          <p:cNvSpPr/>
          <p:nvPr/>
        </p:nvSpPr>
        <p:spPr>
          <a:xfrm>
            <a:off x="777240" y="4791456"/>
            <a:ext cx="6830568" cy="1188720"/>
          </a:xfrm>
          <a:prstGeom prst="roundRect">
            <a:avLst>
              <a:gd name="adj" fmla="val 10000"/>
            </a:avLst>
          </a:prstGeom>
          <a:ln w="12700" cap="rnd">
            <a:solidFill>
              <a:srgbClr val="22D3EE">
                <a:alpha val="50000"/>
              </a:srgbClr>
            </a:solidFill>
          </a:ln>
          <a:solidFill>
            <a:srgbClr val="0D1B33">
              <a:alpha val="52000"/>
            </a:srgbClr>
          </a:solidFill>
          <a:effectLst>
            <a:glow rad="1016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777240" y="4791456"/>
            <a:ext cx="6830568" cy="41148"/>
          </a:xfrm>
          <a:prstGeom prst="rect">
            <a:avLst/>
          </a:prstGeom>
          <a:ln>
            <a:noFill/>
          </a:ln>
          <a:effectLst/>
          <a:gradFill>
            <a:gsLst>
              <a:gs pos="0">
                <a:srgbClr val="22D3EE">
                  <a:alpha val="85000"/>
                </a:srgbClr>
              </a:gs>
              <a:gs pos="60000">
                <a:srgbClr val="3B82F6">
                  <a:alpha val="85000"/>
                </a:srgbClr>
              </a:gs>
              <a:gs pos="100000">
                <a:srgbClr val="8B5CF6">
                  <a:alpha val="85000"/>
                </a:srgbClr>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4-Point Star 71"/>
          <p:cNvSpPr/>
          <p:nvPr/>
        </p:nvSpPr>
        <p:spPr>
          <a:xfrm>
            <a:off x="1024128" y="5120640"/>
            <a:ext cx="384048" cy="384048"/>
          </a:xfrm>
          <a:prstGeom prst="star4">
            <a:avLst/>
          </a:prstGeom>
          <a:ln>
            <a:noFill/>
          </a:ln>
          <a:solidFill>
            <a:srgbClr val="22D3EE"/>
          </a:solidFill>
          <a:effectLst>
            <a:glow rad="1270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572768" y="4956048"/>
            <a:ext cx="4023360" cy="237744"/>
          </a:xfrm>
          <a:prstGeom prst="rect">
            <a:avLst/>
          </a:prstGeom>
          <a:noFill/>
        </p:spPr>
        <p:txBody>
          <a:bodyPr wrap="square" anchor="t" lIns="0" rIns="0" tIns="0" bIns="0">
            <a:spAutoFit/>
          </a:bodyPr>
          <a:lstStyle/>
          <a:p>
            <a:pPr algn="l"/>
            <a:r>
              <a:rPr sz="800" b="1" i="0" spc="240">
                <a:solidFill>
                  <a:srgbClr val="22D3EE"/>
                </a:solidFill>
                <a:latin typeface="Segoe UI"/>
              </a:rPr>
              <a:t>AI RECOMMENDATION</a:t>
            </a:r>
          </a:p>
        </p:txBody>
      </p:sp>
      <p:sp>
        <p:nvSpPr>
          <p:cNvPr id="74" name="TextBox 73"/>
          <p:cNvSpPr txBox="1"/>
          <p:nvPr/>
        </p:nvSpPr>
        <p:spPr>
          <a:xfrm>
            <a:off x="1572768" y="5212080"/>
            <a:ext cx="4572000" cy="548640"/>
          </a:xfrm>
          <a:prstGeom prst="rect">
            <a:avLst/>
          </a:prstGeom>
          <a:noFill/>
        </p:spPr>
        <p:txBody>
          <a:bodyPr wrap="square" anchor="t" lIns="0" rIns="0" tIns="0" bIns="0">
            <a:spAutoFit/>
          </a:bodyPr>
          <a:lstStyle/>
          <a:p>
            <a:pPr algn="l"/>
            <a:r>
              <a:rPr sz="1250" b="0" i="0">
                <a:solidFill>
                  <a:srgbClr val="EAF1FB"/>
                </a:solidFill>
                <a:latin typeface="Segoe UI"/>
              </a:rPr>
              <a:t>Reroute traffic from Sector 4 — </a:t>
            </a:r>
            <a:r>
              <a:rPr sz="1250" b="1" i="0">
                <a:solidFill>
                  <a:srgbClr val="9FD8FF"/>
                </a:solidFill>
                <a:latin typeface="Segoe UI"/>
              </a:rPr>
              <a:t>reduce congestion by 18%.</a:t>
            </a:r>
          </a:p>
        </p:txBody>
      </p:sp>
      <p:sp>
        <p:nvSpPr>
          <p:cNvPr id="75" name="applyBtn"/>
          <p:cNvSpPr/>
          <p:nvPr/>
        </p:nvSpPr>
        <p:spPr>
          <a:xfrm>
            <a:off x="6263640" y="5175504"/>
            <a:ext cx="1078992" cy="420624"/>
          </a:xfrm>
          <a:prstGeom prst="roundRect">
            <a:avLst>
              <a:gd name="adj" fmla="val 50000"/>
            </a:avLst>
          </a:prstGeom>
          <a:ln w="13970" cap="rnd">
            <a:solidFill>
              <a:srgbClr val="22D3EE">
                <a:alpha val="75000"/>
              </a:srgbClr>
            </a:solidFill>
          </a:ln>
          <a:effectLst/>
          <a:solidFill>
            <a:srgbClr val="22D3EE">
              <a:alpha val="16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263640" y="5175504"/>
            <a:ext cx="1078992" cy="420624"/>
          </a:xfrm>
          <a:prstGeom prst="rect">
            <a:avLst/>
          </a:prstGeom>
          <a:noFill/>
        </p:spPr>
        <p:txBody>
          <a:bodyPr wrap="square" anchor="ctr" lIns="0" rIns="0" tIns="0" bIns="0">
            <a:spAutoFit/>
          </a:bodyPr>
          <a:lstStyle/>
          <a:p>
            <a:pPr algn="ctr"/>
            <a:r>
              <a:rPr sz="1000" b="1" i="0" spc="200">
                <a:solidFill>
                  <a:srgbClr val="22D3EE"/>
                </a:solidFill>
                <a:latin typeface="Segoe UI"/>
              </a:rPr>
              <a:t>APPLY</a:t>
            </a:r>
          </a:p>
        </p:txBody>
      </p:sp>
      <p:sp>
        <p:nvSpPr>
          <p:cNvPr id="77" name="cardI"/>
          <p:cNvSpPr/>
          <p:nvPr/>
        </p:nvSpPr>
        <p:spPr>
          <a:xfrm>
            <a:off x="7744968" y="4791456"/>
            <a:ext cx="1792224" cy="1188720"/>
          </a:xfrm>
          <a:prstGeom prst="roundRect">
            <a:avLst>
              <a:gd name="adj" fmla="val 10000"/>
            </a:avLst>
          </a:prstGeom>
          <a:ln w="12700" cap="rnd">
            <a:solidFill>
              <a:srgbClr val="22D3EE">
                <a:alpha val="22000"/>
              </a:srgbClr>
            </a:solidFill>
          </a:ln>
          <a:effectLst/>
          <a:solidFill>
            <a:srgbClr val="0D1B33">
              <a:alpha val="52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Donut 77"/>
          <p:cNvSpPr/>
          <p:nvPr/>
        </p:nvSpPr>
        <p:spPr>
          <a:xfrm>
            <a:off x="7918704" y="4956048"/>
            <a:ext cx="859536" cy="859536"/>
          </a:xfrm>
          <a:prstGeom prst="donut">
            <a:avLst>
              <a:gd name="adj" fmla="val 14000"/>
            </a:avLst>
          </a:prstGeom>
          <a:ln>
            <a:noFill/>
          </a:ln>
          <a:gradFill>
            <a:gsLst>
              <a:gs pos="0">
                <a:srgbClr val="22D3EE">
                  <a:alpha val="92000"/>
                </a:srgbClr>
              </a:gs>
              <a:gs pos="100000">
                <a:srgbClr val="8B5CF6">
                  <a:alpha val="92000"/>
                </a:srgbClr>
              </a:gs>
            </a:gsLst>
            <a:lin ang="8100000" scaled="1"/>
          </a:gradFill>
          <a:effectLst>
            <a:glow rad="889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7918704" y="4956048"/>
            <a:ext cx="859536" cy="859536"/>
          </a:xfrm>
          <a:prstGeom prst="rect">
            <a:avLst/>
          </a:prstGeom>
          <a:noFill/>
        </p:spPr>
        <p:txBody>
          <a:bodyPr wrap="square" anchor="ctr" lIns="0" rIns="0" tIns="0" bIns="0">
            <a:spAutoFit/>
          </a:bodyPr>
          <a:lstStyle/>
          <a:p>
            <a:pPr algn="ctr"/>
            <a:r>
              <a:rPr sz="1500" b="1" i="0">
                <a:solidFill>
                  <a:srgbClr val="F1F5F9"/>
                </a:solidFill>
                <a:latin typeface="Segoe UI"/>
              </a:rPr>
              <a:t>82</a:t>
            </a:r>
          </a:p>
        </p:txBody>
      </p:sp>
      <p:sp>
        <p:nvSpPr>
          <p:cNvPr id="80" name="TextBox 79"/>
          <p:cNvSpPr txBox="1"/>
          <p:nvPr/>
        </p:nvSpPr>
        <p:spPr>
          <a:xfrm>
            <a:off x="8869680" y="5084064"/>
            <a:ext cx="685800" cy="658368"/>
          </a:xfrm>
          <a:prstGeom prst="rect">
            <a:avLst/>
          </a:prstGeom>
          <a:noFill/>
        </p:spPr>
        <p:txBody>
          <a:bodyPr wrap="square" anchor="t" lIns="0" rIns="0" tIns="0" bIns="0">
            <a:spAutoFit/>
          </a:bodyPr>
          <a:lstStyle/>
          <a:p>
            <a:pPr algn="l"/>
            <a:r>
              <a:rPr sz="800" b="1" i="0" spc="140">
                <a:solidFill>
                  <a:srgbClr val="5A6E8C"/>
                </a:solidFill>
                <a:latin typeface="Segoe UI"/>
              </a:rPr>
              <a:t>INFRA</a:t>
            </a:r>
          </a:p>
          <a:p>
            <a:pPr algn="l"/>
            <a:r>
              <a:rPr sz="800" b="1" i="0" spc="140">
                <a:solidFill>
                  <a:srgbClr val="5A6E8C"/>
                </a:solidFill>
                <a:latin typeface="Segoe UI"/>
              </a:rPr>
              <a:t>HEALTH</a:t>
            </a:r>
          </a:p>
          <a:p>
            <a:pPr algn="l"/>
            <a:r>
              <a:rPr sz="1300" b="1" i="0">
                <a:solidFill>
                  <a:srgbClr val="34D399"/>
                </a:solidFill>
                <a:latin typeface="Segoe UI"/>
              </a:rPr>
              <a:t>B+</a:t>
            </a:r>
          </a:p>
        </p:txBody>
      </p:sp>
      <p:sp>
        <p:nvSpPr>
          <p:cNvPr id="81" name="cardL"/>
          <p:cNvSpPr/>
          <p:nvPr/>
        </p:nvSpPr>
        <p:spPr>
          <a:xfrm>
            <a:off x="9646920" y="4791456"/>
            <a:ext cx="1746504" cy="1188720"/>
          </a:xfrm>
          <a:prstGeom prst="roundRect">
            <a:avLst>
              <a:gd name="adj" fmla="val 10000"/>
            </a:avLst>
          </a:prstGeom>
          <a:ln w="12700" cap="rnd">
            <a:solidFill>
              <a:srgbClr val="F43F5E">
                <a:alpha val="35000"/>
              </a:srgbClr>
            </a:solidFill>
          </a:ln>
          <a:effectLst/>
          <a:solidFill>
            <a:srgbClr val="0D1B33">
              <a:alpha val="52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9802368" y="4919472"/>
            <a:ext cx="1463040" cy="219456"/>
          </a:xfrm>
          <a:prstGeom prst="rect">
            <a:avLst/>
          </a:prstGeom>
          <a:noFill/>
        </p:spPr>
        <p:txBody>
          <a:bodyPr wrap="square" anchor="t" lIns="0" rIns="0" tIns="0" bIns="0">
            <a:spAutoFit/>
          </a:bodyPr>
          <a:lstStyle/>
          <a:p>
            <a:pPr algn="l"/>
            <a:r>
              <a:rPr sz="800" b="1" i="0" spc="200">
                <a:solidFill>
                  <a:srgbClr val="5A6E8C"/>
                </a:solidFill>
                <a:latin typeface="Segoe UI"/>
              </a:rPr>
              <a:t>ALERTS</a:t>
            </a:r>
          </a:p>
        </p:txBody>
      </p:sp>
      <p:sp>
        <p:nvSpPr>
          <p:cNvPr id="83" name="Oval 82"/>
          <p:cNvSpPr/>
          <p:nvPr/>
        </p:nvSpPr>
        <p:spPr>
          <a:xfrm>
            <a:off x="9836658" y="5246370"/>
            <a:ext cx="77724" cy="77724"/>
          </a:xfrm>
          <a:prstGeom prst="ellipse">
            <a:avLst/>
          </a:prstGeom>
          <a:ln>
            <a:noFill/>
          </a:ln>
          <a:solidFill>
            <a:srgbClr val="F43F5E"/>
          </a:solidFill>
          <a:effectLst>
            <a:glow rad="63500">
              <a:srgbClr val="F43F5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0003536" y="5166360"/>
            <a:ext cx="1325880" cy="219456"/>
          </a:xfrm>
          <a:prstGeom prst="rect">
            <a:avLst/>
          </a:prstGeom>
          <a:noFill/>
        </p:spPr>
        <p:txBody>
          <a:bodyPr wrap="square" anchor="t" lIns="0" rIns="0" tIns="0" bIns="0">
            <a:spAutoFit/>
          </a:bodyPr>
          <a:lstStyle/>
          <a:p>
            <a:pPr algn="l"/>
            <a:r>
              <a:rPr sz="850" b="0" i="0">
                <a:solidFill>
                  <a:srgbClr val="FBC4CD"/>
                </a:solidFill>
                <a:latin typeface="Segoe UI"/>
              </a:rPr>
              <a:t>Flood sim · S4</a:t>
            </a:r>
          </a:p>
        </p:txBody>
      </p:sp>
      <p:sp>
        <p:nvSpPr>
          <p:cNvPr id="85" name="Oval 84"/>
          <p:cNvSpPr/>
          <p:nvPr/>
        </p:nvSpPr>
        <p:spPr>
          <a:xfrm>
            <a:off x="9836658" y="5575553"/>
            <a:ext cx="77724" cy="77724"/>
          </a:xfrm>
          <a:prstGeom prst="ellipse">
            <a:avLst/>
          </a:prstGeom>
          <a:ln>
            <a:noFill/>
          </a:ln>
          <a:solidFill>
            <a:srgbClr val="F59E0B"/>
          </a:solidFill>
          <a:effectLst>
            <a:glow rad="63500">
              <a:srgbClr val="F59E0B">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0003536" y="5495544"/>
            <a:ext cx="1325880" cy="219456"/>
          </a:xfrm>
          <a:prstGeom prst="rect">
            <a:avLst/>
          </a:prstGeom>
          <a:noFill/>
        </p:spPr>
        <p:txBody>
          <a:bodyPr wrap="square" anchor="t" lIns="0" rIns="0" tIns="0" bIns="0">
            <a:spAutoFit/>
          </a:bodyPr>
          <a:lstStyle/>
          <a:p>
            <a:pPr algn="l"/>
            <a:r>
              <a:rPr sz="850" b="0" i="0">
                <a:solidFill>
                  <a:srgbClr val="F5DFB0"/>
                </a:solidFill>
                <a:latin typeface="Segoe UI"/>
              </a:rPr>
              <a:t>AQI spike · East</a:t>
            </a:r>
          </a:p>
        </p:txBody>
      </p:sp>
    </p:spTree>
  </p:cSld>
  <p:clrMapOvr>
    <a:masterClrMapping/>
  </p:clrMapOvr>
  <mc:AlternateContent xmlns:mc="http://schemas.openxmlformats.org/markup-compatibility/2006">
    <mc:Choice xmlns:p14="http://schemas.microsoft.com/office/powerpoint/2010/main" Requires="p14">
      <p:transition spd="slow" p14:dur="1100">
        <p14:morph option="byObject"/>
      </p:transition>
    </mc:Choice>
    <mc:Fallback>
      <p:transition spd="slow" advClick="1">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0"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600"/>
                                        <p:tgtEl>
                                          <p:spTgt spid="10"/>
                                        </p:tgtEl>
                                      </p:cBhvr>
                                    </p:animEffect>
                                    <p:animScale>
                                      <p:cBhvr>
                                        <p:cTn id="6" dur="600"/>
                                        <p:tgtEl>
                                          <p:spTgt spid="10"/>
                                        </p:tgtEl>
                                      </p:cBhvr>
                                      <p:from x="60%" y="60%"/>
                                      <p:to x="100%" y="100%"/>
                                    </p:animScale>
                                  </p:childTnLst>
                                </p:cTn>
                              </p:par>
                              <p:par>
                                <p:cTn id="12" presetID="22" presetClass="entr" presetSubtype="8" fill="hold" grpId="0" nodeType="afterEffect">
                                  <p:stCondLst>
                                    <p:cond delay="250"/>
                                  </p:stCondLst>
                                  <p:childTnLst>
                                    <p:set>
                                      <p:cBhvr>
                                        <p:cTn id="10" dur="1" fill="hold">
                                          <p:stCondLst>
                                            <p:cond delay="0"/>
                                          </p:stCondLst>
                                        </p:cTn>
                                        <p:tgtEl>
                                          <p:spTgt spid="16"/>
                                        </p:tgtEl>
                                        <p:attrNameLst>
                                          <p:attrName>style.visibility</p:attrName>
                                        </p:attrNameLst>
                                      </p:cBhvr>
                                      <p:to>
                                        <p:strVal val="visible"/>
                                      </p:to>
                                    </p:set>
                                    <p:animEffect transition="in" filter="wipe(fromBottom)">
                                      <p:cBhvr>
                                        <p:cTn id="11" dur="450"/>
                                        <p:tgtEl>
                                          <p:spTgt spid="16"/>
                                        </p:tgtEl>
                                      </p:cBhvr>
                                    </p:animEffect>
                                  </p:childTnLst>
                                </p:cTn>
                              </p:par>
                              <p:par>
                                <p:cTn id="16" presetID="53" presetClass="entr" presetSubtype="0" fill="hold" grpId="0"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260"/>
                                        <p:tgtEl>
                                          <p:spTgt spid="19"/>
                                        </p:tgtEl>
                                      </p:cBhvr>
                                    </p:animEffect>
                                    <p:animScale>
                                      <p:cBhvr>
                                        <p:cTn id="13" dur="260"/>
                                        <p:tgtEl>
                                          <p:spTgt spid="19"/>
                                        </p:tgtEl>
                                      </p:cBhvr>
                                      <p:from x="60%" y="60%"/>
                                      <p:to x="100%" y="100%"/>
                                    </p:animScale>
                                  </p:childTnLst>
                                </p:cTn>
                              </p:par>
                              <p:par>
                                <p:cTn id="20" presetID="53" presetClass="entr" presetSubtype="0" fill="hold" grpId="0" nodeType="withEffect">
                                  <p:stCondLst>
                                    <p:cond delay="45"/>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60"/>
                                        <p:tgtEl>
                                          <p:spTgt spid="20"/>
                                        </p:tgtEl>
                                      </p:cBhvr>
                                    </p:animEffect>
                                    <p:animScale>
                                      <p:cBhvr>
                                        <p:cTn id="17" dur="260"/>
                                        <p:tgtEl>
                                          <p:spTgt spid="20"/>
                                        </p:tgtEl>
                                      </p:cBhvr>
                                      <p:from x="60%" y="60%"/>
                                      <p:to x="100%" y="100%"/>
                                    </p:animScale>
                                  </p:childTnLst>
                                </p:cTn>
                              </p:par>
                              <p:par>
                                <p:cTn id="24" presetID="53" presetClass="entr" presetSubtype="0" fill="hold" grpId="0" nodeType="withEffect">
                                  <p:stCondLst>
                                    <p:cond delay="9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260"/>
                                        <p:tgtEl>
                                          <p:spTgt spid="21"/>
                                        </p:tgtEl>
                                      </p:cBhvr>
                                    </p:animEffect>
                                    <p:animScale>
                                      <p:cBhvr>
                                        <p:cTn id="21" dur="260"/>
                                        <p:tgtEl>
                                          <p:spTgt spid="21"/>
                                        </p:tgtEl>
                                      </p:cBhvr>
                                      <p:from x="60%" y="60%"/>
                                      <p:to x="100%" y="100%"/>
                                    </p:animScale>
                                  </p:childTnLst>
                                </p:cTn>
                              </p:par>
                              <p:par>
                                <p:cTn id="28" presetID="53" presetClass="entr" presetSubtype="0" fill="hold" grpId="0" nodeType="withEffect">
                                  <p:stCondLst>
                                    <p:cond delay="135"/>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260"/>
                                        <p:tgtEl>
                                          <p:spTgt spid="22"/>
                                        </p:tgtEl>
                                      </p:cBhvr>
                                    </p:animEffect>
                                    <p:animScale>
                                      <p:cBhvr>
                                        <p:cTn id="25" dur="260"/>
                                        <p:tgtEl>
                                          <p:spTgt spid="22"/>
                                        </p:tgtEl>
                                      </p:cBhvr>
                                      <p:from x="60%" y="60%"/>
                                      <p:to x="100%" y="100%"/>
                                    </p:animScale>
                                  </p:childTnLst>
                                </p:cTn>
                              </p:par>
                              <p:par>
                                <p:cTn id="32" presetID="53" presetClass="entr" presetSubtype="0" fill="hold" grpId="0" nodeType="withEffect">
                                  <p:stCondLst>
                                    <p:cond delay="18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260"/>
                                        <p:tgtEl>
                                          <p:spTgt spid="23"/>
                                        </p:tgtEl>
                                      </p:cBhvr>
                                    </p:animEffect>
                                    <p:animScale>
                                      <p:cBhvr>
                                        <p:cTn id="29" dur="260"/>
                                        <p:tgtEl>
                                          <p:spTgt spid="23"/>
                                        </p:tgtEl>
                                      </p:cBhvr>
                                      <p:from x="60%" y="60%"/>
                                      <p:to x="100%" y="100%"/>
                                    </p:animScale>
                                  </p:childTnLst>
                                </p:cTn>
                              </p:par>
                              <p:par>
                                <p:cTn id="36" presetID="53" presetClass="entr" presetSubtype="0" fill="hold" grpId="0" nodeType="withEffect">
                                  <p:stCondLst>
                                    <p:cond delay="225"/>
                                  </p:stCondLst>
                                  <p:childTnLst>
                                    <p:set>
                                      <p:cBhvr>
                                        <p:cTn id="34" dur="1" fill="hold">
                                          <p:stCondLst>
                                            <p:cond delay="0"/>
                                          </p:stCondLst>
                                        </p:cTn>
                                        <p:tgtEl>
                                          <p:spTgt spid="24"/>
                                        </p:tgtEl>
                                        <p:attrNameLst>
                                          <p:attrName>style.visibility</p:attrName>
                                        </p:attrNameLst>
                                      </p:cBhvr>
                                      <p:to>
                                        <p:strVal val="visible"/>
                                      </p:to>
                                    </p:set>
                                    <p:animEffect transition="in" filter="fade">
                                      <p:cBhvr>
                                        <p:cTn id="35" dur="260"/>
                                        <p:tgtEl>
                                          <p:spTgt spid="24"/>
                                        </p:tgtEl>
                                      </p:cBhvr>
                                    </p:animEffect>
                                    <p:animScale>
                                      <p:cBhvr>
                                        <p:cTn id="33" dur="260"/>
                                        <p:tgtEl>
                                          <p:spTgt spid="24"/>
                                        </p:tgtEl>
                                      </p:cBhvr>
                                      <p:from x="60%" y="60%"/>
                                      <p:to x="100%" y="100%"/>
                                    </p:animScale>
                                  </p:childTnLst>
                                </p:cTn>
                              </p:par>
                              <p:par>
                                <p:cTn id="40" presetID="53" presetClass="entr" presetSubtype="0" fill="hold" grpId="0" nodeType="after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260"/>
                                        <p:tgtEl>
                                          <p:spTgt spid="25"/>
                                        </p:tgtEl>
                                      </p:cBhvr>
                                    </p:animEffect>
                                    <p:animScale>
                                      <p:cBhvr>
                                        <p:cTn id="37" dur="260"/>
                                        <p:tgtEl>
                                          <p:spTgt spid="25"/>
                                        </p:tgtEl>
                                      </p:cBhvr>
                                      <p:from x="60%" y="60%"/>
                                      <p:to x="100%" y="100%"/>
                                    </p:animScale>
                                  </p:childTnLst>
                                </p:cTn>
                              </p:par>
                              <p:par>
                                <p:cTn id="44" presetID="53" presetClass="entr" presetSubtype="0" fill="hold" grpId="0" nodeType="withEffect">
                                  <p:stCondLst>
                                    <p:cond delay="45"/>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260"/>
                                        <p:tgtEl>
                                          <p:spTgt spid="26"/>
                                        </p:tgtEl>
                                      </p:cBhvr>
                                    </p:animEffect>
                                    <p:animScale>
                                      <p:cBhvr>
                                        <p:cTn id="41" dur="260"/>
                                        <p:tgtEl>
                                          <p:spTgt spid="26"/>
                                        </p:tgtEl>
                                      </p:cBhvr>
                                      <p:from x="60%" y="60%"/>
                                      <p:to x="100%" y="100%"/>
                                    </p:animScale>
                                  </p:childTnLst>
                                </p:cTn>
                              </p:par>
                              <p:par>
                                <p:cTn id="48" presetID="53" presetClass="entr" presetSubtype="0" fill="hold" grpId="0" nodeType="withEffect">
                                  <p:stCondLst>
                                    <p:cond delay="9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260"/>
                                        <p:tgtEl>
                                          <p:spTgt spid="27"/>
                                        </p:tgtEl>
                                      </p:cBhvr>
                                    </p:animEffect>
                                    <p:animScale>
                                      <p:cBhvr>
                                        <p:cTn id="45" dur="260"/>
                                        <p:tgtEl>
                                          <p:spTgt spid="27"/>
                                        </p:tgtEl>
                                      </p:cBhvr>
                                      <p:from x="60%" y="60%"/>
                                      <p:to x="100%" y="100%"/>
                                    </p:animScale>
                                  </p:childTnLst>
                                </p:cTn>
                              </p:par>
                              <p:par>
                                <p:cTn id="52" presetID="53" presetClass="entr" presetSubtype="0" fill="hold" grpId="0" nodeType="withEffect">
                                  <p:stCondLst>
                                    <p:cond delay="135"/>
                                  </p:stCondLst>
                                  <p:childTnLst>
                                    <p:set>
                                      <p:cBhvr>
                                        <p:cTn id="50" dur="1" fill="hold">
                                          <p:stCondLst>
                                            <p:cond delay="0"/>
                                          </p:stCondLst>
                                        </p:cTn>
                                        <p:tgtEl>
                                          <p:spTgt spid="28"/>
                                        </p:tgtEl>
                                        <p:attrNameLst>
                                          <p:attrName>style.visibility</p:attrName>
                                        </p:attrNameLst>
                                      </p:cBhvr>
                                      <p:to>
                                        <p:strVal val="visible"/>
                                      </p:to>
                                    </p:set>
                                    <p:animEffect transition="in" filter="fade">
                                      <p:cBhvr>
                                        <p:cTn id="51" dur="260"/>
                                        <p:tgtEl>
                                          <p:spTgt spid="28"/>
                                        </p:tgtEl>
                                      </p:cBhvr>
                                    </p:animEffect>
                                    <p:animScale>
                                      <p:cBhvr>
                                        <p:cTn id="49" dur="260"/>
                                        <p:tgtEl>
                                          <p:spTgt spid="28"/>
                                        </p:tgtEl>
                                      </p:cBhvr>
                                      <p:from x="60%" y="60%"/>
                                      <p:to x="100%" y="100%"/>
                                    </p:animScale>
                                  </p:childTnLst>
                                </p:cTn>
                              </p:par>
                              <p:par>
                                <p:cTn id="56" presetID="53" presetClass="entr" presetSubtype="0" fill="hold" grpId="0" nodeType="withEffect">
                                  <p:stCondLst>
                                    <p:cond delay="180"/>
                                  </p:stCondLst>
                                  <p:childTnLst>
                                    <p:set>
                                      <p:cBhvr>
                                        <p:cTn id="54" dur="1" fill="hold">
                                          <p:stCondLst>
                                            <p:cond delay="0"/>
                                          </p:stCondLst>
                                        </p:cTn>
                                        <p:tgtEl>
                                          <p:spTgt spid="29"/>
                                        </p:tgtEl>
                                        <p:attrNameLst>
                                          <p:attrName>style.visibility</p:attrName>
                                        </p:attrNameLst>
                                      </p:cBhvr>
                                      <p:to>
                                        <p:strVal val="visible"/>
                                      </p:to>
                                    </p:set>
                                    <p:animEffect transition="in" filter="fade">
                                      <p:cBhvr>
                                        <p:cTn id="55" dur="260"/>
                                        <p:tgtEl>
                                          <p:spTgt spid="29"/>
                                        </p:tgtEl>
                                      </p:cBhvr>
                                    </p:animEffect>
                                    <p:animScale>
                                      <p:cBhvr>
                                        <p:cTn id="53" dur="260"/>
                                        <p:tgtEl>
                                          <p:spTgt spid="29"/>
                                        </p:tgtEl>
                                      </p:cBhvr>
                                      <p:from x="60%" y="60%"/>
                                      <p:to x="100%" y="100%"/>
                                    </p:animScale>
                                  </p:childTnLst>
                                </p:cTn>
                              </p:par>
                              <p:par>
                                <p:cTn id="60" presetID="53" presetClass="entr" presetSubtype="0" fill="hold" grpId="0" nodeType="withEffect">
                                  <p:stCondLst>
                                    <p:cond delay="225"/>
                                  </p:stCondLst>
                                  <p:childTnLst>
                                    <p:set>
                                      <p:cBhvr>
                                        <p:cTn id="58" dur="1" fill="hold">
                                          <p:stCondLst>
                                            <p:cond delay="0"/>
                                          </p:stCondLst>
                                        </p:cTn>
                                        <p:tgtEl>
                                          <p:spTgt spid="30"/>
                                        </p:tgtEl>
                                        <p:attrNameLst>
                                          <p:attrName>style.visibility</p:attrName>
                                        </p:attrNameLst>
                                      </p:cBhvr>
                                      <p:to>
                                        <p:strVal val="visible"/>
                                      </p:to>
                                    </p:set>
                                    <p:animEffect transition="in" filter="fade">
                                      <p:cBhvr>
                                        <p:cTn id="59" dur="260"/>
                                        <p:tgtEl>
                                          <p:spTgt spid="30"/>
                                        </p:tgtEl>
                                      </p:cBhvr>
                                    </p:animEffect>
                                    <p:animScale>
                                      <p:cBhvr>
                                        <p:cTn id="57" dur="260"/>
                                        <p:tgtEl>
                                          <p:spTgt spid="30"/>
                                        </p:tgtEl>
                                      </p:cBhvr>
                                      <p:from x="60%" y="60%"/>
                                      <p:to x="100%" y="100%"/>
                                    </p:animScale>
                                  </p:childTnLst>
                                </p:cTn>
                              </p:par>
                              <p:par>
                                <p:cTn id="64" presetID="53" presetClass="entr" presetSubtype="0" fill="hold" grpId="0" nodeType="afterEffect">
                                  <p:stCondLst>
                                    <p:cond delay="0"/>
                                  </p:stCondLst>
                                  <p:childTnLst>
                                    <p:set>
                                      <p:cBhvr>
                                        <p:cTn id="62" dur="1" fill="hold">
                                          <p:stCondLst>
                                            <p:cond delay="0"/>
                                          </p:stCondLst>
                                        </p:cTn>
                                        <p:tgtEl>
                                          <p:spTgt spid="31"/>
                                        </p:tgtEl>
                                        <p:attrNameLst>
                                          <p:attrName>style.visibility</p:attrName>
                                        </p:attrNameLst>
                                      </p:cBhvr>
                                      <p:to>
                                        <p:strVal val="visible"/>
                                      </p:to>
                                    </p:set>
                                    <p:animEffect transition="in" filter="fade">
                                      <p:cBhvr>
                                        <p:cTn id="63" dur="260"/>
                                        <p:tgtEl>
                                          <p:spTgt spid="31"/>
                                        </p:tgtEl>
                                      </p:cBhvr>
                                    </p:animEffect>
                                    <p:animScale>
                                      <p:cBhvr>
                                        <p:cTn id="61" dur="260"/>
                                        <p:tgtEl>
                                          <p:spTgt spid="31"/>
                                        </p:tgtEl>
                                      </p:cBhvr>
                                      <p:from x="60%" y="60%"/>
                                      <p:to x="100%" y="100%"/>
                                    </p:animScale>
                                  </p:childTnLst>
                                </p:cTn>
                              </p:par>
                              <p:par>
                                <p:cTn id="68" presetID="53" presetClass="entr" presetSubtype="0" fill="hold" grpId="0" nodeType="withEffect">
                                  <p:stCondLst>
                                    <p:cond delay="45"/>
                                  </p:stCondLst>
                                  <p:childTnLst>
                                    <p:set>
                                      <p:cBhvr>
                                        <p:cTn id="66" dur="1" fill="hold">
                                          <p:stCondLst>
                                            <p:cond delay="0"/>
                                          </p:stCondLst>
                                        </p:cTn>
                                        <p:tgtEl>
                                          <p:spTgt spid="32"/>
                                        </p:tgtEl>
                                        <p:attrNameLst>
                                          <p:attrName>style.visibility</p:attrName>
                                        </p:attrNameLst>
                                      </p:cBhvr>
                                      <p:to>
                                        <p:strVal val="visible"/>
                                      </p:to>
                                    </p:set>
                                    <p:animEffect transition="in" filter="fade">
                                      <p:cBhvr>
                                        <p:cTn id="67" dur="260"/>
                                        <p:tgtEl>
                                          <p:spTgt spid="32"/>
                                        </p:tgtEl>
                                      </p:cBhvr>
                                    </p:animEffect>
                                    <p:animScale>
                                      <p:cBhvr>
                                        <p:cTn id="65" dur="260"/>
                                        <p:tgtEl>
                                          <p:spTgt spid="32"/>
                                        </p:tgtEl>
                                      </p:cBhvr>
                                      <p:from x="60%" y="60%"/>
                                      <p:to x="100%" y="100%"/>
                                    </p:animScale>
                                  </p:childTnLst>
                                </p:cTn>
                              </p:par>
                              <p:par>
                                <p:cTn id="72" presetID="53" presetClass="entr" presetSubtype="0" fill="hold" grpId="0" nodeType="withEffect">
                                  <p:stCondLst>
                                    <p:cond delay="90"/>
                                  </p:stCondLst>
                                  <p:childTnLst>
                                    <p:set>
                                      <p:cBhvr>
                                        <p:cTn id="70" dur="1" fill="hold">
                                          <p:stCondLst>
                                            <p:cond delay="0"/>
                                          </p:stCondLst>
                                        </p:cTn>
                                        <p:tgtEl>
                                          <p:spTgt spid="33"/>
                                        </p:tgtEl>
                                        <p:attrNameLst>
                                          <p:attrName>style.visibility</p:attrName>
                                        </p:attrNameLst>
                                      </p:cBhvr>
                                      <p:to>
                                        <p:strVal val="visible"/>
                                      </p:to>
                                    </p:set>
                                    <p:animEffect transition="in" filter="fade">
                                      <p:cBhvr>
                                        <p:cTn id="71" dur="260"/>
                                        <p:tgtEl>
                                          <p:spTgt spid="33"/>
                                        </p:tgtEl>
                                      </p:cBhvr>
                                    </p:animEffect>
                                    <p:animScale>
                                      <p:cBhvr>
                                        <p:cTn id="69" dur="260"/>
                                        <p:tgtEl>
                                          <p:spTgt spid="33"/>
                                        </p:tgtEl>
                                      </p:cBhvr>
                                      <p:from x="60%" y="60%"/>
                                      <p:to x="100%" y="100%"/>
                                    </p:animScale>
                                  </p:childTnLst>
                                </p:cTn>
                              </p:par>
                              <p:par>
                                <p:cTn id="76" presetID="53" presetClass="entr" presetSubtype="0" fill="hold" grpId="0" nodeType="withEffect">
                                  <p:stCondLst>
                                    <p:cond delay="135"/>
                                  </p:stCondLst>
                                  <p:childTnLst>
                                    <p:set>
                                      <p:cBhvr>
                                        <p:cTn id="74" dur="1" fill="hold">
                                          <p:stCondLst>
                                            <p:cond delay="0"/>
                                          </p:stCondLst>
                                        </p:cTn>
                                        <p:tgtEl>
                                          <p:spTgt spid="34"/>
                                        </p:tgtEl>
                                        <p:attrNameLst>
                                          <p:attrName>style.visibility</p:attrName>
                                        </p:attrNameLst>
                                      </p:cBhvr>
                                      <p:to>
                                        <p:strVal val="visible"/>
                                      </p:to>
                                    </p:set>
                                    <p:animEffect transition="in" filter="fade">
                                      <p:cBhvr>
                                        <p:cTn id="75" dur="260"/>
                                        <p:tgtEl>
                                          <p:spTgt spid="34"/>
                                        </p:tgtEl>
                                      </p:cBhvr>
                                    </p:animEffect>
                                    <p:animScale>
                                      <p:cBhvr>
                                        <p:cTn id="73" dur="260"/>
                                        <p:tgtEl>
                                          <p:spTgt spid="34"/>
                                        </p:tgtEl>
                                      </p:cBhvr>
                                      <p:from x="60%" y="60%"/>
                                      <p:to x="100%" y="100%"/>
                                    </p:animScale>
                                  </p:childTnLst>
                                </p:cTn>
                              </p:par>
                              <p:par>
                                <p:cTn id="80" presetID="53" presetClass="entr" presetSubtype="0" fill="hold" grpId="0" nodeType="withEffect">
                                  <p:stCondLst>
                                    <p:cond delay="180"/>
                                  </p:stCondLst>
                                  <p:childTnLst>
                                    <p:set>
                                      <p:cBhvr>
                                        <p:cTn id="78" dur="1" fill="hold">
                                          <p:stCondLst>
                                            <p:cond delay="0"/>
                                          </p:stCondLst>
                                        </p:cTn>
                                        <p:tgtEl>
                                          <p:spTgt spid="35"/>
                                        </p:tgtEl>
                                        <p:attrNameLst>
                                          <p:attrName>style.visibility</p:attrName>
                                        </p:attrNameLst>
                                      </p:cBhvr>
                                      <p:to>
                                        <p:strVal val="visible"/>
                                      </p:to>
                                    </p:set>
                                    <p:animEffect transition="in" filter="fade">
                                      <p:cBhvr>
                                        <p:cTn id="79" dur="260"/>
                                        <p:tgtEl>
                                          <p:spTgt spid="35"/>
                                        </p:tgtEl>
                                      </p:cBhvr>
                                    </p:animEffect>
                                    <p:animScale>
                                      <p:cBhvr>
                                        <p:cTn id="77" dur="260"/>
                                        <p:tgtEl>
                                          <p:spTgt spid="35"/>
                                        </p:tgtEl>
                                      </p:cBhvr>
                                      <p:from x="60%" y="60%"/>
                                      <p:to x="100%" y="100%"/>
                                    </p:animScale>
                                  </p:childTnLst>
                                </p:cTn>
                              </p:par>
                              <p:par>
                                <p:cTn id="84" presetID="53" presetClass="entr" presetSubtype="0" fill="hold" grpId="0" nodeType="withEffect">
                                  <p:stCondLst>
                                    <p:cond delay="225"/>
                                  </p:stCondLst>
                                  <p:childTnLst>
                                    <p:set>
                                      <p:cBhvr>
                                        <p:cTn id="82" dur="1" fill="hold">
                                          <p:stCondLst>
                                            <p:cond delay="0"/>
                                          </p:stCondLst>
                                        </p:cTn>
                                        <p:tgtEl>
                                          <p:spTgt spid="36"/>
                                        </p:tgtEl>
                                        <p:attrNameLst>
                                          <p:attrName>style.visibility</p:attrName>
                                        </p:attrNameLst>
                                      </p:cBhvr>
                                      <p:to>
                                        <p:strVal val="visible"/>
                                      </p:to>
                                    </p:set>
                                    <p:animEffect transition="in" filter="fade">
                                      <p:cBhvr>
                                        <p:cTn id="83" dur="260"/>
                                        <p:tgtEl>
                                          <p:spTgt spid="36"/>
                                        </p:tgtEl>
                                      </p:cBhvr>
                                    </p:animEffect>
                                    <p:animScale>
                                      <p:cBhvr>
                                        <p:cTn id="81" dur="260"/>
                                        <p:tgtEl>
                                          <p:spTgt spid="36"/>
                                        </p:tgtEl>
                                      </p:cBhvr>
                                      <p:from x="60%" y="60%"/>
                                      <p:to x="100%" y="100%"/>
                                    </p:animScale>
                                  </p:childTnLst>
                                </p:cTn>
                              </p:par>
                              <p:par>
                                <p:cTn id="88" presetID="53" presetClass="entr" presetSubtype="0" fill="hold" grpId="0" nodeType="afterEffect">
                                  <p:stCondLst>
                                    <p:cond delay="0"/>
                                  </p:stCondLst>
                                  <p:childTnLst>
                                    <p:set>
                                      <p:cBhvr>
                                        <p:cTn id="86" dur="1" fill="hold">
                                          <p:stCondLst>
                                            <p:cond delay="0"/>
                                          </p:stCondLst>
                                        </p:cTn>
                                        <p:tgtEl>
                                          <p:spTgt spid="37"/>
                                        </p:tgtEl>
                                        <p:attrNameLst>
                                          <p:attrName>style.visibility</p:attrName>
                                        </p:attrNameLst>
                                      </p:cBhvr>
                                      <p:to>
                                        <p:strVal val="visible"/>
                                      </p:to>
                                    </p:set>
                                    <p:animEffect transition="in" filter="fade">
                                      <p:cBhvr>
                                        <p:cTn id="87" dur="260"/>
                                        <p:tgtEl>
                                          <p:spTgt spid="37"/>
                                        </p:tgtEl>
                                      </p:cBhvr>
                                    </p:animEffect>
                                    <p:animScale>
                                      <p:cBhvr>
                                        <p:cTn id="85" dur="260"/>
                                        <p:tgtEl>
                                          <p:spTgt spid="37"/>
                                        </p:tgtEl>
                                      </p:cBhvr>
                                      <p:from x="60%" y="60%"/>
                                      <p:to x="100%" y="100%"/>
                                    </p:animScale>
                                  </p:childTnLst>
                                </p:cTn>
                              </p:par>
                              <p:par>
                                <p:cTn id="92" presetID="53" presetClass="entr" presetSubtype="0" fill="hold" grpId="0" nodeType="withEffect">
                                  <p:stCondLst>
                                    <p:cond delay="45"/>
                                  </p:stCondLst>
                                  <p:childTnLst>
                                    <p:set>
                                      <p:cBhvr>
                                        <p:cTn id="90" dur="1" fill="hold">
                                          <p:stCondLst>
                                            <p:cond delay="0"/>
                                          </p:stCondLst>
                                        </p:cTn>
                                        <p:tgtEl>
                                          <p:spTgt spid="38"/>
                                        </p:tgtEl>
                                        <p:attrNameLst>
                                          <p:attrName>style.visibility</p:attrName>
                                        </p:attrNameLst>
                                      </p:cBhvr>
                                      <p:to>
                                        <p:strVal val="visible"/>
                                      </p:to>
                                    </p:set>
                                    <p:animEffect transition="in" filter="fade">
                                      <p:cBhvr>
                                        <p:cTn id="91" dur="260"/>
                                        <p:tgtEl>
                                          <p:spTgt spid="38"/>
                                        </p:tgtEl>
                                      </p:cBhvr>
                                    </p:animEffect>
                                    <p:animScale>
                                      <p:cBhvr>
                                        <p:cTn id="89" dur="260"/>
                                        <p:tgtEl>
                                          <p:spTgt spid="38"/>
                                        </p:tgtEl>
                                      </p:cBhvr>
                                      <p:from x="60%" y="60%"/>
                                      <p:to x="100%" y="100%"/>
                                    </p:animScale>
                                  </p:childTnLst>
                                </p:cTn>
                              </p:par>
                              <p:par>
                                <p:cTn id="96" presetID="53" presetClass="entr" presetSubtype="0" fill="hold" grpId="0" nodeType="withEffect">
                                  <p:stCondLst>
                                    <p:cond delay="90"/>
                                  </p:stCondLst>
                                  <p:childTnLst>
                                    <p:set>
                                      <p:cBhvr>
                                        <p:cTn id="94" dur="1" fill="hold">
                                          <p:stCondLst>
                                            <p:cond delay="0"/>
                                          </p:stCondLst>
                                        </p:cTn>
                                        <p:tgtEl>
                                          <p:spTgt spid="39"/>
                                        </p:tgtEl>
                                        <p:attrNameLst>
                                          <p:attrName>style.visibility</p:attrName>
                                        </p:attrNameLst>
                                      </p:cBhvr>
                                      <p:to>
                                        <p:strVal val="visible"/>
                                      </p:to>
                                    </p:set>
                                    <p:animEffect transition="in" filter="fade">
                                      <p:cBhvr>
                                        <p:cTn id="95" dur="260"/>
                                        <p:tgtEl>
                                          <p:spTgt spid="39"/>
                                        </p:tgtEl>
                                      </p:cBhvr>
                                    </p:animEffect>
                                    <p:animScale>
                                      <p:cBhvr>
                                        <p:cTn id="93" dur="260"/>
                                        <p:tgtEl>
                                          <p:spTgt spid="39"/>
                                        </p:tgtEl>
                                      </p:cBhvr>
                                      <p:from x="60%" y="60%"/>
                                      <p:to x="100%" y="100%"/>
                                    </p:animScale>
                                  </p:childTnLst>
                                </p:cTn>
                              </p:par>
                              <p:par>
                                <p:cTn id="100" presetID="53" presetClass="entr" presetSubtype="0" fill="hold" grpId="0" nodeType="withEffect">
                                  <p:stCondLst>
                                    <p:cond delay="135"/>
                                  </p:stCondLst>
                                  <p:childTnLst>
                                    <p:set>
                                      <p:cBhvr>
                                        <p:cTn id="98" dur="1" fill="hold">
                                          <p:stCondLst>
                                            <p:cond delay="0"/>
                                          </p:stCondLst>
                                        </p:cTn>
                                        <p:tgtEl>
                                          <p:spTgt spid="40"/>
                                        </p:tgtEl>
                                        <p:attrNameLst>
                                          <p:attrName>style.visibility</p:attrName>
                                        </p:attrNameLst>
                                      </p:cBhvr>
                                      <p:to>
                                        <p:strVal val="visible"/>
                                      </p:to>
                                    </p:set>
                                    <p:animEffect transition="in" filter="fade">
                                      <p:cBhvr>
                                        <p:cTn id="99" dur="260"/>
                                        <p:tgtEl>
                                          <p:spTgt spid="40"/>
                                        </p:tgtEl>
                                      </p:cBhvr>
                                    </p:animEffect>
                                    <p:animScale>
                                      <p:cBhvr>
                                        <p:cTn id="97" dur="260"/>
                                        <p:tgtEl>
                                          <p:spTgt spid="40"/>
                                        </p:tgtEl>
                                      </p:cBhvr>
                                      <p:from x="60%" y="60%"/>
                                      <p:to x="100%" y="100%"/>
                                    </p:animScale>
                                  </p:childTnLst>
                                </p:cTn>
                              </p:par>
                              <p:par>
                                <p:cTn id="104" presetID="53" presetClass="entr" presetSubtype="0" fill="hold" grpId="0" nodeType="withEffect">
                                  <p:stCondLst>
                                    <p:cond delay="180"/>
                                  </p:stCondLst>
                                  <p:childTnLst>
                                    <p:set>
                                      <p:cBhvr>
                                        <p:cTn id="102" dur="1" fill="hold">
                                          <p:stCondLst>
                                            <p:cond delay="0"/>
                                          </p:stCondLst>
                                        </p:cTn>
                                        <p:tgtEl>
                                          <p:spTgt spid="41"/>
                                        </p:tgtEl>
                                        <p:attrNameLst>
                                          <p:attrName>style.visibility</p:attrName>
                                        </p:attrNameLst>
                                      </p:cBhvr>
                                      <p:to>
                                        <p:strVal val="visible"/>
                                      </p:to>
                                    </p:set>
                                    <p:animEffect transition="in" filter="fade">
                                      <p:cBhvr>
                                        <p:cTn id="103" dur="260"/>
                                        <p:tgtEl>
                                          <p:spTgt spid="41"/>
                                        </p:tgtEl>
                                      </p:cBhvr>
                                    </p:animEffect>
                                    <p:animScale>
                                      <p:cBhvr>
                                        <p:cTn id="101" dur="260"/>
                                        <p:tgtEl>
                                          <p:spTgt spid="41"/>
                                        </p:tgtEl>
                                      </p:cBhvr>
                                      <p:from x="60%" y="60%"/>
                                      <p:to x="100%" y="100%"/>
                                    </p:animScale>
                                  </p:childTnLst>
                                </p:cTn>
                              </p:par>
                              <p:par>
                                <p:cTn id="108" presetID="53" presetClass="entr" presetSubtype="0" fill="hold" grpId="0" nodeType="withEffect">
                                  <p:stCondLst>
                                    <p:cond delay="225"/>
                                  </p:stCondLst>
                                  <p:childTnLst>
                                    <p:set>
                                      <p:cBhvr>
                                        <p:cTn id="106" dur="1" fill="hold">
                                          <p:stCondLst>
                                            <p:cond delay="0"/>
                                          </p:stCondLst>
                                        </p:cTn>
                                        <p:tgtEl>
                                          <p:spTgt spid="42"/>
                                        </p:tgtEl>
                                        <p:attrNameLst>
                                          <p:attrName>style.visibility</p:attrName>
                                        </p:attrNameLst>
                                      </p:cBhvr>
                                      <p:to>
                                        <p:strVal val="visible"/>
                                      </p:to>
                                    </p:set>
                                    <p:animEffect transition="in" filter="fade">
                                      <p:cBhvr>
                                        <p:cTn id="107" dur="260"/>
                                        <p:tgtEl>
                                          <p:spTgt spid="42"/>
                                        </p:tgtEl>
                                      </p:cBhvr>
                                    </p:animEffect>
                                    <p:animScale>
                                      <p:cBhvr>
                                        <p:cTn id="105" dur="260"/>
                                        <p:tgtEl>
                                          <p:spTgt spid="42"/>
                                        </p:tgtEl>
                                      </p:cBhvr>
                                      <p:from x="60%" y="60%"/>
                                      <p:to x="100%" y="100%"/>
                                    </p:animScale>
                                  </p:childTnLst>
                                </p:cTn>
                              </p:par>
                              <p:par>
                                <p:cTn id="112" presetID="53" presetClass="entr" presetSubtype="0" fill="hold" grpId="0" nodeType="afterEffect">
                                  <p:stCondLst>
                                    <p:cond delay="0"/>
                                  </p:stCondLst>
                                  <p:childTnLst>
                                    <p:set>
                                      <p:cBhvr>
                                        <p:cTn id="110" dur="1" fill="hold">
                                          <p:stCondLst>
                                            <p:cond delay="0"/>
                                          </p:stCondLst>
                                        </p:cTn>
                                        <p:tgtEl>
                                          <p:spTgt spid="43"/>
                                        </p:tgtEl>
                                        <p:attrNameLst>
                                          <p:attrName>style.visibility</p:attrName>
                                        </p:attrNameLst>
                                      </p:cBhvr>
                                      <p:to>
                                        <p:strVal val="visible"/>
                                      </p:to>
                                    </p:set>
                                    <p:animEffect transition="in" filter="fade">
                                      <p:cBhvr>
                                        <p:cTn id="111" dur="260"/>
                                        <p:tgtEl>
                                          <p:spTgt spid="43"/>
                                        </p:tgtEl>
                                      </p:cBhvr>
                                    </p:animEffect>
                                    <p:animScale>
                                      <p:cBhvr>
                                        <p:cTn id="109" dur="260"/>
                                        <p:tgtEl>
                                          <p:spTgt spid="43"/>
                                        </p:tgtEl>
                                      </p:cBhvr>
                                      <p:from x="60%" y="60%"/>
                                      <p:to x="100%" y="100%"/>
                                    </p:animScale>
                                  </p:childTnLst>
                                </p:cTn>
                              </p:par>
                              <p:par>
                                <p:cTn id="116" presetID="53" presetClass="entr" presetSubtype="0" fill="hold" grpId="0" nodeType="withEffect">
                                  <p:stCondLst>
                                    <p:cond delay="45"/>
                                  </p:stCondLst>
                                  <p:childTnLst>
                                    <p:set>
                                      <p:cBhvr>
                                        <p:cTn id="114" dur="1" fill="hold">
                                          <p:stCondLst>
                                            <p:cond delay="0"/>
                                          </p:stCondLst>
                                        </p:cTn>
                                        <p:tgtEl>
                                          <p:spTgt spid="44"/>
                                        </p:tgtEl>
                                        <p:attrNameLst>
                                          <p:attrName>style.visibility</p:attrName>
                                        </p:attrNameLst>
                                      </p:cBhvr>
                                      <p:to>
                                        <p:strVal val="visible"/>
                                      </p:to>
                                    </p:set>
                                    <p:animEffect transition="in" filter="fade">
                                      <p:cBhvr>
                                        <p:cTn id="115" dur="260"/>
                                        <p:tgtEl>
                                          <p:spTgt spid="44"/>
                                        </p:tgtEl>
                                      </p:cBhvr>
                                    </p:animEffect>
                                    <p:animScale>
                                      <p:cBhvr>
                                        <p:cTn id="113" dur="260"/>
                                        <p:tgtEl>
                                          <p:spTgt spid="44"/>
                                        </p:tgtEl>
                                      </p:cBhvr>
                                      <p:from x="60%" y="60%"/>
                                      <p:to x="100%" y="100%"/>
                                    </p:animScale>
                                  </p:childTnLst>
                                </p:cTn>
                              </p:par>
                              <p:par>
                                <p:cTn id="120" presetID="53" presetClass="entr" presetSubtype="0" fill="hold" grpId="0" nodeType="withEffect">
                                  <p:stCondLst>
                                    <p:cond delay="90"/>
                                  </p:stCondLst>
                                  <p:childTnLst>
                                    <p:set>
                                      <p:cBhvr>
                                        <p:cTn id="118" dur="1" fill="hold">
                                          <p:stCondLst>
                                            <p:cond delay="0"/>
                                          </p:stCondLst>
                                        </p:cTn>
                                        <p:tgtEl>
                                          <p:spTgt spid="45"/>
                                        </p:tgtEl>
                                        <p:attrNameLst>
                                          <p:attrName>style.visibility</p:attrName>
                                        </p:attrNameLst>
                                      </p:cBhvr>
                                      <p:to>
                                        <p:strVal val="visible"/>
                                      </p:to>
                                    </p:set>
                                    <p:animEffect transition="in" filter="fade">
                                      <p:cBhvr>
                                        <p:cTn id="119" dur="260"/>
                                        <p:tgtEl>
                                          <p:spTgt spid="45"/>
                                        </p:tgtEl>
                                      </p:cBhvr>
                                    </p:animEffect>
                                    <p:animScale>
                                      <p:cBhvr>
                                        <p:cTn id="117" dur="260"/>
                                        <p:tgtEl>
                                          <p:spTgt spid="45"/>
                                        </p:tgtEl>
                                      </p:cBhvr>
                                      <p:from x="60%" y="60%"/>
                                      <p:to x="100%" y="100%"/>
                                    </p:animScale>
                                  </p:childTnLst>
                                </p:cTn>
                              </p:par>
                              <p:par>
                                <p:cTn id="124" presetID="53" presetClass="entr" presetSubtype="0" fill="hold" grpId="0" nodeType="withEffect">
                                  <p:stCondLst>
                                    <p:cond delay="135"/>
                                  </p:stCondLst>
                                  <p:childTnLst>
                                    <p:set>
                                      <p:cBhvr>
                                        <p:cTn id="122" dur="1" fill="hold">
                                          <p:stCondLst>
                                            <p:cond delay="0"/>
                                          </p:stCondLst>
                                        </p:cTn>
                                        <p:tgtEl>
                                          <p:spTgt spid="46"/>
                                        </p:tgtEl>
                                        <p:attrNameLst>
                                          <p:attrName>style.visibility</p:attrName>
                                        </p:attrNameLst>
                                      </p:cBhvr>
                                      <p:to>
                                        <p:strVal val="visible"/>
                                      </p:to>
                                    </p:set>
                                    <p:animEffect transition="in" filter="fade">
                                      <p:cBhvr>
                                        <p:cTn id="123" dur="260"/>
                                        <p:tgtEl>
                                          <p:spTgt spid="46"/>
                                        </p:tgtEl>
                                      </p:cBhvr>
                                    </p:animEffect>
                                    <p:animScale>
                                      <p:cBhvr>
                                        <p:cTn id="121" dur="260"/>
                                        <p:tgtEl>
                                          <p:spTgt spid="46"/>
                                        </p:tgtEl>
                                      </p:cBhvr>
                                      <p:from x="60%" y="60%"/>
                                      <p:to x="100%" y="100%"/>
                                    </p:animScale>
                                  </p:childTnLst>
                                </p:cTn>
                              </p:par>
                              <p:par>
                                <p:cTn id="128" presetID="53" presetClass="entr" presetSubtype="0" fill="hold" grpId="0" nodeType="withEffect">
                                  <p:stCondLst>
                                    <p:cond delay="180"/>
                                  </p:stCondLst>
                                  <p:childTnLst>
                                    <p:set>
                                      <p:cBhvr>
                                        <p:cTn id="126" dur="1" fill="hold">
                                          <p:stCondLst>
                                            <p:cond delay="0"/>
                                          </p:stCondLst>
                                        </p:cTn>
                                        <p:tgtEl>
                                          <p:spTgt spid="47"/>
                                        </p:tgtEl>
                                        <p:attrNameLst>
                                          <p:attrName>style.visibility</p:attrName>
                                        </p:attrNameLst>
                                      </p:cBhvr>
                                      <p:to>
                                        <p:strVal val="visible"/>
                                      </p:to>
                                    </p:set>
                                    <p:animEffect transition="in" filter="fade">
                                      <p:cBhvr>
                                        <p:cTn id="127" dur="260"/>
                                        <p:tgtEl>
                                          <p:spTgt spid="47"/>
                                        </p:tgtEl>
                                      </p:cBhvr>
                                    </p:animEffect>
                                    <p:animScale>
                                      <p:cBhvr>
                                        <p:cTn id="125" dur="260"/>
                                        <p:tgtEl>
                                          <p:spTgt spid="47"/>
                                        </p:tgtEl>
                                      </p:cBhvr>
                                      <p:from x="60%" y="60%"/>
                                      <p:to x="100%" y="100%"/>
                                    </p:animScale>
                                  </p:childTnLst>
                                </p:cTn>
                              </p:par>
                              <p:par>
                                <p:cTn id="132" presetID="53" presetClass="entr" presetSubtype="0" fill="hold" grpId="0" nodeType="withEffect">
                                  <p:stCondLst>
                                    <p:cond delay="225"/>
                                  </p:stCondLst>
                                  <p:childTnLst>
                                    <p:set>
                                      <p:cBhvr>
                                        <p:cTn id="130" dur="1" fill="hold">
                                          <p:stCondLst>
                                            <p:cond delay="0"/>
                                          </p:stCondLst>
                                        </p:cTn>
                                        <p:tgtEl>
                                          <p:spTgt spid="48"/>
                                        </p:tgtEl>
                                        <p:attrNameLst>
                                          <p:attrName>style.visibility</p:attrName>
                                        </p:attrNameLst>
                                      </p:cBhvr>
                                      <p:to>
                                        <p:strVal val="visible"/>
                                      </p:to>
                                    </p:set>
                                    <p:animEffect transition="in" filter="fade">
                                      <p:cBhvr>
                                        <p:cTn id="131" dur="260"/>
                                        <p:tgtEl>
                                          <p:spTgt spid="48"/>
                                        </p:tgtEl>
                                      </p:cBhvr>
                                    </p:animEffect>
                                    <p:animScale>
                                      <p:cBhvr>
                                        <p:cTn id="129" dur="260"/>
                                        <p:tgtEl>
                                          <p:spTgt spid="48"/>
                                        </p:tgtEl>
                                      </p:cBhvr>
                                      <p:from x="60%" y="60%"/>
                                      <p:to x="100%" y="100%"/>
                                    </p:animScale>
                                  </p:childTnLst>
                                </p:cTn>
                              </p:par>
                              <p:par>
                                <p:cTn id="135" presetID="22" presetClass="entr" presetSubtype="8" fill="hold" grpId="0" nodeType="afterEffect">
                                  <p:stCondLst>
                                    <p:cond delay="300"/>
                                  </p:stCondLst>
                                  <p:childTnLst>
                                    <p:set>
                                      <p:cBhvr>
                                        <p:cTn id="133" dur="1" fill="hold">
                                          <p:stCondLst>
                                            <p:cond delay="0"/>
                                          </p:stCondLst>
                                        </p:cTn>
                                        <p:tgtEl>
                                          <p:spTgt spid="49"/>
                                        </p:tgtEl>
                                        <p:attrNameLst>
                                          <p:attrName>style.visibility</p:attrName>
                                        </p:attrNameLst>
                                      </p:cBhvr>
                                      <p:to>
                                        <p:strVal val="visible"/>
                                      </p:to>
                                    </p:set>
                                    <p:animEffect transition="in" filter="wipe(fromBottom)">
                                      <p:cBhvr>
                                        <p:cTn id="134" dur="450"/>
                                        <p:tgtEl>
                                          <p:spTgt spid="49"/>
                                        </p:tgtEl>
                                      </p:cBhvr>
                                    </p:animEffect>
                                  </p:childTnLst>
                                </p:cTn>
                              </p:par>
                              <p:par>
                                <p:cTn id="138" presetID="22" presetClass="entr" presetSubtype="8" fill="hold" grpId="0" nodeType="afterEffect">
                                  <p:stCondLst>
                                    <p:cond delay="0"/>
                                  </p:stCondLst>
                                  <p:childTnLst>
                                    <p:set>
                                      <p:cBhvr>
                                        <p:cTn id="136" dur="1" fill="hold">
                                          <p:stCondLst>
                                            <p:cond delay="0"/>
                                          </p:stCondLst>
                                        </p:cTn>
                                        <p:tgtEl>
                                          <p:spTgt spid="52"/>
                                        </p:tgtEl>
                                        <p:attrNameLst>
                                          <p:attrName>style.visibility</p:attrName>
                                        </p:attrNameLst>
                                      </p:cBhvr>
                                      <p:to>
                                        <p:strVal val="visible"/>
                                      </p:to>
                                    </p:set>
                                    <p:animEffect transition="in" filter="wipe(fromBottom)">
                                      <p:cBhvr>
                                        <p:cTn id="137" dur="420"/>
                                        <p:tgtEl>
                                          <p:spTgt spid="52"/>
                                        </p:tgtEl>
                                      </p:cBhvr>
                                    </p:animEffect>
                                  </p:childTnLst>
                                </p:cTn>
                              </p:par>
                              <p:par>
                                <p:cTn id="141" presetID="22" presetClass="entr" presetSubtype="8" fill="hold" grpId="0" nodeType="withEffect">
                                  <p:stCondLst>
                                    <p:cond delay="60"/>
                                  </p:stCondLst>
                                  <p:childTnLst>
                                    <p:set>
                                      <p:cBhvr>
                                        <p:cTn id="139" dur="1" fill="hold">
                                          <p:stCondLst>
                                            <p:cond delay="0"/>
                                          </p:stCondLst>
                                        </p:cTn>
                                        <p:tgtEl>
                                          <p:spTgt spid="53"/>
                                        </p:tgtEl>
                                        <p:attrNameLst>
                                          <p:attrName>style.visibility</p:attrName>
                                        </p:attrNameLst>
                                      </p:cBhvr>
                                      <p:to>
                                        <p:strVal val="visible"/>
                                      </p:to>
                                    </p:set>
                                    <p:animEffect transition="in" filter="wipe(fromBottom)">
                                      <p:cBhvr>
                                        <p:cTn id="140" dur="420"/>
                                        <p:tgtEl>
                                          <p:spTgt spid="53"/>
                                        </p:tgtEl>
                                      </p:cBhvr>
                                    </p:animEffect>
                                  </p:childTnLst>
                                </p:cTn>
                              </p:par>
                              <p:par>
                                <p:cTn id="144" presetID="22" presetClass="entr" presetSubtype="8" fill="hold" grpId="0" nodeType="withEffect">
                                  <p:stCondLst>
                                    <p:cond delay="120"/>
                                  </p:stCondLst>
                                  <p:childTnLst>
                                    <p:set>
                                      <p:cBhvr>
                                        <p:cTn id="142" dur="1" fill="hold">
                                          <p:stCondLst>
                                            <p:cond delay="0"/>
                                          </p:stCondLst>
                                        </p:cTn>
                                        <p:tgtEl>
                                          <p:spTgt spid="54"/>
                                        </p:tgtEl>
                                        <p:attrNameLst>
                                          <p:attrName>style.visibility</p:attrName>
                                        </p:attrNameLst>
                                      </p:cBhvr>
                                      <p:to>
                                        <p:strVal val="visible"/>
                                      </p:to>
                                    </p:set>
                                    <p:animEffect transition="in" filter="wipe(fromBottom)">
                                      <p:cBhvr>
                                        <p:cTn id="143" dur="420"/>
                                        <p:tgtEl>
                                          <p:spTgt spid="54"/>
                                        </p:tgtEl>
                                      </p:cBhvr>
                                    </p:animEffect>
                                  </p:childTnLst>
                                </p:cTn>
                              </p:par>
                              <p:par>
                                <p:cTn id="147" presetID="22" presetClass="entr" presetSubtype="8" fill="hold" grpId="0" nodeType="withEffect">
                                  <p:stCondLst>
                                    <p:cond delay="180"/>
                                  </p:stCondLst>
                                  <p:childTnLst>
                                    <p:set>
                                      <p:cBhvr>
                                        <p:cTn id="145" dur="1" fill="hold">
                                          <p:stCondLst>
                                            <p:cond delay="0"/>
                                          </p:stCondLst>
                                        </p:cTn>
                                        <p:tgtEl>
                                          <p:spTgt spid="55"/>
                                        </p:tgtEl>
                                        <p:attrNameLst>
                                          <p:attrName>style.visibility</p:attrName>
                                        </p:attrNameLst>
                                      </p:cBhvr>
                                      <p:to>
                                        <p:strVal val="visible"/>
                                      </p:to>
                                    </p:set>
                                    <p:animEffect transition="in" filter="wipe(fromBottom)">
                                      <p:cBhvr>
                                        <p:cTn id="146" dur="420"/>
                                        <p:tgtEl>
                                          <p:spTgt spid="55"/>
                                        </p:tgtEl>
                                      </p:cBhvr>
                                    </p:animEffect>
                                  </p:childTnLst>
                                </p:cTn>
                              </p:par>
                              <p:par>
                                <p:cTn id="150" presetID="22" presetClass="entr" presetSubtype="8" fill="hold" grpId="0" nodeType="withEffect">
                                  <p:stCondLst>
                                    <p:cond delay="240"/>
                                  </p:stCondLst>
                                  <p:childTnLst>
                                    <p:set>
                                      <p:cBhvr>
                                        <p:cTn id="148" dur="1" fill="hold">
                                          <p:stCondLst>
                                            <p:cond delay="0"/>
                                          </p:stCondLst>
                                        </p:cTn>
                                        <p:tgtEl>
                                          <p:spTgt spid="56"/>
                                        </p:tgtEl>
                                        <p:attrNameLst>
                                          <p:attrName>style.visibility</p:attrName>
                                        </p:attrNameLst>
                                      </p:cBhvr>
                                      <p:to>
                                        <p:strVal val="visible"/>
                                      </p:to>
                                    </p:set>
                                    <p:animEffect transition="in" filter="wipe(fromBottom)">
                                      <p:cBhvr>
                                        <p:cTn id="149" dur="420"/>
                                        <p:tgtEl>
                                          <p:spTgt spid="56"/>
                                        </p:tgtEl>
                                      </p:cBhvr>
                                    </p:animEffect>
                                  </p:childTnLst>
                                </p:cTn>
                              </p:par>
                              <p:par>
                                <p:cTn id="153" presetID="22" presetClass="entr" presetSubtype="8" fill="hold" grpId="0" nodeType="withEffect">
                                  <p:stCondLst>
                                    <p:cond delay="300"/>
                                  </p:stCondLst>
                                  <p:childTnLst>
                                    <p:set>
                                      <p:cBhvr>
                                        <p:cTn id="151" dur="1" fill="hold">
                                          <p:stCondLst>
                                            <p:cond delay="0"/>
                                          </p:stCondLst>
                                        </p:cTn>
                                        <p:tgtEl>
                                          <p:spTgt spid="57"/>
                                        </p:tgtEl>
                                        <p:attrNameLst>
                                          <p:attrName>style.visibility</p:attrName>
                                        </p:attrNameLst>
                                      </p:cBhvr>
                                      <p:to>
                                        <p:strVal val="visible"/>
                                      </p:to>
                                    </p:set>
                                    <p:animEffect transition="in" filter="wipe(fromBottom)">
                                      <p:cBhvr>
                                        <p:cTn id="152" dur="420"/>
                                        <p:tgtEl>
                                          <p:spTgt spid="57"/>
                                        </p:tgtEl>
                                      </p:cBhvr>
                                    </p:animEffect>
                                  </p:childTnLst>
                                </p:cTn>
                              </p:par>
                              <p:par>
                                <p:cTn id="156" presetID="22" presetClass="entr" presetSubtype="8" fill="hold" grpId="0" nodeType="withEffect">
                                  <p:stCondLst>
                                    <p:cond delay="360"/>
                                  </p:stCondLst>
                                  <p:childTnLst>
                                    <p:set>
                                      <p:cBhvr>
                                        <p:cTn id="154" dur="1" fill="hold">
                                          <p:stCondLst>
                                            <p:cond delay="0"/>
                                          </p:stCondLst>
                                        </p:cTn>
                                        <p:tgtEl>
                                          <p:spTgt spid="58"/>
                                        </p:tgtEl>
                                        <p:attrNameLst>
                                          <p:attrName>style.visibility</p:attrName>
                                        </p:attrNameLst>
                                      </p:cBhvr>
                                      <p:to>
                                        <p:strVal val="visible"/>
                                      </p:to>
                                    </p:set>
                                    <p:animEffect transition="in" filter="wipe(fromBottom)">
                                      <p:cBhvr>
                                        <p:cTn id="155" dur="420"/>
                                        <p:tgtEl>
                                          <p:spTgt spid="58"/>
                                        </p:tgtEl>
                                      </p:cBhvr>
                                    </p:animEffect>
                                  </p:childTnLst>
                                </p:cTn>
                              </p:par>
                              <p:par>
                                <p:cTn id="159" presetID="22" presetClass="entr" presetSubtype="8" fill="hold" grpId="0" nodeType="withEffect">
                                  <p:stCondLst>
                                    <p:cond delay="420"/>
                                  </p:stCondLst>
                                  <p:childTnLst>
                                    <p:set>
                                      <p:cBhvr>
                                        <p:cTn id="157" dur="1" fill="hold">
                                          <p:stCondLst>
                                            <p:cond delay="0"/>
                                          </p:stCondLst>
                                        </p:cTn>
                                        <p:tgtEl>
                                          <p:spTgt spid="59"/>
                                        </p:tgtEl>
                                        <p:attrNameLst>
                                          <p:attrName>style.visibility</p:attrName>
                                        </p:attrNameLst>
                                      </p:cBhvr>
                                      <p:to>
                                        <p:strVal val="visible"/>
                                      </p:to>
                                    </p:set>
                                    <p:animEffect transition="in" filter="wipe(fromBottom)">
                                      <p:cBhvr>
                                        <p:cTn id="158" dur="420"/>
                                        <p:tgtEl>
                                          <p:spTgt spid="59"/>
                                        </p:tgtEl>
                                      </p:cBhvr>
                                    </p:animEffect>
                                  </p:childTnLst>
                                </p:cTn>
                              </p:par>
                              <p:par>
                                <p:cTn id="162" presetID="22" presetClass="entr" presetSubtype="8" fill="hold" grpId="0" nodeType="withEffect">
                                  <p:stCondLst>
                                    <p:cond delay="480"/>
                                  </p:stCondLst>
                                  <p:childTnLst>
                                    <p:set>
                                      <p:cBhvr>
                                        <p:cTn id="160" dur="1" fill="hold">
                                          <p:stCondLst>
                                            <p:cond delay="0"/>
                                          </p:stCondLst>
                                        </p:cTn>
                                        <p:tgtEl>
                                          <p:spTgt spid="60"/>
                                        </p:tgtEl>
                                        <p:attrNameLst>
                                          <p:attrName>style.visibility</p:attrName>
                                        </p:attrNameLst>
                                      </p:cBhvr>
                                      <p:to>
                                        <p:strVal val="visible"/>
                                      </p:to>
                                    </p:set>
                                    <p:animEffect transition="in" filter="wipe(fromBottom)">
                                      <p:cBhvr>
                                        <p:cTn id="161" dur="420"/>
                                        <p:tgtEl>
                                          <p:spTgt spid="60"/>
                                        </p:tgtEl>
                                      </p:cBhvr>
                                    </p:animEffect>
                                  </p:childTnLst>
                                </p:cTn>
                              </p:par>
                              <p:par>
                                <p:cTn id="165" presetID="22" presetClass="entr" presetSubtype="8" fill="hold" grpId="0" nodeType="withEffect">
                                  <p:stCondLst>
                                    <p:cond delay="540"/>
                                  </p:stCondLst>
                                  <p:childTnLst>
                                    <p:set>
                                      <p:cBhvr>
                                        <p:cTn id="163" dur="1" fill="hold">
                                          <p:stCondLst>
                                            <p:cond delay="0"/>
                                          </p:stCondLst>
                                        </p:cTn>
                                        <p:tgtEl>
                                          <p:spTgt spid="61"/>
                                        </p:tgtEl>
                                        <p:attrNameLst>
                                          <p:attrName>style.visibility</p:attrName>
                                        </p:attrNameLst>
                                      </p:cBhvr>
                                      <p:to>
                                        <p:strVal val="visible"/>
                                      </p:to>
                                    </p:set>
                                    <p:animEffect transition="in" filter="wipe(fromBottom)">
                                      <p:cBhvr>
                                        <p:cTn id="164" dur="420"/>
                                        <p:tgtEl>
                                          <p:spTgt spid="61"/>
                                        </p:tgtEl>
                                      </p:cBhvr>
                                    </p:animEffect>
                                  </p:childTnLst>
                                </p:cTn>
                              </p:par>
                              <p:par>
                                <p:cTn id="168" presetID="22" presetClass="entr" presetSubtype="8" fill="hold" grpId="0" nodeType="afterEffect">
                                  <p:stCondLst>
                                    <p:cond delay="200"/>
                                  </p:stCondLst>
                                  <p:childTnLst>
                                    <p:set>
                                      <p:cBhvr>
                                        <p:cTn id="166" dur="1" fill="hold">
                                          <p:stCondLst>
                                            <p:cond delay="0"/>
                                          </p:stCondLst>
                                        </p:cTn>
                                        <p:tgtEl>
                                          <p:spTgt spid="63"/>
                                        </p:tgtEl>
                                        <p:attrNameLst>
                                          <p:attrName>style.visibility</p:attrName>
                                        </p:attrNameLst>
                                      </p:cBhvr>
                                      <p:to>
                                        <p:strVal val="visible"/>
                                      </p:to>
                                    </p:set>
                                    <p:animEffect transition="in" filter="wipe(fromBottom)">
                                      <p:cBhvr>
                                        <p:cTn id="167" dur="450"/>
                                        <p:tgtEl>
                                          <p:spTgt spid="63"/>
                                        </p:tgtEl>
                                      </p:cBhvr>
                                    </p:animEffect>
                                  </p:childTnLst>
                                </p:cTn>
                              </p:par>
                              <p:par>
                                <p:cTn id="171" presetID="22" presetClass="entr" presetSubtype="2" fill="hold" grpId="0" nodeType="afterEffect">
                                  <p:stCondLst>
                                    <p:cond delay="200"/>
                                  </p:stCondLst>
                                  <p:childTnLst>
                                    <p:set>
                                      <p:cBhvr>
                                        <p:cTn id="169" dur="1" fill="hold">
                                          <p:stCondLst>
                                            <p:cond delay="0"/>
                                          </p:stCondLst>
                                        </p:cTn>
                                        <p:tgtEl>
                                          <p:spTgt spid="67"/>
                                        </p:tgtEl>
                                        <p:attrNameLst>
                                          <p:attrName>style.visibility</p:attrName>
                                        </p:attrNameLst>
                                      </p:cBhvr>
                                      <p:to>
                                        <p:strVal val="visible"/>
                                      </p:to>
                                    </p:set>
                                    <p:animEffect transition="in" filter="wipe(fromLeft)">
                                      <p:cBhvr>
                                        <p:cTn id="170" dur="800"/>
                                        <p:tgtEl>
                                          <p:spTgt spid="67"/>
                                        </p:tgtEl>
                                      </p:cBhvr>
                                    </p:animEffect>
                                  </p:childTnLst>
                                </p:cTn>
                              </p:par>
                              <p:par>
                                <p:cTn id="174" presetID="10" presetClass="entr" presetSubtype="0" fill="hold" grpId="0" nodeType="afterEffect">
                                  <p:stCondLst>
                                    <p:cond delay="130"/>
                                  </p:stCondLst>
                                  <p:childTnLst>
                                    <p:set>
                                      <p:cBhvr>
                                        <p:cTn id="172" dur="1" fill="hold">
                                          <p:stCondLst>
                                            <p:cond delay="0"/>
                                          </p:stCondLst>
                                        </p:cTn>
                                        <p:tgtEl>
                                          <p:spTgt spid="69"/>
                                        </p:tgtEl>
                                        <p:attrNameLst>
                                          <p:attrName>style.visibility</p:attrName>
                                        </p:attrNameLst>
                                      </p:cBhvr>
                                      <p:to>
                                        <p:strVal val="visible"/>
                                      </p:to>
                                    </p:set>
                                    <p:animEffect transition="in" filter="fade">
                                      <p:cBhvr>
                                        <p:cTn id="173" dur="250"/>
                                        <p:tgtEl>
                                          <p:spTgt spid="69"/>
                                        </p:tgtEl>
                                      </p:cBhvr>
                                    </p:animEffect>
                                  </p:childTnLst>
                                </p:cTn>
                              </p:par>
                              <p:par>
                                <p:cTn id="176" presetID="6" presetClass="emph" presetSubtype="0" fill="hold" grpId="0" nodeType="withEffect">
                                  <p:stCondLst>
                                    <p:cond delay="0"/>
                                  </p:stCondLst>
                                  <p:childTnLst>
                                    <p:animScale>
                                      <p:cBhvr>
                                        <p:cTn id="175" dur="1600" autoRev="1" repeatCount="indefinite"/>
                                        <p:tgtEl>
                                          <p:spTgt spid="69"/>
                                        </p:tgtEl>
                                      </p:cBhvr>
                                      <p:by x="116%" y="116%"/>
                                    </p:animScale>
                                  </p:childTnLst>
                                </p:cTn>
                              </p:par>
                              <p:par>
                                <p:cTn id="179" presetID="22" presetClass="entr" presetSubtype="2" fill="hold" grpId="0" nodeType="afterEffect">
                                  <p:stCondLst>
                                    <p:cond delay="250"/>
                                  </p:stCondLst>
                                  <p:childTnLst>
                                    <p:set>
                                      <p:cBhvr>
                                        <p:cTn id="177" dur="1" fill="hold">
                                          <p:stCondLst>
                                            <p:cond delay="0"/>
                                          </p:stCondLst>
                                        </p:cTn>
                                        <p:tgtEl>
                                          <p:spTgt spid="70"/>
                                        </p:tgtEl>
                                        <p:attrNameLst>
                                          <p:attrName>style.visibility</p:attrName>
                                        </p:attrNameLst>
                                      </p:cBhvr>
                                      <p:to>
                                        <p:strVal val="visible"/>
                                      </p:to>
                                    </p:set>
                                    <p:animEffect transition="in" filter="wipe(fromLeft)">
                                      <p:cBhvr>
                                        <p:cTn id="178" dur="600"/>
                                        <p:tgtEl>
                                          <p:spTgt spid="70"/>
                                        </p:tgtEl>
                                      </p:cBhvr>
                                    </p:animEffect>
                                  </p:childTnLst>
                                </p:cTn>
                              </p:par>
                              <p:par>
                                <p:cTn id="181" presetID="6" presetClass="emph" presetSubtype="0" fill="hold" grpId="0" nodeType="withEffect">
                                  <p:stCondLst>
                                    <p:cond delay="0"/>
                                  </p:stCondLst>
                                  <p:childTnLst>
                                    <p:animScale>
                                      <p:cBhvr>
                                        <p:cTn id="180" dur="2000" autoRev="1" repeatCount="indefinite"/>
                                        <p:tgtEl>
                                          <p:spTgt spid="72"/>
                                        </p:tgtEl>
                                      </p:cBhvr>
                                      <p:by x="116%" y="116%"/>
                                    </p:animScale>
                                  </p:childTnLst>
                                </p:cTn>
                              </p:par>
                              <p:par>
                                <p:cTn id="184" presetID="22" presetClass="entr" presetSubtype="8" fill="hold" grpId="0" nodeType="afterEffect">
                                  <p:stCondLst>
                                    <p:cond delay="150"/>
                                  </p:stCondLst>
                                  <p:childTnLst>
                                    <p:set>
                                      <p:cBhvr>
                                        <p:cTn id="182" dur="1" fill="hold">
                                          <p:stCondLst>
                                            <p:cond delay="0"/>
                                          </p:stCondLst>
                                        </p:cTn>
                                        <p:tgtEl>
                                          <p:spTgt spid="77"/>
                                        </p:tgtEl>
                                        <p:attrNameLst>
                                          <p:attrName>style.visibility</p:attrName>
                                        </p:attrNameLst>
                                      </p:cBhvr>
                                      <p:to>
                                        <p:strVal val="visible"/>
                                      </p:to>
                                    </p:set>
                                    <p:animEffect transition="in" filter="wipe(fromBottom)">
                                      <p:cBhvr>
                                        <p:cTn id="183" dur="400"/>
                                        <p:tgtEl>
                                          <p:spTgt spid="77"/>
                                        </p:tgtEl>
                                      </p:cBhvr>
                                    </p:animEffect>
                                  </p:childTnLst>
                                </p:cTn>
                              </p:par>
                              <p:par>
                                <p:cTn id="187" presetID="21" presetClass="entr" presetSubtype="1" fill="hold" grpId="0" nodeType="afterEffect">
                                  <p:stCondLst>
                                    <p:cond delay="120"/>
                                  </p:stCondLst>
                                  <p:childTnLst>
                                    <p:set>
                                      <p:cBhvr>
                                        <p:cTn id="185" dur="1" fill="hold">
                                          <p:stCondLst>
                                            <p:cond delay="0"/>
                                          </p:stCondLst>
                                        </p:cTn>
                                        <p:tgtEl>
                                          <p:spTgt spid="78"/>
                                        </p:tgtEl>
                                        <p:attrNameLst>
                                          <p:attrName>style.visibility</p:attrName>
                                        </p:attrNameLst>
                                      </p:cBhvr>
                                      <p:to>
                                        <p:strVal val="visible"/>
                                      </p:to>
                                    </p:set>
                                    <p:animEffect transition="in" filter="wheel(1)">
                                      <p:cBhvr>
                                        <p:cTn id="186" dur="900"/>
                                        <p:tgtEl>
                                          <p:spTgt spid="78"/>
                                        </p:tgtEl>
                                      </p:cBhvr>
                                    </p:animEffect>
                                  </p:childTnLst>
                                </p:cTn>
                              </p:par>
                              <p:par>
                                <p:cTn id="190" presetID="22" presetClass="entr" presetSubtype="8" fill="hold" grpId="0" nodeType="afterEffect">
                                  <p:stCondLst>
                                    <p:cond delay="150"/>
                                  </p:stCondLst>
                                  <p:childTnLst>
                                    <p:set>
                                      <p:cBhvr>
                                        <p:cTn id="188" dur="1" fill="hold">
                                          <p:stCondLst>
                                            <p:cond delay="0"/>
                                          </p:stCondLst>
                                        </p:cTn>
                                        <p:tgtEl>
                                          <p:spTgt spid="81"/>
                                        </p:tgtEl>
                                        <p:attrNameLst>
                                          <p:attrName>style.visibility</p:attrName>
                                        </p:attrNameLst>
                                      </p:cBhvr>
                                      <p:to>
                                        <p:strVal val="visible"/>
                                      </p:to>
                                    </p:set>
                                    <p:animEffect transition="in" filter="wipe(fromBottom)">
                                      <p:cBhvr>
                                        <p:cTn id="189" dur="4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ln>
            <a:noFill/>
          </a:ln>
          <a:effectLst/>
          <a:solidFill>
            <a:srgbClr val="050A1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2011680"/>
            <a:ext cx="4754880" cy="4754880"/>
          </a:xfrm>
          <a:prstGeom prst="ellipse">
            <a:avLst/>
          </a:prstGeom>
          <a:gradFill>
            <a:gsLst>
              <a:gs pos="0">
                <a:srgbClr val="3B82F6">
                  <a:alpha val="20000"/>
                </a:srgbClr>
              </a:gs>
              <a:gs pos="65000">
                <a:srgbClr val="3B82F6">
                  <a:alpha val="6000"/>
                </a:srgbClr>
              </a:gs>
              <a:gs pos="100000">
                <a:srgbClr val="3B82F6">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463039" y="4480560"/>
            <a:ext cx="4206240" cy="4206240"/>
          </a:xfrm>
          <a:prstGeom prst="ellipse">
            <a:avLst/>
          </a:prstGeom>
          <a:gradFill>
            <a:gsLst>
              <a:gs pos="0">
                <a:srgbClr val="8B5CF6">
                  <a:alpha val="16000"/>
                </a:srgbClr>
              </a:gs>
              <a:gs pos="65000">
                <a:srgbClr val="8B5CF6">
                  <a:alpha val="5000"/>
                </a:srgbClr>
              </a:gs>
              <a:gs pos="100000">
                <a:srgbClr val="8B5CF6">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kbar"/>
          <p:cNvSpPr/>
          <p:nvPr/>
        </p:nvSpPr>
        <p:spPr>
          <a:xfrm>
            <a:off x="566928" y="603504"/>
            <a:ext cx="274320" cy="47548"/>
          </a:xfrm>
          <a:prstGeom prst="rect">
            <a:avLst/>
          </a:prstGeom>
          <a:ln>
            <a:noFill/>
          </a:ln>
          <a:solidFill>
            <a:srgbClr val="22D3EE"/>
          </a:solidFill>
          <a:effectLst>
            <a:glow rad="762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kicker"/>
          <p:cNvSpPr txBox="1"/>
          <p:nvPr/>
        </p:nvSpPr>
        <p:spPr>
          <a:xfrm>
            <a:off x="932688" y="489204"/>
            <a:ext cx="7772400" cy="292608"/>
          </a:xfrm>
          <a:prstGeom prst="rect">
            <a:avLst/>
          </a:prstGeom>
          <a:noFill/>
        </p:spPr>
        <p:txBody>
          <a:bodyPr wrap="square" anchor="t" lIns="0" rIns="0" tIns="0" bIns="0">
            <a:spAutoFit/>
          </a:bodyPr>
          <a:lstStyle/>
          <a:p>
            <a:pPr algn="l"/>
            <a:r>
              <a:rPr sz="1050" b="1" i="0" spc="320">
                <a:solidFill>
                  <a:srgbClr val="22D3EE"/>
                </a:solidFill>
                <a:latin typeface="Segoe UI"/>
              </a:rPr>
              <a:t>UNDER THE HOOD</a:t>
            </a:r>
          </a:p>
        </p:txBody>
      </p:sp>
      <p:sp>
        <p:nvSpPr>
          <p:cNvPr id="7" name="title"/>
          <p:cNvSpPr txBox="1"/>
          <p:nvPr/>
        </p:nvSpPr>
        <p:spPr>
          <a:xfrm>
            <a:off x="566928" y="868680"/>
            <a:ext cx="11064240" cy="658368"/>
          </a:xfrm>
          <a:prstGeom prst="rect">
            <a:avLst/>
          </a:prstGeom>
          <a:noFill/>
        </p:spPr>
        <p:txBody>
          <a:bodyPr wrap="square" anchor="t" lIns="0" rIns="0" tIns="0" bIns="0">
            <a:spAutoFit/>
          </a:bodyPr>
          <a:lstStyle/>
          <a:p>
            <a:pPr algn="l"/>
            <a:r>
              <a:rPr sz="3300" b="1" i="0">
                <a:solidFill>
                  <a:srgbClr val="F1F5F9"/>
                </a:solidFill>
                <a:latin typeface="Segoe UI"/>
              </a:rPr>
              <a:t>Built for Scale</a:t>
            </a:r>
          </a:p>
        </p:txBody>
      </p:sp>
      <p:sp>
        <p:nvSpPr>
          <p:cNvPr id="8" name="pageno"/>
          <p:cNvSpPr txBox="1"/>
          <p:nvPr/>
        </p:nvSpPr>
        <p:spPr>
          <a:xfrm>
            <a:off x="10835640" y="6519672"/>
            <a:ext cx="786384" cy="219456"/>
          </a:xfrm>
          <a:prstGeom prst="rect">
            <a:avLst/>
          </a:prstGeom>
          <a:noFill/>
        </p:spPr>
        <p:txBody>
          <a:bodyPr wrap="square" anchor="t" lIns="0" rIns="0" tIns="0" bIns="0">
            <a:spAutoFit/>
          </a:bodyPr>
          <a:lstStyle/>
          <a:p>
            <a:pPr algn="r"/>
            <a:r>
              <a:rPr sz="900" b="1" i="0">
                <a:solidFill>
                  <a:srgbClr val="8EA3C0"/>
                </a:solidFill>
                <a:latin typeface="Segoe UI"/>
              </a:rPr>
              <a:t>10</a:t>
            </a:r>
            <a:r>
              <a:rPr sz="900" b="0" i="0">
                <a:solidFill>
                  <a:srgbClr val="5A6E8C"/>
                </a:solidFill>
                <a:latin typeface="Segoe UI"/>
              </a:rPr>
              <a:t> / 12</a:t>
            </a:r>
          </a:p>
        </p:txBody>
      </p:sp>
      <p:sp>
        <p:nvSpPr>
          <p:cNvPr id="9" name="footer"/>
          <p:cNvSpPr txBox="1"/>
          <p:nvPr/>
        </p:nvSpPr>
        <p:spPr>
          <a:xfrm>
            <a:off x="566928" y="6519672"/>
            <a:ext cx="5486400" cy="219456"/>
          </a:xfrm>
          <a:prstGeom prst="rect">
            <a:avLst/>
          </a:prstGeom>
          <a:noFill/>
        </p:spPr>
        <p:txBody>
          <a:bodyPr wrap="square" anchor="t" lIns="0" rIns="0" tIns="0" bIns="0">
            <a:spAutoFit/>
          </a:bodyPr>
          <a:lstStyle/>
          <a:p>
            <a:pPr algn="l"/>
            <a:r>
              <a:rPr sz="800" b="1" i="0" spc="260">
                <a:solidFill>
                  <a:srgbClr val="5A6E8C"/>
                </a:solidFill>
                <a:latin typeface="Segoe UI"/>
              </a:rPr>
              <a:t>CITYVERSE AI</a:t>
            </a:r>
            <a:r>
              <a:rPr sz="800" b="0" i="0" spc="180">
                <a:solidFill>
                  <a:srgbClr val="5A6E8C"/>
                </a:solidFill>
                <a:latin typeface="Segoe UI"/>
              </a:rPr>
              <a:t>  ·  SMART DIGITAL TWIN PLATFORM</a:t>
            </a:r>
          </a:p>
        </p:txBody>
      </p:sp>
      <p:sp>
        <p:nvSpPr>
          <p:cNvPr id="10" name="stack0"/>
          <p:cNvSpPr/>
          <p:nvPr/>
        </p:nvSpPr>
        <p:spPr>
          <a:xfrm>
            <a:off x="566928" y="1847088"/>
            <a:ext cx="2103120" cy="3246120"/>
          </a:xfrm>
          <a:prstGeom prst="roundRect">
            <a:avLst>
              <a:gd name="adj" fmla="val 9000"/>
            </a:avLst>
          </a:prstGeom>
          <a:ln w="12700" cap="rnd">
            <a:solidFill>
              <a:srgbClr val="22D3EE">
                <a:alpha val="30000"/>
              </a:srgbClr>
            </a:solidFill>
          </a:ln>
          <a:effectLst/>
          <a:solidFill>
            <a:srgbClr val="0D1B33">
              <a:alpha val="5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76656" y="1847088"/>
            <a:ext cx="1883664" cy="50292"/>
          </a:xfrm>
          <a:prstGeom prst="rect">
            <a:avLst/>
          </a:prstGeom>
          <a:ln>
            <a:noFill/>
          </a:ln>
          <a:effectLst/>
          <a:gradFill>
            <a:gsLst>
              <a:gs pos="0">
                <a:srgbClr val="22D3EE">
                  <a:alpha val="85000"/>
                </a:srgbClr>
              </a:gs>
              <a:gs pos="100000">
                <a:srgbClr val="8B5CF6">
                  <a:alpha val="0"/>
                </a:srgbClr>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371600" y="2121408"/>
            <a:ext cx="502920" cy="502920"/>
          </a:xfrm>
          <a:prstGeom prst="rect">
            <a:avLst/>
          </a:prstGeom>
          <a:noFill/>
          <a:ln w="17780" cap="rnd">
            <a:solidFill>
              <a:srgbClr val="22D3EE">
                <a:alpha val="75000"/>
              </a:srgbClr>
            </a:solidFill>
          </a:ln>
          <a:effectLst>
            <a:glow rad="762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2798064"/>
            <a:ext cx="2103120" cy="219456"/>
          </a:xfrm>
          <a:prstGeom prst="rect">
            <a:avLst/>
          </a:prstGeom>
          <a:noFill/>
        </p:spPr>
        <p:txBody>
          <a:bodyPr wrap="square" anchor="t" lIns="0" rIns="0" tIns="0" bIns="0">
            <a:spAutoFit/>
          </a:bodyPr>
          <a:lstStyle/>
          <a:p>
            <a:pPr algn="ctr"/>
            <a:r>
              <a:rPr sz="800" b="1" i="0" spc="260">
                <a:solidFill>
                  <a:srgbClr val="5A6E8C"/>
                </a:solidFill>
                <a:latin typeface="Segoe UI"/>
              </a:rPr>
              <a:t>LAYER 01</a:t>
            </a:r>
          </a:p>
        </p:txBody>
      </p:sp>
      <p:sp>
        <p:nvSpPr>
          <p:cNvPr id="14" name="TextBox 13"/>
          <p:cNvSpPr txBox="1"/>
          <p:nvPr/>
        </p:nvSpPr>
        <p:spPr>
          <a:xfrm>
            <a:off x="566928" y="3017520"/>
            <a:ext cx="2103120" cy="310896"/>
          </a:xfrm>
          <a:prstGeom prst="rect">
            <a:avLst/>
          </a:prstGeom>
          <a:noFill/>
        </p:spPr>
        <p:txBody>
          <a:bodyPr wrap="square" anchor="t" lIns="0" rIns="0" tIns="0" bIns="0">
            <a:spAutoFit/>
          </a:bodyPr>
          <a:lstStyle/>
          <a:p>
            <a:pPr algn="ctr"/>
            <a:r>
              <a:rPr sz="1650" b="1" i="0">
                <a:solidFill>
                  <a:srgbClr val="F1F5F9"/>
                </a:solidFill>
                <a:latin typeface="Segoe UI"/>
              </a:rPr>
              <a:t>Frontend</a:t>
            </a:r>
          </a:p>
        </p:txBody>
      </p:sp>
      <p:cxnSp>
        <p:nvCxnSpPr>
          <p:cNvPr id="15" name="Connector 14"/>
          <p:cNvCxnSpPr/>
          <p:nvPr/>
        </p:nvCxnSpPr>
        <p:spPr>
          <a:xfrm>
            <a:off x="1069848" y="3474720"/>
            <a:ext cx="1097280" cy="0"/>
          </a:xfrm>
          <a:prstGeom prst="line">
            <a:avLst/>
          </a:prstGeom>
          <a:ln w="12700" cap="rnd">
            <a:solidFill>
              <a:srgbClr val="22D3EE">
                <a:alpha val="45000"/>
              </a:srgbClr>
            </a:solidFill>
          </a:ln>
          <a:effectLst/>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797814" y="3701034"/>
            <a:ext cx="50292" cy="50292"/>
          </a:xfrm>
          <a:prstGeom prst="ellipse">
            <a:avLst/>
          </a:prstGeom>
          <a:ln>
            <a:noFill/>
          </a:ln>
          <a:effectLst/>
          <a:solidFill>
            <a:srgbClr val="22D3EE">
              <a:alpha val="8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621024"/>
            <a:ext cx="1691640" cy="384048"/>
          </a:xfrm>
          <a:prstGeom prst="rect">
            <a:avLst/>
          </a:prstGeom>
          <a:noFill/>
        </p:spPr>
        <p:txBody>
          <a:bodyPr wrap="square" anchor="t" lIns="0" rIns="0" tIns="0" bIns="0">
            <a:spAutoFit/>
          </a:bodyPr>
          <a:lstStyle/>
          <a:p>
            <a:pPr algn="l"/>
            <a:r>
              <a:rPr sz="900" b="0" i="0">
                <a:solidFill>
                  <a:srgbClr val="B9C7DE"/>
                </a:solidFill>
                <a:latin typeface="Segoe UI"/>
              </a:rPr>
              <a:t>React + glassmorphic UI</a:t>
            </a:r>
          </a:p>
        </p:txBody>
      </p:sp>
      <p:sp>
        <p:nvSpPr>
          <p:cNvPr id="18" name="Oval 17"/>
          <p:cNvSpPr/>
          <p:nvPr/>
        </p:nvSpPr>
        <p:spPr>
          <a:xfrm>
            <a:off x="797814" y="4139946"/>
            <a:ext cx="50292" cy="50292"/>
          </a:xfrm>
          <a:prstGeom prst="ellipse">
            <a:avLst/>
          </a:prstGeom>
          <a:ln>
            <a:noFill/>
          </a:ln>
          <a:effectLst/>
          <a:solidFill>
            <a:srgbClr val="22D3EE">
              <a:alpha val="8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9264" y="4059935"/>
            <a:ext cx="1691640" cy="384048"/>
          </a:xfrm>
          <a:prstGeom prst="rect">
            <a:avLst/>
          </a:prstGeom>
          <a:noFill/>
        </p:spPr>
        <p:txBody>
          <a:bodyPr wrap="square" anchor="t" lIns="0" rIns="0" tIns="0" bIns="0">
            <a:spAutoFit/>
          </a:bodyPr>
          <a:lstStyle/>
          <a:p>
            <a:pPr algn="l"/>
            <a:r>
              <a:rPr sz="900" b="0" i="0">
                <a:solidFill>
                  <a:srgbClr val="B9C7DE"/>
                </a:solidFill>
                <a:latin typeface="Segoe UI"/>
              </a:rPr>
              <a:t>Mapbox GL / GIS canvas</a:t>
            </a:r>
          </a:p>
        </p:txBody>
      </p:sp>
      <p:sp>
        <p:nvSpPr>
          <p:cNvPr id="20" name="Oval 19"/>
          <p:cNvSpPr/>
          <p:nvPr/>
        </p:nvSpPr>
        <p:spPr>
          <a:xfrm>
            <a:off x="797814" y="4578858"/>
            <a:ext cx="50292" cy="50292"/>
          </a:xfrm>
          <a:prstGeom prst="ellipse">
            <a:avLst/>
          </a:prstGeom>
          <a:ln>
            <a:noFill/>
          </a:ln>
          <a:effectLst/>
          <a:solidFill>
            <a:srgbClr val="22D3EE">
              <a:alpha val="8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9264" y="4498848"/>
            <a:ext cx="1691640" cy="384048"/>
          </a:xfrm>
          <a:prstGeom prst="rect">
            <a:avLst/>
          </a:prstGeom>
          <a:noFill/>
        </p:spPr>
        <p:txBody>
          <a:bodyPr wrap="square" anchor="t" lIns="0" rIns="0" tIns="0" bIns="0">
            <a:spAutoFit/>
          </a:bodyPr>
          <a:lstStyle/>
          <a:p>
            <a:pPr algn="l"/>
            <a:r>
              <a:rPr sz="900" b="0" i="0">
                <a:solidFill>
                  <a:srgbClr val="B9C7DE"/>
                </a:solidFill>
                <a:latin typeface="Segoe UI"/>
              </a:rPr>
              <a:t>WebGL 3D twin view</a:t>
            </a:r>
          </a:p>
        </p:txBody>
      </p:sp>
      <p:sp>
        <p:nvSpPr>
          <p:cNvPr id="22" name="stack1"/>
          <p:cNvSpPr/>
          <p:nvPr/>
        </p:nvSpPr>
        <p:spPr>
          <a:xfrm>
            <a:off x="2802636" y="1847088"/>
            <a:ext cx="2103120" cy="3246120"/>
          </a:xfrm>
          <a:prstGeom prst="roundRect">
            <a:avLst>
              <a:gd name="adj" fmla="val 9000"/>
            </a:avLst>
          </a:prstGeom>
          <a:ln w="12700" cap="rnd">
            <a:solidFill>
              <a:srgbClr val="22D3EE">
                <a:alpha val="30000"/>
              </a:srgbClr>
            </a:solidFill>
          </a:ln>
          <a:effectLst/>
          <a:solidFill>
            <a:srgbClr val="0D1B33">
              <a:alpha val="5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912364" y="1847088"/>
            <a:ext cx="1883664" cy="50292"/>
          </a:xfrm>
          <a:prstGeom prst="rect">
            <a:avLst/>
          </a:prstGeom>
          <a:ln>
            <a:noFill/>
          </a:ln>
          <a:effectLst/>
          <a:gradFill>
            <a:gsLst>
              <a:gs pos="0">
                <a:srgbClr val="22D3EE">
                  <a:alpha val="85000"/>
                </a:srgbClr>
              </a:gs>
              <a:gs pos="100000">
                <a:srgbClr val="8B5CF6">
                  <a:alpha val="0"/>
                </a:srgbClr>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3607308" y="2121408"/>
            <a:ext cx="502920" cy="502920"/>
          </a:xfrm>
          <a:prstGeom prst="roundRect">
            <a:avLst/>
          </a:prstGeom>
          <a:noFill/>
          <a:ln w="17780" cap="rnd">
            <a:solidFill>
              <a:srgbClr val="22D3EE">
                <a:alpha val="75000"/>
              </a:srgbClr>
            </a:solidFill>
          </a:ln>
          <a:effectLst>
            <a:glow rad="762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802636" y="2798064"/>
            <a:ext cx="2103120" cy="219456"/>
          </a:xfrm>
          <a:prstGeom prst="rect">
            <a:avLst/>
          </a:prstGeom>
          <a:noFill/>
        </p:spPr>
        <p:txBody>
          <a:bodyPr wrap="square" anchor="t" lIns="0" rIns="0" tIns="0" bIns="0">
            <a:spAutoFit/>
          </a:bodyPr>
          <a:lstStyle/>
          <a:p>
            <a:pPr algn="ctr"/>
            <a:r>
              <a:rPr sz="800" b="1" i="0" spc="260">
                <a:solidFill>
                  <a:srgbClr val="5A6E8C"/>
                </a:solidFill>
                <a:latin typeface="Segoe UI"/>
              </a:rPr>
              <a:t>LAYER 02</a:t>
            </a:r>
          </a:p>
        </p:txBody>
      </p:sp>
      <p:sp>
        <p:nvSpPr>
          <p:cNvPr id="26" name="TextBox 25"/>
          <p:cNvSpPr txBox="1"/>
          <p:nvPr/>
        </p:nvSpPr>
        <p:spPr>
          <a:xfrm>
            <a:off x="2802636" y="3017520"/>
            <a:ext cx="2103120" cy="310896"/>
          </a:xfrm>
          <a:prstGeom prst="rect">
            <a:avLst/>
          </a:prstGeom>
          <a:noFill/>
        </p:spPr>
        <p:txBody>
          <a:bodyPr wrap="square" anchor="t" lIns="0" rIns="0" tIns="0" bIns="0">
            <a:spAutoFit/>
          </a:bodyPr>
          <a:lstStyle/>
          <a:p>
            <a:pPr algn="ctr"/>
            <a:r>
              <a:rPr sz="1650" b="1" i="0">
                <a:solidFill>
                  <a:srgbClr val="F1F5F9"/>
                </a:solidFill>
                <a:latin typeface="Segoe UI"/>
              </a:rPr>
              <a:t>Backend</a:t>
            </a:r>
          </a:p>
        </p:txBody>
      </p:sp>
      <p:cxnSp>
        <p:nvCxnSpPr>
          <p:cNvPr id="27" name="Connector 26"/>
          <p:cNvCxnSpPr/>
          <p:nvPr/>
        </p:nvCxnSpPr>
        <p:spPr>
          <a:xfrm>
            <a:off x="3305556" y="3474720"/>
            <a:ext cx="1097280" cy="0"/>
          </a:xfrm>
          <a:prstGeom prst="line">
            <a:avLst/>
          </a:prstGeom>
          <a:ln w="12700" cap="rnd">
            <a:solidFill>
              <a:srgbClr val="22D3EE">
                <a:alpha val="45000"/>
              </a:srgbClr>
            </a:solidFill>
          </a:ln>
          <a:effectLst/>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3033522" y="3701034"/>
            <a:ext cx="50292" cy="50292"/>
          </a:xfrm>
          <a:prstGeom prst="ellipse">
            <a:avLst/>
          </a:prstGeom>
          <a:ln>
            <a:noFill/>
          </a:ln>
          <a:effectLst/>
          <a:solidFill>
            <a:srgbClr val="22D3EE">
              <a:alpha val="8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04972" y="3621024"/>
            <a:ext cx="1691640" cy="384048"/>
          </a:xfrm>
          <a:prstGeom prst="rect">
            <a:avLst/>
          </a:prstGeom>
          <a:noFill/>
        </p:spPr>
        <p:txBody>
          <a:bodyPr wrap="square" anchor="t" lIns="0" rIns="0" tIns="0" bIns="0">
            <a:spAutoFit/>
          </a:bodyPr>
          <a:lstStyle/>
          <a:p>
            <a:pPr algn="l"/>
            <a:r>
              <a:rPr sz="900" b="0" i="0">
                <a:solidFill>
                  <a:srgbClr val="B9C7DE"/>
                </a:solidFill>
                <a:latin typeface="Segoe UI"/>
              </a:rPr>
              <a:t>Node.js · Python services</a:t>
            </a:r>
          </a:p>
        </p:txBody>
      </p:sp>
      <p:sp>
        <p:nvSpPr>
          <p:cNvPr id="30" name="Oval 29"/>
          <p:cNvSpPr/>
          <p:nvPr/>
        </p:nvSpPr>
        <p:spPr>
          <a:xfrm>
            <a:off x="3033522" y="4139946"/>
            <a:ext cx="50292" cy="50292"/>
          </a:xfrm>
          <a:prstGeom prst="ellipse">
            <a:avLst/>
          </a:prstGeom>
          <a:ln>
            <a:noFill/>
          </a:ln>
          <a:effectLst/>
          <a:solidFill>
            <a:srgbClr val="22D3EE">
              <a:alpha val="8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04972" y="4059935"/>
            <a:ext cx="1691640" cy="384048"/>
          </a:xfrm>
          <a:prstGeom prst="rect">
            <a:avLst/>
          </a:prstGeom>
          <a:noFill/>
        </p:spPr>
        <p:txBody>
          <a:bodyPr wrap="square" anchor="t" lIns="0" rIns="0" tIns="0" bIns="0">
            <a:spAutoFit/>
          </a:bodyPr>
          <a:lstStyle/>
          <a:p>
            <a:pPr algn="l"/>
            <a:r>
              <a:rPr sz="900" b="0" i="0">
                <a:solidFill>
                  <a:srgbClr val="B9C7DE"/>
                </a:solidFill>
                <a:latin typeface="Segoe UI"/>
              </a:rPr>
              <a:t>REST + WebSocket APIs</a:t>
            </a:r>
          </a:p>
        </p:txBody>
      </p:sp>
      <p:sp>
        <p:nvSpPr>
          <p:cNvPr id="32" name="Oval 31"/>
          <p:cNvSpPr/>
          <p:nvPr/>
        </p:nvSpPr>
        <p:spPr>
          <a:xfrm>
            <a:off x="3033522" y="4578858"/>
            <a:ext cx="50292" cy="50292"/>
          </a:xfrm>
          <a:prstGeom prst="ellipse">
            <a:avLst/>
          </a:prstGeom>
          <a:ln>
            <a:noFill/>
          </a:ln>
          <a:effectLst/>
          <a:solidFill>
            <a:srgbClr val="22D3EE">
              <a:alpha val="8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204972" y="4498848"/>
            <a:ext cx="1691640" cy="384048"/>
          </a:xfrm>
          <a:prstGeom prst="rect">
            <a:avLst/>
          </a:prstGeom>
          <a:noFill/>
        </p:spPr>
        <p:txBody>
          <a:bodyPr wrap="square" anchor="t" lIns="0" rIns="0" tIns="0" bIns="0">
            <a:spAutoFit/>
          </a:bodyPr>
          <a:lstStyle/>
          <a:p>
            <a:pPr algn="l"/>
            <a:r>
              <a:rPr sz="900" b="0" i="0">
                <a:solidFill>
                  <a:srgbClr val="B9C7DE"/>
                </a:solidFill>
                <a:latin typeface="Segoe UI"/>
              </a:rPr>
              <a:t>Stream ingestion</a:t>
            </a:r>
          </a:p>
        </p:txBody>
      </p:sp>
      <p:sp>
        <p:nvSpPr>
          <p:cNvPr id="34" name="stack2"/>
          <p:cNvSpPr/>
          <p:nvPr/>
        </p:nvSpPr>
        <p:spPr>
          <a:xfrm>
            <a:off x="5038344" y="1847088"/>
            <a:ext cx="2103120" cy="3246120"/>
          </a:xfrm>
          <a:prstGeom prst="roundRect">
            <a:avLst>
              <a:gd name="adj" fmla="val 9000"/>
            </a:avLst>
          </a:prstGeom>
          <a:ln w="12700" cap="rnd">
            <a:solidFill>
              <a:srgbClr val="22D3EE">
                <a:alpha val="30000"/>
              </a:srgbClr>
            </a:solidFill>
          </a:ln>
          <a:effectLst/>
          <a:solidFill>
            <a:srgbClr val="0D1B33">
              <a:alpha val="5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148072" y="1847088"/>
            <a:ext cx="1883664" cy="50292"/>
          </a:xfrm>
          <a:prstGeom prst="rect">
            <a:avLst/>
          </a:prstGeom>
          <a:ln>
            <a:noFill/>
          </a:ln>
          <a:effectLst/>
          <a:gradFill>
            <a:gsLst>
              <a:gs pos="0">
                <a:srgbClr val="22D3EE">
                  <a:alpha val="85000"/>
                </a:srgbClr>
              </a:gs>
              <a:gs pos="100000">
                <a:srgbClr val="8B5CF6">
                  <a:alpha val="0"/>
                </a:srgbClr>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4-Point Star 35"/>
          <p:cNvSpPr/>
          <p:nvPr/>
        </p:nvSpPr>
        <p:spPr>
          <a:xfrm>
            <a:off x="5843016" y="2121408"/>
            <a:ext cx="502920" cy="502920"/>
          </a:xfrm>
          <a:prstGeom prst="star4">
            <a:avLst/>
          </a:prstGeom>
          <a:noFill/>
          <a:ln w="17780" cap="rnd">
            <a:solidFill>
              <a:srgbClr val="22D3EE">
                <a:alpha val="75000"/>
              </a:srgbClr>
            </a:solidFill>
          </a:ln>
          <a:effectLst>
            <a:glow rad="762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38344" y="2798064"/>
            <a:ext cx="2103120" cy="219456"/>
          </a:xfrm>
          <a:prstGeom prst="rect">
            <a:avLst/>
          </a:prstGeom>
          <a:noFill/>
        </p:spPr>
        <p:txBody>
          <a:bodyPr wrap="square" anchor="t" lIns="0" rIns="0" tIns="0" bIns="0">
            <a:spAutoFit/>
          </a:bodyPr>
          <a:lstStyle/>
          <a:p>
            <a:pPr algn="ctr"/>
            <a:r>
              <a:rPr sz="800" b="1" i="0" spc="260">
                <a:solidFill>
                  <a:srgbClr val="5A6E8C"/>
                </a:solidFill>
                <a:latin typeface="Segoe UI"/>
              </a:rPr>
              <a:t>LAYER 03</a:t>
            </a:r>
          </a:p>
        </p:txBody>
      </p:sp>
      <p:sp>
        <p:nvSpPr>
          <p:cNvPr id="38" name="TextBox 37"/>
          <p:cNvSpPr txBox="1"/>
          <p:nvPr/>
        </p:nvSpPr>
        <p:spPr>
          <a:xfrm>
            <a:off x="5038344" y="3017520"/>
            <a:ext cx="2103120" cy="310896"/>
          </a:xfrm>
          <a:prstGeom prst="rect">
            <a:avLst/>
          </a:prstGeom>
          <a:noFill/>
        </p:spPr>
        <p:txBody>
          <a:bodyPr wrap="square" anchor="t" lIns="0" rIns="0" tIns="0" bIns="0">
            <a:spAutoFit/>
          </a:bodyPr>
          <a:lstStyle/>
          <a:p>
            <a:pPr algn="ctr"/>
            <a:r>
              <a:rPr sz="1650" b="1" i="0">
                <a:solidFill>
                  <a:srgbClr val="F1F5F9"/>
                </a:solidFill>
                <a:latin typeface="Segoe UI"/>
              </a:rPr>
              <a:t>AI Engine</a:t>
            </a:r>
          </a:p>
        </p:txBody>
      </p:sp>
      <p:cxnSp>
        <p:nvCxnSpPr>
          <p:cNvPr id="39" name="Connector 38"/>
          <p:cNvCxnSpPr/>
          <p:nvPr/>
        </p:nvCxnSpPr>
        <p:spPr>
          <a:xfrm>
            <a:off x="5541264" y="3474720"/>
            <a:ext cx="1097280" cy="0"/>
          </a:xfrm>
          <a:prstGeom prst="line">
            <a:avLst/>
          </a:prstGeom>
          <a:ln w="12700" cap="rnd">
            <a:solidFill>
              <a:srgbClr val="22D3EE">
                <a:alpha val="45000"/>
              </a:srgbClr>
            </a:solidFill>
          </a:ln>
          <a:effectLst/>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5269230" y="3701034"/>
            <a:ext cx="50292" cy="50292"/>
          </a:xfrm>
          <a:prstGeom prst="ellipse">
            <a:avLst/>
          </a:prstGeom>
          <a:ln>
            <a:noFill/>
          </a:ln>
          <a:effectLst/>
          <a:solidFill>
            <a:srgbClr val="22D3EE">
              <a:alpha val="8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40680" y="3621024"/>
            <a:ext cx="1691640" cy="384048"/>
          </a:xfrm>
          <a:prstGeom prst="rect">
            <a:avLst/>
          </a:prstGeom>
          <a:noFill/>
        </p:spPr>
        <p:txBody>
          <a:bodyPr wrap="square" anchor="t" lIns="0" rIns="0" tIns="0" bIns="0">
            <a:spAutoFit/>
          </a:bodyPr>
          <a:lstStyle/>
          <a:p>
            <a:pPr algn="l"/>
            <a:r>
              <a:rPr sz="900" b="0" i="0">
                <a:solidFill>
                  <a:srgbClr val="B9C7DE"/>
                </a:solidFill>
                <a:latin typeface="Segoe UI"/>
              </a:rPr>
              <a:t>Forecasting ML (LSTM)</a:t>
            </a:r>
          </a:p>
        </p:txBody>
      </p:sp>
      <p:sp>
        <p:nvSpPr>
          <p:cNvPr id="42" name="Oval 41"/>
          <p:cNvSpPr/>
          <p:nvPr/>
        </p:nvSpPr>
        <p:spPr>
          <a:xfrm>
            <a:off x="5269230" y="4139946"/>
            <a:ext cx="50292" cy="50292"/>
          </a:xfrm>
          <a:prstGeom prst="ellipse">
            <a:avLst/>
          </a:prstGeom>
          <a:ln>
            <a:noFill/>
          </a:ln>
          <a:effectLst/>
          <a:solidFill>
            <a:srgbClr val="22D3EE">
              <a:alpha val="8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40680" y="4059935"/>
            <a:ext cx="1691640" cy="384048"/>
          </a:xfrm>
          <a:prstGeom prst="rect">
            <a:avLst/>
          </a:prstGeom>
          <a:noFill/>
        </p:spPr>
        <p:txBody>
          <a:bodyPr wrap="square" anchor="t" lIns="0" rIns="0" tIns="0" bIns="0">
            <a:spAutoFit/>
          </a:bodyPr>
          <a:lstStyle/>
          <a:p>
            <a:pPr algn="l"/>
            <a:r>
              <a:rPr sz="900" b="0" i="0">
                <a:solidFill>
                  <a:srgbClr val="B9C7DE"/>
                </a:solidFill>
                <a:latin typeface="Segoe UI"/>
              </a:rPr>
              <a:t>Anomaly detection</a:t>
            </a:r>
          </a:p>
        </p:txBody>
      </p:sp>
      <p:sp>
        <p:nvSpPr>
          <p:cNvPr id="44" name="Oval 43"/>
          <p:cNvSpPr/>
          <p:nvPr/>
        </p:nvSpPr>
        <p:spPr>
          <a:xfrm>
            <a:off x="5269230" y="4578858"/>
            <a:ext cx="50292" cy="50292"/>
          </a:xfrm>
          <a:prstGeom prst="ellipse">
            <a:avLst/>
          </a:prstGeom>
          <a:ln>
            <a:noFill/>
          </a:ln>
          <a:effectLst/>
          <a:solidFill>
            <a:srgbClr val="22D3EE">
              <a:alpha val="8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440680" y="4498848"/>
            <a:ext cx="1691640" cy="384048"/>
          </a:xfrm>
          <a:prstGeom prst="rect">
            <a:avLst/>
          </a:prstGeom>
          <a:noFill/>
        </p:spPr>
        <p:txBody>
          <a:bodyPr wrap="square" anchor="t" lIns="0" rIns="0" tIns="0" bIns="0">
            <a:spAutoFit/>
          </a:bodyPr>
          <a:lstStyle/>
          <a:p>
            <a:pPr algn="l"/>
            <a:r>
              <a:rPr sz="900" b="0" i="0">
                <a:solidFill>
                  <a:srgbClr val="B9C7DE"/>
                </a:solidFill>
                <a:latin typeface="Segoe UI"/>
              </a:rPr>
              <a:t>Traffic vision models</a:t>
            </a:r>
          </a:p>
        </p:txBody>
      </p:sp>
      <p:sp>
        <p:nvSpPr>
          <p:cNvPr id="46" name="stack3"/>
          <p:cNvSpPr/>
          <p:nvPr/>
        </p:nvSpPr>
        <p:spPr>
          <a:xfrm>
            <a:off x="7274051" y="1847088"/>
            <a:ext cx="2103120" cy="3246120"/>
          </a:xfrm>
          <a:prstGeom prst="roundRect">
            <a:avLst>
              <a:gd name="adj" fmla="val 9000"/>
            </a:avLst>
          </a:prstGeom>
          <a:ln w="12700" cap="rnd">
            <a:solidFill>
              <a:srgbClr val="22D3EE">
                <a:alpha val="30000"/>
              </a:srgbClr>
            </a:solidFill>
          </a:ln>
          <a:effectLst/>
          <a:solidFill>
            <a:srgbClr val="0D1B33">
              <a:alpha val="5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383779" y="1847088"/>
            <a:ext cx="1883664" cy="50292"/>
          </a:xfrm>
          <a:prstGeom prst="rect">
            <a:avLst/>
          </a:prstGeom>
          <a:ln>
            <a:noFill/>
          </a:ln>
          <a:effectLst/>
          <a:gradFill>
            <a:gsLst>
              <a:gs pos="0">
                <a:srgbClr val="22D3EE">
                  <a:alpha val="85000"/>
                </a:srgbClr>
              </a:gs>
              <a:gs pos="100000">
                <a:srgbClr val="8B5CF6">
                  <a:alpha val="0"/>
                </a:srgbClr>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an 47"/>
          <p:cNvSpPr/>
          <p:nvPr/>
        </p:nvSpPr>
        <p:spPr>
          <a:xfrm>
            <a:off x="8078723" y="2121408"/>
            <a:ext cx="502920" cy="502920"/>
          </a:xfrm>
          <a:prstGeom prst="can">
            <a:avLst/>
          </a:prstGeom>
          <a:noFill/>
          <a:ln w="17780" cap="rnd">
            <a:solidFill>
              <a:srgbClr val="22D3EE">
                <a:alpha val="75000"/>
              </a:srgbClr>
            </a:solidFill>
          </a:ln>
          <a:effectLst>
            <a:glow rad="762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274051" y="2798064"/>
            <a:ext cx="2103120" cy="219456"/>
          </a:xfrm>
          <a:prstGeom prst="rect">
            <a:avLst/>
          </a:prstGeom>
          <a:noFill/>
        </p:spPr>
        <p:txBody>
          <a:bodyPr wrap="square" anchor="t" lIns="0" rIns="0" tIns="0" bIns="0">
            <a:spAutoFit/>
          </a:bodyPr>
          <a:lstStyle/>
          <a:p>
            <a:pPr algn="ctr"/>
            <a:r>
              <a:rPr sz="800" b="1" i="0" spc="260">
                <a:solidFill>
                  <a:srgbClr val="5A6E8C"/>
                </a:solidFill>
                <a:latin typeface="Segoe UI"/>
              </a:rPr>
              <a:t>LAYER 04</a:t>
            </a:r>
          </a:p>
        </p:txBody>
      </p:sp>
      <p:sp>
        <p:nvSpPr>
          <p:cNvPr id="50" name="TextBox 49"/>
          <p:cNvSpPr txBox="1"/>
          <p:nvPr/>
        </p:nvSpPr>
        <p:spPr>
          <a:xfrm>
            <a:off x="7274051" y="3017520"/>
            <a:ext cx="2103120" cy="310896"/>
          </a:xfrm>
          <a:prstGeom prst="rect">
            <a:avLst/>
          </a:prstGeom>
          <a:noFill/>
        </p:spPr>
        <p:txBody>
          <a:bodyPr wrap="square" anchor="t" lIns="0" rIns="0" tIns="0" bIns="0">
            <a:spAutoFit/>
          </a:bodyPr>
          <a:lstStyle/>
          <a:p>
            <a:pPr algn="ctr"/>
            <a:r>
              <a:rPr sz="1650" b="1" i="0">
                <a:solidFill>
                  <a:srgbClr val="F1F5F9"/>
                </a:solidFill>
                <a:latin typeface="Segoe UI"/>
              </a:rPr>
              <a:t>Data</a:t>
            </a:r>
          </a:p>
        </p:txBody>
      </p:sp>
      <p:cxnSp>
        <p:nvCxnSpPr>
          <p:cNvPr id="51" name="Connector 50"/>
          <p:cNvCxnSpPr/>
          <p:nvPr/>
        </p:nvCxnSpPr>
        <p:spPr>
          <a:xfrm>
            <a:off x="7776971" y="3474720"/>
            <a:ext cx="1097280" cy="0"/>
          </a:xfrm>
          <a:prstGeom prst="line">
            <a:avLst/>
          </a:prstGeom>
          <a:ln w="12700" cap="rnd">
            <a:solidFill>
              <a:srgbClr val="22D3EE">
                <a:alpha val="45000"/>
              </a:srgbClr>
            </a:solidFill>
          </a:ln>
          <a:effectLst/>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7504938" y="3701034"/>
            <a:ext cx="50292" cy="50292"/>
          </a:xfrm>
          <a:prstGeom prst="ellipse">
            <a:avLst/>
          </a:prstGeom>
          <a:ln>
            <a:noFill/>
          </a:ln>
          <a:effectLst/>
          <a:solidFill>
            <a:srgbClr val="22D3EE">
              <a:alpha val="8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676388" y="3621024"/>
            <a:ext cx="1691640" cy="384048"/>
          </a:xfrm>
          <a:prstGeom prst="rect">
            <a:avLst/>
          </a:prstGeom>
          <a:noFill/>
        </p:spPr>
        <p:txBody>
          <a:bodyPr wrap="square" anchor="t" lIns="0" rIns="0" tIns="0" bIns="0">
            <a:spAutoFit/>
          </a:bodyPr>
          <a:lstStyle/>
          <a:p>
            <a:pPr algn="l"/>
            <a:r>
              <a:rPr sz="900" b="0" i="0">
                <a:solidFill>
                  <a:srgbClr val="B9C7DE"/>
                </a:solidFill>
                <a:latin typeface="Segoe UI"/>
              </a:rPr>
              <a:t>PostgreSQL + PostGIS</a:t>
            </a:r>
          </a:p>
        </p:txBody>
      </p:sp>
      <p:sp>
        <p:nvSpPr>
          <p:cNvPr id="54" name="Oval 53"/>
          <p:cNvSpPr/>
          <p:nvPr/>
        </p:nvSpPr>
        <p:spPr>
          <a:xfrm>
            <a:off x="7504938" y="4139946"/>
            <a:ext cx="50292" cy="50292"/>
          </a:xfrm>
          <a:prstGeom prst="ellipse">
            <a:avLst/>
          </a:prstGeom>
          <a:ln>
            <a:noFill/>
          </a:ln>
          <a:effectLst/>
          <a:solidFill>
            <a:srgbClr val="22D3EE">
              <a:alpha val="8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676388" y="4059935"/>
            <a:ext cx="1691640" cy="384048"/>
          </a:xfrm>
          <a:prstGeom prst="rect">
            <a:avLst/>
          </a:prstGeom>
          <a:noFill/>
        </p:spPr>
        <p:txBody>
          <a:bodyPr wrap="square" anchor="t" lIns="0" rIns="0" tIns="0" bIns="0">
            <a:spAutoFit/>
          </a:bodyPr>
          <a:lstStyle/>
          <a:p>
            <a:pPr algn="l"/>
            <a:r>
              <a:rPr sz="900" b="0" i="0">
                <a:solidFill>
                  <a:srgbClr val="B9C7DE"/>
                </a:solidFill>
                <a:latin typeface="Segoe UI"/>
              </a:rPr>
              <a:t>Time-series sensor store</a:t>
            </a:r>
          </a:p>
        </p:txBody>
      </p:sp>
      <p:sp>
        <p:nvSpPr>
          <p:cNvPr id="56" name="Oval 55"/>
          <p:cNvSpPr/>
          <p:nvPr/>
        </p:nvSpPr>
        <p:spPr>
          <a:xfrm>
            <a:off x="7504938" y="4578858"/>
            <a:ext cx="50292" cy="50292"/>
          </a:xfrm>
          <a:prstGeom prst="ellipse">
            <a:avLst/>
          </a:prstGeom>
          <a:ln>
            <a:noFill/>
          </a:ln>
          <a:effectLst/>
          <a:solidFill>
            <a:srgbClr val="22D3EE">
              <a:alpha val="8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676388" y="4498848"/>
            <a:ext cx="1691640" cy="384048"/>
          </a:xfrm>
          <a:prstGeom prst="rect">
            <a:avLst/>
          </a:prstGeom>
          <a:noFill/>
        </p:spPr>
        <p:txBody>
          <a:bodyPr wrap="square" anchor="t" lIns="0" rIns="0" tIns="0" bIns="0">
            <a:spAutoFit/>
          </a:bodyPr>
          <a:lstStyle/>
          <a:p>
            <a:pPr algn="l"/>
            <a:r>
              <a:rPr sz="900" b="0" i="0">
                <a:solidFill>
                  <a:srgbClr val="B9C7DE"/>
                </a:solidFill>
                <a:latin typeface="Segoe UI"/>
              </a:rPr>
              <a:t>GeoJSON pipelines</a:t>
            </a:r>
          </a:p>
        </p:txBody>
      </p:sp>
      <p:sp>
        <p:nvSpPr>
          <p:cNvPr id="58" name="stack4"/>
          <p:cNvSpPr/>
          <p:nvPr/>
        </p:nvSpPr>
        <p:spPr>
          <a:xfrm>
            <a:off x="9509759" y="1847088"/>
            <a:ext cx="2103120" cy="3246120"/>
          </a:xfrm>
          <a:prstGeom prst="roundRect">
            <a:avLst>
              <a:gd name="adj" fmla="val 9000"/>
            </a:avLst>
          </a:prstGeom>
          <a:ln w="12700" cap="rnd">
            <a:solidFill>
              <a:srgbClr val="22D3EE">
                <a:alpha val="30000"/>
              </a:srgbClr>
            </a:solidFill>
          </a:ln>
          <a:effectLst/>
          <a:solidFill>
            <a:srgbClr val="0D1B33">
              <a:alpha val="5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9619487" y="1847088"/>
            <a:ext cx="1883664" cy="50292"/>
          </a:xfrm>
          <a:prstGeom prst="rect">
            <a:avLst/>
          </a:prstGeom>
          <a:ln>
            <a:noFill/>
          </a:ln>
          <a:effectLst/>
          <a:gradFill>
            <a:gsLst>
              <a:gs pos="0">
                <a:srgbClr val="22D3EE">
                  <a:alpha val="85000"/>
                </a:srgbClr>
              </a:gs>
              <a:gs pos="100000">
                <a:srgbClr val="8B5CF6">
                  <a:alpha val="0"/>
                </a:srgbClr>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Cloud 59"/>
          <p:cNvSpPr/>
          <p:nvPr/>
        </p:nvSpPr>
        <p:spPr>
          <a:xfrm>
            <a:off x="10314432" y="2121408"/>
            <a:ext cx="502920" cy="502920"/>
          </a:xfrm>
          <a:prstGeom prst="cloud">
            <a:avLst/>
          </a:prstGeom>
          <a:noFill/>
          <a:ln w="17780" cap="rnd">
            <a:solidFill>
              <a:srgbClr val="22D3EE">
                <a:alpha val="75000"/>
              </a:srgbClr>
            </a:solidFill>
          </a:ln>
          <a:effectLst>
            <a:glow rad="762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509759" y="2798064"/>
            <a:ext cx="2103120" cy="219456"/>
          </a:xfrm>
          <a:prstGeom prst="rect">
            <a:avLst/>
          </a:prstGeom>
          <a:noFill/>
        </p:spPr>
        <p:txBody>
          <a:bodyPr wrap="square" anchor="t" lIns="0" rIns="0" tIns="0" bIns="0">
            <a:spAutoFit/>
          </a:bodyPr>
          <a:lstStyle/>
          <a:p>
            <a:pPr algn="ctr"/>
            <a:r>
              <a:rPr sz="800" b="1" i="0" spc="260">
                <a:solidFill>
                  <a:srgbClr val="5A6E8C"/>
                </a:solidFill>
                <a:latin typeface="Segoe UI"/>
              </a:rPr>
              <a:t>LAYER 05</a:t>
            </a:r>
          </a:p>
        </p:txBody>
      </p:sp>
      <p:sp>
        <p:nvSpPr>
          <p:cNvPr id="62" name="TextBox 61"/>
          <p:cNvSpPr txBox="1"/>
          <p:nvPr/>
        </p:nvSpPr>
        <p:spPr>
          <a:xfrm>
            <a:off x="9509759" y="3017520"/>
            <a:ext cx="2103120" cy="310896"/>
          </a:xfrm>
          <a:prstGeom prst="rect">
            <a:avLst/>
          </a:prstGeom>
          <a:noFill/>
        </p:spPr>
        <p:txBody>
          <a:bodyPr wrap="square" anchor="t" lIns="0" rIns="0" tIns="0" bIns="0">
            <a:spAutoFit/>
          </a:bodyPr>
          <a:lstStyle/>
          <a:p>
            <a:pPr algn="ctr"/>
            <a:r>
              <a:rPr sz="1650" b="1" i="0">
                <a:solidFill>
                  <a:srgbClr val="F1F5F9"/>
                </a:solidFill>
                <a:latin typeface="Segoe UI"/>
              </a:rPr>
              <a:t>Cloud</a:t>
            </a:r>
          </a:p>
        </p:txBody>
      </p:sp>
      <p:cxnSp>
        <p:nvCxnSpPr>
          <p:cNvPr id="63" name="Connector 62"/>
          <p:cNvCxnSpPr/>
          <p:nvPr/>
        </p:nvCxnSpPr>
        <p:spPr>
          <a:xfrm>
            <a:off x="10012680" y="3474720"/>
            <a:ext cx="1097279" cy="0"/>
          </a:xfrm>
          <a:prstGeom prst="line">
            <a:avLst/>
          </a:prstGeom>
          <a:ln w="12700" cap="rnd">
            <a:solidFill>
              <a:srgbClr val="22D3EE">
                <a:alpha val="45000"/>
              </a:srgbClr>
            </a:solidFill>
          </a:ln>
          <a:effectLst/>
        </p:spPr>
        <p:style>
          <a:lnRef idx="2">
            <a:schemeClr val="accent1"/>
          </a:lnRef>
          <a:fillRef idx="0">
            <a:schemeClr val="accent1"/>
          </a:fillRef>
          <a:effectRef idx="1">
            <a:schemeClr val="accent1"/>
          </a:effectRef>
          <a:fontRef idx="minor">
            <a:schemeClr val="tx1"/>
          </a:fontRef>
        </p:style>
      </p:cxnSp>
      <p:sp>
        <p:nvSpPr>
          <p:cNvPr id="64" name="Oval 63"/>
          <p:cNvSpPr/>
          <p:nvPr/>
        </p:nvSpPr>
        <p:spPr>
          <a:xfrm>
            <a:off x="9740645" y="3701034"/>
            <a:ext cx="50292" cy="50292"/>
          </a:xfrm>
          <a:prstGeom prst="ellipse">
            <a:avLst/>
          </a:prstGeom>
          <a:ln>
            <a:noFill/>
          </a:ln>
          <a:effectLst/>
          <a:solidFill>
            <a:srgbClr val="22D3EE">
              <a:alpha val="8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912095" y="3621024"/>
            <a:ext cx="1691640" cy="384048"/>
          </a:xfrm>
          <a:prstGeom prst="rect">
            <a:avLst/>
          </a:prstGeom>
          <a:noFill/>
        </p:spPr>
        <p:txBody>
          <a:bodyPr wrap="square" anchor="t" lIns="0" rIns="0" tIns="0" bIns="0">
            <a:spAutoFit/>
          </a:bodyPr>
          <a:lstStyle/>
          <a:p>
            <a:pPr algn="l"/>
            <a:r>
              <a:rPr sz="900" b="0" i="0">
                <a:solidFill>
                  <a:srgbClr val="B9C7DE"/>
                </a:solidFill>
                <a:latin typeface="Segoe UI"/>
              </a:rPr>
              <a:t>Containerized deploy</a:t>
            </a:r>
          </a:p>
        </p:txBody>
      </p:sp>
      <p:sp>
        <p:nvSpPr>
          <p:cNvPr id="66" name="Oval 65"/>
          <p:cNvSpPr/>
          <p:nvPr/>
        </p:nvSpPr>
        <p:spPr>
          <a:xfrm>
            <a:off x="9740645" y="4139946"/>
            <a:ext cx="50292" cy="50292"/>
          </a:xfrm>
          <a:prstGeom prst="ellipse">
            <a:avLst/>
          </a:prstGeom>
          <a:ln>
            <a:noFill/>
          </a:ln>
          <a:effectLst/>
          <a:solidFill>
            <a:srgbClr val="22D3EE">
              <a:alpha val="8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912095" y="4059935"/>
            <a:ext cx="1691640" cy="384048"/>
          </a:xfrm>
          <a:prstGeom prst="rect">
            <a:avLst/>
          </a:prstGeom>
          <a:noFill/>
        </p:spPr>
        <p:txBody>
          <a:bodyPr wrap="square" anchor="t" lIns="0" rIns="0" tIns="0" bIns="0">
            <a:spAutoFit/>
          </a:bodyPr>
          <a:lstStyle/>
          <a:p>
            <a:pPr algn="l"/>
            <a:r>
              <a:rPr sz="900" b="0" i="0">
                <a:solidFill>
                  <a:srgbClr val="B9C7DE"/>
                </a:solidFill>
                <a:latin typeface="Segoe UI"/>
              </a:rPr>
              <a:t>Autoscaling compute</a:t>
            </a:r>
          </a:p>
        </p:txBody>
      </p:sp>
      <p:sp>
        <p:nvSpPr>
          <p:cNvPr id="68" name="Oval 67"/>
          <p:cNvSpPr/>
          <p:nvPr/>
        </p:nvSpPr>
        <p:spPr>
          <a:xfrm>
            <a:off x="9740645" y="4578858"/>
            <a:ext cx="50292" cy="50292"/>
          </a:xfrm>
          <a:prstGeom prst="ellipse">
            <a:avLst/>
          </a:prstGeom>
          <a:ln>
            <a:noFill/>
          </a:ln>
          <a:effectLst/>
          <a:solidFill>
            <a:srgbClr val="22D3EE">
              <a:alpha val="8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912095" y="4498848"/>
            <a:ext cx="1691640" cy="384048"/>
          </a:xfrm>
          <a:prstGeom prst="rect">
            <a:avLst/>
          </a:prstGeom>
          <a:noFill/>
        </p:spPr>
        <p:txBody>
          <a:bodyPr wrap="square" anchor="t" lIns="0" rIns="0" tIns="0" bIns="0">
            <a:spAutoFit/>
          </a:bodyPr>
          <a:lstStyle/>
          <a:p>
            <a:pPr algn="l"/>
            <a:r>
              <a:rPr sz="900" b="0" i="0">
                <a:solidFill>
                  <a:srgbClr val="B9C7DE"/>
                </a:solidFill>
                <a:latin typeface="Segoe UI"/>
              </a:rPr>
              <a:t>Edge-ready nodes</a:t>
            </a:r>
          </a:p>
        </p:txBody>
      </p:sp>
      <p:sp>
        <p:nvSpPr>
          <p:cNvPr id="70" name="strip"/>
          <p:cNvSpPr/>
          <p:nvPr/>
        </p:nvSpPr>
        <p:spPr>
          <a:xfrm>
            <a:off x="566928" y="5358384"/>
            <a:ext cx="11045952" cy="804672"/>
          </a:xfrm>
          <a:prstGeom prst="roundRect">
            <a:avLst>
              <a:gd name="adj" fmla="val 12000"/>
            </a:avLst>
          </a:prstGeom>
          <a:ln w="12700" cap="rnd">
            <a:solidFill>
              <a:srgbClr val="22D3EE">
                <a:alpha val="24000"/>
              </a:srgbClr>
            </a:solidFill>
          </a:ln>
          <a:effectLst/>
          <a:solidFill>
            <a:srgbClr val="0D1B33">
              <a:alpha val="44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66928" y="5504688"/>
            <a:ext cx="3681983" cy="274320"/>
          </a:xfrm>
          <a:prstGeom prst="rect">
            <a:avLst/>
          </a:prstGeom>
          <a:noFill/>
        </p:spPr>
        <p:txBody>
          <a:bodyPr wrap="square" anchor="t" lIns="0" rIns="0" tIns="0" bIns="0">
            <a:spAutoFit/>
          </a:bodyPr>
          <a:lstStyle/>
          <a:p>
            <a:pPr algn="ctr"/>
            <a:r>
              <a:rPr sz="1300" b="1" i="0">
                <a:solidFill>
                  <a:srgbClr val="9FD8FF"/>
                </a:solidFill>
                <a:latin typeface="Segoe UI"/>
              </a:rPr>
              <a:t>Sub-second sync</a:t>
            </a:r>
          </a:p>
        </p:txBody>
      </p:sp>
      <p:sp>
        <p:nvSpPr>
          <p:cNvPr id="72" name="TextBox 71"/>
          <p:cNvSpPr txBox="1"/>
          <p:nvPr/>
        </p:nvSpPr>
        <p:spPr>
          <a:xfrm>
            <a:off x="566928" y="5779008"/>
            <a:ext cx="3681983" cy="237744"/>
          </a:xfrm>
          <a:prstGeom prst="rect">
            <a:avLst/>
          </a:prstGeom>
          <a:noFill/>
        </p:spPr>
        <p:txBody>
          <a:bodyPr wrap="square" anchor="t" lIns="0" rIns="0" tIns="0" bIns="0">
            <a:spAutoFit/>
          </a:bodyPr>
          <a:lstStyle/>
          <a:p>
            <a:pPr algn="ctr"/>
            <a:r>
              <a:rPr sz="900" b="0" i="0">
                <a:solidFill>
                  <a:srgbClr val="8EA3C0"/>
                </a:solidFill>
                <a:latin typeface="Segoe UI"/>
              </a:rPr>
              <a:t>twin never lags reality</a:t>
            </a:r>
          </a:p>
        </p:txBody>
      </p:sp>
      <p:cxnSp>
        <p:nvCxnSpPr>
          <p:cNvPr id="73" name="Connector 72"/>
          <p:cNvCxnSpPr/>
          <p:nvPr/>
        </p:nvCxnSpPr>
        <p:spPr>
          <a:xfrm>
            <a:off x="4248912" y="5541264"/>
            <a:ext cx="0" cy="475488"/>
          </a:xfrm>
          <a:prstGeom prst="line">
            <a:avLst/>
          </a:prstGeom>
          <a:ln w="9525" cap="rnd">
            <a:solidFill>
              <a:srgbClr val="1B2B4A">
                <a:alpha val="80000"/>
              </a:srgbClr>
            </a:solidFill>
          </a:ln>
          <a:effectLst/>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4248912" y="5504688"/>
            <a:ext cx="3681983" cy="274320"/>
          </a:xfrm>
          <a:prstGeom prst="rect">
            <a:avLst/>
          </a:prstGeom>
          <a:noFill/>
        </p:spPr>
        <p:txBody>
          <a:bodyPr wrap="square" anchor="t" lIns="0" rIns="0" tIns="0" bIns="0">
            <a:spAutoFit/>
          </a:bodyPr>
          <a:lstStyle/>
          <a:p>
            <a:pPr algn="ctr"/>
            <a:r>
              <a:rPr sz="1300" b="1" i="0">
                <a:solidFill>
                  <a:srgbClr val="9FD8FF"/>
                </a:solidFill>
                <a:latin typeface="Segoe UI"/>
              </a:rPr>
              <a:t>Modular by design</a:t>
            </a:r>
          </a:p>
        </p:txBody>
      </p:sp>
      <p:sp>
        <p:nvSpPr>
          <p:cNvPr id="75" name="TextBox 74"/>
          <p:cNvSpPr txBox="1"/>
          <p:nvPr/>
        </p:nvSpPr>
        <p:spPr>
          <a:xfrm>
            <a:off x="4248912" y="5779008"/>
            <a:ext cx="3681983" cy="237744"/>
          </a:xfrm>
          <a:prstGeom prst="rect">
            <a:avLst/>
          </a:prstGeom>
          <a:noFill/>
        </p:spPr>
        <p:txBody>
          <a:bodyPr wrap="square" anchor="t" lIns="0" rIns="0" tIns="0" bIns="0">
            <a:spAutoFit/>
          </a:bodyPr>
          <a:lstStyle/>
          <a:p>
            <a:pPr algn="ctr"/>
            <a:r>
              <a:rPr sz="900" b="0" i="0">
                <a:solidFill>
                  <a:srgbClr val="8EA3C0"/>
                </a:solidFill>
                <a:latin typeface="Segoe UI"/>
              </a:rPr>
              <a:t>every layer swappable</a:t>
            </a:r>
          </a:p>
        </p:txBody>
      </p:sp>
      <p:cxnSp>
        <p:nvCxnSpPr>
          <p:cNvPr id="76" name="Connector 75"/>
          <p:cNvCxnSpPr/>
          <p:nvPr/>
        </p:nvCxnSpPr>
        <p:spPr>
          <a:xfrm>
            <a:off x="7930895" y="5541264"/>
            <a:ext cx="0" cy="475488"/>
          </a:xfrm>
          <a:prstGeom prst="line">
            <a:avLst/>
          </a:prstGeom>
          <a:ln w="9525" cap="rnd">
            <a:solidFill>
              <a:srgbClr val="1B2B4A">
                <a:alpha val="80000"/>
              </a:srgbClr>
            </a:solidFill>
          </a:ln>
          <a:effectLst/>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7930895" y="5504688"/>
            <a:ext cx="3681983" cy="274320"/>
          </a:xfrm>
          <a:prstGeom prst="rect">
            <a:avLst/>
          </a:prstGeom>
          <a:noFill/>
        </p:spPr>
        <p:txBody>
          <a:bodyPr wrap="square" anchor="t" lIns="0" rIns="0" tIns="0" bIns="0">
            <a:spAutoFit/>
          </a:bodyPr>
          <a:lstStyle/>
          <a:p>
            <a:pPr algn="ctr"/>
            <a:r>
              <a:rPr sz="1300" b="1" i="0">
                <a:solidFill>
                  <a:srgbClr val="9FD8FF"/>
                </a:solidFill>
                <a:latin typeface="Segoe UI"/>
              </a:rPr>
              <a:t>Hackathon-proven</a:t>
            </a:r>
          </a:p>
        </p:txBody>
      </p:sp>
      <p:sp>
        <p:nvSpPr>
          <p:cNvPr id="78" name="TextBox 77"/>
          <p:cNvSpPr txBox="1"/>
          <p:nvPr/>
        </p:nvSpPr>
        <p:spPr>
          <a:xfrm>
            <a:off x="7930895" y="5779008"/>
            <a:ext cx="3681983" cy="237744"/>
          </a:xfrm>
          <a:prstGeom prst="rect">
            <a:avLst/>
          </a:prstGeom>
          <a:noFill/>
        </p:spPr>
        <p:txBody>
          <a:bodyPr wrap="square" anchor="t" lIns="0" rIns="0" tIns="0" bIns="0">
            <a:spAutoFit/>
          </a:bodyPr>
          <a:lstStyle/>
          <a:p>
            <a:pPr algn="ctr"/>
            <a:r>
              <a:rPr sz="900" b="0" i="0">
                <a:solidFill>
                  <a:srgbClr val="8EA3C0"/>
                </a:solidFill>
                <a:latin typeface="Segoe UI"/>
              </a:rPr>
              <a:t>prototype → city scale</a:t>
            </a:r>
          </a:p>
        </p:txBody>
      </p:sp>
    </p:spTree>
  </p:cSld>
  <p:clrMapOvr>
    <a:masterClrMapping/>
  </p:clrMapOvr>
  <mc:AlternateContent xmlns:mc="http://schemas.openxmlformats.org/markup-compatibility/2006">
    <mc:Choice xmlns:p14="http://schemas.microsoft.com/office/powerpoint/2010/main" Requires="p14">
      <p:transition spd="slow" p14:dur="1100">
        <p14:morph option="byObject"/>
      </p:transition>
    </mc:Choice>
    <mc:Fallback>
      <p:transition spd="slow" advClick="1">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fromBottom)">
                                      <p:cBhvr>
                                        <p:cTn id="7" dur="480"/>
                                        <p:tgtEl>
                                          <p:spTgt spid="10"/>
                                        </p:tgtEl>
                                      </p:cBhvr>
                                    </p:animEffect>
                                  </p:childTnLst>
                                </p:cTn>
                              </p:par>
                              <p:par>
                                <p:cTn id="11" presetID="22" presetClass="entr" presetSubtype="8" fill="hold" grpId="0" nodeType="afterEffect">
                                  <p:stCondLst>
                                    <p:cond delay="130"/>
                                  </p:stCondLst>
                                  <p:childTnLst>
                                    <p:set>
                                      <p:cBhvr>
                                        <p:cTn id="9" dur="1" fill="hold">
                                          <p:stCondLst>
                                            <p:cond delay="0"/>
                                          </p:stCondLst>
                                        </p:cTn>
                                        <p:tgtEl>
                                          <p:spTgt spid="22"/>
                                        </p:tgtEl>
                                        <p:attrNameLst>
                                          <p:attrName>style.visibility</p:attrName>
                                        </p:attrNameLst>
                                      </p:cBhvr>
                                      <p:to>
                                        <p:strVal val="visible"/>
                                      </p:to>
                                    </p:set>
                                    <p:animEffect transition="in" filter="wipe(fromBottom)">
                                      <p:cBhvr>
                                        <p:cTn id="10" dur="480"/>
                                        <p:tgtEl>
                                          <p:spTgt spid="22"/>
                                        </p:tgtEl>
                                      </p:cBhvr>
                                    </p:animEffect>
                                  </p:childTnLst>
                                </p:cTn>
                              </p:par>
                              <p:par>
                                <p:cTn id="14" presetID="22" presetClass="entr" presetSubtype="8" fill="hold" grpId="0" nodeType="afterEffect">
                                  <p:stCondLst>
                                    <p:cond delay="130"/>
                                  </p:stCondLst>
                                  <p:childTnLst>
                                    <p:set>
                                      <p:cBhvr>
                                        <p:cTn id="12" dur="1" fill="hold">
                                          <p:stCondLst>
                                            <p:cond delay="0"/>
                                          </p:stCondLst>
                                        </p:cTn>
                                        <p:tgtEl>
                                          <p:spTgt spid="34"/>
                                        </p:tgtEl>
                                        <p:attrNameLst>
                                          <p:attrName>style.visibility</p:attrName>
                                        </p:attrNameLst>
                                      </p:cBhvr>
                                      <p:to>
                                        <p:strVal val="visible"/>
                                      </p:to>
                                    </p:set>
                                    <p:animEffect transition="in" filter="wipe(fromBottom)">
                                      <p:cBhvr>
                                        <p:cTn id="13" dur="480"/>
                                        <p:tgtEl>
                                          <p:spTgt spid="34"/>
                                        </p:tgtEl>
                                      </p:cBhvr>
                                    </p:animEffect>
                                  </p:childTnLst>
                                </p:cTn>
                              </p:par>
                              <p:par>
                                <p:cTn id="17" presetID="22" presetClass="entr" presetSubtype="8" fill="hold" grpId="0" nodeType="afterEffect">
                                  <p:stCondLst>
                                    <p:cond delay="130"/>
                                  </p:stCondLst>
                                  <p:childTnLst>
                                    <p:set>
                                      <p:cBhvr>
                                        <p:cTn id="15" dur="1" fill="hold">
                                          <p:stCondLst>
                                            <p:cond delay="0"/>
                                          </p:stCondLst>
                                        </p:cTn>
                                        <p:tgtEl>
                                          <p:spTgt spid="46"/>
                                        </p:tgtEl>
                                        <p:attrNameLst>
                                          <p:attrName>style.visibility</p:attrName>
                                        </p:attrNameLst>
                                      </p:cBhvr>
                                      <p:to>
                                        <p:strVal val="visible"/>
                                      </p:to>
                                    </p:set>
                                    <p:animEffect transition="in" filter="wipe(fromBottom)">
                                      <p:cBhvr>
                                        <p:cTn id="16" dur="480"/>
                                        <p:tgtEl>
                                          <p:spTgt spid="46"/>
                                        </p:tgtEl>
                                      </p:cBhvr>
                                    </p:animEffect>
                                  </p:childTnLst>
                                </p:cTn>
                              </p:par>
                              <p:par>
                                <p:cTn id="20" presetID="22" presetClass="entr" presetSubtype="8" fill="hold" grpId="0" nodeType="afterEffect">
                                  <p:stCondLst>
                                    <p:cond delay="130"/>
                                  </p:stCondLst>
                                  <p:childTnLst>
                                    <p:set>
                                      <p:cBhvr>
                                        <p:cTn id="18" dur="1" fill="hold">
                                          <p:stCondLst>
                                            <p:cond delay="0"/>
                                          </p:stCondLst>
                                        </p:cTn>
                                        <p:tgtEl>
                                          <p:spTgt spid="58"/>
                                        </p:tgtEl>
                                        <p:attrNameLst>
                                          <p:attrName>style.visibility</p:attrName>
                                        </p:attrNameLst>
                                      </p:cBhvr>
                                      <p:to>
                                        <p:strVal val="visible"/>
                                      </p:to>
                                    </p:set>
                                    <p:animEffect transition="in" filter="wipe(fromBottom)">
                                      <p:cBhvr>
                                        <p:cTn id="19" dur="480"/>
                                        <p:tgtEl>
                                          <p:spTgt spid="58"/>
                                        </p:tgtEl>
                                      </p:cBhvr>
                                    </p:animEffect>
                                  </p:childTnLst>
                                </p:cTn>
                              </p:par>
                              <p:par>
                                <p:cTn id="23" presetID="10" presetClass="entr" presetSubtype="0" fill="hold" grpId="0" nodeType="afterEffect">
                                  <p:stCondLst>
                                    <p:cond delay="350"/>
                                  </p:stCondLst>
                                  <p:childTnLst>
                                    <p:set>
                                      <p:cBhvr>
                                        <p:cTn id="21" dur="1" fill="hold">
                                          <p:stCondLst>
                                            <p:cond delay="0"/>
                                          </p:stCondLst>
                                        </p:cTn>
                                        <p:tgtEl>
                                          <p:spTgt spid="70"/>
                                        </p:tgtEl>
                                        <p:attrNameLst>
                                          <p:attrName>style.visibility</p:attrName>
                                        </p:attrNameLst>
                                      </p:cBhvr>
                                      <p:to>
                                        <p:strVal val="visible"/>
                                      </p:to>
                                    </p:set>
                                    <p:animEffect transition="in" filter="fade">
                                      <p:cBhvr>
                                        <p:cTn id="22" dur="6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ln>
            <a:noFill/>
          </a:ln>
          <a:effectLst/>
          <a:solidFill>
            <a:srgbClr val="050A1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2011680"/>
            <a:ext cx="4754880" cy="4754880"/>
          </a:xfrm>
          <a:prstGeom prst="ellipse">
            <a:avLst/>
          </a:prstGeom>
          <a:gradFill>
            <a:gsLst>
              <a:gs pos="0">
                <a:srgbClr val="3B82F6">
                  <a:alpha val="20000"/>
                </a:srgbClr>
              </a:gs>
              <a:gs pos="65000">
                <a:srgbClr val="3B82F6">
                  <a:alpha val="6000"/>
                </a:srgbClr>
              </a:gs>
              <a:gs pos="100000">
                <a:srgbClr val="3B82F6">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463039" y="4480560"/>
            <a:ext cx="4206240" cy="4206240"/>
          </a:xfrm>
          <a:prstGeom prst="ellipse">
            <a:avLst/>
          </a:prstGeom>
          <a:gradFill>
            <a:gsLst>
              <a:gs pos="0">
                <a:srgbClr val="8B5CF6">
                  <a:alpha val="16000"/>
                </a:srgbClr>
              </a:gs>
              <a:gs pos="65000">
                <a:srgbClr val="8B5CF6">
                  <a:alpha val="5000"/>
                </a:srgbClr>
              </a:gs>
              <a:gs pos="100000">
                <a:srgbClr val="8B5CF6">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kbar"/>
          <p:cNvSpPr/>
          <p:nvPr/>
        </p:nvSpPr>
        <p:spPr>
          <a:xfrm>
            <a:off x="566928" y="603504"/>
            <a:ext cx="274320" cy="47548"/>
          </a:xfrm>
          <a:prstGeom prst="rect">
            <a:avLst/>
          </a:prstGeom>
          <a:ln>
            <a:noFill/>
          </a:ln>
          <a:solidFill>
            <a:srgbClr val="22D3EE"/>
          </a:solidFill>
          <a:effectLst>
            <a:glow rad="762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kicker"/>
          <p:cNvSpPr txBox="1"/>
          <p:nvPr/>
        </p:nvSpPr>
        <p:spPr>
          <a:xfrm>
            <a:off x="932688" y="489204"/>
            <a:ext cx="7772400" cy="292608"/>
          </a:xfrm>
          <a:prstGeom prst="rect">
            <a:avLst/>
          </a:prstGeom>
          <a:noFill/>
        </p:spPr>
        <p:txBody>
          <a:bodyPr wrap="square" anchor="t" lIns="0" rIns="0" tIns="0" bIns="0">
            <a:spAutoFit/>
          </a:bodyPr>
          <a:lstStyle/>
          <a:p>
            <a:pPr algn="l"/>
            <a:r>
              <a:rPr sz="1050" b="1" i="0" spc="320">
                <a:solidFill>
                  <a:srgbClr val="22D3EE"/>
                </a:solidFill>
                <a:latin typeface="Segoe UI"/>
              </a:rPr>
              <a:t>WHY IT MATTERS</a:t>
            </a:r>
          </a:p>
        </p:txBody>
      </p:sp>
      <p:sp>
        <p:nvSpPr>
          <p:cNvPr id="7" name="title"/>
          <p:cNvSpPr txBox="1"/>
          <p:nvPr/>
        </p:nvSpPr>
        <p:spPr>
          <a:xfrm>
            <a:off x="566928" y="868680"/>
            <a:ext cx="11064240" cy="658368"/>
          </a:xfrm>
          <a:prstGeom prst="rect">
            <a:avLst/>
          </a:prstGeom>
          <a:noFill/>
        </p:spPr>
        <p:txBody>
          <a:bodyPr wrap="square" anchor="t" lIns="0" rIns="0" tIns="0" bIns="0">
            <a:spAutoFit/>
          </a:bodyPr>
          <a:lstStyle/>
          <a:p>
            <a:pPr algn="l"/>
            <a:r>
              <a:rPr sz="3300" b="1" i="0">
                <a:solidFill>
                  <a:srgbClr val="F1F5F9"/>
                </a:solidFill>
                <a:latin typeface="Segoe UI"/>
              </a:rPr>
              <a:t>Better Cities. Better Lives.</a:t>
            </a:r>
          </a:p>
        </p:txBody>
      </p:sp>
      <p:sp>
        <p:nvSpPr>
          <p:cNvPr id="8" name="pageno"/>
          <p:cNvSpPr txBox="1"/>
          <p:nvPr/>
        </p:nvSpPr>
        <p:spPr>
          <a:xfrm>
            <a:off x="10835640" y="6519672"/>
            <a:ext cx="786384" cy="219456"/>
          </a:xfrm>
          <a:prstGeom prst="rect">
            <a:avLst/>
          </a:prstGeom>
          <a:noFill/>
        </p:spPr>
        <p:txBody>
          <a:bodyPr wrap="square" anchor="t" lIns="0" rIns="0" tIns="0" bIns="0">
            <a:spAutoFit/>
          </a:bodyPr>
          <a:lstStyle/>
          <a:p>
            <a:pPr algn="r"/>
            <a:r>
              <a:rPr sz="900" b="1" i="0">
                <a:solidFill>
                  <a:srgbClr val="8EA3C0"/>
                </a:solidFill>
                <a:latin typeface="Segoe UI"/>
              </a:rPr>
              <a:t>11</a:t>
            </a:r>
            <a:r>
              <a:rPr sz="900" b="0" i="0">
                <a:solidFill>
                  <a:srgbClr val="5A6E8C"/>
                </a:solidFill>
                <a:latin typeface="Segoe UI"/>
              </a:rPr>
              <a:t> / 12</a:t>
            </a:r>
          </a:p>
        </p:txBody>
      </p:sp>
      <p:sp>
        <p:nvSpPr>
          <p:cNvPr id="9" name="footer"/>
          <p:cNvSpPr txBox="1"/>
          <p:nvPr/>
        </p:nvSpPr>
        <p:spPr>
          <a:xfrm>
            <a:off x="566928" y="6519672"/>
            <a:ext cx="5486400" cy="219456"/>
          </a:xfrm>
          <a:prstGeom prst="rect">
            <a:avLst/>
          </a:prstGeom>
          <a:noFill/>
        </p:spPr>
        <p:txBody>
          <a:bodyPr wrap="square" anchor="t" lIns="0" rIns="0" tIns="0" bIns="0">
            <a:spAutoFit/>
          </a:bodyPr>
          <a:lstStyle/>
          <a:p>
            <a:pPr algn="l"/>
            <a:r>
              <a:rPr sz="800" b="1" i="0" spc="260">
                <a:solidFill>
                  <a:srgbClr val="5A6E8C"/>
                </a:solidFill>
                <a:latin typeface="Segoe UI"/>
              </a:rPr>
              <a:t>CITYVERSE AI</a:t>
            </a:r>
            <a:r>
              <a:rPr sz="800" b="0" i="0" spc="180">
                <a:solidFill>
                  <a:srgbClr val="5A6E8C"/>
                </a:solidFill>
                <a:latin typeface="Segoe UI"/>
              </a:rPr>
              <a:t>  ·  SMART DIGITAL TWIN PLATFORM</a:t>
            </a:r>
          </a:p>
        </p:txBody>
      </p:sp>
      <p:sp>
        <p:nvSpPr>
          <p:cNvPr id="10" name="impact0"/>
          <p:cNvSpPr/>
          <p:nvPr/>
        </p:nvSpPr>
        <p:spPr>
          <a:xfrm>
            <a:off x="566928" y="1847088"/>
            <a:ext cx="2624328" cy="2212848"/>
          </a:xfrm>
          <a:prstGeom prst="roundRect">
            <a:avLst>
              <a:gd name="adj" fmla="val 11000"/>
            </a:avLst>
          </a:prstGeom>
          <a:ln w="12700" cap="rnd">
            <a:solidFill>
              <a:srgbClr val="22D3EE">
                <a:alpha val="30000"/>
              </a:srgbClr>
            </a:solidFill>
          </a:ln>
          <a:solidFill>
            <a:srgbClr val="0D1B33">
              <a:alpha val="52000"/>
            </a:srgbClr>
          </a:solidFill>
          <a:effectLst>
            <a:glow rad="1016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Isosceles Triangle 10"/>
          <p:cNvSpPr/>
          <p:nvPr/>
        </p:nvSpPr>
        <p:spPr>
          <a:xfrm>
            <a:off x="2779776" y="2066543"/>
            <a:ext cx="237744" cy="219456"/>
          </a:xfrm>
          <a:prstGeom prst="triangle">
            <a:avLst/>
          </a:prstGeom>
          <a:ln>
            <a:noFill/>
          </a:ln>
          <a:solidFill>
            <a:srgbClr val="34D399">
              <a:alpha val="85000"/>
            </a:srgbClr>
          </a:solidFill>
          <a:effectLst>
            <a:glow rad="88900">
              <a:srgbClr val="34D399">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 y="2231136"/>
            <a:ext cx="2194560" cy="566928"/>
          </a:xfrm>
          <a:prstGeom prst="rect">
            <a:avLst/>
          </a:prstGeom>
          <a:noFill/>
        </p:spPr>
        <p:txBody>
          <a:bodyPr wrap="square" anchor="t" lIns="0" rIns="0" tIns="0" bIns="0">
            <a:spAutoFit/>
          </a:bodyPr>
          <a:lstStyle/>
          <a:p>
            <a:pPr algn="l"/>
            <a:r>
              <a:rPr sz="3000" b="1" i="0">
                <a:gradFill>
                  <a:gsLst>
                    <a:gs pos="0">
                      <a:srgbClr val="22D3EE"/>
                    </a:gs>
                    <a:gs pos="100000">
                      <a:srgbClr val="8B5CF6"/>
                    </a:gs>
                  </a:gsLst>
                  <a:lin ang="0" scaled="1"/>
                </a:gradFill>
                <a:latin typeface="Segoe UI"/>
              </a:rPr>
              <a:t>20–30%</a:t>
            </a:r>
          </a:p>
        </p:txBody>
      </p:sp>
      <p:sp>
        <p:nvSpPr>
          <p:cNvPr id="13" name="TextBox 12"/>
          <p:cNvSpPr txBox="1"/>
          <p:nvPr/>
        </p:nvSpPr>
        <p:spPr>
          <a:xfrm>
            <a:off x="786384" y="2944368"/>
            <a:ext cx="2240280" cy="274320"/>
          </a:xfrm>
          <a:prstGeom prst="rect">
            <a:avLst/>
          </a:prstGeom>
          <a:noFill/>
        </p:spPr>
        <p:txBody>
          <a:bodyPr wrap="square" anchor="t" lIns="0" rIns="0" tIns="0" bIns="0">
            <a:spAutoFit/>
          </a:bodyPr>
          <a:lstStyle/>
          <a:p>
            <a:pPr algn="l"/>
            <a:r>
              <a:rPr sz="1250" b="1" i="0">
                <a:solidFill>
                  <a:srgbClr val="F1F5F9"/>
                </a:solidFill>
                <a:latin typeface="Segoe UI"/>
              </a:rPr>
              <a:t>Faster incident response</a:t>
            </a:r>
          </a:p>
        </p:txBody>
      </p:sp>
      <p:sp>
        <p:nvSpPr>
          <p:cNvPr id="14" name="TextBox 13"/>
          <p:cNvSpPr txBox="1"/>
          <p:nvPr/>
        </p:nvSpPr>
        <p:spPr>
          <a:xfrm>
            <a:off x="786384" y="3218688"/>
            <a:ext cx="2240280" cy="256032"/>
          </a:xfrm>
          <a:prstGeom prst="rect">
            <a:avLst/>
          </a:prstGeom>
          <a:noFill/>
        </p:spPr>
        <p:txBody>
          <a:bodyPr wrap="square" anchor="t" lIns="0" rIns="0" tIns="0" bIns="0">
            <a:spAutoFit/>
          </a:bodyPr>
          <a:lstStyle/>
          <a:p>
            <a:pPr algn="l"/>
            <a:r>
              <a:rPr sz="900" b="0" i="0">
                <a:solidFill>
                  <a:srgbClr val="8EA3C0"/>
                </a:solidFill>
                <a:latin typeface="Segoe UI"/>
              </a:rPr>
              <a:t>when seconds decide outcomes</a:t>
            </a:r>
          </a:p>
        </p:txBody>
      </p:sp>
      <p:cxnSp>
        <p:nvCxnSpPr>
          <p:cNvPr id="15" name="Connector 14"/>
          <p:cNvCxnSpPr/>
          <p:nvPr/>
        </p:nvCxnSpPr>
        <p:spPr>
          <a:xfrm>
            <a:off x="786384" y="2788920"/>
            <a:ext cx="822959" cy="0"/>
          </a:xfrm>
          <a:prstGeom prst="line">
            <a:avLst/>
          </a:prstGeom>
          <a:ln w="17780" cap="rnd">
            <a:solidFill>
              <a:srgbClr val="22D3EE">
                <a:alpha val="60000"/>
              </a:srgbClr>
            </a:solidFill>
          </a:ln>
          <a:effectLst>
            <a:glow rad="50800">
              <a:srgbClr val="22D3EE">
                <a:alpha val="60000"/>
              </a:srgbClr>
            </a:glow>
          </a:effectLst>
        </p:spPr>
        <p:style>
          <a:lnRef idx="2">
            <a:schemeClr val="accent1"/>
          </a:lnRef>
          <a:fillRef idx="0">
            <a:schemeClr val="accent1"/>
          </a:fillRef>
          <a:effectRef idx="1">
            <a:schemeClr val="accent1"/>
          </a:effectRef>
          <a:fontRef idx="minor">
            <a:schemeClr val="tx1"/>
          </a:fontRef>
        </p:style>
      </p:cxnSp>
      <p:sp>
        <p:nvSpPr>
          <p:cNvPr id="16" name="impact1"/>
          <p:cNvSpPr/>
          <p:nvPr/>
        </p:nvSpPr>
        <p:spPr>
          <a:xfrm>
            <a:off x="3378708" y="1847088"/>
            <a:ext cx="2624328" cy="2212848"/>
          </a:xfrm>
          <a:prstGeom prst="roundRect">
            <a:avLst>
              <a:gd name="adj" fmla="val 11000"/>
            </a:avLst>
          </a:prstGeom>
          <a:ln w="12700" cap="rnd">
            <a:solidFill>
              <a:srgbClr val="22D3EE">
                <a:alpha val="30000"/>
              </a:srgbClr>
            </a:solidFill>
          </a:ln>
          <a:effectLst/>
          <a:solidFill>
            <a:srgbClr val="0D1B33">
              <a:alpha val="52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5591556" y="2066543"/>
            <a:ext cx="237744" cy="219456"/>
          </a:xfrm>
          <a:prstGeom prst="triangle">
            <a:avLst/>
          </a:prstGeom>
          <a:ln>
            <a:noFill/>
          </a:ln>
          <a:solidFill>
            <a:srgbClr val="34D399">
              <a:alpha val="85000"/>
            </a:srgbClr>
          </a:solidFill>
          <a:effectLst>
            <a:glow rad="88900">
              <a:srgbClr val="34D399">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98164" y="2231136"/>
            <a:ext cx="2194560" cy="566928"/>
          </a:xfrm>
          <a:prstGeom prst="rect">
            <a:avLst/>
          </a:prstGeom>
          <a:noFill/>
        </p:spPr>
        <p:txBody>
          <a:bodyPr wrap="square" anchor="t" lIns="0" rIns="0" tIns="0" bIns="0">
            <a:spAutoFit/>
          </a:bodyPr>
          <a:lstStyle/>
          <a:p>
            <a:pPr algn="l"/>
            <a:r>
              <a:rPr sz="3000" b="1" i="0">
                <a:gradFill>
                  <a:gsLst>
                    <a:gs pos="0">
                      <a:srgbClr val="22D3EE"/>
                    </a:gs>
                    <a:gs pos="100000">
                      <a:srgbClr val="8B5CF6"/>
                    </a:gs>
                  </a:gsLst>
                  <a:lin ang="0" scaled="1"/>
                </a:gradFill>
                <a:latin typeface="Segoe UI"/>
              </a:rPr>
              <a:t>15–25%</a:t>
            </a:r>
          </a:p>
        </p:txBody>
      </p:sp>
      <p:sp>
        <p:nvSpPr>
          <p:cNvPr id="19" name="TextBox 18"/>
          <p:cNvSpPr txBox="1"/>
          <p:nvPr/>
        </p:nvSpPr>
        <p:spPr>
          <a:xfrm>
            <a:off x="3598164" y="2944368"/>
            <a:ext cx="2240280" cy="274320"/>
          </a:xfrm>
          <a:prstGeom prst="rect">
            <a:avLst/>
          </a:prstGeom>
          <a:noFill/>
        </p:spPr>
        <p:txBody>
          <a:bodyPr wrap="square" anchor="t" lIns="0" rIns="0" tIns="0" bIns="0">
            <a:spAutoFit/>
          </a:bodyPr>
          <a:lstStyle/>
          <a:p>
            <a:pPr algn="l"/>
            <a:r>
              <a:rPr sz="1250" b="1" i="0">
                <a:solidFill>
                  <a:srgbClr val="F1F5F9"/>
                </a:solidFill>
                <a:latin typeface="Segoe UI"/>
              </a:rPr>
              <a:t>Smoother traffic flow</a:t>
            </a:r>
          </a:p>
        </p:txBody>
      </p:sp>
      <p:sp>
        <p:nvSpPr>
          <p:cNvPr id="20" name="TextBox 19"/>
          <p:cNvSpPr txBox="1"/>
          <p:nvPr/>
        </p:nvSpPr>
        <p:spPr>
          <a:xfrm>
            <a:off x="3598164" y="3218688"/>
            <a:ext cx="2240280" cy="256032"/>
          </a:xfrm>
          <a:prstGeom prst="rect">
            <a:avLst/>
          </a:prstGeom>
          <a:noFill/>
        </p:spPr>
        <p:txBody>
          <a:bodyPr wrap="square" anchor="t" lIns="0" rIns="0" tIns="0" bIns="0">
            <a:spAutoFit/>
          </a:bodyPr>
          <a:lstStyle/>
          <a:p>
            <a:pPr algn="l"/>
            <a:r>
              <a:rPr sz="900" b="0" i="0">
                <a:solidFill>
                  <a:srgbClr val="8EA3C0"/>
                </a:solidFill>
                <a:latin typeface="Segoe UI"/>
              </a:rPr>
              <a:t>modeled congestion relief</a:t>
            </a:r>
          </a:p>
        </p:txBody>
      </p:sp>
      <p:cxnSp>
        <p:nvCxnSpPr>
          <p:cNvPr id="21" name="Connector 20"/>
          <p:cNvCxnSpPr/>
          <p:nvPr/>
        </p:nvCxnSpPr>
        <p:spPr>
          <a:xfrm>
            <a:off x="3598164" y="2788920"/>
            <a:ext cx="822960" cy="0"/>
          </a:xfrm>
          <a:prstGeom prst="line">
            <a:avLst/>
          </a:prstGeom>
          <a:ln w="17780" cap="rnd">
            <a:solidFill>
              <a:srgbClr val="22D3EE">
                <a:alpha val="60000"/>
              </a:srgbClr>
            </a:solidFill>
          </a:ln>
          <a:effectLst>
            <a:glow rad="50800">
              <a:srgbClr val="22D3EE">
                <a:alpha val="60000"/>
              </a:srgbClr>
            </a:glow>
          </a:effectLst>
        </p:spPr>
        <p:style>
          <a:lnRef idx="2">
            <a:schemeClr val="accent1"/>
          </a:lnRef>
          <a:fillRef idx="0">
            <a:schemeClr val="accent1"/>
          </a:fillRef>
          <a:effectRef idx="1">
            <a:schemeClr val="accent1"/>
          </a:effectRef>
          <a:fontRef idx="minor">
            <a:schemeClr val="tx1"/>
          </a:fontRef>
        </p:style>
      </p:cxnSp>
      <p:sp>
        <p:nvSpPr>
          <p:cNvPr id="22" name="impact2"/>
          <p:cNvSpPr/>
          <p:nvPr/>
        </p:nvSpPr>
        <p:spPr>
          <a:xfrm>
            <a:off x="6190488" y="1847088"/>
            <a:ext cx="2624328" cy="2212848"/>
          </a:xfrm>
          <a:prstGeom prst="roundRect">
            <a:avLst>
              <a:gd name="adj" fmla="val 11000"/>
            </a:avLst>
          </a:prstGeom>
          <a:ln w="12700" cap="rnd">
            <a:solidFill>
              <a:srgbClr val="22D3EE">
                <a:alpha val="30000"/>
              </a:srgbClr>
            </a:solidFill>
          </a:ln>
          <a:effectLst/>
          <a:solidFill>
            <a:srgbClr val="0D1B33">
              <a:alpha val="52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a:off x="8403336" y="2066543"/>
            <a:ext cx="237744" cy="219456"/>
          </a:xfrm>
          <a:prstGeom prst="triangle">
            <a:avLst/>
          </a:prstGeom>
          <a:ln>
            <a:noFill/>
          </a:ln>
          <a:solidFill>
            <a:srgbClr val="34D399">
              <a:alpha val="85000"/>
            </a:srgbClr>
          </a:solidFill>
          <a:effectLst>
            <a:glow rad="88900">
              <a:srgbClr val="34D399">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9944" y="2231136"/>
            <a:ext cx="2194560" cy="566928"/>
          </a:xfrm>
          <a:prstGeom prst="rect">
            <a:avLst/>
          </a:prstGeom>
          <a:noFill/>
        </p:spPr>
        <p:txBody>
          <a:bodyPr wrap="square" anchor="t" lIns="0" rIns="0" tIns="0" bIns="0">
            <a:spAutoFit/>
          </a:bodyPr>
          <a:lstStyle/>
          <a:p>
            <a:pPr algn="l"/>
            <a:r>
              <a:rPr sz="3000" b="1" i="0">
                <a:gradFill>
                  <a:gsLst>
                    <a:gs pos="0">
                      <a:srgbClr val="22D3EE"/>
                    </a:gs>
                    <a:gs pos="100000">
                      <a:srgbClr val="8B5CF6"/>
                    </a:gs>
                  </a:gsLst>
                  <a:lin ang="0" scaled="1"/>
                </a:gradFill>
                <a:latin typeface="Segoe UI"/>
              </a:rPr>
              <a:t>10–20%</a:t>
            </a:r>
          </a:p>
        </p:txBody>
      </p:sp>
      <p:sp>
        <p:nvSpPr>
          <p:cNvPr id="25" name="TextBox 24"/>
          <p:cNvSpPr txBox="1"/>
          <p:nvPr/>
        </p:nvSpPr>
        <p:spPr>
          <a:xfrm>
            <a:off x="6409944" y="2944368"/>
            <a:ext cx="2240280" cy="274320"/>
          </a:xfrm>
          <a:prstGeom prst="rect">
            <a:avLst/>
          </a:prstGeom>
          <a:noFill/>
        </p:spPr>
        <p:txBody>
          <a:bodyPr wrap="square" anchor="t" lIns="0" rIns="0" tIns="0" bIns="0">
            <a:spAutoFit/>
          </a:bodyPr>
          <a:lstStyle/>
          <a:p>
            <a:pPr algn="l"/>
            <a:r>
              <a:rPr sz="1250" b="1" i="0">
                <a:solidFill>
                  <a:srgbClr val="F1F5F9"/>
                </a:solidFill>
                <a:latin typeface="Segoe UI"/>
              </a:rPr>
              <a:t>Energy optimization</a:t>
            </a:r>
          </a:p>
        </p:txBody>
      </p:sp>
      <p:sp>
        <p:nvSpPr>
          <p:cNvPr id="26" name="TextBox 25"/>
          <p:cNvSpPr txBox="1"/>
          <p:nvPr/>
        </p:nvSpPr>
        <p:spPr>
          <a:xfrm>
            <a:off x="6409944" y="3218688"/>
            <a:ext cx="2240280" cy="256032"/>
          </a:xfrm>
          <a:prstGeom prst="rect">
            <a:avLst/>
          </a:prstGeom>
          <a:noFill/>
        </p:spPr>
        <p:txBody>
          <a:bodyPr wrap="square" anchor="t" lIns="0" rIns="0" tIns="0" bIns="0">
            <a:spAutoFit/>
          </a:bodyPr>
          <a:lstStyle/>
          <a:p>
            <a:pPr algn="l"/>
            <a:r>
              <a:rPr sz="900" b="0" i="0">
                <a:solidFill>
                  <a:srgbClr val="8EA3C0"/>
                </a:solidFill>
                <a:latin typeface="Segoe UI"/>
              </a:rPr>
              <a:t>less waste · lower bills</a:t>
            </a:r>
          </a:p>
        </p:txBody>
      </p:sp>
      <p:cxnSp>
        <p:nvCxnSpPr>
          <p:cNvPr id="27" name="Connector 26"/>
          <p:cNvCxnSpPr/>
          <p:nvPr/>
        </p:nvCxnSpPr>
        <p:spPr>
          <a:xfrm>
            <a:off x="6409944" y="2788920"/>
            <a:ext cx="822960" cy="0"/>
          </a:xfrm>
          <a:prstGeom prst="line">
            <a:avLst/>
          </a:prstGeom>
          <a:ln w="17780" cap="rnd">
            <a:solidFill>
              <a:srgbClr val="22D3EE">
                <a:alpha val="60000"/>
              </a:srgbClr>
            </a:solidFill>
          </a:ln>
          <a:effectLst>
            <a:glow rad="50800">
              <a:srgbClr val="22D3EE">
                <a:alpha val="60000"/>
              </a:srgbClr>
            </a:glow>
          </a:effectLst>
        </p:spPr>
        <p:style>
          <a:lnRef idx="2">
            <a:schemeClr val="accent1"/>
          </a:lnRef>
          <a:fillRef idx="0">
            <a:schemeClr val="accent1"/>
          </a:fillRef>
          <a:effectRef idx="1">
            <a:schemeClr val="accent1"/>
          </a:effectRef>
          <a:fontRef idx="minor">
            <a:schemeClr val="tx1"/>
          </a:fontRef>
        </p:style>
      </p:cxnSp>
      <p:sp>
        <p:nvSpPr>
          <p:cNvPr id="28" name="impact3"/>
          <p:cNvSpPr/>
          <p:nvPr/>
        </p:nvSpPr>
        <p:spPr>
          <a:xfrm>
            <a:off x="9002268" y="1847088"/>
            <a:ext cx="2624328" cy="2212848"/>
          </a:xfrm>
          <a:prstGeom prst="roundRect">
            <a:avLst>
              <a:gd name="adj" fmla="val 11000"/>
            </a:avLst>
          </a:prstGeom>
          <a:ln w="12700" cap="rnd">
            <a:solidFill>
              <a:srgbClr val="22D3EE">
                <a:alpha val="30000"/>
              </a:srgbClr>
            </a:solidFill>
          </a:ln>
          <a:effectLst/>
          <a:solidFill>
            <a:srgbClr val="0D1B33">
              <a:alpha val="52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a:off x="11215116" y="2066543"/>
            <a:ext cx="237744" cy="219456"/>
          </a:xfrm>
          <a:prstGeom prst="triangle">
            <a:avLst/>
          </a:prstGeom>
          <a:ln>
            <a:noFill/>
          </a:ln>
          <a:solidFill>
            <a:srgbClr val="22D3EE">
              <a:alpha val="85000"/>
            </a:srgbClr>
          </a:solidFill>
          <a:effectLst>
            <a:glow rad="88900">
              <a:srgbClr val="22D3EE">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221724" y="2231136"/>
            <a:ext cx="2194560" cy="566928"/>
          </a:xfrm>
          <a:prstGeom prst="rect">
            <a:avLst/>
          </a:prstGeom>
          <a:noFill/>
        </p:spPr>
        <p:txBody>
          <a:bodyPr wrap="square" anchor="t" lIns="0" rIns="0" tIns="0" bIns="0">
            <a:spAutoFit/>
          </a:bodyPr>
          <a:lstStyle/>
          <a:p>
            <a:pPr algn="l"/>
            <a:r>
              <a:rPr sz="3000" b="1" i="0">
                <a:gradFill>
                  <a:gsLst>
                    <a:gs pos="0">
                      <a:srgbClr val="22D3EE"/>
                    </a:gs>
                    <a:gs pos="100000">
                      <a:srgbClr val="8B5CF6"/>
                    </a:gs>
                  </a:gsLst>
                  <a:lin ang="0" scaled="1"/>
                </a:gradFill>
                <a:latin typeface="Segoe UI"/>
              </a:rPr>
              <a:t>EARLY</a:t>
            </a:r>
          </a:p>
        </p:txBody>
      </p:sp>
      <p:sp>
        <p:nvSpPr>
          <p:cNvPr id="31" name="TextBox 30"/>
          <p:cNvSpPr txBox="1"/>
          <p:nvPr/>
        </p:nvSpPr>
        <p:spPr>
          <a:xfrm>
            <a:off x="9221724" y="2944368"/>
            <a:ext cx="2240280" cy="274320"/>
          </a:xfrm>
          <a:prstGeom prst="rect">
            <a:avLst/>
          </a:prstGeom>
          <a:noFill/>
        </p:spPr>
        <p:txBody>
          <a:bodyPr wrap="square" anchor="t" lIns="0" rIns="0" tIns="0" bIns="0">
            <a:spAutoFit/>
          </a:bodyPr>
          <a:lstStyle/>
          <a:p>
            <a:pPr algn="l"/>
            <a:r>
              <a:rPr sz="1250" b="1" i="0">
                <a:solidFill>
                  <a:srgbClr val="F1F5F9"/>
                </a:solidFill>
                <a:latin typeface="Segoe UI"/>
              </a:rPr>
              <a:t>Infra risk detection</a:t>
            </a:r>
          </a:p>
        </p:txBody>
      </p:sp>
      <p:sp>
        <p:nvSpPr>
          <p:cNvPr id="32" name="TextBox 31"/>
          <p:cNvSpPr txBox="1"/>
          <p:nvPr/>
        </p:nvSpPr>
        <p:spPr>
          <a:xfrm>
            <a:off x="9221724" y="3218688"/>
            <a:ext cx="2240280" cy="256032"/>
          </a:xfrm>
          <a:prstGeom prst="rect">
            <a:avLst/>
          </a:prstGeom>
          <a:noFill/>
        </p:spPr>
        <p:txBody>
          <a:bodyPr wrap="square" anchor="t" lIns="0" rIns="0" tIns="0" bIns="0">
            <a:spAutoFit/>
          </a:bodyPr>
          <a:lstStyle/>
          <a:p>
            <a:pPr algn="l"/>
            <a:r>
              <a:rPr sz="900" b="0" i="0">
                <a:solidFill>
                  <a:srgbClr val="8EA3C0"/>
                </a:solidFill>
                <a:latin typeface="Segoe UI"/>
              </a:rPr>
              <a:t>fix it before it fails</a:t>
            </a:r>
          </a:p>
        </p:txBody>
      </p:sp>
      <p:cxnSp>
        <p:nvCxnSpPr>
          <p:cNvPr id="33" name="Connector 32"/>
          <p:cNvCxnSpPr/>
          <p:nvPr/>
        </p:nvCxnSpPr>
        <p:spPr>
          <a:xfrm>
            <a:off x="9221724" y="2788920"/>
            <a:ext cx="822960" cy="0"/>
          </a:xfrm>
          <a:prstGeom prst="line">
            <a:avLst/>
          </a:prstGeom>
          <a:ln w="17780" cap="rnd">
            <a:solidFill>
              <a:srgbClr val="22D3EE">
                <a:alpha val="60000"/>
              </a:srgbClr>
            </a:solidFill>
          </a:ln>
          <a:effectLst>
            <a:glow rad="50800">
              <a:srgbClr val="22D3EE">
                <a:alpha val="60000"/>
              </a:srgbClr>
            </a:glow>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3353104" y="4443984"/>
            <a:ext cx="5486400" cy="256032"/>
          </a:xfrm>
          <a:prstGeom prst="rect">
            <a:avLst/>
          </a:prstGeom>
          <a:noFill/>
        </p:spPr>
        <p:txBody>
          <a:bodyPr wrap="square" anchor="t" lIns="0" rIns="0" tIns="0" bIns="0">
            <a:spAutoFit/>
          </a:bodyPr>
          <a:lstStyle/>
          <a:p>
            <a:pPr algn="ctr"/>
            <a:r>
              <a:rPr sz="950" b="1" i="0" spc="400">
                <a:solidFill>
                  <a:srgbClr val="5A6E8C"/>
                </a:solidFill>
                <a:latin typeface="Segoe UI"/>
              </a:rPr>
              <a:t>WHO BENEFITS</a:t>
            </a:r>
          </a:p>
        </p:txBody>
      </p:sp>
      <p:sp>
        <p:nvSpPr>
          <p:cNvPr id="35" name="who0"/>
          <p:cNvSpPr/>
          <p:nvPr/>
        </p:nvSpPr>
        <p:spPr>
          <a:xfrm>
            <a:off x="710488" y="4828032"/>
            <a:ext cx="2487168" cy="841248"/>
          </a:xfrm>
          <a:prstGeom prst="roundRect">
            <a:avLst>
              <a:gd name="adj" fmla="val 13000"/>
            </a:avLst>
          </a:prstGeom>
          <a:ln w="12700" cap="rnd">
            <a:solidFill>
              <a:srgbClr val="22D3EE">
                <a:alpha val="26000"/>
              </a:srgbClr>
            </a:solidFill>
          </a:ln>
          <a:effectLst/>
          <a:solidFill>
            <a:srgbClr val="0D1B33">
              <a:alpha val="46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65936" y="5020056"/>
            <a:ext cx="457200" cy="457200"/>
          </a:xfrm>
          <a:prstGeom prst="ellipse">
            <a:avLst/>
          </a:prstGeom>
          <a:noFill/>
          <a:ln w="15240" cap="rnd">
            <a:solidFill>
              <a:srgbClr val="22D3EE">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993952" y="5148072"/>
            <a:ext cx="201168" cy="201168"/>
          </a:xfrm>
          <a:prstGeom prst="ellipse">
            <a:avLst/>
          </a:prstGeom>
          <a:ln>
            <a:noFill/>
          </a:ln>
          <a:effectLst/>
          <a:solidFill>
            <a:srgbClr val="22D3EE">
              <a:alpha val="9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460296" y="5001768"/>
            <a:ext cx="1691640" cy="256032"/>
          </a:xfrm>
          <a:prstGeom prst="rect">
            <a:avLst/>
          </a:prstGeom>
          <a:noFill/>
        </p:spPr>
        <p:txBody>
          <a:bodyPr wrap="square" anchor="t" lIns="0" rIns="0" tIns="0" bIns="0">
            <a:spAutoFit/>
          </a:bodyPr>
          <a:lstStyle/>
          <a:p>
            <a:pPr algn="l"/>
            <a:r>
              <a:rPr sz="1150" b="1" i="0">
                <a:solidFill>
                  <a:srgbClr val="F1F5F9"/>
                </a:solidFill>
                <a:latin typeface="Segoe UI"/>
              </a:rPr>
              <a:t>Citizens</a:t>
            </a:r>
          </a:p>
        </p:txBody>
      </p:sp>
      <p:sp>
        <p:nvSpPr>
          <p:cNvPr id="39" name="TextBox 38"/>
          <p:cNvSpPr txBox="1"/>
          <p:nvPr/>
        </p:nvSpPr>
        <p:spPr>
          <a:xfrm>
            <a:off x="1460296" y="5257800"/>
            <a:ext cx="1691640" cy="237744"/>
          </a:xfrm>
          <a:prstGeom prst="rect">
            <a:avLst/>
          </a:prstGeom>
          <a:noFill/>
        </p:spPr>
        <p:txBody>
          <a:bodyPr wrap="square" anchor="t" lIns="0" rIns="0" tIns="0" bIns="0">
            <a:spAutoFit/>
          </a:bodyPr>
          <a:lstStyle/>
          <a:p>
            <a:pPr algn="l"/>
            <a:r>
              <a:rPr sz="850" b="0" i="0">
                <a:solidFill>
                  <a:srgbClr val="8EA3C0"/>
                </a:solidFill>
                <a:latin typeface="Segoe UI"/>
              </a:rPr>
              <a:t>safer, cleaner commutes</a:t>
            </a:r>
          </a:p>
        </p:txBody>
      </p:sp>
      <p:sp>
        <p:nvSpPr>
          <p:cNvPr id="40" name="who1"/>
          <p:cNvSpPr/>
          <p:nvPr/>
        </p:nvSpPr>
        <p:spPr>
          <a:xfrm>
            <a:off x="3471976" y="4828032"/>
            <a:ext cx="2487168" cy="841248"/>
          </a:xfrm>
          <a:prstGeom prst="roundRect">
            <a:avLst>
              <a:gd name="adj" fmla="val 13000"/>
            </a:avLst>
          </a:prstGeom>
          <a:ln w="12700" cap="rnd">
            <a:solidFill>
              <a:srgbClr val="22D3EE">
                <a:alpha val="26000"/>
              </a:srgbClr>
            </a:solidFill>
          </a:ln>
          <a:effectLst/>
          <a:solidFill>
            <a:srgbClr val="0D1B33">
              <a:alpha val="46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3627424" y="5020056"/>
            <a:ext cx="457200" cy="457200"/>
          </a:xfrm>
          <a:prstGeom prst="ellipse">
            <a:avLst/>
          </a:prstGeom>
          <a:noFill/>
          <a:ln w="15240" cap="rnd">
            <a:solidFill>
              <a:srgbClr val="22D3EE">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Diamond 41"/>
          <p:cNvSpPr/>
          <p:nvPr/>
        </p:nvSpPr>
        <p:spPr>
          <a:xfrm>
            <a:off x="3755440" y="5148072"/>
            <a:ext cx="201168" cy="201168"/>
          </a:xfrm>
          <a:prstGeom prst="diamond">
            <a:avLst/>
          </a:prstGeom>
          <a:ln>
            <a:noFill/>
          </a:ln>
          <a:effectLst/>
          <a:solidFill>
            <a:srgbClr val="22D3EE">
              <a:alpha val="9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221784" y="5001768"/>
            <a:ext cx="1691640" cy="256032"/>
          </a:xfrm>
          <a:prstGeom prst="rect">
            <a:avLst/>
          </a:prstGeom>
          <a:noFill/>
        </p:spPr>
        <p:txBody>
          <a:bodyPr wrap="square" anchor="t" lIns="0" rIns="0" tIns="0" bIns="0">
            <a:spAutoFit/>
          </a:bodyPr>
          <a:lstStyle/>
          <a:p>
            <a:pPr algn="l"/>
            <a:r>
              <a:rPr sz="1150" b="1" i="0">
                <a:solidFill>
                  <a:srgbClr val="F1F5F9"/>
                </a:solidFill>
                <a:latin typeface="Segoe UI"/>
              </a:rPr>
              <a:t>Urban Planners</a:t>
            </a:r>
          </a:p>
        </p:txBody>
      </p:sp>
      <p:sp>
        <p:nvSpPr>
          <p:cNvPr id="44" name="TextBox 43"/>
          <p:cNvSpPr txBox="1"/>
          <p:nvPr/>
        </p:nvSpPr>
        <p:spPr>
          <a:xfrm>
            <a:off x="4221784" y="5257800"/>
            <a:ext cx="1691640" cy="237744"/>
          </a:xfrm>
          <a:prstGeom prst="rect">
            <a:avLst/>
          </a:prstGeom>
          <a:noFill/>
        </p:spPr>
        <p:txBody>
          <a:bodyPr wrap="square" anchor="t" lIns="0" rIns="0" tIns="0" bIns="0">
            <a:spAutoFit/>
          </a:bodyPr>
          <a:lstStyle/>
          <a:p>
            <a:pPr algn="l"/>
            <a:r>
              <a:rPr sz="850" b="0" i="0">
                <a:solidFill>
                  <a:srgbClr val="8EA3C0"/>
                </a:solidFill>
                <a:latin typeface="Segoe UI"/>
              </a:rPr>
              <a:t>simulate before building</a:t>
            </a:r>
          </a:p>
        </p:txBody>
      </p:sp>
      <p:sp>
        <p:nvSpPr>
          <p:cNvPr id="45" name="who2"/>
          <p:cNvSpPr/>
          <p:nvPr/>
        </p:nvSpPr>
        <p:spPr>
          <a:xfrm>
            <a:off x="6233464" y="4828032"/>
            <a:ext cx="2487168" cy="841248"/>
          </a:xfrm>
          <a:prstGeom prst="roundRect">
            <a:avLst>
              <a:gd name="adj" fmla="val 13000"/>
            </a:avLst>
          </a:prstGeom>
          <a:ln w="12700" cap="rnd">
            <a:solidFill>
              <a:srgbClr val="22D3EE">
                <a:alpha val="26000"/>
              </a:srgbClr>
            </a:solidFill>
          </a:ln>
          <a:effectLst/>
          <a:solidFill>
            <a:srgbClr val="0D1B33">
              <a:alpha val="46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6388912" y="5020056"/>
            <a:ext cx="457200" cy="457200"/>
          </a:xfrm>
          <a:prstGeom prst="ellipse">
            <a:avLst/>
          </a:prstGeom>
          <a:noFill/>
          <a:ln w="15240" cap="rnd">
            <a:solidFill>
              <a:srgbClr val="22D3EE">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Isosceles Triangle 46"/>
          <p:cNvSpPr/>
          <p:nvPr/>
        </p:nvSpPr>
        <p:spPr>
          <a:xfrm>
            <a:off x="6516928" y="5148072"/>
            <a:ext cx="201168" cy="201168"/>
          </a:xfrm>
          <a:prstGeom prst="triangle">
            <a:avLst/>
          </a:prstGeom>
          <a:ln>
            <a:noFill/>
          </a:ln>
          <a:effectLst/>
          <a:solidFill>
            <a:srgbClr val="22D3EE">
              <a:alpha val="9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983272" y="5001768"/>
            <a:ext cx="1691640" cy="256032"/>
          </a:xfrm>
          <a:prstGeom prst="rect">
            <a:avLst/>
          </a:prstGeom>
          <a:noFill/>
        </p:spPr>
        <p:txBody>
          <a:bodyPr wrap="square" anchor="t" lIns="0" rIns="0" tIns="0" bIns="0">
            <a:spAutoFit/>
          </a:bodyPr>
          <a:lstStyle/>
          <a:p>
            <a:pPr algn="l"/>
            <a:r>
              <a:rPr sz="1150" b="1" i="0">
                <a:solidFill>
                  <a:srgbClr val="F1F5F9"/>
                </a:solidFill>
                <a:latin typeface="Segoe UI"/>
              </a:rPr>
              <a:t>Emergency Services</a:t>
            </a:r>
          </a:p>
        </p:txBody>
      </p:sp>
      <p:sp>
        <p:nvSpPr>
          <p:cNvPr id="49" name="TextBox 48"/>
          <p:cNvSpPr txBox="1"/>
          <p:nvPr/>
        </p:nvSpPr>
        <p:spPr>
          <a:xfrm>
            <a:off x="6983272" y="5257800"/>
            <a:ext cx="1691640" cy="237744"/>
          </a:xfrm>
          <a:prstGeom prst="rect">
            <a:avLst/>
          </a:prstGeom>
          <a:noFill/>
        </p:spPr>
        <p:txBody>
          <a:bodyPr wrap="square" anchor="t" lIns="0" rIns="0" tIns="0" bIns="0">
            <a:spAutoFit/>
          </a:bodyPr>
          <a:lstStyle/>
          <a:p>
            <a:pPr algn="l"/>
            <a:r>
              <a:rPr sz="850" b="0" i="0">
                <a:solidFill>
                  <a:srgbClr val="8EA3C0"/>
                </a:solidFill>
                <a:latin typeface="Segoe UI"/>
              </a:rPr>
              <a:t>minutes that save lives</a:t>
            </a:r>
          </a:p>
        </p:txBody>
      </p:sp>
      <p:sp>
        <p:nvSpPr>
          <p:cNvPr id="50" name="who3"/>
          <p:cNvSpPr/>
          <p:nvPr/>
        </p:nvSpPr>
        <p:spPr>
          <a:xfrm>
            <a:off x="8994952" y="4828032"/>
            <a:ext cx="2487168" cy="841248"/>
          </a:xfrm>
          <a:prstGeom prst="roundRect">
            <a:avLst>
              <a:gd name="adj" fmla="val 13000"/>
            </a:avLst>
          </a:prstGeom>
          <a:ln w="12700" cap="rnd">
            <a:solidFill>
              <a:srgbClr val="22D3EE">
                <a:alpha val="26000"/>
              </a:srgbClr>
            </a:solidFill>
          </a:ln>
          <a:effectLst/>
          <a:solidFill>
            <a:srgbClr val="0D1B33">
              <a:alpha val="46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9150400" y="5020056"/>
            <a:ext cx="457200" cy="457200"/>
          </a:xfrm>
          <a:prstGeom prst="ellipse">
            <a:avLst/>
          </a:prstGeom>
          <a:noFill/>
          <a:ln w="15240" cap="rnd">
            <a:solidFill>
              <a:srgbClr val="22D3EE">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4-Point Star 51"/>
          <p:cNvSpPr/>
          <p:nvPr/>
        </p:nvSpPr>
        <p:spPr>
          <a:xfrm>
            <a:off x="9278416" y="5148072"/>
            <a:ext cx="201168" cy="201168"/>
          </a:xfrm>
          <a:prstGeom prst="star4">
            <a:avLst/>
          </a:prstGeom>
          <a:ln>
            <a:noFill/>
          </a:ln>
          <a:effectLst/>
          <a:solidFill>
            <a:srgbClr val="22D3EE">
              <a:alpha val="9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44760" y="5001768"/>
            <a:ext cx="1691640" cy="256032"/>
          </a:xfrm>
          <a:prstGeom prst="rect">
            <a:avLst/>
          </a:prstGeom>
          <a:noFill/>
        </p:spPr>
        <p:txBody>
          <a:bodyPr wrap="square" anchor="t" lIns="0" rIns="0" tIns="0" bIns="0">
            <a:spAutoFit/>
          </a:bodyPr>
          <a:lstStyle/>
          <a:p>
            <a:pPr algn="l"/>
            <a:r>
              <a:rPr sz="1150" b="1" i="0">
                <a:solidFill>
                  <a:srgbClr val="F1F5F9"/>
                </a:solidFill>
                <a:latin typeface="Segoe UI"/>
              </a:rPr>
              <a:t>City Government</a:t>
            </a:r>
          </a:p>
        </p:txBody>
      </p:sp>
      <p:sp>
        <p:nvSpPr>
          <p:cNvPr id="54" name="TextBox 53"/>
          <p:cNvSpPr txBox="1"/>
          <p:nvPr/>
        </p:nvSpPr>
        <p:spPr>
          <a:xfrm>
            <a:off x="9744760" y="5257800"/>
            <a:ext cx="1691640" cy="237744"/>
          </a:xfrm>
          <a:prstGeom prst="rect">
            <a:avLst/>
          </a:prstGeom>
          <a:noFill/>
        </p:spPr>
        <p:txBody>
          <a:bodyPr wrap="square" anchor="t" lIns="0" rIns="0" tIns="0" bIns="0">
            <a:spAutoFit/>
          </a:bodyPr>
          <a:lstStyle/>
          <a:p>
            <a:pPr algn="l"/>
            <a:r>
              <a:rPr sz="850" b="0" i="0">
                <a:solidFill>
                  <a:srgbClr val="8EA3C0"/>
                </a:solidFill>
                <a:latin typeface="Segoe UI"/>
              </a:rPr>
              <a:t>budgets spent wisely</a:t>
            </a:r>
          </a:p>
        </p:txBody>
      </p:sp>
    </p:spTree>
  </p:cSld>
  <p:clrMapOvr>
    <a:masterClrMapping/>
  </p:clrMapOvr>
  <mc:AlternateContent xmlns:mc="http://schemas.openxmlformats.org/markup-compatibility/2006">
    <mc:Choice xmlns:p14="http://schemas.microsoft.com/office/powerpoint/2010/main" Requires="p14">
      <p:transition spd="slow" p14:dur="1100">
        <p14:morph option="byObject"/>
      </p:transition>
    </mc:Choice>
    <mc:Fallback>
      <p:transition spd="slow" advClick="1">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11" presetID="22" presetClass="entr" presetSubtype="8" fill="hold" grpId="0" nodeType="afterEffect">
                                  <p:stCondLst>
                                    <p:cond delay="200"/>
                                  </p:stCondLst>
                                  <p:childTnLst>
                                    <p:set>
                                      <p:cBhvr>
                                        <p:cTn id="9" dur="1" fill="hold">
                                          <p:stCondLst>
                                            <p:cond delay="0"/>
                                          </p:stCondLst>
                                        </p:cTn>
                                        <p:tgtEl>
                                          <p:spTgt spid="12"/>
                                        </p:tgtEl>
                                        <p:attrNameLst>
                                          <p:attrName>style.visibility</p:attrName>
                                        </p:attrNameLst>
                                      </p:cBhvr>
                                      <p:to>
                                        <p:strVal val="visible"/>
                                      </p:to>
                                    </p:set>
                                    <p:animEffect transition="in" filter="wipe(fromBottom)">
                                      <p:cBhvr>
                                        <p:cTn id="10" dur="520"/>
                                        <p:tgtEl>
                                          <p:spTgt spid="12"/>
                                        </p:tgtEl>
                                      </p:cBhvr>
                                    </p:animEffect>
                                  </p:childTnLst>
                                </p:cTn>
                              </p:par>
                              <p:par>
                                <p:cTn id="14" presetID="22" presetClass="entr" presetSubtype="8" fill="hold" grpId="0" nodeType="afterEffect">
                                  <p:stCondLst>
                                    <p:cond delay="160"/>
                                  </p:stCondLst>
                                  <p:childTnLst>
                                    <p:set>
                                      <p:cBhvr>
                                        <p:cTn id="12" dur="1" fill="hold">
                                          <p:stCondLst>
                                            <p:cond delay="0"/>
                                          </p:stCondLst>
                                        </p:cTn>
                                        <p:tgtEl>
                                          <p:spTgt spid="18"/>
                                        </p:tgtEl>
                                        <p:attrNameLst>
                                          <p:attrName>style.visibility</p:attrName>
                                        </p:attrNameLst>
                                      </p:cBhvr>
                                      <p:to>
                                        <p:strVal val="visible"/>
                                      </p:to>
                                    </p:set>
                                    <p:animEffect transition="in" filter="wipe(fromBottom)">
                                      <p:cBhvr>
                                        <p:cTn id="13" dur="520"/>
                                        <p:tgtEl>
                                          <p:spTgt spid="18"/>
                                        </p:tgtEl>
                                      </p:cBhvr>
                                    </p:animEffect>
                                  </p:childTnLst>
                                </p:cTn>
                              </p:par>
                              <p:par>
                                <p:cTn id="17"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420"/>
                                        <p:tgtEl>
                                          <p:spTgt spid="16"/>
                                        </p:tgtEl>
                                      </p:cBhvr>
                                    </p:animEffect>
                                  </p:childTnLst>
                                </p:cTn>
                              </p:par>
                              <p:par>
                                <p:cTn id="20" presetID="22" presetClass="entr" presetSubtype="8" fill="hold" grpId="0" nodeType="afterEffect">
                                  <p:stCondLst>
                                    <p:cond delay="160"/>
                                  </p:stCondLst>
                                  <p:childTnLst>
                                    <p:set>
                                      <p:cBhvr>
                                        <p:cTn id="18" dur="1" fill="hold">
                                          <p:stCondLst>
                                            <p:cond delay="0"/>
                                          </p:stCondLst>
                                        </p:cTn>
                                        <p:tgtEl>
                                          <p:spTgt spid="24"/>
                                        </p:tgtEl>
                                        <p:attrNameLst>
                                          <p:attrName>style.visibility</p:attrName>
                                        </p:attrNameLst>
                                      </p:cBhvr>
                                      <p:to>
                                        <p:strVal val="visible"/>
                                      </p:to>
                                    </p:set>
                                    <p:animEffect transition="in" filter="wipe(fromBottom)">
                                      <p:cBhvr>
                                        <p:cTn id="19" dur="520"/>
                                        <p:tgtEl>
                                          <p:spTgt spid="24"/>
                                        </p:tgtEl>
                                      </p:cBhvr>
                                    </p:animEffect>
                                  </p:childTnLst>
                                </p:cTn>
                              </p:par>
                              <p:par>
                                <p:cTn id="23" presetID="10" presetClass="entr" presetSubtype="0" fill="hold" grpId="0"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420"/>
                                        <p:tgtEl>
                                          <p:spTgt spid="22"/>
                                        </p:tgtEl>
                                      </p:cBhvr>
                                    </p:animEffect>
                                  </p:childTnLst>
                                </p:cTn>
                              </p:par>
                              <p:par>
                                <p:cTn id="26" presetID="22" presetClass="entr" presetSubtype="8" fill="hold" grpId="0" nodeType="afterEffect">
                                  <p:stCondLst>
                                    <p:cond delay="160"/>
                                  </p:stCondLst>
                                  <p:childTnLst>
                                    <p:set>
                                      <p:cBhvr>
                                        <p:cTn id="24" dur="1" fill="hold">
                                          <p:stCondLst>
                                            <p:cond delay="0"/>
                                          </p:stCondLst>
                                        </p:cTn>
                                        <p:tgtEl>
                                          <p:spTgt spid="30"/>
                                        </p:tgtEl>
                                        <p:attrNameLst>
                                          <p:attrName>style.visibility</p:attrName>
                                        </p:attrNameLst>
                                      </p:cBhvr>
                                      <p:to>
                                        <p:strVal val="visible"/>
                                      </p:to>
                                    </p:set>
                                    <p:animEffect transition="in" filter="wipe(fromBottom)">
                                      <p:cBhvr>
                                        <p:cTn id="25" dur="520"/>
                                        <p:tgtEl>
                                          <p:spTgt spid="30"/>
                                        </p:tgtEl>
                                      </p:cBhvr>
                                    </p:animEffect>
                                  </p:childTnLst>
                                </p:cTn>
                              </p:par>
                              <p:par>
                                <p:cTn id="29" presetID="10" presetClass="entr" presetSubtype="0" fill="hold" grpId="0" nodeType="with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fade">
                                      <p:cBhvr>
                                        <p:cTn id="28" dur="420"/>
                                        <p:tgtEl>
                                          <p:spTgt spid="28"/>
                                        </p:tgtEl>
                                      </p:cBhvr>
                                    </p:animEffect>
                                  </p:childTnLst>
                                </p:cTn>
                              </p:par>
                              <p:par>
                                <p:cTn id="33" presetID="53" presetClass="entr" presetSubtype="0" fill="hold" grpId="0" nodeType="afterEffect">
                                  <p:stCondLst>
                                    <p:cond delay="30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460"/>
                                        <p:tgtEl>
                                          <p:spTgt spid="35"/>
                                        </p:tgtEl>
                                      </p:cBhvr>
                                    </p:animEffect>
                                    <p:animScale>
                                      <p:cBhvr>
                                        <p:cTn id="30" dur="460"/>
                                        <p:tgtEl>
                                          <p:spTgt spid="35"/>
                                        </p:tgtEl>
                                      </p:cBhvr>
                                      <p:from x="60%" y="60%"/>
                                      <p:to x="100%" y="100%"/>
                                    </p:animScale>
                                  </p:childTnLst>
                                </p:cTn>
                              </p:par>
                              <p:par>
                                <p:cTn id="37" presetID="53" presetClass="entr" presetSubtype="0" fill="hold" grpId="0" nodeType="afterEffect">
                                  <p:stCondLst>
                                    <p:cond delay="9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460"/>
                                        <p:tgtEl>
                                          <p:spTgt spid="40"/>
                                        </p:tgtEl>
                                      </p:cBhvr>
                                    </p:animEffect>
                                    <p:animScale>
                                      <p:cBhvr>
                                        <p:cTn id="34" dur="460"/>
                                        <p:tgtEl>
                                          <p:spTgt spid="40"/>
                                        </p:tgtEl>
                                      </p:cBhvr>
                                      <p:from x="60%" y="60%"/>
                                      <p:to x="100%" y="100%"/>
                                    </p:animScale>
                                  </p:childTnLst>
                                </p:cTn>
                              </p:par>
                              <p:par>
                                <p:cTn id="41" presetID="53" presetClass="entr" presetSubtype="0" fill="hold" grpId="0" nodeType="afterEffect">
                                  <p:stCondLst>
                                    <p:cond delay="90"/>
                                  </p:stCondLst>
                                  <p:childTnLst>
                                    <p:set>
                                      <p:cBhvr>
                                        <p:cTn id="39" dur="1" fill="hold">
                                          <p:stCondLst>
                                            <p:cond delay="0"/>
                                          </p:stCondLst>
                                        </p:cTn>
                                        <p:tgtEl>
                                          <p:spTgt spid="45"/>
                                        </p:tgtEl>
                                        <p:attrNameLst>
                                          <p:attrName>style.visibility</p:attrName>
                                        </p:attrNameLst>
                                      </p:cBhvr>
                                      <p:to>
                                        <p:strVal val="visible"/>
                                      </p:to>
                                    </p:set>
                                    <p:animEffect transition="in" filter="fade">
                                      <p:cBhvr>
                                        <p:cTn id="40" dur="460"/>
                                        <p:tgtEl>
                                          <p:spTgt spid="45"/>
                                        </p:tgtEl>
                                      </p:cBhvr>
                                    </p:animEffect>
                                    <p:animScale>
                                      <p:cBhvr>
                                        <p:cTn id="38" dur="460"/>
                                        <p:tgtEl>
                                          <p:spTgt spid="45"/>
                                        </p:tgtEl>
                                      </p:cBhvr>
                                      <p:from x="60%" y="60%"/>
                                      <p:to x="100%" y="100%"/>
                                    </p:animScale>
                                  </p:childTnLst>
                                </p:cTn>
                              </p:par>
                              <p:par>
                                <p:cTn id="45" presetID="53" presetClass="entr" presetSubtype="0" fill="hold" grpId="0" nodeType="afterEffect">
                                  <p:stCondLst>
                                    <p:cond delay="90"/>
                                  </p:stCondLst>
                                  <p:childTnLst>
                                    <p:set>
                                      <p:cBhvr>
                                        <p:cTn id="43" dur="1" fill="hold">
                                          <p:stCondLst>
                                            <p:cond delay="0"/>
                                          </p:stCondLst>
                                        </p:cTn>
                                        <p:tgtEl>
                                          <p:spTgt spid="50"/>
                                        </p:tgtEl>
                                        <p:attrNameLst>
                                          <p:attrName>style.visibility</p:attrName>
                                        </p:attrNameLst>
                                      </p:cBhvr>
                                      <p:to>
                                        <p:strVal val="visible"/>
                                      </p:to>
                                    </p:set>
                                    <p:animEffect transition="in" filter="fade">
                                      <p:cBhvr>
                                        <p:cTn id="44" dur="460"/>
                                        <p:tgtEl>
                                          <p:spTgt spid="50"/>
                                        </p:tgtEl>
                                      </p:cBhvr>
                                    </p:animEffect>
                                    <p:animScale>
                                      <p:cBhvr>
                                        <p:cTn id="42" dur="460"/>
                                        <p:tgtEl>
                                          <p:spTgt spid="50"/>
                                        </p:tgtEl>
                                      </p:cBhvr>
                                      <p:from x="60%" y="60%"/>
                                      <p:to x="100%" y="1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ln>
            <a:noFill/>
          </a:ln>
          <a:effectLst/>
          <a:solidFill>
            <a:srgbClr val="00000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dawn" descr="city_dawn.png"/>
          <p:cNvPicPr>
            <a:picLocks noChangeAspect="1"/>
          </p:cNvPicPr>
          <p:nvPr/>
        </p:nvPicPr>
        <p:blipFill>
          <a:blip r:embed="rId2"/>
          <a:stretch>
            <a:fillRect/>
          </a:stretch>
        </p:blipFill>
        <p:spPr>
          <a:xfrm>
            <a:off x="0" y="0"/>
            <a:ext cx="12191695" cy="6858000"/>
          </a:xfrm>
          <a:prstGeom prst="rect">
            <a:avLst/>
          </a:prstGeom>
          <a:effectLst/>
        </p:spPr>
      </p:pic>
      <p:sp>
        <p:nvSpPr>
          <p:cNvPr id="4" name="Rectangle 3"/>
          <p:cNvSpPr/>
          <p:nvPr/>
        </p:nvSpPr>
        <p:spPr>
          <a:xfrm>
            <a:off x="0" y="0"/>
            <a:ext cx="12191695" cy="1828800"/>
          </a:xfrm>
          <a:prstGeom prst="rect">
            <a:avLst/>
          </a:prstGeom>
          <a:ln>
            <a:noFill/>
          </a:ln>
          <a:effectLst/>
          <a:gradFill>
            <a:gsLst>
              <a:gs pos="0">
                <a:srgbClr val="02040C">
                  <a:alpha val="78000"/>
                </a:srgbClr>
              </a:gs>
              <a:gs pos="100000">
                <a:srgbClr val="02040C">
                  <a:alpha val="0"/>
                </a:srgbClr>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3840480"/>
            <a:ext cx="12191695" cy="3017520"/>
          </a:xfrm>
          <a:prstGeom prst="rect">
            <a:avLst/>
          </a:prstGeom>
          <a:ln>
            <a:noFill/>
          </a:ln>
          <a:effectLst/>
          <a:gradFill>
            <a:gsLst>
              <a:gs pos="0">
                <a:srgbClr val="02040C">
                  <a:alpha val="0"/>
                </a:srgbClr>
              </a:gs>
              <a:gs pos="55000">
                <a:srgbClr val="02040C">
                  <a:alpha val="55000"/>
                </a:srgbClr>
              </a:gs>
              <a:gs pos="100000">
                <a:srgbClr val="02040C">
                  <a:alpha val="90000"/>
                </a:srgbClr>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381304" y="-2880360"/>
            <a:ext cx="11430000" cy="11430000"/>
          </a:xfrm>
          <a:prstGeom prst="ellipse">
            <a:avLst/>
          </a:prstGeom>
          <a:gradFill>
            <a:gsLst>
              <a:gs pos="0">
                <a:srgbClr val="02040C">
                  <a:alpha val="46000"/>
                </a:srgbClr>
              </a:gs>
              <a:gs pos="65000">
                <a:srgbClr val="02040C">
                  <a:alpha val="15000"/>
                </a:srgbClr>
              </a:gs>
              <a:gs pos="100000">
                <a:srgbClr val="02040C">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95904" y="1188720"/>
            <a:ext cx="6400800" cy="822960"/>
          </a:xfrm>
          <a:prstGeom prst="rect">
            <a:avLst/>
          </a:prstGeom>
          <a:noFill/>
        </p:spPr>
        <p:txBody>
          <a:bodyPr wrap="square" anchor="t" lIns="0" rIns="0" tIns="0" bIns="0">
            <a:spAutoFit/>
          </a:bodyPr>
          <a:lstStyle/>
          <a:p>
            <a:pPr algn="ctr"/>
            <a:r>
              <a:rPr sz="6000" b="1" i="0">
                <a:solidFill>
                  <a:srgbClr val="22D3EE"/>
                </a:solidFill>
                <a:latin typeface="Segoe UI"/>
              </a:rPr>
              <a:t>“</a:t>
            </a:r>
          </a:p>
        </p:txBody>
      </p:sp>
      <p:sp>
        <p:nvSpPr>
          <p:cNvPr id="8" name="TextBox 7"/>
          <p:cNvSpPr txBox="1"/>
          <p:nvPr/>
        </p:nvSpPr>
        <p:spPr>
          <a:xfrm>
            <a:off x="1295704" y="1883664"/>
            <a:ext cx="9601200" cy="1371600"/>
          </a:xfrm>
          <a:prstGeom prst="rect">
            <a:avLst/>
          </a:prstGeom>
          <a:noFill/>
        </p:spPr>
        <p:txBody>
          <a:bodyPr wrap="square" anchor="t" lIns="0" rIns="0" tIns="0" bIns="0">
            <a:spAutoFit/>
          </a:bodyPr>
          <a:lstStyle/>
          <a:p>
            <a:pPr algn="ctr">
              <a:lnSpc>
                <a:spcPct val="125000"/>
              </a:lnSpc>
            </a:pPr>
            <a:r>
              <a:rPr sz="2500" b="0" i="1">
                <a:solidFill>
                  <a:srgbClr val="F1F5F9"/>
                </a:solidFill>
                <a:latin typeface="Segoe UI Light"/>
              </a:rPr>
              <a:t>The smartest city isn't the one with the most sensors.</a:t>
            </a:r>
          </a:p>
          <a:p>
            <a:pPr algn="ctr">
              <a:lnSpc>
                <a:spcPct val="125000"/>
              </a:lnSpc>
            </a:pPr>
            <a:r>
              <a:rPr sz="2500" b="1" i="1">
                <a:solidFill>
                  <a:srgbClr val="F1F5F9"/>
                </a:solidFill>
                <a:latin typeface="Segoe UI"/>
              </a:rPr>
              <a:t>It's the one that understands what they're saying.</a:t>
            </a:r>
          </a:p>
        </p:txBody>
      </p:sp>
      <p:cxnSp>
        <p:nvCxnSpPr>
          <p:cNvPr id="9" name="Connector 8"/>
          <p:cNvCxnSpPr/>
          <p:nvPr/>
        </p:nvCxnSpPr>
        <p:spPr>
          <a:xfrm>
            <a:off x="5364784" y="3675887"/>
            <a:ext cx="1463040" cy="0"/>
          </a:xfrm>
          <a:prstGeom prst="line">
            <a:avLst/>
          </a:prstGeom>
          <a:ln w="16510" cap="rnd">
            <a:solidFill>
              <a:srgbClr val="22D3EE">
                <a:alpha val="75000"/>
              </a:srgbClr>
            </a:solidFill>
          </a:ln>
          <a:effectLst>
            <a:glow rad="63500">
              <a:srgbClr val="22D3EE">
                <a:alpha val="60000"/>
              </a:srgbClr>
            </a:glow>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353104" y="3931920"/>
            <a:ext cx="5486400" cy="502920"/>
          </a:xfrm>
          <a:prstGeom prst="rect">
            <a:avLst/>
          </a:prstGeom>
          <a:noFill/>
        </p:spPr>
        <p:txBody>
          <a:bodyPr wrap="square" anchor="t" lIns="0" rIns="0" tIns="0" bIns="0">
            <a:spAutoFit/>
          </a:bodyPr>
          <a:lstStyle/>
          <a:p>
            <a:pPr algn="ctr"/>
            <a:r>
              <a:rPr sz="2700" b="1" i="0">
                <a:solidFill>
                  <a:srgbClr val="F1F5F9"/>
                </a:solidFill>
                <a:latin typeface="Segoe UI"/>
              </a:rPr>
              <a:t>CityVerse </a:t>
            </a:r>
            <a:r>
              <a:rPr sz="2700" b="1" i="0">
                <a:gradFill>
                  <a:gsLst>
                    <a:gs pos="0">
                      <a:srgbClr val="22D3EE"/>
                    </a:gs>
                    <a:gs pos="55000">
                      <a:srgbClr val="3B82F6"/>
                    </a:gs>
                    <a:gs pos="100000">
                      <a:srgbClr val="8B5CF6"/>
                    </a:gs>
                  </a:gsLst>
                  <a:lin ang="0" scaled="1"/>
                </a:gradFill>
                <a:latin typeface="Segoe UI"/>
              </a:rPr>
              <a:t>AI</a:t>
            </a:r>
          </a:p>
        </p:txBody>
      </p:sp>
      <p:sp>
        <p:nvSpPr>
          <p:cNvPr id="11" name="TextBox 10"/>
          <p:cNvSpPr txBox="1"/>
          <p:nvPr/>
        </p:nvSpPr>
        <p:spPr>
          <a:xfrm>
            <a:off x="1067104" y="4590288"/>
            <a:ext cx="10058400" cy="292608"/>
          </a:xfrm>
          <a:prstGeom prst="rect">
            <a:avLst/>
          </a:prstGeom>
          <a:noFill/>
        </p:spPr>
        <p:txBody>
          <a:bodyPr wrap="square" anchor="t" lIns="0" rIns="0" tIns="0" bIns="0">
            <a:spAutoFit/>
          </a:bodyPr>
          <a:lstStyle/>
          <a:p>
            <a:pPr algn="ctr"/>
            <a:r>
              <a:rPr sz="1100" b="1" i="0" spc="260">
                <a:solidFill>
                  <a:srgbClr val="9FD8FF"/>
                </a:solidFill>
                <a:latin typeface="Segoe UI"/>
              </a:rPr>
              <a:t>SEE THE CITY  ·  PREDICT THE FUTURE  ·  ACT BEFORE IT HAPPENS</a:t>
            </a:r>
          </a:p>
        </p:txBody>
      </p:sp>
      <p:sp>
        <p:nvSpPr>
          <p:cNvPr id="12" name="TextBox 11"/>
          <p:cNvSpPr txBox="1"/>
          <p:nvPr/>
        </p:nvSpPr>
        <p:spPr>
          <a:xfrm>
            <a:off x="4724704" y="5989320"/>
            <a:ext cx="2743200" cy="274320"/>
          </a:xfrm>
          <a:prstGeom prst="rect">
            <a:avLst/>
          </a:prstGeom>
          <a:noFill/>
        </p:spPr>
        <p:txBody>
          <a:bodyPr wrap="square" anchor="t" lIns="0" rIns="0" tIns="0" bIns="0">
            <a:spAutoFit/>
          </a:bodyPr>
          <a:lstStyle/>
          <a:p>
            <a:pPr algn="ctr"/>
            <a:r>
              <a:rPr sz="1050" b="1" i="0" spc="500">
                <a:solidFill>
                  <a:srgbClr val="5A6E8C"/>
                </a:solidFill>
                <a:latin typeface="Segoe UI"/>
              </a:rPr>
              <a:t>THANK YOU</a:t>
            </a:r>
          </a:p>
        </p:txBody>
      </p:sp>
    </p:spTree>
  </p:cSld>
  <p:clrMapOvr>
    <a:masterClrMapping/>
  </p:clrMapOvr>
  <mc:AlternateContent xmlns:mc="http://schemas.openxmlformats.org/markup-compatibility/2006">
    <mc:Choice xmlns:p14="http://schemas.microsoft.com/office/powerpoint/2010/main" Requires="p14">
      <p:transition spd="slow" p14:dur="1250">
        <p14:morph option="byObject"/>
      </p:transition>
    </mc:Choice>
    <mc:Fallback>
      <p:transition spd="slow" advClick="1">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600"/>
                                        <p:tgtEl>
                                          <p:spTgt spid="3"/>
                                        </p:tgtEl>
                                      </p:cBhvr>
                                    </p:animEffect>
                                  </p:childTnLst>
                                </p:cTn>
                              </p:par>
                              <p:par>
                                <p:cTn id="11" presetID="10" presetClass="entr" presetSubtype="0" fill="hold" grpId="0" nodeType="afterEffect">
                                  <p:stCondLst>
                                    <p:cond delay="40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800"/>
                                        <p:tgtEl>
                                          <p:spTgt spid="7"/>
                                        </p:tgtEl>
                                      </p:cBhvr>
                                    </p:animEffect>
                                  </p:childTnLst>
                                </p:cTn>
                              </p:par>
                              <p:par>
                                <p:cTn id="13" presetID="64" presetClass="path" presetSubtype="0" fill="hold" grpId="0" nodeType="afterEffect">
                                  <p:stCondLst>
                                    <p:cond delay="250"/>
                                  </p:stCondLst>
                                  <p:childTnLst>
                                    <p:animMotion origin="layout" path="M 0.0 0.045 L 0.0 0.0" pathEditMode="relative" rAng="0" ptsTypes="">
                                      <p:cBhvr>
                                        <p:cTn id="12" dur="900" fill="hold"/>
                                        <p:tgtEl>
                                          <p:spTgt spid="8"/>
                                        </p:tgtEl>
                                      </p:cBhvr>
                                    </p:animMotion>
                                  </p:childTnLst>
                                </p:cTn>
                              </p:par>
                              <p:par>
                                <p:cTn id="16" presetID="10" presetClass="entr" presetSubtype="0" fill="hold" grpId="0" nodeType="withEffect">
                                  <p:stCondLst>
                                    <p:cond delay="25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900"/>
                                        <p:tgtEl>
                                          <p:spTgt spid="8"/>
                                        </p:tgtEl>
                                      </p:cBhvr>
                                    </p:animEffect>
                                  </p:childTnLst>
                                </p:cTn>
                              </p:par>
                              <p:par>
                                <p:cTn id="19" presetID="10" presetClass="entr" presetSubtype="0" fill="hold" grpId="0" nodeType="afterEffect">
                                  <p:stCondLst>
                                    <p:cond delay="50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800"/>
                                        <p:tgtEl>
                                          <p:spTgt spid="10"/>
                                        </p:tgtEl>
                                      </p:cBhvr>
                                    </p:animEffect>
                                  </p:childTnLst>
                                </p:cTn>
                              </p:par>
                              <p:par>
                                <p:cTn id="22" presetID="10" presetClass="entr" presetSubtype="0" fill="hold" grpId="0" nodeType="afterEffect">
                                  <p:stCondLst>
                                    <p:cond delay="30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700"/>
                                        <p:tgtEl>
                                          <p:spTgt spid="11"/>
                                        </p:tgtEl>
                                      </p:cBhvr>
                                    </p:animEffect>
                                  </p:childTnLst>
                                </p:cTn>
                              </p:par>
                              <p:par>
                                <p:cTn id="25" presetID="10" presetClass="entr" presetSubtype="0" fill="hold" grpId="0" nodeType="afterEffect">
                                  <p:stCondLst>
                                    <p:cond delay="55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700"/>
                                        <p:tgtEl>
                                          <p:spTgt spid="12"/>
                                        </p:tgtEl>
                                      </p:cBhvr>
                                    </p:animEffect>
                                  </p:childTnLst>
                                </p:cTn>
                              </p:par>
                              <p:par>
                                <p:cTn id="27" presetID="10" presetClass="exit" presetSubtype="0" fill="hold" grpId="0" nodeType="afterEffect">
                                  <p:stCondLst>
                                    <p:cond delay="2400"/>
                                  </p:stCondLst>
                                  <p:childTnLst>
                                    <p:animEffect transition="out" filter="fade">
                                      <p:cBhvr>
                                        <p:cTn id="26" dur="1600"/>
                                        <p:tgtEl>
                                          <p:spTgt spid="3"/>
                                        </p:tgtEl>
                                      </p:cBhvr>
                                    </p:animEffect>
                                  </p:childTnLst>
                                </p:cTn>
                              </p:par>
                              <p:par>
                                <p:cTn id="29" presetID="10" presetClass="exit" presetSubtype="0" fill="hold" grpId="0" nodeType="withEffect">
                                  <p:stCondLst>
                                    <p:cond delay="0"/>
                                  </p:stCondLst>
                                  <p:childTnLst>
                                    <p:animEffect transition="out" filter="fade">
                                      <p:cBhvr>
                                        <p:cTn id="28" dur="1600"/>
                                        <p:tgtEl>
                                          <p:spTgt spid="4"/>
                                        </p:tgtEl>
                                      </p:cBhvr>
                                    </p:animEffect>
                                  </p:childTnLst>
                                </p:cTn>
                              </p:par>
                              <p:par>
                                <p:cTn id="31" presetID="10" presetClass="exit" presetSubtype="0" fill="hold" grpId="0" nodeType="withEffect">
                                  <p:stCondLst>
                                    <p:cond delay="0"/>
                                  </p:stCondLst>
                                  <p:childTnLst>
                                    <p:animEffect transition="out" filter="fade">
                                      <p:cBhvr>
                                        <p:cTn id="30" dur="1600"/>
                                        <p:tgtEl>
                                          <p:spTgt spid="5"/>
                                        </p:tgtEl>
                                      </p:cBhvr>
                                    </p:animEffect>
                                  </p:childTnLst>
                                </p:cTn>
                              </p:par>
                              <p:par>
                                <p:cTn id="33" presetID="10" presetClass="exit" presetSubtype="0" fill="hold" grpId="0" nodeType="withEffect">
                                  <p:stCondLst>
                                    <p:cond delay="0"/>
                                  </p:stCondLst>
                                  <p:childTnLst>
                                    <p:animEffect transition="out" filter="fade">
                                      <p:cBhvr>
                                        <p:cTn id="32" dur="1600"/>
                                        <p:tgtEl>
                                          <p:spTgt spid="6"/>
                                        </p:tgtEl>
                                      </p:cBhvr>
                                    </p:animEffect>
                                  </p:childTnLst>
                                </p:cTn>
                              </p:par>
                              <p:par>
                                <p:cTn id="35" presetID="10" presetClass="exit" presetSubtype="0" fill="hold" grpId="0" nodeType="withEffect">
                                  <p:stCondLst>
                                    <p:cond delay="0"/>
                                  </p:stCondLst>
                                  <p:childTnLst>
                                    <p:animEffect transition="out" filter="fade">
                                      <p:cBhvr>
                                        <p:cTn id="34" dur="1600"/>
                                        <p:tgtEl>
                                          <p:spTgt spid="7"/>
                                        </p:tgtEl>
                                      </p:cBhvr>
                                    </p:animEffect>
                                  </p:childTnLst>
                                </p:cTn>
                              </p:par>
                              <p:par>
                                <p:cTn id="37" presetID="10" presetClass="exit" presetSubtype="0" fill="hold" grpId="0" nodeType="withEffect">
                                  <p:stCondLst>
                                    <p:cond delay="0"/>
                                  </p:stCondLst>
                                  <p:childTnLst>
                                    <p:animEffect transition="out" filter="fade">
                                      <p:cBhvr>
                                        <p:cTn id="36" dur="1600"/>
                                        <p:tgtEl>
                                          <p:spTgt spid="8"/>
                                        </p:tgtEl>
                                      </p:cBhvr>
                                    </p:animEffect>
                                  </p:childTnLst>
                                </p:cTn>
                              </p:par>
                              <p:par>
                                <p:cTn id="39" presetID="10" presetClass="exit" presetSubtype="0" fill="hold" grpId="0" nodeType="withEffect">
                                  <p:stCondLst>
                                    <p:cond delay="0"/>
                                  </p:stCondLst>
                                  <p:childTnLst>
                                    <p:animEffect transition="out" filter="fade">
                                      <p:cBhvr>
                                        <p:cTn id="38" dur="1600"/>
                                        <p:tgtEl>
                                          <p:spTgt spid="9"/>
                                        </p:tgtEl>
                                      </p:cBhvr>
                                    </p:animEffect>
                                  </p:childTnLst>
                                </p:cTn>
                              </p:par>
                              <p:par>
                                <p:cTn id="41" presetID="10" presetClass="exit" presetSubtype="0" fill="hold" grpId="0" nodeType="withEffect">
                                  <p:stCondLst>
                                    <p:cond delay="0"/>
                                  </p:stCondLst>
                                  <p:childTnLst>
                                    <p:animEffect transition="out" filter="fade">
                                      <p:cBhvr>
                                        <p:cTn id="40" dur="1600"/>
                                        <p:tgtEl>
                                          <p:spTgt spid="10"/>
                                        </p:tgtEl>
                                      </p:cBhvr>
                                    </p:animEffect>
                                  </p:childTnLst>
                                </p:cTn>
                              </p:par>
                              <p:par>
                                <p:cTn id="43" presetID="10" presetClass="exit" presetSubtype="0" fill="hold" grpId="0" nodeType="withEffect">
                                  <p:stCondLst>
                                    <p:cond delay="0"/>
                                  </p:stCondLst>
                                  <p:childTnLst>
                                    <p:animEffect transition="out" filter="fade">
                                      <p:cBhvr>
                                        <p:cTn id="42" dur="1600"/>
                                        <p:tgtEl>
                                          <p:spTgt spid="11"/>
                                        </p:tgtEl>
                                      </p:cBhvr>
                                    </p:animEffect>
                                  </p:childTnLst>
                                </p:cTn>
                              </p:par>
                              <p:par>
                                <p:cTn id="45" presetID="10" presetClass="exit" presetSubtype="0" fill="hold" grpId="0" nodeType="withEffect">
                                  <p:stCondLst>
                                    <p:cond delay="0"/>
                                  </p:stCondLst>
                                  <p:childTnLst>
                                    <p:animEffect transition="out" filter="fade">
                                      <p:cBhvr>
                                        <p:cTn id="44" dur="16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